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2.xml" ContentType="application/vnd.openxmlformats-officedocument.presentationml.notesSlide+xml"/>
  <Override PartName="/ppt/tags/tag1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76"/>
  </p:notesMasterIdLst>
  <p:handoutMasterIdLst>
    <p:handoutMasterId r:id="rId77"/>
  </p:handoutMasterIdLst>
  <p:sldIdLst>
    <p:sldId id="687" r:id="rId2"/>
    <p:sldId id="971" r:id="rId3"/>
    <p:sldId id="1249" r:id="rId4"/>
    <p:sldId id="1016" r:id="rId5"/>
    <p:sldId id="1017" r:id="rId6"/>
    <p:sldId id="972" r:id="rId7"/>
    <p:sldId id="1062" r:id="rId8"/>
    <p:sldId id="1063" r:id="rId9"/>
    <p:sldId id="973" r:id="rId10"/>
    <p:sldId id="974" r:id="rId11"/>
    <p:sldId id="975" r:id="rId12"/>
    <p:sldId id="976" r:id="rId13"/>
    <p:sldId id="1119" r:id="rId14"/>
    <p:sldId id="1120" r:id="rId15"/>
    <p:sldId id="1121" r:id="rId16"/>
    <p:sldId id="1122" r:id="rId17"/>
    <p:sldId id="1123" r:id="rId18"/>
    <p:sldId id="1117" r:id="rId19"/>
    <p:sldId id="1064" r:id="rId20"/>
    <p:sldId id="977" r:id="rId21"/>
    <p:sldId id="978" r:id="rId22"/>
    <p:sldId id="1065" r:id="rId23"/>
    <p:sldId id="1066" r:id="rId24"/>
    <p:sldId id="1067" r:id="rId25"/>
    <p:sldId id="980" r:id="rId26"/>
    <p:sldId id="981" r:id="rId27"/>
    <p:sldId id="982" r:id="rId28"/>
    <p:sldId id="983" r:id="rId29"/>
    <p:sldId id="1126" r:id="rId30"/>
    <p:sldId id="1127" r:id="rId31"/>
    <p:sldId id="984" r:id="rId32"/>
    <p:sldId id="985" r:id="rId33"/>
    <p:sldId id="1250" r:id="rId34"/>
    <p:sldId id="986" r:id="rId35"/>
    <p:sldId id="987" r:id="rId36"/>
    <p:sldId id="1251" r:id="rId37"/>
    <p:sldId id="988" r:id="rId38"/>
    <p:sldId id="989" r:id="rId39"/>
    <p:sldId id="1252" r:id="rId40"/>
    <p:sldId id="990" r:id="rId41"/>
    <p:sldId id="991" r:id="rId42"/>
    <p:sldId id="1070" r:id="rId43"/>
    <p:sldId id="1071" r:id="rId44"/>
    <p:sldId id="993" r:id="rId45"/>
    <p:sldId id="994" r:id="rId46"/>
    <p:sldId id="995" r:id="rId47"/>
    <p:sldId id="1253" r:id="rId48"/>
    <p:sldId id="1112" r:id="rId49"/>
    <p:sldId id="996" r:id="rId50"/>
    <p:sldId id="997" r:id="rId51"/>
    <p:sldId id="998" r:id="rId52"/>
    <p:sldId id="999" r:id="rId53"/>
    <p:sldId id="1000" r:id="rId54"/>
    <p:sldId id="1001" r:id="rId55"/>
    <p:sldId id="1002" r:id="rId56"/>
    <p:sldId id="1003" r:id="rId57"/>
    <p:sldId id="1118" r:id="rId58"/>
    <p:sldId id="1005" r:id="rId59"/>
    <p:sldId id="1113" r:id="rId60"/>
    <p:sldId id="1007" r:id="rId61"/>
    <p:sldId id="1008" r:id="rId62"/>
    <p:sldId id="1009" r:id="rId63"/>
    <p:sldId id="1010" r:id="rId64"/>
    <p:sldId id="1011" r:id="rId65"/>
    <p:sldId id="1012" r:id="rId66"/>
    <p:sldId id="1013" r:id="rId67"/>
    <p:sldId id="1014" r:id="rId68"/>
    <p:sldId id="1015" r:id="rId69"/>
    <p:sldId id="1128" r:id="rId70"/>
    <p:sldId id="1244" r:id="rId71"/>
    <p:sldId id="1247" r:id="rId72"/>
    <p:sldId id="1248" r:id="rId73"/>
    <p:sldId id="1245" r:id="rId74"/>
    <p:sldId id="1246" r:id="rId75"/>
  </p:sldIdLst>
  <p:sldSz cx="12192000" cy="6858000"/>
  <p:notesSz cx="6858000" cy="9144000"/>
  <p:embeddedFontLst>
    <p:embeddedFont>
      <p:font typeface="宋体" panose="02010600030101010101" pitchFamily="2" charset="-122"/>
      <p:regular r:id="rId78"/>
    </p:embeddedFont>
    <p:embeddedFont>
      <p:font typeface="华文楷体" panose="02010600040101010101" pitchFamily="2" charset="-122"/>
      <p:regular r:id="rId79"/>
    </p:embeddedFont>
    <p:embeddedFont>
      <p:font typeface="楷体" panose="02010609060101010101" pitchFamily="49" charset="-122"/>
      <p:regular r:id="rId80"/>
    </p:embeddedFont>
    <p:embeddedFont>
      <p:font typeface="微软雅黑" panose="020B0503020204020204" pitchFamily="34" charset="-122"/>
      <p:regular r:id="rId81"/>
      <p:bold r:id="rId82"/>
    </p:embeddedFont>
    <p:embeddedFont>
      <p:font typeface="Cambria Math" panose="02040503050406030204" pitchFamily="18" charset="0"/>
      <p:regular r:id="rId83"/>
    </p:embeddedFont>
    <p:embeddedFont>
      <p:font typeface="Open Sans" panose="020B0606030504020204" pitchFamily="34" charset="0"/>
      <p:regular r:id="rId84"/>
      <p:bold r:id="rId85"/>
    </p:embeddedFont>
  </p:embeddedFontLst>
  <p:custDataLst>
    <p:tags r:id="rId8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F2DA8"/>
    <a:srgbClr val="0000C8"/>
    <a:srgbClr val="B2B2B2"/>
    <a:srgbClr val="808080"/>
    <a:srgbClr val="000000"/>
    <a:srgbClr val="FF0000"/>
    <a:srgbClr val="E9EC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28" d="100"/>
          <a:sy n="128" d="100"/>
        </p:scale>
        <p:origin x="45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7.fntdata"/><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font" Target="fonts/font2.fntdata"/><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3.fntdata"/><Relationship Id="rId85"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6.fntdata"/><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1.fntdata"/><Relationship Id="rId81" Type="http://schemas.openxmlformats.org/officeDocument/2006/relationships/font" Target="fonts/font4.fntdata"/><Relationship Id="rId86"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commentAuthors" Target="commentAuthors.xml"/><Relationship Id="rId61" Type="http://schemas.openxmlformats.org/officeDocument/2006/relationships/slide" Target="slides/slide60.xml"/><Relationship Id="rId82" Type="http://schemas.openxmlformats.org/officeDocument/2006/relationships/font" Target="fonts/font5.fntdata"/><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2026/4/19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2026/4/19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2024.04.09  13:30</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5" name="页脚占位符 4"/>
          <p:cNvSpPr>
            <a:spLocks noGrp="1"/>
          </p:cNvSpPr>
          <p:nvPr>
            <p:ph type="ftr" sz="quarter" idx="11"/>
          </p:nvPr>
        </p:nvSpPr>
        <p:spPr/>
        <p:txBody>
          <a:bodyPr/>
          <a:lstStyle/>
          <a:p>
            <a:r>
              <a:rPr lang="zh-CN" altLang="en-US"/>
              <a:t>ch04_数据库安全性</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lvl1p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1"/>
          </p:nvPr>
        </p:nvSpPr>
        <p:spPr/>
        <p:txBody>
          <a:bodyPr/>
          <a:lstStyle/>
          <a:p>
            <a:r>
              <a:rPr lang="zh-CN" altLang="en-US"/>
              <a:t>ch04_数据库安全性</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24815" y="615950"/>
            <a:ext cx="5579745" cy="5981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615950"/>
            <a:ext cx="5588635" cy="5981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11"/>
          </p:nvPr>
        </p:nvSpPr>
        <p:spPr/>
        <p:txBody>
          <a:bodyPr/>
          <a:lstStyle/>
          <a:p>
            <a:r>
              <a:rPr lang="zh-CN" altLang="en-US"/>
              <a:t>ch04_数据库安全性</a:t>
            </a:r>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2192000" cy="521970"/>
          </a:xfrm>
        </p:spPr>
        <p:txBody>
          <a:bodyPr wrap="square"/>
          <a:lstStyle/>
          <a:p>
            <a:r>
              <a:rPr lang="zh-CN" altLang="en-US"/>
              <a:t>单击此处编辑母版标题样式</a:t>
            </a:r>
          </a:p>
        </p:txBody>
      </p:sp>
      <p:sp>
        <p:nvSpPr>
          <p:cNvPr id="3" name="文本占位符 2"/>
          <p:cNvSpPr>
            <a:spLocks noGrp="1"/>
          </p:cNvSpPr>
          <p:nvPr>
            <p:ph type="body" idx="1"/>
          </p:nvPr>
        </p:nvSpPr>
        <p:spPr>
          <a:xfrm>
            <a:off x="424800" y="604203"/>
            <a:ext cx="5580000" cy="823912"/>
          </a:xfrm>
        </p:spPr>
        <p:txBody>
          <a:bodyPr anchor="ctr" anchorCtr="0"/>
          <a:lstStyle>
            <a:lvl1pPr marL="0" indent="0">
              <a:defRPr sz="3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24815" y="1428115"/>
            <a:ext cx="5579745" cy="5186680"/>
          </a:xfrm>
        </p:spPr>
        <p:txBody>
          <a:bodyPr/>
          <a:lstStyle>
            <a:lvl1pPr>
              <a:defRPr sz="2800"/>
            </a:lvl1pPr>
            <a:lvl2pPr>
              <a:defRPr sz="2800"/>
            </a:lvl2pPr>
            <a:lvl3pPr>
              <a:defRPr sz="2800"/>
            </a:lvl3pPr>
            <a:lvl4pPr>
              <a:defRPr sz="2800"/>
            </a:lvl4pPr>
            <a:lvl5pPr>
              <a:defRPr sz="2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604520"/>
            <a:ext cx="5589270" cy="823595"/>
          </a:xfrm>
        </p:spPr>
        <p:txBody>
          <a:bodyPr anchor="ctr" anchorCtr="0"/>
          <a:lstStyle>
            <a:lvl1pPr marL="0" indent="0">
              <a:defRPr sz="3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1428115"/>
            <a:ext cx="5589270" cy="5186680"/>
          </a:xfrm>
        </p:spPr>
        <p:txBody>
          <a:bodyPr/>
          <a:lstStyle>
            <a:lvl1pPr>
              <a:defRPr sz="2800"/>
            </a:lvl1pPr>
            <a:lvl2pPr>
              <a:defRPr sz="2800"/>
            </a:lvl2pPr>
            <a:lvl3pPr>
              <a:defRPr sz="2800"/>
            </a:lvl3pPr>
            <a:lvl4pPr>
              <a:defRPr sz="2800"/>
            </a:lvl4pPr>
            <a:lvl5pPr>
              <a:defRPr sz="2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页脚占位符 7"/>
          <p:cNvSpPr>
            <a:spLocks noGrp="1"/>
          </p:cNvSpPr>
          <p:nvPr>
            <p:ph type="ftr" sz="quarter" idx="11"/>
          </p:nvPr>
        </p:nvSpPr>
        <p:spPr/>
        <p:txBody>
          <a:bodyPr/>
          <a:lstStyle/>
          <a:p>
            <a:r>
              <a:rPr lang="zh-CN" altLang="en-US"/>
              <a:t>ch04_数据库安全性</a:t>
            </a:r>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页脚占位符 3"/>
          <p:cNvSpPr>
            <a:spLocks noGrp="1"/>
          </p:cNvSpPr>
          <p:nvPr>
            <p:ph type="ftr" sz="quarter" idx="11"/>
          </p:nvPr>
        </p:nvSpPr>
        <p:spPr/>
        <p:txBody>
          <a:bodyPr/>
          <a:lstStyle/>
          <a:p>
            <a:r>
              <a:rPr lang="zh-CN" altLang="en-US"/>
              <a:t>ch04_数据库安全性</a:t>
            </a:r>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r>
              <a:rPr lang="zh-CN" altLang="en-US"/>
              <a:t>ch04_数据库安全性</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horz"/>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页脚占位符 5"/>
          <p:cNvSpPr>
            <a:spLocks noGrp="1"/>
          </p:cNvSpPr>
          <p:nvPr>
            <p:ph type="ftr" sz="quarter" idx="11"/>
            <p:custDataLst>
              <p:tags r:id="rId1"/>
            </p:custDataLst>
          </p:nvPr>
        </p:nvSpPr>
        <p:spPr/>
        <p:txBody>
          <a:bodyPr/>
          <a:lstStyle/>
          <a:p>
            <a:r>
              <a:rPr lang="zh-CN" altLang="en-US"/>
              <a:t>ch04_数据库安全性</a:t>
            </a:r>
          </a:p>
        </p:txBody>
      </p:sp>
      <p:sp>
        <p:nvSpPr>
          <p:cNvPr id="7" name="灯片编号占位符 6"/>
          <p:cNvSpPr>
            <a:spLocks noGrp="1"/>
          </p:cNvSpPr>
          <p:nvPr>
            <p:ph type="sldNum" sz="quarter" idx="12"/>
            <p:custDataLst>
              <p:tags r:id="rId2"/>
            </p:custDataLst>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35" y="0"/>
            <a:ext cx="12192635" cy="595630"/>
          </a:xfrm>
          <a:prstGeom prst="rect">
            <a:avLst/>
          </a:prstGeom>
          <a:solidFill>
            <a:schemeClr val="accent1">
              <a:lumMod val="20000"/>
              <a:lumOff val="80000"/>
              <a:alpha val="50000"/>
            </a:schemeClr>
          </a:solidFill>
        </p:spPr>
        <p:txBody>
          <a:bodyPr vert="horz" wrap="square" lIns="91440" tIns="82550" rIns="91440" bIns="82550" rtlCol="0" anchor="ctr">
            <a:noAutofit/>
          </a:bodyPr>
          <a:lstStyle/>
          <a:p>
            <a:r>
              <a:rPr lang="zh-CN" altLang="en-US"/>
              <a:t>单击此处编辑母版标题样式</a:t>
            </a:r>
          </a:p>
        </p:txBody>
      </p:sp>
      <p:sp>
        <p:nvSpPr>
          <p:cNvPr id="3" name="文本占位符 2"/>
          <p:cNvSpPr>
            <a:spLocks noGrp="1"/>
          </p:cNvSpPr>
          <p:nvPr>
            <p:ph type="body" idx="1"/>
          </p:nvPr>
        </p:nvSpPr>
        <p:spPr>
          <a:xfrm>
            <a:off x="424180" y="687070"/>
            <a:ext cx="11343005" cy="5897880"/>
          </a:xfrm>
          <a:prstGeom prst="rect">
            <a:avLst/>
          </a:prstGeom>
        </p:spPr>
        <p:txBody>
          <a:bodyPr vert="horz" lIns="91440" tIns="45720" rIns="91440" bIns="45720" rtlCol="0">
            <a:no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3"/>
          </p:nvPr>
        </p:nvSpPr>
        <p:spPr>
          <a:xfrm>
            <a:off x="0" y="6696000"/>
            <a:ext cx="4114800" cy="152400"/>
          </a:xfrm>
          <a:prstGeom prst="rect">
            <a:avLst/>
          </a:prstGeom>
        </p:spPr>
        <p:txBody>
          <a:bodyPr vert="horz" lIns="91440" tIns="0" rIns="91440" bIns="0" rtlCol="0" anchor="ctr">
            <a:spAutoFit/>
          </a:bodyPr>
          <a:lstStyle>
            <a:lvl1pPr algn="l">
              <a:defRPr sz="1000" b="1" i="1">
                <a:solidFill>
                  <a:schemeClr val="tx1">
                    <a:tint val="75000"/>
                  </a:schemeClr>
                </a:solidFill>
                <a:latin typeface="楷体" panose="02010609060101010101" charset="-122"/>
                <a:ea typeface="楷体" panose="02010609060101010101" charset="-122"/>
              </a:defRPr>
            </a:lvl1pPr>
          </a:lstStyle>
          <a:p>
            <a:r>
              <a:rPr lang="zh-CN" altLang="en-US"/>
              <a:t>ch04_数据库安全性</a:t>
            </a:r>
          </a:p>
        </p:txBody>
      </p:sp>
      <p:sp>
        <p:nvSpPr>
          <p:cNvPr id="6" name="灯片编号占位符 5"/>
          <p:cNvSpPr>
            <a:spLocks noGrp="1"/>
          </p:cNvSpPr>
          <p:nvPr>
            <p:ph type="sldNum" sz="quarter" idx="4"/>
          </p:nvPr>
        </p:nvSpPr>
        <p:spPr>
          <a:xfrm>
            <a:off x="11461115" y="6696000"/>
            <a:ext cx="730885" cy="153670"/>
          </a:xfrm>
          <a:prstGeom prst="rect">
            <a:avLst/>
          </a:prstGeom>
        </p:spPr>
        <p:txBody>
          <a:bodyPr vert="horz" wrap="square" lIns="91440" tIns="0" rIns="91440" bIns="0" rtlCol="0" anchor="ctr">
            <a:spAutoFit/>
          </a:bodyPr>
          <a:lstStyle>
            <a:lvl1pPr algn="r">
              <a:defRPr sz="1000" b="1" i="1">
                <a:solidFill>
                  <a:schemeClr val="tx1">
                    <a:tint val="75000"/>
                  </a:schemeClr>
                </a:solidFill>
                <a:latin typeface="楷体" panose="02010609060101010101" charset="-122"/>
                <a:ea typeface="楷体" panose="02010609060101010101" charset="-122"/>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dt="0"/>
  <p:txStyles>
    <p:titleStyle>
      <a:lvl1pPr algn="ctr" defTabSz="914400" rtl="0" eaLnBrk="1" latinLnBrk="0" hangingPunct="1">
        <a:lnSpc>
          <a:spcPct val="100000"/>
        </a:lnSpc>
        <a:spcBef>
          <a:spcPts val="0"/>
        </a:spcBef>
        <a:spcAft>
          <a:spcPts val="0"/>
        </a:spcAft>
        <a:buNone/>
        <a:defRPr sz="2800" b="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1.pn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2.bin"/><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8" Type="http://schemas.openxmlformats.org/officeDocument/2006/relationships/hyperlink" Target="https://dev.mysql.com/doc/refman/8.0/en/privileges-provided.html#priv_process" TargetMode="External"/><Relationship Id="rId13" Type="http://schemas.openxmlformats.org/officeDocument/2006/relationships/hyperlink" Target="https://dev.mysql.com/doc/refman/8.0/en/privileges-provided.html#priv_shutdown" TargetMode="External"/><Relationship Id="rId18" Type="http://schemas.openxmlformats.org/officeDocument/2006/relationships/hyperlink" Target="https://dev.mysql.com/doc/refman/8.0/en/purge-binary-logs.html" TargetMode="External"/><Relationship Id="rId26" Type="http://schemas.openxmlformats.org/officeDocument/2006/relationships/hyperlink" Target="https://dev.mysql.com/doc/refman/8.0/en/lock-tables.html" TargetMode="External"/><Relationship Id="rId3" Type="http://schemas.openxmlformats.org/officeDocument/2006/relationships/hyperlink" Target="https://dev.mysql.com/doc/refman/8.0/en/privileges-provided.html#priv_create-tablespace" TargetMode="External"/><Relationship Id="rId21" Type="http://schemas.openxmlformats.org/officeDocument/2006/relationships/hyperlink" Target="https://dev.mysql.com/doc/refman/8.0/en/privileges-provided.html#priv_create-routine" TargetMode="External"/><Relationship Id="rId7" Type="http://schemas.openxmlformats.org/officeDocument/2006/relationships/hyperlink" Target="https://dev.mysql.com/doc/refman/8.0/en/privileges-provided.html#priv_file" TargetMode="External"/><Relationship Id="rId12" Type="http://schemas.openxmlformats.org/officeDocument/2006/relationships/hyperlink" Target="https://dev.mysql.com/doc/refman/8.0/en/privileges-provided.html#priv_show-databases" TargetMode="External"/><Relationship Id="rId17" Type="http://schemas.openxmlformats.org/officeDocument/2006/relationships/hyperlink" Target="https://dev.mysql.com/doc/refman/8.0/en/kill.html" TargetMode="External"/><Relationship Id="rId25" Type="http://schemas.openxmlformats.org/officeDocument/2006/relationships/hyperlink" Target="https://dev.mysql.com/doc/refman/8.0/en/privileges-provided.html#priv_lock-tables" TargetMode="External"/><Relationship Id="rId2" Type="http://schemas.openxmlformats.org/officeDocument/2006/relationships/hyperlink" Target="https://dev.mysql.com/doc/refman/8.0/en/privileges-provided.html#priv_create-role" TargetMode="External"/><Relationship Id="rId16" Type="http://schemas.openxmlformats.org/officeDocument/2006/relationships/hyperlink" Target="https://dev.mysql.com/doc/refman/8.0/en/change-master-to.html" TargetMode="External"/><Relationship Id="rId20" Type="http://schemas.openxmlformats.org/officeDocument/2006/relationships/hyperlink" Target="https://dev.mysql.com/doc/refman/8.0/en/privileges-provided.html#priv_alter-routine" TargetMode="External"/><Relationship Id="rId1" Type="http://schemas.openxmlformats.org/officeDocument/2006/relationships/slideLayout" Target="../slideLayouts/slideLayout5.xml"/><Relationship Id="rId6" Type="http://schemas.openxmlformats.org/officeDocument/2006/relationships/hyperlink" Target="https://dev.mysql.com/doc/refman/8.0/en/privileges-provided.html#priv_drop-role" TargetMode="External"/><Relationship Id="rId11" Type="http://schemas.openxmlformats.org/officeDocument/2006/relationships/hyperlink" Target="https://dev.mysql.com/doc/refman/8.0/en/privileges-provided.html#priv_replication-slave" TargetMode="External"/><Relationship Id="rId24" Type="http://schemas.openxmlformats.org/officeDocument/2006/relationships/hyperlink" Target="https://dev.mysql.com/doc/refman/8.0/en/privileges-provided.html#priv_execute" TargetMode="External"/><Relationship Id="rId5" Type="http://schemas.openxmlformats.org/officeDocument/2006/relationships/hyperlink" Target="https://dev.mysql.com/doc/refman/8.0/en/create-user.html" TargetMode="External"/><Relationship Id="rId15" Type="http://schemas.openxmlformats.org/officeDocument/2006/relationships/hyperlink" Target="https://dev.mysql.com/doc/refman/8.0/en/change-replication-source-to.html" TargetMode="External"/><Relationship Id="rId23" Type="http://schemas.openxmlformats.org/officeDocument/2006/relationships/hyperlink" Target="https://dev.mysql.com/doc/refman/8.0/en/privileges-provided.html#priv_event" TargetMode="External"/><Relationship Id="rId10" Type="http://schemas.openxmlformats.org/officeDocument/2006/relationships/hyperlink" Target="https://dev.mysql.com/doc/refman/8.0/en/privileges-provided.html#priv_replication-client" TargetMode="External"/><Relationship Id="rId19" Type="http://schemas.openxmlformats.org/officeDocument/2006/relationships/hyperlink" Target="https://dev.mysql.com/doc/refman/8.0/en/set-variable.html" TargetMode="External"/><Relationship Id="rId4" Type="http://schemas.openxmlformats.org/officeDocument/2006/relationships/hyperlink" Target="https://dev.mysql.com/doc/refman/8.0/en/privileges-provided.html#priv_create-user" TargetMode="External"/><Relationship Id="rId9" Type="http://schemas.openxmlformats.org/officeDocument/2006/relationships/hyperlink" Target="https://dev.mysql.com/doc/refman/8.0/en/privileges-provided.html#priv_reload" TargetMode="External"/><Relationship Id="rId14" Type="http://schemas.openxmlformats.org/officeDocument/2006/relationships/hyperlink" Target="https://dev.mysql.com/doc/refman/8.0/en/privileges-provided.html#priv_super" TargetMode="External"/><Relationship Id="rId22" Type="http://schemas.openxmlformats.org/officeDocument/2006/relationships/hyperlink" Target="https://dev.mysql.com/doc/refman/8.0/en/privileges-provided.html#priv_create-temporary-tables" TargetMode="External"/></Relationships>
</file>

<file path=ppt/slides/_rels/slide72.xml.rels><?xml version="1.0" encoding="UTF-8" standalone="yes"?>
<Relationships xmlns="http://schemas.openxmlformats.org/package/2006/relationships"><Relationship Id="rId8" Type="http://schemas.openxmlformats.org/officeDocument/2006/relationships/hyperlink" Target="https://dev.mysql.com/doc/refman/8.0/en/delete.html" TargetMode="External"/><Relationship Id="rId13" Type="http://schemas.openxmlformats.org/officeDocument/2006/relationships/hyperlink" Target="https://dev.mysql.com/doc/refman/8.0/en/show-create-view.html" TargetMode="External"/><Relationship Id="rId18" Type="http://schemas.openxmlformats.org/officeDocument/2006/relationships/hyperlink" Target="https://dev.mysql.com/doc/refman/8.0/en/insert.html" TargetMode="External"/><Relationship Id="rId3" Type="http://schemas.openxmlformats.org/officeDocument/2006/relationships/hyperlink" Target="https://dev.mysql.com/doc/refman/8.0/en/privileges-provided.html#priv_alter" TargetMode="External"/><Relationship Id="rId21" Type="http://schemas.openxmlformats.org/officeDocument/2006/relationships/hyperlink" Target="https://dev.mysql.com/doc/refman/8.0/en/privileges-provided.html#priv_references" TargetMode="External"/><Relationship Id="rId7" Type="http://schemas.openxmlformats.org/officeDocument/2006/relationships/hyperlink" Target="https://dev.mysql.com/doc/refman/8.0/en/privileges-provided.html#priv_delete" TargetMode="External"/><Relationship Id="rId12" Type="http://schemas.openxmlformats.org/officeDocument/2006/relationships/hyperlink" Target="https://dev.mysql.com/doc/refman/8.0/en/privileges-provided.html#priv_show-view" TargetMode="External"/><Relationship Id="rId17" Type="http://schemas.openxmlformats.org/officeDocument/2006/relationships/hyperlink" Target="https://dev.mysql.com/doc/refman/8.0/en/privileges-provided.html#priv_insert" TargetMode="External"/><Relationship Id="rId2" Type="http://schemas.openxmlformats.org/officeDocument/2006/relationships/slideLayout" Target="../slideLayouts/slideLayout5.xml"/><Relationship Id="rId16" Type="http://schemas.openxmlformats.org/officeDocument/2006/relationships/hyperlink" Target="https://dev.mysql.com/doc/refman/8.0/en/select.html" TargetMode="External"/><Relationship Id="rId20" Type="http://schemas.openxmlformats.org/officeDocument/2006/relationships/hyperlink" Target="https://dev.mysql.com/doc/refman/8.0/en/update.html" TargetMode="External"/><Relationship Id="rId1" Type="http://schemas.openxmlformats.org/officeDocument/2006/relationships/tags" Target="../tags/tag11.xml"/><Relationship Id="rId6" Type="http://schemas.openxmlformats.org/officeDocument/2006/relationships/hyperlink" Target="https://dev.mysql.com/doc/refman/8.0/en/privileges-provided.html#priv_create-view" TargetMode="External"/><Relationship Id="rId11" Type="http://schemas.openxmlformats.org/officeDocument/2006/relationships/hyperlink" Target="https://dev.mysql.com/doc/refman/8.0/en/privileges-provided.html#priv_index" TargetMode="External"/><Relationship Id="rId5" Type="http://schemas.openxmlformats.org/officeDocument/2006/relationships/hyperlink" Target="https://dev.mysql.com/doc/refman/8.0/en/privileges-provided.html#priv_create" TargetMode="External"/><Relationship Id="rId15" Type="http://schemas.openxmlformats.org/officeDocument/2006/relationships/hyperlink" Target="https://dev.mysql.com/doc/refman/8.0/en/privileges-provided.html#priv_select" TargetMode="External"/><Relationship Id="rId23" Type="http://schemas.openxmlformats.org/officeDocument/2006/relationships/hyperlink" Target="https://dev.mysql.com/doc/refman/8.0/en/privileges-provided.html#priv_proxy" TargetMode="External"/><Relationship Id="rId10" Type="http://schemas.openxmlformats.org/officeDocument/2006/relationships/hyperlink" Target="https://dev.mysql.com/doc/refman/8.0/en/privileges-provided.html#priv_grant-option" TargetMode="External"/><Relationship Id="rId19" Type="http://schemas.openxmlformats.org/officeDocument/2006/relationships/hyperlink" Target="https://dev.mysql.com/doc/refman/8.0/en/privileges-provided.html#priv_update" TargetMode="External"/><Relationship Id="rId4" Type="http://schemas.openxmlformats.org/officeDocument/2006/relationships/hyperlink" Target="https://dev.mysql.com/doc/refman/8.0/en/alter-table.html" TargetMode="External"/><Relationship Id="rId9" Type="http://schemas.openxmlformats.org/officeDocument/2006/relationships/hyperlink" Target="https://dev.mysql.com/doc/refman/8.0/en/privileges-provided.html#priv_drop" TargetMode="External"/><Relationship Id="rId14" Type="http://schemas.openxmlformats.org/officeDocument/2006/relationships/hyperlink" Target="https://dev.mysql.com/doc/refman/8.0/en/privileges-provided.html#priv_trigger" TargetMode="External"/><Relationship Id="rId22" Type="http://schemas.openxmlformats.org/officeDocument/2006/relationships/hyperlink" Target="https://dev.mysql.com/doc/refman/8.0/en/privileges-provided.html#priv_all"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6"/>
          <a:stretch>
            <a:fillRect/>
          </a:stretch>
        </a:blipFill>
        <a:effectLst/>
      </p:bgPr>
    </p:bg>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4021200" y="5412105"/>
            <a:ext cx="4151630" cy="398780"/>
          </a:xfrm>
          <a:prstGeom prst="rect">
            <a:avLst/>
          </a:prstGeom>
          <a:noFill/>
        </p:spPr>
        <p:txBody>
          <a:bodyPr wrap="square" rtlCol="0" anchor="t">
            <a:spAutoFit/>
          </a:bodyPr>
          <a:lstStyle/>
          <a:p>
            <a:pPr algn="ctr"/>
            <a:r>
              <a:rPr kumimoji="1" lang="zh-CN" altLang="en-US" sz="20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a:t>
            </a:r>
            <a:r>
              <a:rPr kumimoji="1" lang="en-US" altLang="zh-CN" sz="20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2026 </a:t>
            </a:r>
            <a:r>
              <a:rPr kumimoji="1" lang="zh-CN" altLang="en-US" sz="20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春季）</a:t>
            </a:r>
          </a:p>
        </p:txBody>
      </p:sp>
      <p:sp>
        <p:nvSpPr>
          <p:cNvPr id="8" name="文本框 7"/>
          <p:cNvSpPr txBox="1"/>
          <p:nvPr>
            <p:custDataLst>
              <p:tags r:id="rId3"/>
            </p:custDataLst>
          </p:nvPr>
        </p:nvSpPr>
        <p:spPr>
          <a:xfrm>
            <a:off x="0" y="1924685"/>
            <a:ext cx="12192635" cy="829945"/>
          </a:xfrm>
          <a:prstGeom prst="rect">
            <a:avLst/>
          </a:prstGeom>
          <a:noFill/>
        </p:spPr>
        <p:txBody>
          <a:bodyPr wrap="square" rtlCol="0">
            <a:spAutoFit/>
          </a:bodyPr>
          <a:lstStyle/>
          <a:p>
            <a:pPr algn="ctr"/>
            <a:r>
              <a:rPr lang="zh-CN" altLang="en-US" sz="4800" b="1" spc="500" dirty="0">
                <a:solidFill>
                  <a:schemeClr val="bg1"/>
                </a:solidFill>
                <a:effectLst>
                  <a:outerShdw blurRad="38100" dist="38100" dir="2700000" algn="tl">
                    <a:srgbClr val="000000">
                      <a:alpha val="43137"/>
                    </a:srgbClr>
                  </a:outerShdw>
                </a:effectLst>
                <a:uFillTx/>
                <a:latin typeface="+mj-lt"/>
                <a:ea typeface="微软雅黑" panose="020B0503020204020204" charset="-122"/>
                <a:cs typeface="+mj-lt"/>
                <a:sym typeface="+mn-ea"/>
              </a:rPr>
              <a:t>第</a:t>
            </a:r>
            <a:r>
              <a:rPr lang="en-US" altLang="zh-CN" sz="4800" b="1" spc="500" dirty="0">
                <a:solidFill>
                  <a:schemeClr val="bg1"/>
                </a:solidFill>
                <a:effectLst>
                  <a:outerShdw blurRad="38100" dist="38100" dir="2700000" algn="tl">
                    <a:srgbClr val="000000">
                      <a:alpha val="43137"/>
                    </a:srgbClr>
                  </a:outerShdw>
                </a:effectLst>
                <a:uFillTx/>
                <a:latin typeface="+mj-lt"/>
                <a:ea typeface="微软雅黑" panose="020B0503020204020204" charset="-122"/>
                <a:cs typeface="+mj-lt"/>
                <a:sym typeface="+mn-ea"/>
              </a:rPr>
              <a:t>4</a:t>
            </a:r>
            <a:r>
              <a:rPr lang="zh-CN" altLang="en-US" sz="4800" b="1" spc="500" dirty="0">
                <a:solidFill>
                  <a:schemeClr val="bg1"/>
                </a:solidFill>
                <a:effectLst>
                  <a:outerShdw blurRad="38100" dist="38100" dir="2700000" algn="tl">
                    <a:srgbClr val="000000">
                      <a:alpha val="43137"/>
                    </a:srgbClr>
                  </a:outerShdw>
                </a:effectLst>
                <a:uFillTx/>
                <a:latin typeface="+mj-lt"/>
                <a:ea typeface="微软雅黑" panose="020B0503020204020204" charset="-122"/>
                <a:cs typeface="+mj-lt"/>
                <a:sym typeface="+mn-ea"/>
              </a:rPr>
              <a:t>章</a:t>
            </a:r>
            <a:r>
              <a:rPr lang="en-US" altLang="zh-CN" sz="4800" b="1" spc="500" dirty="0">
                <a:solidFill>
                  <a:schemeClr val="bg1"/>
                </a:solidFill>
                <a:effectLst>
                  <a:outerShdw blurRad="38100" dist="38100" dir="2700000" algn="tl">
                    <a:srgbClr val="000000">
                      <a:alpha val="43137"/>
                    </a:srgbClr>
                  </a:outerShdw>
                </a:effectLst>
                <a:uFillTx/>
                <a:latin typeface="+mj-lt"/>
                <a:ea typeface="微软雅黑" panose="020B0503020204020204" charset="-122"/>
                <a:cs typeface="+mj-lt"/>
                <a:sym typeface="+mn-ea"/>
              </a:rPr>
              <a:t>  </a:t>
            </a:r>
            <a:r>
              <a:rPr lang="zh-CN" altLang="en-US" sz="4800" b="1" spc="500" dirty="0">
                <a:solidFill>
                  <a:schemeClr val="bg1"/>
                </a:solidFill>
                <a:effectLst>
                  <a:outerShdw blurRad="38100" dist="38100" dir="2700000" algn="tl">
                    <a:srgbClr val="000000">
                      <a:alpha val="43137"/>
                    </a:srgbClr>
                  </a:outerShdw>
                </a:effectLst>
                <a:uFillTx/>
                <a:latin typeface="+mj-lt"/>
                <a:ea typeface="微软雅黑" panose="020B0503020204020204" charset="-122"/>
                <a:cs typeface="+mj-lt"/>
                <a:sym typeface="+mn-ea"/>
              </a:rPr>
              <a:t>数据库安全性</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txBox="1">
            <a:spLocks noGrp="1" noChangeArrowheads="1"/>
          </p:cNvSpPr>
          <p:nvPr/>
        </p:nvSpPr>
        <p:spPr bwMode="auto">
          <a:xfrm>
            <a:off x="6816725"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4099" name="Rectangle 2"/>
          <p:cNvSpPr>
            <a:spLocks noGrp="1" noChangeArrowheads="1"/>
          </p:cNvSpPr>
          <p:nvPr>
            <p:ph type="title"/>
          </p:nvPr>
        </p:nvSpPr>
        <p:spPr/>
        <p:txBody>
          <a:bodyPr/>
          <a:lstStyle/>
          <a:p>
            <a:r>
              <a:rPr lang="en-US" altLang="zh-CN"/>
              <a:t> </a:t>
            </a:r>
            <a:r>
              <a:rPr lang="zh-CN" altLang="en-US"/>
              <a:t>数据库安全性</a:t>
            </a:r>
            <a:endParaRPr lang="en-US" altLang="zh-CN"/>
          </a:p>
        </p:txBody>
      </p:sp>
      <p:sp>
        <p:nvSpPr>
          <p:cNvPr id="4100" name="Rectangle 3"/>
          <p:cNvSpPr>
            <a:spLocks noGrp="1" noChangeArrowheads="1"/>
          </p:cNvSpPr>
          <p:nvPr>
            <p:ph idx="1"/>
          </p:nvPr>
        </p:nvSpPr>
        <p:spPr/>
        <p:txBody>
          <a:bodyPr>
            <a:noAutofit/>
          </a:bodyPr>
          <a:lstStyle/>
          <a:p>
            <a:pPr>
              <a:lnSpc>
                <a:spcPct val="100000"/>
              </a:lnSpc>
              <a:spcBef>
                <a:spcPts val="1000"/>
              </a:spcBef>
            </a:pPr>
            <a:r>
              <a:rPr lang="zh-CN" altLang="en-US" sz="2800" dirty="0">
                <a:solidFill>
                  <a:srgbClr val="C00000"/>
                </a:solidFill>
              </a:rPr>
              <a:t>问题的提出</a:t>
            </a:r>
            <a:endParaRPr lang="zh-CN" altLang="en-US" sz="2800" dirty="0"/>
          </a:p>
          <a:p>
            <a:pPr lvl="1">
              <a:lnSpc>
                <a:spcPct val="100000"/>
              </a:lnSpc>
              <a:spcBef>
                <a:spcPts val="1000"/>
              </a:spcBef>
            </a:pPr>
            <a:r>
              <a:rPr lang="zh-CN" altLang="en-US" sz="2800" dirty="0"/>
              <a:t>数据库的一大特点是数据可以共享</a:t>
            </a:r>
          </a:p>
          <a:p>
            <a:pPr lvl="1">
              <a:lnSpc>
                <a:spcPct val="100000"/>
              </a:lnSpc>
              <a:spcBef>
                <a:spcPts val="1000"/>
              </a:spcBef>
            </a:pPr>
            <a:r>
              <a:rPr lang="zh-CN" altLang="en-US" sz="2800" dirty="0"/>
              <a:t>数据共享必然带来数据库的安全性问题</a:t>
            </a:r>
          </a:p>
          <a:p>
            <a:pPr lvl="1">
              <a:lnSpc>
                <a:spcPct val="100000"/>
              </a:lnSpc>
              <a:spcBef>
                <a:spcPts val="1000"/>
              </a:spcBef>
            </a:pPr>
            <a:r>
              <a:rPr lang="zh-CN" altLang="en-US" sz="2800" dirty="0"/>
              <a:t>数据库系统中的数据共享不能是无条件的共享</a:t>
            </a:r>
          </a:p>
          <a:p>
            <a:pPr lvl="2">
              <a:lnSpc>
                <a:spcPct val="100000"/>
              </a:lnSpc>
              <a:spcBef>
                <a:spcPts val="1000"/>
              </a:spcBef>
            </a:pPr>
            <a:r>
              <a:rPr lang="zh-CN" altLang="en-US" sz="2800" dirty="0"/>
              <a:t>军事秘密、国家机密</a:t>
            </a:r>
          </a:p>
          <a:p>
            <a:pPr lvl="2">
              <a:lnSpc>
                <a:spcPct val="100000"/>
              </a:lnSpc>
              <a:spcBef>
                <a:spcPts val="1000"/>
              </a:spcBef>
            </a:pPr>
            <a:r>
              <a:rPr lang="zh-CN" altLang="en-US" sz="2800" dirty="0"/>
              <a:t>新产品实验数据</a:t>
            </a:r>
          </a:p>
          <a:p>
            <a:pPr lvl="2">
              <a:lnSpc>
                <a:spcPct val="100000"/>
              </a:lnSpc>
              <a:spcBef>
                <a:spcPts val="1000"/>
              </a:spcBef>
            </a:pPr>
            <a:r>
              <a:rPr lang="zh-CN" altLang="en-US" sz="2800" dirty="0"/>
              <a:t>市场需求分析、市场营销策略、销售计划</a:t>
            </a:r>
          </a:p>
          <a:p>
            <a:pPr lvl="2">
              <a:lnSpc>
                <a:spcPct val="100000"/>
              </a:lnSpc>
              <a:spcBef>
                <a:spcPts val="1000"/>
              </a:spcBef>
            </a:pPr>
            <a:r>
              <a:rPr lang="zh-CN" altLang="en-US" sz="2800" dirty="0"/>
              <a:t>客户档案、医疗档案、银行储蓄数据</a:t>
            </a:r>
            <a:endParaRPr lang="en-US" altLang="zh-CN" sz="2800" dirty="0"/>
          </a:p>
          <a:p>
            <a:pPr>
              <a:lnSpc>
                <a:spcPct val="100000"/>
              </a:lnSpc>
              <a:spcBef>
                <a:spcPts val="1000"/>
              </a:spcBef>
            </a:pPr>
            <a:r>
              <a:rPr lang="zh-CN" altLang="en-US" sz="2800" dirty="0">
                <a:solidFill>
                  <a:srgbClr val="C00000"/>
                </a:solidFill>
              </a:rPr>
              <a:t>数据库的安全性是指保护数据库以防止不合法使用所造成的数据泄露、更改或破坏。</a:t>
            </a:r>
            <a:r>
              <a:rPr lang="zh-CN" altLang="en-US" sz="2800" dirty="0"/>
              <a:t>系统安全保护措施是否有效是数据库系统主要的性能指标之一。</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2</a:t>
            </a:fld>
            <a:endParaRPr lang="zh-CN" altLang="en-US"/>
          </a:p>
        </p:txBody>
      </p:sp>
      <p:sp>
        <p:nvSpPr>
          <p:cNvPr id="3" name="页脚占位符 2"/>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100">
                                            <p:txEl>
                                              <p:pRg st="8" end="8"/>
                                            </p:txEl>
                                          </p:spTgt>
                                        </p:tgtEl>
                                        <p:attrNameLst>
                                          <p:attrName>style.visibility</p:attrName>
                                        </p:attrNameLst>
                                      </p:cBhvr>
                                      <p:to>
                                        <p:strVal val="visible"/>
                                      </p:to>
                                    </p:set>
                                    <p:anim calcmode="lin" valueType="num">
                                      <p:cBhvr additive="base">
                                        <p:cTn id="7" dur="500" fill="hold"/>
                                        <p:tgtEl>
                                          <p:spTgt spid="4100">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00">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txBox="1">
            <a:spLocks noGrp="1" noChangeArrowheads="1"/>
          </p:cNvSpPr>
          <p:nvPr/>
        </p:nvSpPr>
        <p:spPr bwMode="auto">
          <a:xfrm>
            <a:off x="6816725"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4099" name="Rectangle 2"/>
          <p:cNvSpPr>
            <a:spLocks noGrp="1" noChangeArrowheads="1"/>
          </p:cNvSpPr>
          <p:nvPr>
            <p:ph type="title"/>
          </p:nvPr>
        </p:nvSpPr>
        <p:spPr/>
        <p:txBody>
          <a:bodyPr/>
          <a:lstStyle/>
          <a:p>
            <a:r>
              <a:rPr lang="en-US" altLang="zh-CN"/>
              <a:t> </a:t>
            </a:r>
            <a:r>
              <a:rPr lang="zh-CN" altLang="en-US"/>
              <a:t>数据库安全性</a:t>
            </a:r>
            <a:endParaRPr lang="en-US" altLang="zh-CN"/>
          </a:p>
        </p:txBody>
      </p:sp>
      <p:sp>
        <p:nvSpPr>
          <p:cNvPr id="4100" name="Rectangle 3"/>
          <p:cNvSpPr>
            <a:spLocks noGrp="1" noChangeArrowheads="1"/>
          </p:cNvSpPr>
          <p:nvPr>
            <p:ph idx="1"/>
          </p:nvPr>
        </p:nvSpPr>
        <p:spPr/>
        <p:txBody>
          <a:bodyPr>
            <a:noAutofit/>
          </a:bodyPr>
          <a:lstStyle/>
          <a:p>
            <a:pPr>
              <a:lnSpc>
                <a:spcPct val="100000"/>
              </a:lnSpc>
              <a:spcBef>
                <a:spcPts val="1000"/>
              </a:spcBef>
            </a:pPr>
            <a:r>
              <a:rPr lang="zh-CN" altLang="en-US" sz="2800">
                <a:sym typeface="+mn-ea"/>
              </a:rPr>
              <a:t>一般来说，对数据库的破坏来自以下四个方面：</a:t>
            </a:r>
          </a:p>
          <a:p>
            <a:pPr lvl="1">
              <a:lnSpc>
                <a:spcPct val="100000"/>
              </a:lnSpc>
              <a:spcBef>
                <a:spcPts val="1000"/>
              </a:spcBef>
            </a:pPr>
            <a:r>
              <a:rPr lang="zh-CN" altLang="en-US" sz="2800">
                <a:solidFill>
                  <a:srgbClr val="C00000"/>
                </a:solidFill>
                <a:sym typeface="+mn-ea"/>
              </a:rPr>
              <a:t>非法用户</a:t>
            </a:r>
          </a:p>
          <a:p>
            <a:pPr lvl="1">
              <a:lnSpc>
                <a:spcPct val="100000"/>
              </a:lnSpc>
              <a:spcBef>
                <a:spcPts val="1000"/>
              </a:spcBef>
            </a:pPr>
            <a:r>
              <a:rPr lang="zh-CN" altLang="en-US" sz="2800">
                <a:solidFill>
                  <a:srgbClr val="C00000"/>
                </a:solidFill>
                <a:sym typeface="+mn-ea"/>
              </a:rPr>
              <a:t>非法数据</a:t>
            </a:r>
          </a:p>
          <a:p>
            <a:pPr lvl="1">
              <a:lnSpc>
                <a:spcPct val="100000"/>
              </a:lnSpc>
              <a:spcBef>
                <a:spcPts val="1000"/>
              </a:spcBef>
            </a:pPr>
            <a:r>
              <a:rPr lang="zh-CN" altLang="en-US" sz="2800">
                <a:solidFill>
                  <a:srgbClr val="C00000"/>
                </a:solidFill>
                <a:sym typeface="+mn-ea"/>
              </a:rPr>
              <a:t>各种故障或误操作</a:t>
            </a:r>
          </a:p>
          <a:p>
            <a:pPr lvl="1">
              <a:lnSpc>
                <a:spcPct val="100000"/>
              </a:lnSpc>
              <a:spcBef>
                <a:spcPts val="1000"/>
              </a:spcBef>
            </a:pPr>
            <a:r>
              <a:rPr lang="zh-CN" altLang="en-US" sz="2800">
                <a:solidFill>
                  <a:srgbClr val="C00000"/>
                </a:solidFill>
                <a:sym typeface="+mn-ea"/>
              </a:rPr>
              <a:t>多用户的并发访问</a:t>
            </a:r>
          </a:p>
          <a:p>
            <a:pPr lvl="1">
              <a:lnSpc>
                <a:spcPct val="100000"/>
              </a:lnSpc>
              <a:spcBef>
                <a:spcPts val="1000"/>
              </a:spcBef>
            </a:pPr>
            <a:endParaRPr lang="zh-CN" altLang="en-US" sz="2800">
              <a:solidFill>
                <a:srgbClr val="C00000"/>
              </a:solidFill>
              <a:sym typeface="+mn-ea"/>
            </a:endParaRPr>
          </a:p>
          <a:p>
            <a:pPr lvl="0">
              <a:lnSpc>
                <a:spcPct val="100000"/>
              </a:lnSpc>
              <a:spcBef>
                <a:spcPts val="1000"/>
              </a:spcBef>
            </a:pPr>
            <a:r>
              <a:rPr lang="zh-CN" altLang="en-US" sz="2800">
                <a:sym typeface="+mn-ea"/>
              </a:rPr>
              <a:t>针对以上四种可能情况，数据库管理系统分别采取以下措施对数据库实施保护：</a:t>
            </a:r>
            <a:r>
              <a:rPr lang="zh-CN" altLang="en-US" sz="2800">
                <a:solidFill>
                  <a:srgbClr val="C00000"/>
                </a:solidFill>
                <a:sym typeface="+mn-ea"/>
              </a:rPr>
              <a:t>安全性保护（权限管理）、完整性保护、故障恢复、并发控制</a:t>
            </a:r>
            <a:r>
              <a:rPr lang="zh-CN" altLang="en-US" sz="2800">
                <a:sym typeface="+mn-ea"/>
              </a:rPr>
              <a:t>。</a:t>
            </a:r>
            <a:endParaRPr lang="zh-CN" altLang="en-US" sz="2800" dirty="0"/>
          </a:p>
        </p:txBody>
      </p:sp>
      <p:sp>
        <p:nvSpPr>
          <p:cNvPr id="2" name="灯片编号占位符 1"/>
          <p:cNvSpPr>
            <a:spLocks noGrp="1"/>
          </p:cNvSpPr>
          <p:nvPr>
            <p:ph type="sldNum" sz="quarter" idx="12"/>
          </p:nvPr>
        </p:nvSpPr>
        <p:spPr/>
        <p:txBody>
          <a:bodyPr/>
          <a:lstStyle/>
          <a:p>
            <a:fld id="{565CE74E-AB26-4998-AD42-012C4C1AD076}" type="slidenum">
              <a:rPr lang="zh-CN" altLang="en-US" smtClean="0"/>
              <a:t>3</a:t>
            </a:fld>
            <a:endParaRPr lang="zh-CN" altLang="en-US"/>
          </a:p>
        </p:txBody>
      </p:sp>
      <p:sp>
        <p:nvSpPr>
          <p:cNvPr id="3" name="页脚占位符 2"/>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第</a:t>
            </a:r>
            <a:r>
              <a:rPr lang="en-US" altLang="zh-CN"/>
              <a:t>4</a:t>
            </a:r>
            <a:r>
              <a:rPr lang="zh-CN" altLang="en-US"/>
              <a:t>章</a:t>
            </a:r>
            <a:r>
              <a:rPr lang="en-US" altLang="zh-CN"/>
              <a:t> </a:t>
            </a:r>
            <a:r>
              <a:rPr lang="zh-CN" altLang="en-US"/>
              <a:t> 数据库安全性</a:t>
            </a:r>
          </a:p>
        </p:txBody>
      </p:sp>
      <p:sp>
        <p:nvSpPr>
          <p:cNvPr id="3" name="内容占位符 2"/>
          <p:cNvSpPr>
            <a:spLocks noGrp="1"/>
          </p:cNvSpPr>
          <p:nvPr>
            <p:ph idx="1"/>
          </p:nvPr>
        </p:nvSpPr>
        <p:spPr/>
        <p:txBody>
          <a:bodyPr/>
          <a:lstStyle/>
          <a:p>
            <a:r>
              <a:rPr lang="zh-CN" altLang="en-US">
                <a:solidFill>
                  <a:srgbClr val="FF0000"/>
                </a:solidFill>
              </a:rPr>
              <a:t>4.1 数据库安全性概述</a:t>
            </a:r>
            <a:endParaRPr lang="zh-CN" altLang="en-US"/>
          </a:p>
          <a:p>
            <a:r>
              <a:rPr lang="zh-CN" altLang="en-US"/>
              <a:t>4.2 数据库安全性控制</a:t>
            </a:r>
          </a:p>
          <a:p>
            <a:r>
              <a:rPr lang="zh-CN" altLang="en-US"/>
              <a:t>4.3 视图机制</a:t>
            </a:r>
          </a:p>
          <a:p>
            <a:r>
              <a:rPr lang="zh-CN" altLang="en-US"/>
              <a:t>4.4 审计（Audit）</a:t>
            </a:r>
          </a:p>
          <a:p>
            <a:r>
              <a:rPr lang="zh-CN" altLang="en-US"/>
              <a:t>4.5 数据加密</a:t>
            </a:r>
          </a:p>
          <a:p>
            <a:r>
              <a:rPr lang="zh-CN" altLang="en-US"/>
              <a:t>4.6 其他安全性保护</a:t>
            </a:r>
          </a:p>
          <a:p>
            <a:r>
              <a:rPr lang="zh-CN" altLang="en-US"/>
              <a:t>4.7 小结</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4</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4.1 </a:t>
            </a:r>
            <a:r>
              <a:rPr lang="en-US" altLang="zh-CN"/>
              <a:t> </a:t>
            </a:r>
            <a:r>
              <a:rPr lang="zh-CN" altLang="en-US"/>
              <a:t>数据库安全性概述</a:t>
            </a:r>
          </a:p>
        </p:txBody>
      </p:sp>
      <p:sp>
        <p:nvSpPr>
          <p:cNvPr id="3" name="内容占位符 2"/>
          <p:cNvSpPr>
            <a:spLocks noGrp="1"/>
          </p:cNvSpPr>
          <p:nvPr>
            <p:ph idx="1"/>
          </p:nvPr>
        </p:nvSpPr>
        <p:spPr/>
        <p:txBody>
          <a:bodyPr/>
          <a:lstStyle/>
          <a:p>
            <a:r>
              <a:rPr lang="zh-CN" altLang="en-US"/>
              <a:t>4.1.1 数据库的不安全因素</a:t>
            </a:r>
          </a:p>
          <a:p>
            <a:endParaRPr lang="zh-CN" altLang="en-US"/>
          </a:p>
          <a:p>
            <a:r>
              <a:rPr lang="zh-CN" altLang="en-US"/>
              <a:t>4.1.2 安全标准简介</a:t>
            </a:r>
          </a:p>
          <a:p>
            <a:endParaRPr lang="zh-CN" altLang="en-US"/>
          </a:p>
          <a:p>
            <a:r>
              <a:rPr lang="en-US" altLang="zh-CN"/>
              <a:t>4.1.3 </a:t>
            </a:r>
            <a:r>
              <a:rPr lang="zh-CN" altLang="en-US"/>
              <a:t>中国计算机安全标准制订历史</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5</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p:cNvSpPr>
            <a:spLocks noGrp="1" noChangeArrowheads="1"/>
          </p:cNvSpPr>
          <p:nvPr>
            <p:ph type="title"/>
          </p:nvPr>
        </p:nvSpPr>
        <p:spPr/>
        <p:txBody>
          <a:bodyPr/>
          <a:lstStyle/>
          <a:p>
            <a:r>
              <a:rPr lang="en-US" altLang="zh-CN" dirty="0"/>
              <a:t>4.1.1  </a:t>
            </a:r>
            <a:r>
              <a:rPr lang="zh-CN" altLang="en-US" dirty="0"/>
              <a:t>数据库的不安全因素</a:t>
            </a:r>
          </a:p>
        </p:txBody>
      </p:sp>
      <p:sp>
        <p:nvSpPr>
          <p:cNvPr id="8194" name="内容占位符 2"/>
          <p:cNvSpPr>
            <a:spLocks noGrp="1"/>
          </p:cNvSpPr>
          <p:nvPr>
            <p:ph idx="1"/>
          </p:nvPr>
        </p:nvSpPr>
        <p:spPr/>
        <p:txBody>
          <a:bodyPr>
            <a:noAutofit/>
          </a:bodyPr>
          <a:lstStyle/>
          <a:p>
            <a:pPr>
              <a:lnSpc>
                <a:spcPct val="100000"/>
              </a:lnSpc>
              <a:spcBef>
                <a:spcPct val="0"/>
              </a:spcBef>
            </a:pPr>
            <a:r>
              <a:rPr lang="zh-CN" altLang="en-US" sz="2800" dirty="0">
                <a:solidFill>
                  <a:srgbClr val="FF0000"/>
                </a:solidFill>
              </a:rPr>
              <a:t>非授权用户对数据库的恶意存取和破坏</a:t>
            </a:r>
            <a:endParaRPr lang="en-US" altLang="zh-CN" sz="2800" dirty="0"/>
          </a:p>
          <a:p>
            <a:pPr lvl="1">
              <a:lnSpc>
                <a:spcPct val="100000"/>
              </a:lnSpc>
              <a:spcBef>
                <a:spcPct val="0"/>
              </a:spcBef>
            </a:pPr>
            <a:r>
              <a:rPr lang="zh-CN" altLang="zh-CN" sz="2400" dirty="0"/>
              <a:t>一些黑客（</a:t>
            </a:r>
            <a:r>
              <a:rPr lang="en-US" altLang="zh-CN" sz="2400" dirty="0"/>
              <a:t>Hacker</a:t>
            </a:r>
            <a:r>
              <a:rPr lang="zh-CN" altLang="zh-CN" sz="2400" dirty="0"/>
              <a:t>）和犯罪分子在用户存取数据库时猎取用户名和用户口令，然后假冒合法用户偷取、修改甚至破坏用户数据。</a:t>
            </a:r>
            <a:endParaRPr lang="en-US" altLang="zh-CN" sz="2400" dirty="0"/>
          </a:p>
          <a:p>
            <a:pPr lvl="1">
              <a:lnSpc>
                <a:spcPct val="100000"/>
              </a:lnSpc>
              <a:spcBef>
                <a:spcPct val="0"/>
              </a:spcBef>
            </a:pPr>
            <a:r>
              <a:rPr lang="zh-CN" altLang="en-US" sz="2400" dirty="0"/>
              <a:t>数据库管理系统</a:t>
            </a:r>
            <a:r>
              <a:rPr lang="zh-CN" altLang="zh-CN" sz="2400" dirty="0"/>
              <a:t>提供的安全措施主要包括</a:t>
            </a:r>
            <a:r>
              <a:rPr lang="zh-CN" altLang="zh-CN" sz="2400" dirty="0">
                <a:solidFill>
                  <a:srgbClr val="C00000"/>
                </a:solidFill>
              </a:rPr>
              <a:t>用户身份鉴别、存取控制和视图</a:t>
            </a:r>
            <a:r>
              <a:rPr lang="zh-CN" altLang="zh-CN" sz="2400" dirty="0"/>
              <a:t>等技术。</a:t>
            </a:r>
          </a:p>
          <a:p>
            <a:pPr lvl="1">
              <a:lnSpc>
                <a:spcPct val="100000"/>
              </a:lnSpc>
              <a:spcBef>
                <a:spcPct val="0"/>
              </a:spcBef>
            </a:pPr>
            <a:endParaRPr lang="en-US" altLang="zh-CN" sz="2400" dirty="0"/>
          </a:p>
          <a:p>
            <a:pPr>
              <a:lnSpc>
                <a:spcPct val="100000"/>
              </a:lnSpc>
              <a:spcBef>
                <a:spcPct val="0"/>
              </a:spcBef>
            </a:pPr>
            <a:r>
              <a:rPr lang="zh-CN" altLang="en-US" sz="2800" dirty="0">
                <a:solidFill>
                  <a:srgbClr val="FF0000"/>
                </a:solidFill>
              </a:rPr>
              <a:t>数据库中重要或敏感的数据被泄露</a:t>
            </a:r>
            <a:endParaRPr lang="en-US" altLang="zh-CN" sz="2800" dirty="0">
              <a:solidFill>
                <a:srgbClr val="FF0000"/>
              </a:solidFill>
            </a:endParaRPr>
          </a:p>
          <a:p>
            <a:pPr lvl="1">
              <a:lnSpc>
                <a:spcPct val="100000"/>
              </a:lnSpc>
              <a:spcBef>
                <a:spcPct val="0"/>
              </a:spcBef>
            </a:pPr>
            <a:r>
              <a:rPr lang="zh-CN" altLang="zh-CN" sz="2400" dirty="0"/>
              <a:t>黑客和敌对分子千方百计盗窃数据库中的重要数据，一些机密信息被暴露。</a:t>
            </a:r>
            <a:endParaRPr lang="en-US" altLang="zh-CN" sz="2400" dirty="0"/>
          </a:p>
          <a:p>
            <a:pPr lvl="1">
              <a:lnSpc>
                <a:spcPct val="100000"/>
              </a:lnSpc>
              <a:spcBef>
                <a:spcPct val="0"/>
              </a:spcBef>
            </a:pPr>
            <a:r>
              <a:rPr lang="zh-CN" altLang="en-US" sz="2400" dirty="0"/>
              <a:t>数据库管理系统</a:t>
            </a:r>
            <a:r>
              <a:rPr lang="zh-CN" altLang="zh-CN" sz="2400" dirty="0"/>
              <a:t>提供的主要技术有</a:t>
            </a:r>
            <a:r>
              <a:rPr lang="zh-CN" altLang="zh-CN" sz="2400" dirty="0">
                <a:solidFill>
                  <a:srgbClr val="C00000"/>
                </a:solidFill>
              </a:rPr>
              <a:t>强制存取控制、数据加密存储和加密传输</a:t>
            </a:r>
            <a:r>
              <a:rPr lang="zh-CN" altLang="en-US" sz="2400" dirty="0"/>
              <a:t>等。</a:t>
            </a:r>
            <a:endParaRPr lang="en-US" altLang="zh-CN" sz="2400" dirty="0"/>
          </a:p>
          <a:p>
            <a:pPr lvl="1">
              <a:lnSpc>
                <a:spcPct val="100000"/>
              </a:lnSpc>
              <a:spcBef>
                <a:spcPct val="0"/>
              </a:spcBef>
            </a:pPr>
            <a:r>
              <a:rPr lang="zh-CN" altLang="zh-CN" sz="2400" dirty="0">
                <a:solidFill>
                  <a:srgbClr val="C00000"/>
                </a:solidFill>
              </a:rPr>
              <a:t>审计</a:t>
            </a:r>
            <a:r>
              <a:rPr lang="zh-CN" altLang="zh-CN" sz="2400" dirty="0"/>
              <a:t>日志分析</a:t>
            </a:r>
          </a:p>
          <a:p>
            <a:pPr lvl="1">
              <a:lnSpc>
                <a:spcPct val="100000"/>
              </a:lnSpc>
              <a:spcBef>
                <a:spcPct val="0"/>
              </a:spcBef>
            </a:pPr>
            <a:endParaRPr lang="en-US" altLang="zh-CN" sz="2400" dirty="0"/>
          </a:p>
          <a:p>
            <a:pPr>
              <a:lnSpc>
                <a:spcPct val="100000"/>
              </a:lnSpc>
              <a:spcBef>
                <a:spcPct val="0"/>
              </a:spcBef>
            </a:pPr>
            <a:r>
              <a:rPr lang="zh-CN" altLang="en-US" sz="2800" dirty="0">
                <a:solidFill>
                  <a:srgbClr val="FF0000"/>
                </a:solidFill>
              </a:rPr>
              <a:t>安全环境的脆弱性</a:t>
            </a:r>
            <a:endParaRPr lang="en-US" altLang="zh-CN" sz="2800" dirty="0"/>
          </a:p>
          <a:p>
            <a:pPr lvl="1">
              <a:lnSpc>
                <a:spcPct val="100000"/>
              </a:lnSpc>
              <a:spcBef>
                <a:spcPct val="0"/>
              </a:spcBef>
            </a:pPr>
            <a:r>
              <a:rPr lang="zh-CN" altLang="zh-CN" sz="2400" dirty="0"/>
              <a:t>数据库的安全性与计算机系统的安全性紧密联系</a:t>
            </a:r>
            <a:endParaRPr lang="en-US" altLang="zh-CN" sz="2400" dirty="0"/>
          </a:p>
          <a:p>
            <a:pPr lvl="2">
              <a:lnSpc>
                <a:spcPct val="100000"/>
              </a:lnSpc>
              <a:spcBef>
                <a:spcPct val="0"/>
              </a:spcBef>
            </a:pPr>
            <a:r>
              <a:rPr lang="zh-CN" altLang="zh-CN" sz="2400" dirty="0"/>
              <a:t>计算机硬件、操作系统、网络系统等的安全性</a:t>
            </a:r>
            <a:endParaRPr lang="en-US" altLang="zh-CN" sz="2400" dirty="0"/>
          </a:p>
          <a:p>
            <a:pPr lvl="1">
              <a:lnSpc>
                <a:spcPct val="100000"/>
              </a:lnSpc>
              <a:spcBef>
                <a:spcPct val="0"/>
              </a:spcBef>
            </a:pPr>
            <a:r>
              <a:rPr lang="zh-CN" altLang="zh-CN" sz="2400" dirty="0"/>
              <a:t>建立一套</a:t>
            </a:r>
            <a:r>
              <a:rPr lang="zh-CN" altLang="zh-CN" sz="2400" dirty="0">
                <a:solidFill>
                  <a:srgbClr val="C00000"/>
                </a:solidFill>
              </a:rPr>
              <a:t>可信（</a:t>
            </a:r>
            <a:r>
              <a:rPr lang="en-US" altLang="zh-CN" sz="2400" dirty="0">
                <a:solidFill>
                  <a:srgbClr val="C00000"/>
                </a:solidFill>
              </a:rPr>
              <a:t>Trusted</a:t>
            </a:r>
            <a:r>
              <a:rPr lang="zh-CN" altLang="zh-CN" sz="2400" dirty="0">
                <a:solidFill>
                  <a:srgbClr val="C00000"/>
                </a:solidFill>
              </a:rPr>
              <a:t>）计算机系统</a:t>
            </a:r>
            <a:r>
              <a:rPr lang="zh-CN" altLang="zh-CN" sz="2400" dirty="0"/>
              <a:t>的概念和标准</a:t>
            </a:r>
            <a:endParaRPr lang="en-US" altLang="zh-CN" sz="2400" dirty="0"/>
          </a:p>
        </p:txBody>
      </p:sp>
      <p:sp>
        <p:nvSpPr>
          <p:cNvPr id="8195" name="页脚占位符 3"/>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2" name="灯片编号占位符 1"/>
          <p:cNvSpPr>
            <a:spLocks noGrp="1"/>
          </p:cNvSpPr>
          <p:nvPr>
            <p:ph type="sldNum" sz="quarter" idx="12"/>
          </p:nvPr>
        </p:nvSpPr>
        <p:spPr/>
        <p:txBody>
          <a:bodyPr/>
          <a:lstStyle/>
          <a:p>
            <a:fld id="{565CE74E-AB26-4998-AD42-012C4C1AD076}" type="slidenum">
              <a:rPr lang="zh-CN" altLang="en-US" smtClean="0"/>
              <a:t>6</a:t>
            </a:fld>
            <a:endParaRPr lang="zh-CN" altLang="en-US"/>
          </a:p>
        </p:txBody>
      </p:sp>
      <p:sp>
        <p:nvSpPr>
          <p:cNvPr id="3" name="页脚占位符 2"/>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4.1.2  </a:t>
            </a:r>
            <a:r>
              <a:rPr lang="zh-CN" altLang="en-US"/>
              <a:t>安全标准简介</a:t>
            </a:r>
          </a:p>
        </p:txBody>
      </p:sp>
      <p:sp>
        <p:nvSpPr>
          <p:cNvPr id="3" name="内容占位符 2"/>
          <p:cNvSpPr>
            <a:spLocks noGrp="1"/>
          </p:cNvSpPr>
          <p:nvPr>
            <p:ph idx="1"/>
          </p:nvPr>
        </p:nvSpPr>
        <p:spPr/>
        <p:txBody>
          <a:bodyPr/>
          <a:lstStyle/>
          <a:p>
            <a:r>
              <a:rPr lang="zh-CN" altLang="en-US" sz="2800"/>
              <a:t>1985年美国国防部（DoD）正式颁布《DoD可信计算机系统评估准则》（简称TCSEC或DoD85）</a:t>
            </a:r>
          </a:p>
          <a:p>
            <a:r>
              <a:rPr lang="zh-CN" altLang="en-US" sz="2800"/>
              <a:t>不同国家建立在TCSEC概念上的评估准则</a:t>
            </a:r>
          </a:p>
          <a:p>
            <a:pPr lvl="1"/>
            <a:r>
              <a:rPr lang="zh-CN" altLang="en-US" sz="2800"/>
              <a:t>欧洲的信息技术安全评估准则（ITSEC）</a:t>
            </a:r>
          </a:p>
          <a:p>
            <a:pPr lvl="1"/>
            <a:r>
              <a:rPr lang="zh-CN" altLang="en-US" sz="2800"/>
              <a:t>加拿大的可信计算机产品评估准则（CTCPEC）</a:t>
            </a:r>
          </a:p>
          <a:p>
            <a:pPr lvl="1"/>
            <a:r>
              <a:rPr lang="zh-CN" altLang="en-US" sz="2800"/>
              <a:t>美国的信息技术安全联邦标准（FC）</a:t>
            </a:r>
          </a:p>
          <a:p>
            <a:pPr lvl="0"/>
            <a:r>
              <a:rPr lang="zh-CN" altLang="en-US" sz="2800"/>
              <a:t>1993年，CTCPEC、FC、TCSEC和ITSEC联合行动，解决原标准中概念和技术上的差异，称为CC（Common Criteria）项目</a:t>
            </a:r>
          </a:p>
          <a:p>
            <a:pPr lvl="0"/>
            <a:r>
              <a:rPr lang="zh-CN" altLang="en-US" sz="2800"/>
              <a:t>1999年 CC V2.1版被ISO采用为国际标准，2001年 CC V2.1版被我国采用为国家标准</a:t>
            </a:r>
          </a:p>
          <a:p>
            <a:pPr lvl="0"/>
            <a:r>
              <a:rPr lang="zh-CN" altLang="en-US" sz="2800"/>
              <a:t>目前CC已基本取代了TCSEC，成为评估信息产品安全性的主要标准</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7</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linds(horizontal)">
                                      <p:cBhvr>
                                        <p:cTn id="13" dur="500"/>
                                        <p:tgtEl>
                                          <p:spTgt spid="3">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blinds(horizontal)">
                                      <p:cBhvr>
                                        <p:cTn id="16" dur="500"/>
                                        <p:tgtEl>
                                          <p:spTgt spid="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 calcmode="lin" valueType="num">
                                      <p:cBhvr additive="base">
                                        <p:cTn id="3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图</a:t>
            </a:r>
            <a:r>
              <a:rPr lang="en-US" altLang="zh-CN"/>
              <a:t>4.1  </a:t>
            </a:r>
            <a:r>
              <a:rPr lang="zh-CN" altLang="en-US"/>
              <a:t>信息安全标准的发展历史</a:t>
            </a:r>
          </a:p>
        </p:txBody>
      </p:sp>
      <p:pic>
        <p:nvPicPr>
          <p:cNvPr id="6" name="内容占位符 5"/>
          <p:cNvPicPr>
            <a:picLocks noGrp="1" noChangeAspect="1"/>
          </p:cNvPicPr>
          <p:nvPr>
            <p:ph idx="1"/>
          </p:nvPr>
        </p:nvPicPr>
        <p:blipFill>
          <a:blip r:embed="rId2"/>
          <a:stretch>
            <a:fillRect/>
          </a:stretch>
        </p:blipFill>
        <p:spPr>
          <a:xfrm>
            <a:off x="424180" y="803275"/>
            <a:ext cx="11343005" cy="5664835"/>
          </a:xfrm>
          <a:prstGeom prst="rect">
            <a:avLst/>
          </a:prstGeom>
        </p:spPr>
      </p:pic>
      <p:sp>
        <p:nvSpPr>
          <p:cNvPr id="3" name="灯片编号占位符 2"/>
          <p:cNvSpPr>
            <a:spLocks noGrp="1"/>
          </p:cNvSpPr>
          <p:nvPr>
            <p:ph type="sldNum" sz="quarter" idx="12"/>
          </p:nvPr>
        </p:nvSpPr>
        <p:spPr/>
        <p:txBody>
          <a:bodyPr/>
          <a:lstStyle/>
          <a:p>
            <a:fld id="{565CE74E-AB26-4998-AD42-012C4C1AD076}" type="slidenum">
              <a:rPr lang="zh-CN" altLang="en-US" smtClean="0"/>
              <a:t>8</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18435" name="Rectangle 2"/>
          <p:cNvSpPr>
            <a:spLocks noGrp="1" noChangeArrowheads="1"/>
          </p:cNvSpPr>
          <p:nvPr>
            <p:ph type="title"/>
          </p:nvPr>
        </p:nvSpPr>
        <p:spPr/>
        <p:txBody>
          <a:bodyPr>
            <a:normAutofit fontScale="90000"/>
          </a:bodyPr>
          <a:lstStyle/>
          <a:p>
            <a:r>
              <a:rPr lang="zh-CN" altLang="en-US" dirty="0"/>
              <a:t>表</a:t>
            </a:r>
            <a:r>
              <a:rPr lang="en-US" altLang="zh-CN" dirty="0"/>
              <a:t>4.1  TCSEC/TDI</a:t>
            </a:r>
            <a:r>
              <a:rPr lang="zh-CN" altLang="en-US" dirty="0"/>
              <a:t>安全级别划分 </a:t>
            </a:r>
            <a:r>
              <a:rPr lang="en-US" altLang="zh-CN" dirty="0"/>
              <a:t>1</a:t>
            </a:r>
            <a:endParaRPr lang="zh-CN" altLang="en-US" dirty="0"/>
          </a:p>
        </p:txBody>
      </p:sp>
      <p:sp>
        <p:nvSpPr>
          <p:cNvPr id="18436" name="Rectangle 3"/>
          <p:cNvSpPr>
            <a:spLocks noGrp="1" noChangeArrowheads="1"/>
          </p:cNvSpPr>
          <p:nvPr>
            <p:ph idx="1"/>
          </p:nvPr>
        </p:nvSpPr>
        <p:spPr/>
        <p:txBody>
          <a:bodyPr>
            <a:normAutofit/>
          </a:bodyPr>
          <a:lstStyle/>
          <a:p>
            <a:r>
              <a:rPr lang="en-US" altLang="zh-CN" dirty="0"/>
              <a:t>TCSEC/TDI</a:t>
            </a:r>
            <a:r>
              <a:rPr lang="zh-CN" altLang="en-US" dirty="0"/>
              <a:t>安全级别划分</a:t>
            </a:r>
            <a:endParaRPr lang="en-US" altLang="zh-CN" dirty="0"/>
          </a:p>
          <a:p>
            <a:pPr lvl="1"/>
            <a:r>
              <a:rPr lang="zh-CN" altLang="en-US" dirty="0"/>
              <a:t>按系统可靠或可信程度逐渐增高</a:t>
            </a:r>
          </a:p>
          <a:p>
            <a:pPr lvl="1"/>
            <a:r>
              <a:rPr lang="zh-CN" altLang="en-US" dirty="0"/>
              <a:t>各安全级别之间具有一种偏序向下兼容的关系</a:t>
            </a:r>
          </a:p>
        </p:txBody>
      </p:sp>
      <p:grpSp>
        <p:nvGrpSpPr>
          <p:cNvPr id="18437" name="Group 5"/>
          <p:cNvGrpSpPr/>
          <p:nvPr/>
        </p:nvGrpSpPr>
        <p:grpSpPr bwMode="auto">
          <a:xfrm>
            <a:off x="2243931" y="2508171"/>
            <a:ext cx="7704138" cy="3429000"/>
            <a:chOff x="0" y="0"/>
            <a:chExt cx="3071" cy="3078"/>
          </a:xfrm>
        </p:grpSpPr>
        <p:grpSp>
          <p:nvGrpSpPr>
            <p:cNvPr id="18438" name="Group 6"/>
            <p:cNvGrpSpPr/>
            <p:nvPr/>
          </p:nvGrpSpPr>
          <p:grpSpPr bwMode="auto">
            <a:xfrm>
              <a:off x="3" y="3"/>
              <a:ext cx="3065" cy="3072"/>
              <a:chOff x="0" y="0"/>
              <a:chExt cx="3065" cy="3072"/>
            </a:xfrm>
          </p:grpSpPr>
          <p:grpSp>
            <p:nvGrpSpPr>
              <p:cNvPr id="18440" name="Group 7"/>
              <p:cNvGrpSpPr/>
              <p:nvPr/>
            </p:nvGrpSpPr>
            <p:grpSpPr bwMode="auto">
              <a:xfrm>
                <a:off x="0" y="0"/>
                <a:ext cx="709" cy="384"/>
                <a:chOff x="0" y="0"/>
                <a:chExt cx="709" cy="384"/>
              </a:xfrm>
            </p:grpSpPr>
            <p:sp>
              <p:nvSpPr>
                <p:cNvPr id="18486" name="Rectangle 7"/>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fontAlgn="b" hangingPunct="1"/>
                  <a:r>
                    <a:rPr lang="zh-CN" altLang="en-US" sz="2000" b="1">
                      <a:latin typeface="Times New Roman" panose="02020603050405020304" pitchFamily="2" charset="0"/>
                    </a:rPr>
                    <a:t>安 全 级 别</a:t>
                  </a:r>
                  <a:endParaRPr lang="zh-CN" altLang="en-US" sz="2000">
                    <a:latin typeface="Times New Roman" panose="02020603050405020304" pitchFamily="2" charset="0"/>
                  </a:endParaRPr>
                </a:p>
              </p:txBody>
            </p:sp>
            <p:sp>
              <p:nvSpPr>
                <p:cNvPr id="18487" name="Rectangle 8"/>
                <p:cNvSpPr>
                  <a:spLocks noChangeArrowheads="1"/>
                </p:cNvSpPr>
                <p:nvPr/>
              </p:nvSpPr>
              <p:spPr bwMode="auto">
                <a:xfrm>
                  <a:off x="0" y="0"/>
                  <a:ext cx="70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000" b="1">
                    <a:latin typeface="Times New Roman" panose="02020603050405020304" pitchFamily="2" charset="0"/>
                  </a:endParaRPr>
                </a:p>
              </p:txBody>
            </p:sp>
          </p:grpSp>
          <p:grpSp>
            <p:nvGrpSpPr>
              <p:cNvPr id="18441" name="Group 10"/>
              <p:cNvGrpSpPr/>
              <p:nvPr/>
            </p:nvGrpSpPr>
            <p:grpSpPr bwMode="auto">
              <a:xfrm>
                <a:off x="709" y="0"/>
                <a:ext cx="2356" cy="384"/>
                <a:chOff x="0" y="0"/>
                <a:chExt cx="2356" cy="384"/>
              </a:xfrm>
            </p:grpSpPr>
            <p:sp>
              <p:nvSpPr>
                <p:cNvPr id="18484" name="Rectangle 10"/>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fontAlgn="b" hangingPunct="1"/>
                  <a:r>
                    <a:rPr lang="en-US" altLang="zh-CN" sz="2000" b="1">
                      <a:latin typeface="Times New Roman" panose="02020603050405020304" pitchFamily="2" charset="0"/>
                    </a:rPr>
                    <a:t>       </a:t>
                  </a:r>
                  <a:r>
                    <a:rPr lang="zh-CN" altLang="en-US" sz="2000" b="1">
                      <a:latin typeface="Times New Roman" panose="02020603050405020304" pitchFamily="2" charset="0"/>
                    </a:rPr>
                    <a:t>定        义</a:t>
                  </a:r>
                  <a:endParaRPr lang="zh-CN" altLang="en-US" sz="2000">
                    <a:latin typeface="Times New Roman" panose="02020603050405020304" pitchFamily="2" charset="0"/>
                  </a:endParaRPr>
                </a:p>
              </p:txBody>
            </p:sp>
            <p:sp>
              <p:nvSpPr>
                <p:cNvPr id="18485" name="Rectangle 11"/>
                <p:cNvSpPr>
                  <a:spLocks noChangeArrowheads="1"/>
                </p:cNvSpPr>
                <p:nvPr/>
              </p:nvSpPr>
              <p:spPr bwMode="auto">
                <a:xfrm>
                  <a:off x="0" y="0"/>
                  <a:ext cx="235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000" b="1">
                    <a:latin typeface="Times New Roman" panose="02020603050405020304" pitchFamily="2" charset="0"/>
                  </a:endParaRPr>
                </a:p>
              </p:txBody>
            </p:sp>
          </p:grpSp>
          <p:grpSp>
            <p:nvGrpSpPr>
              <p:cNvPr id="18442" name="Group 13"/>
              <p:cNvGrpSpPr/>
              <p:nvPr/>
            </p:nvGrpSpPr>
            <p:grpSpPr bwMode="auto">
              <a:xfrm>
                <a:off x="0" y="384"/>
                <a:ext cx="709" cy="384"/>
                <a:chOff x="0" y="0"/>
                <a:chExt cx="709" cy="384"/>
              </a:xfrm>
            </p:grpSpPr>
            <p:sp>
              <p:nvSpPr>
                <p:cNvPr id="18482" name="Rectangle 13"/>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fontAlgn="b" hangingPunct="1"/>
                  <a:r>
                    <a:rPr lang="en-US" altLang="zh-CN" sz="2000" b="1">
                      <a:latin typeface="Times New Roman" panose="02020603050405020304" pitchFamily="2" charset="0"/>
                    </a:rPr>
                    <a:t>     A1</a:t>
                  </a:r>
                  <a:endParaRPr lang="en-US" altLang="zh-CN" sz="2000">
                    <a:latin typeface="Times New Roman" panose="02020603050405020304" pitchFamily="2" charset="0"/>
                  </a:endParaRPr>
                </a:p>
              </p:txBody>
            </p:sp>
            <p:sp>
              <p:nvSpPr>
                <p:cNvPr id="18483" name="Rectangle 14"/>
                <p:cNvSpPr>
                  <a:spLocks noChangeArrowheads="1"/>
                </p:cNvSpPr>
                <p:nvPr/>
              </p:nvSpPr>
              <p:spPr bwMode="auto">
                <a:xfrm>
                  <a:off x="0" y="0"/>
                  <a:ext cx="70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000" b="1">
                    <a:latin typeface="Times New Roman" panose="02020603050405020304" pitchFamily="2" charset="0"/>
                  </a:endParaRPr>
                </a:p>
              </p:txBody>
            </p:sp>
          </p:grpSp>
          <p:grpSp>
            <p:nvGrpSpPr>
              <p:cNvPr id="18443" name="Group 16"/>
              <p:cNvGrpSpPr/>
              <p:nvPr/>
            </p:nvGrpSpPr>
            <p:grpSpPr bwMode="auto">
              <a:xfrm>
                <a:off x="709" y="384"/>
                <a:ext cx="2356" cy="384"/>
                <a:chOff x="0" y="0"/>
                <a:chExt cx="2356" cy="384"/>
              </a:xfrm>
            </p:grpSpPr>
            <p:sp>
              <p:nvSpPr>
                <p:cNvPr id="18480" name="Rectangle 16"/>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fontAlgn="b" hangingPunct="1"/>
                  <a:r>
                    <a:rPr lang="zh-CN" altLang="en-US" sz="2000" b="1">
                      <a:latin typeface="Times New Roman" panose="02020603050405020304" pitchFamily="2" charset="0"/>
                    </a:rPr>
                    <a:t>验证设计（</a:t>
                  </a:r>
                  <a:r>
                    <a:rPr lang="en-US" altLang="zh-CN" sz="2000" b="1">
                      <a:latin typeface="Times New Roman" panose="02020603050405020304" pitchFamily="2" charset="0"/>
                    </a:rPr>
                    <a:t>Verified Design</a:t>
                  </a:r>
                  <a:r>
                    <a:rPr lang="zh-CN" altLang="en-US" sz="2000" b="1">
                      <a:latin typeface="Times New Roman" panose="02020603050405020304" pitchFamily="2" charset="0"/>
                    </a:rPr>
                    <a:t>）</a:t>
                  </a:r>
                  <a:endParaRPr lang="zh-CN" altLang="en-US" sz="2000">
                    <a:latin typeface="Times New Roman" panose="02020603050405020304" pitchFamily="2" charset="0"/>
                  </a:endParaRPr>
                </a:p>
              </p:txBody>
            </p:sp>
            <p:sp>
              <p:nvSpPr>
                <p:cNvPr id="18481" name="Rectangle 17"/>
                <p:cNvSpPr>
                  <a:spLocks noChangeArrowheads="1"/>
                </p:cNvSpPr>
                <p:nvPr/>
              </p:nvSpPr>
              <p:spPr bwMode="auto">
                <a:xfrm>
                  <a:off x="0" y="0"/>
                  <a:ext cx="235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000" b="1">
                    <a:latin typeface="Times New Roman" panose="02020603050405020304" pitchFamily="2" charset="0"/>
                  </a:endParaRPr>
                </a:p>
              </p:txBody>
            </p:sp>
          </p:grpSp>
          <p:grpSp>
            <p:nvGrpSpPr>
              <p:cNvPr id="18444" name="Group 19"/>
              <p:cNvGrpSpPr/>
              <p:nvPr/>
            </p:nvGrpSpPr>
            <p:grpSpPr bwMode="auto">
              <a:xfrm>
                <a:off x="0" y="768"/>
                <a:ext cx="709" cy="384"/>
                <a:chOff x="0" y="0"/>
                <a:chExt cx="709" cy="384"/>
              </a:xfrm>
            </p:grpSpPr>
            <p:sp>
              <p:nvSpPr>
                <p:cNvPr id="18478" name="Rectangle 19"/>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fontAlgn="b" hangingPunct="1"/>
                  <a:r>
                    <a:rPr lang="en-US" altLang="zh-CN" sz="2000" b="1">
                      <a:latin typeface="Times New Roman" panose="02020603050405020304" pitchFamily="2" charset="0"/>
                    </a:rPr>
                    <a:t>     B3</a:t>
                  </a:r>
                  <a:endParaRPr lang="en-US" altLang="zh-CN" sz="2000">
                    <a:latin typeface="Times New Roman" panose="02020603050405020304" pitchFamily="2" charset="0"/>
                  </a:endParaRPr>
                </a:p>
              </p:txBody>
            </p:sp>
            <p:sp>
              <p:nvSpPr>
                <p:cNvPr id="18479" name="Rectangle 20"/>
                <p:cNvSpPr>
                  <a:spLocks noChangeArrowheads="1"/>
                </p:cNvSpPr>
                <p:nvPr/>
              </p:nvSpPr>
              <p:spPr bwMode="auto">
                <a:xfrm>
                  <a:off x="0" y="0"/>
                  <a:ext cx="70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000" b="1">
                    <a:latin typeface="Times New Roman" panose="02020603050405020304" pitchFamily="2" charset="0"/>
                  </a:endParaRPr>
                </a:p>
              </p:txBody>
            </p:sp>
          </p:grpSp>
          <p:grpSp>
            <p:nvGrpSpPr>
              <p:cNvPr id="18445" name="Group 22"/>
              <p:cNvGrpSpPr/>
              <p:nvPr/>
            </p:nvGrpSpPr>
            <p:grpSpPr bwMode="auto">
              <a:xfrm>
                <a:off x="709" y="768"/>
                <a:ext cx="2356" cy="384"/>
                <a:chOff x="0" y="0"/>
                <a:chExt cx="2356" cy="384"/>
              </a:xfrm>
            </p:grpSpPr>
            <p:sp>
              <p:nvSpPr>
                <p:cNvPr id="18476" name="Rectangle 22"/>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fontAlgn="b" hangingPunct="1"/>
                  <a:r>
                    <a:rPr lang="zh-CN" altLang="en-US" sz="2000" b="1">
                      <a:latin typeface="Times New Roman" panose="02020603050405020304" pitchFamily="2" charset="0"/>
                    </a:rPr>
                    <a:t>安全域（</a:t>
                  </a:r>
                  <a:r>
                    <a:rPr lang="en-US" altLang="zh-CN" sz="2000" b="1">
                      <a:latin typeface="Times New Roman" panose="02020603050405020304" pitchFamily="2" charset="0"/>
                    </a:rPr>
                    <a:t>Security Domains</a:t>
                  </a:r>
                  <a:r>
                    <a:rPr lang="zh-CN" altLang="en-US" sz="2000" b="1">
                      <a:latin typeface="Times New Roman" panose="02020603050405020304" pitchFamily="2" charset="0"/>
                    </a:rPr>
                    <a:t>）</a:t>
                  </a:r>
                </a:p>
              </p:txBody>
            </p:sp>
            <p:sp>
              <p:nvSpPr>
                <p:cNvPr id="18477" name="Rectangle 23"/>
                <p:cNvSpPr>
                  <a:spLocks noChangeArrowheads="1"/>
                </p:cNvSpPr>
                <p:nvPr/>
              </p:nvSpPr>
              <p:spPr bwMode="auto">
                <a:xfrm>
                  <a:off x="0" y="0"/>
                  <a:ext cx="235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000" b="1">
                    <a:latin typeface="Times New Roman" panose="02020603050405020304" pitchFamily="2" charset="0"/>
                  </a:endParaRPr>
                </a:p>
              </p:txBody>
            </p:sp>
          </p:grpSp>
          <p:grpSp>
            <p:nvGrpSpPr>
              <p:cNvPr id="18446" name="Group 25"/>
              <p:cNvGrpSpPr/>
              <p:nvPr/>
            </p:nvGrpSpPr>
            <p:grpSpPr bwMode="auto">
              <a:xfrm>
                <a:off x="0" y="1152"/>
                <a:ext cx="709" cy="384"/>
                <a:chOff x="0" y="0"/>
                <a:chExt cx="709" cy="384"/>
              </a:xfrm>
            </p:grpSpPr>
            <p:sp>
              <p:nvSpPr>
                <p:cNvPr id="18474" name="Rectangle 25"/>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fontAlgn="b" hangingPunct="1"/>
                  <a:r>
                    <a:rPr lang="en-US" altLang="zh-CN" sz="2000" b="1">
                      <a:latin typeface="Times New Roman" panose="02020603050405020304" pitchFamily="2" charset="0"/>
                    </a:rPr>
                    <a:t>     B2</a:t>
                  </a:r>
                  <a:endParaRPr lang="en-US" altLang="zh-CN" sz="2000">
                    <a:latin typeface="Times New Roman" panose="02020603050405020304" pitchFamily="2" charset="0"/>
                  </a:endParaRPr>
                </a:p>
              </p:txBody>
            </p:sp>
            <p:sp>
              <p:nvSpPr>
                <p:cNvPr id="18475" name="Rectangle 26"/>
                <p:cNvSpPr>
                  <a:spLocks noChangeArrowheads="1"/>
                </p:cNvSpPr>
                <p:nvPr/>
              </p:nvSpPr>
              <p:spPr bwMode="auto">
                <a:xfrm>
                  <a:off x="0" y="0"/>
                  <a:ext cx="70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000" b="1">
                    <a:latin typeface="Times New Roman" panose="02020603050405020304" pitchFamily="2" charset="0"/>
                  </a:endParaRPr>
                </a:p>
              </p:txBody>
            </p:sp>
          </p:grpSp>
          <p:grpSp>
            <p:nvGrpSpPr>
              <p:cNvPr id="18447" name="Group 28"/>
              <p:cNvGrpSpPr/>
              <p:nvPr/>
            </p:nvGrpSpPr>
            <p:grpSpPr bwMode="auto">
              <a:xfrm>
                <a:off x="709" y="1152"/>
                <a:ext cx="2356" cy="384"/>
                <a:chOff x="0" y="0"/>
                <a:chExt cx="2356" cy="384"/>
              </a:xfrm>
            </p:grpSpPr>
            <p:sp>
              <p:nvSpPr>
                <p:cNvPr id="18472" name="Rectangle 28"/>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fontAlgn="b" hangingPunct="1"/>
                  <a:r>
                    <a:rPr lang="zh-CN" altLang="en-US" sz="2000" b="1">
                      <a:latin typeface="Times New Roman" panose="02020603050405020304" pitchFamily="2" charset="0"/>
                    </a:rPr>
                    <a:t>结构化保护（</a:t>
                  </a:r>
                  <a:r>
                    <a:rPr lang="en-US" altLang="zh-CN" sz="2000" b="1">
                      <a:latin typeface="Times New Roman" panose="02020603050405020304" pitchFamily="2" charset="0"/>
                    </a:rPr>
                    <a:t>Structural Protection</a:t>
                  </a:r>
                  <a:r>
                    <a:rPr lang="zh-CN" altLang="en-US" sz="2000" b="1">
                      <a:latin typeface="Times New Roman" panose="02020603050405020304" pitchFamily="2" charset="0"/>
                    </a:rPr>
                    <a:t>）</a:t>
                  </a:r>
                </a:p>
              </p:txBody>
            </p:sp>
            <p:sp>
              <p:nvSpPr>
                <p:cNvPr id="18473" name="Rectangle 29"/>
                <p:cNvSpPr>
                  <a:spLocks noChangeArrowheads="1"/>
                </p:cNvSpPr>
                <p:nvPr/>
              </p:nvSpPr>
              <p:spPr bwMode="auto">
                <a:xfrm>
                  <a:off x="0" y="0"/>
                  <a:ext cx="235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000" b="1">
                    <a:latin typeface="Times New Roman" panose="02020603050405020304" pitchFamily="2" charset="0"/>
                  </a:endParaRPr>
                </a:p>
              </p:txBody>
            </p:sp>
          </p:grpSp>
          <p:grpSp>
            <p:nvGrpSpPr>
              <p:cNvPr id="18448" name="Group 31"/>
              <p:cNvGrpSpPr/>
              <p:nvPr/>
            </p:nvGrpSpPr>
            <p:grpSpPr bwMode="auto">
              <a:xfrm>
                <a:off x="0" y="1536"/>
                <a:ext cx="709" cy="384"/>
                <a:chOff x="0" y="0"/>
                <a:chExt cx="709" cy="384"/>
              </a:xfrm>
            </p:grpSpPr>
            <p:sp>
              <p:nvSpPr>
                <p:cNvPr id="18470" name="Rectangle 31"/>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fontAlgn="b" hangingPunct="1"/>
                  <a:r>
                    <a:rPr lang="en-US" altLang="zh-CN" sz="2000" b="1">
                      <a:latin typeface="Times New Roman" panose="02020603050405020304" pitchFamily="2" charset="0"/>
                    </a:rPr>
                    <a:t>     B1</a:t>
                  </a:r>
                  <a:endParaRPr lang="en-US" altLang="zh-CN" sz="2000">
                    <a:latin typeface="Times New Roman" panose="02020603050405020304" pitchFamily="2" charset="0"/>
                  </a:endParaRPr>
                </a:p>
              </p:txBody>
            </p:sp>
            <p:sp>
              <p:nvSpPr>
                <p:cNvPr id="18471" name="Rectangle 32"/>
                <p:cNvSpPr>
                  <a:spLocks noChangeArrowheads="1"/>
                </p:cNvSpPr>
                <p:nvPr/>
              </p:nvSpPr>
              <p:spPr bwMode="auto">
                <a:xfrm>
                  <a:off x="0" y="0"/>
                  <a:ext cx="70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000" b="1">
                    <a:latin typeface="Times New Roman" panose="02020603050405020304" pitchFamily="2" charset="0"/>
                  </a:endParaRPr>
                </a:p>
              </p:txBody>
            </p:sp>
          </p:grpSp>
          <p:grpSp>
            <p:nvGrpSpPr>
              <p:cNvPr id="18449" name="Group 34"/>
              <p:cNvGrpSpPr/>
              <p:nvPr/>
            </p:nvGrpSpPr>
            <p:grpSpPr bwMode="auto">
              <a:xfrm>
                <a:off x="709" y="1536"/>
                <a:ext cx="2356" cy="384"/>
                <a:chOff x="0" y="0"/>
                <a:chExt cx="2356" cy="384"/>
              </a:xfrm>
            </p:grpSpPr>
            <p:sp>
              <p:nvSpPr>
                <p:cNvPr id="18468" name="Rectangle 34"/>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fontAlgn="b" hangingPunct="1"/>
                  <a:r>
                    <a:rPr lang="zh-CN" altLang="en-US" sz="2000" b="1">
                      <a:latin typeface="Times New Roman" panose="02020603050405020304" pitchFamily="2" charset="0"/>
                    </a:rPr>
                    <a:t>标记安全保护（</a:t>
                  </a:r>
                  <a:r>
                    <a:rPr lang="en-US" altLang="zh-CN" sz="2000" b="1">
                      <a:latin typeface="Times New Roman" panose="02020603050405020304" pitchFamily="2" charset="0"/>
                    </a:rPr>
                    <a:t>Labeled Security Protection</a:t>
                  </a:r>
                  <a:r>
                    <a:rPr lang="zh-CN" altLang="en-US" sz="2000" b="1">
                      <a:latin typeface="Times New Roman" panose="02020603050405020304" pitchFamily="2" charset="0"/>
                    </a:rPr>
                    <a:t>）</a:t>
                  </a:r>
                </a:p>
              </p:txBody>
            </p:sp>
            <p:sp>
              <p:nvSpPr>
                <p:cNvPr id="18469" name="Rectangle 35"/>
                <p:cNvSpPr>
                  <a:spLocks noChangeArrowheads="1"/>
                </p:cNvSpPr>
                <p:nvPr/>
              </p:nvSpPr>
              <p:spPr bwMode="auto">
                <a:xfrm>
                  <a:off x="0" y="0"/>
                  <a:ext cx="235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000" b="1">
                    <a:latin typeface="Times New Roman" panose="02020603050405020304" pitchFamily="2" charset="0"/>
                  </a:endParaRPr>
                </a:p>
              </p:txBody>
            </p:sp>
          </p:grpSp>
          <p:grpSp>
            <p:nvGrpSpPr>
              <p:cNvPr id="18450" name="Group 37"/>
              <p:cNvGrpSpPr/>
              <p:nvPr/>
            </p:nvGrpSpPr>
            <p:grpSpPr bwMode="auto">
              <a:xfrm>
                <a:off x="0" y="1920"/>
                <a:ext cx="709" cy="384"/>
                <a:chOff x="0" y="0"/>
                <a:chExt cx="709" cy="384"/>
              </a:xfrm>
            </p:grpSpPr>
            <p:sp>
              <p:nvSpPr>
                <p:cNvPr id="18466" name="Rectangle 37"/>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fontAlgn="b" hangingPunct="1"/>
                  <a:r>
                    <a:rPr lang="en-US" altLang="zh-CN" sz="2000" b="1">
                      <a:latin typeface="Times New Roman" panose="02020603050405020304" pitchFamily="2" charset="0"/>
                    </a:rPr>
                    <a:t>     C2</a:t>
                  </a:r>
                  <a:endParaRPr lang="en-US" altLang="zh-CN" sz="2000">
                    <a:latin typeface="Times New Roman" panose="02020603050405020304" pitchFamily="2" charset="0"/>
                  </a:endParaRPr>
                </a:p>
              </p:txBody>
            </p:sp>
            <p:sp>
              <p:nvSpPr>
                <p:cNvPr id="18467" name="Rectangle 38"/>
                <p:cNvSpPr>
                  <a:spLocks noChangeArrowheads="1"/>
                </p:cNvSpPr>
                <p:nvPr/>
              </p:nvSpPr>
              <p:spPr bwMode="auto">
                <a:xfrm>
                  <a:off x="0" y="0"/>
                  <a:ext cx="70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000" b="1">
                    <a:latin typeface="Times New Roman" panose="02020603050405020304" pitchFamily="2" charset="0"/>
                  </a:endParaRPr>
                </a:p>
              </p:txBody>
            </p:sp>
          </p:grpSp>
          <p:grpSp>
            <p:nvGrpSpPr>
              <p:cNvPr id="18451" name="Group 40"/>
              <p:cNvGrpSpPr/>
              <p:nvPr/>
            </p:nvGrpSpPr>
            <p:grpSpPr bwMode="auto">
              <a:xfrm>
                <a:off x="709" y="1920"/>
                <a:ext cx="2356" cy="384"/>
                <a:chOff x="0" y="0"/>
                <a:chExt cx="2356" cy="384"/>
              </a:xfrm>
            </p:grpSpPr>
            <p:sp>
              <p:nvSpPr>
                <p:cNvPr id="18464" name="Rectangle 40"/>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fontAlgn="b" hangingPunct="1"/>
                  <a:r>
                    <a:rPr lang="zh-CN" altLang="en-US" sz="2000" b="1">
                      <a:latin typeface="Times New Roman" panose="02020603050405020304" pitchFamily="2" charset="0"/>
                    </a:rPr>
                    <a:t>受控的存取保护（</a:t>
                  </a:r>
                  <a:r>
                    <a:rPr lang="en-US" altLang="zh-CN" sz="2000" b="1">
                      <a:latin typeface="Times New Roman" panose="02020603050405020304" pitchFamily="2" charset="0"/>
                    </a:rPr>
                    <a:t>Controlled Access Protection</a:t>
                  </a:r>
                  <a:r>
                    <a:rPr lang="zh-CN" altLang="en-US" sz="2000" b="1">
                      <a:latin typeface="Times New Roman" panose="02020603050405020304" pitchFamily="2" charset="0"/>
                    </a:rPr>
                    <a:t>）</a:t>
                  </a:r>
                  <a:endParaRPr lang="zh-CN" altLang="en-US" sz="2000">
                    <a:latin typeface="Times New Roman" panose="02020603050405020304" pitchFamily="2" charset="0"/>
                  </a:endParaRPr>
                </a:p>
              </p:txBody>
            </p:sp>
            <p:sp>
              <p:nvSpPr>
                <p:cNvPr id="18465" name="Rectangle 41"/>
                <p:cNvSpPr>
                  <a:spLocks noChangeArrowheads="1"/>
                </p:cNvSpPr>
                <p:nvPr/>
              </p:nvSpPr>
              <p:spPr bwMode="auto">
                <a:xfrm>
                  <a:off x="0" y="0"/>
                  <a:ext cx="235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000" b="1">
                    <a:latin typeface="Times New Roman" panose="02020603050405020304" pitchFamily="2" charset="0"/>
                  </a:endParaRPr>
                </a:p>
              </p:txBody>
            </p:sp>
          </p:grpSp>
          <p:grpSp>
            <p:nvGrpSpPr>
              <p:cNvPr id="18452" name="Group 43"/>
              <p:cNvGrpSpPr/>
              <p:nvPr/>
            </p:nvGrpSpPr>
            <p:grpSpPr bwMode="auto">
              <a:xfrm>
                <a:off x="0" y="2304"/>
                <a:ext cx="709" cy="384"/>
                <a:chOff x="0" y="0"/>
                <a:chExt cx="709" cy="384"/>
              </a:xfrm>
            </p:grpSpPr>
            <p:sp>
              <p:nvSpPr>
                <p:cNvPr id="18462" name="Rectangle 43"/>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fontAlgn="b" hangingPunct="1"/>
                  <a:r>
                    <a:rPr lang="en-US" altLang="zh-CN" sz="2000" b="1">
                      <a:latin typeface="Times New Roman" panose="02020603050405020304" pitchFamily="2" charset="0"/>
                    </a:rPr>
                    <a:t>     C1</a:t>
                  </a:r>
                  <a:endParaRPr lang="en-US" altLang="zh-CN" sz="2000">
                    <a:latin typeface="Times New Roman" panose="02020603050405020304" pitchFamily="2" charset="0"/>
                  </a:endParaRPr>
                </a:p>
              </p:txBody>
            </p:sp>
            <p:sp>
              <p:nvSpPr>
                <p:cNvPr id="18463" name="Rectangle 44"/>
                <p:cNvSpPr>
                  <a:spLocks noChangeArrowheads="1"/>
                </p:cNvSpPr>
                <p:nvPr/>
              </p:nvSpPr>
              <p:spPr bwMode="auto">
                <a:xfrm>
                  <a:off x="0" y="0"/>
                  <a:ext cx="70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000" b="1">
                    <a:latin typeface="Times New Roman" panose="02020603050405020304" pitchFamily="2" charset="0"/>
                  </a:endParaRPr>
                </a:p>
              </p:txBody>
            </p:sp>
          </p:grpSp>
          <p:grpSp>
            <p:nvGrpSpPr>
              <p:cNvPr id="18453" name="Group 46"/>
              <p:cNvGrpSpPr/>
              <p:nvPr/>
            </p:nvGrpSpPr>
            <p:grpSpPr bwMode="auto">
              <a:xfrm>
                <a:off x="709" y="2304"/>
                <a:ext cx="2356" cy="384"/>
                <a:chOff x="0" y="0"/>
                <a:chExt cx="2356" cy="384"/>
              </a:xfrm>
            </p:grpSpPr>
            <p:sp>
              <p:nvSpPr>
                <p:cNvPr id="18460" name="Rectangle 46"/>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fontAlgn="b" hangingPunct="1"/>
                  <a:r>
                    <a:rPr lang="zh-CN" altLang="en-US" sz="2000" b="1">
                      <a:latin typeface="Times New Roman" panose="02020603050405020304" pitchFamily="2" charset="0"/>
                    </a:rPr>
                    <a:t>自主安全保护（</a:t>
                  </a:r>
                  <a:r>
                    <a:rPr lang="en-US" altLang="zh-CN" sz="2000" b="1">
                      <a:latin typeface="Times New Roman" panose="02020603050405020304" pitchFamily="2" charset="0"/>
                    </a:rPr>
                    <a:t>Discretionary Security Protection</a:t>
                  </a:r>
                  <a:r>
                    <a:rPr lang="zh-CN" altLang="en-US" sz="2000" b="1">
                      <a:latin typeface="Times New Roman" panose="02020603050405020304" pitchFamily="2" charset="0"/>
                    </a:rPr>
                    <a:t>）</a:t>
                  </a:r>
                  <a:endParaRPr lang="zh-CN" altLang="en-US" sz="2000">
                    <a:latin typeface="Times New Roman" panose="02020603050405020304" pitchFamily="2" charset="0"/>
                  </a:endParaRPr>
                </a:p>
              </p:txBody>
            </p:sp>
            <p:sp>
              <p:nvSpPr>
                <p:cNvPr id="18461" name="Rectangle 47"/>
                <p:cNvSpPr>
                  <a:spLocks noChangeArrowheads="1"/>
                </p:cNvSpPr>
                <p:nvPr/>
              </p:nvSpPr>
              <p:spPr bwMode="auto">
                <a:xfrm>
                  <a:off x="0" y="0"/>
                  <a:ext cx="235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000" b="1">
                    <a:latin typeface="Times New Roman" panose="02020603050405020304" pitchFamily="2" charset="0"/>
                  </a:endParaRPr>
                </a:p>
              </p:txBody>
            </p:sp>
          </p:grpSp>
          <p:grpSp>
            <p:nvGrpSpPr>
              <p:cNvPr id="18454" name="Group 49"/>
              <p:cNvGrpSpPr/>
              <p:nvPr/>
            </p:nvGrpSpPr>
            <p:grpSpPr bwMode="auto">
              <a:xfrm>
                <a:off x="0" y="2688"/>
                <a:ext cx="709" cy="384"/>
                <a:chOff x="0" y="0"/>
                <a:chExt cx="709" cy="384"/>
              </a:xfrm>
            </p:grpSpPr>
            <p:sp>
              <p:nvSpPr>
                <p:cNvPr id="18458" name="Rectangle 49"/>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fontAlgn="b" hangingPunct="1"/>
                  <a:r>
                    <a:rPr lang="en-US" altLang="zh-CN" sz="2000" b="1">
                      <a:latin typeface="Times New Roman" panose="02020603050405020304" pitchFamily="2" charset="0"/>
                    </a:rPr>
                    <a:t>     D</a:t>
                  </a:r>
                  <a:endParaRPr lang="en-US" altLang="zh-CN" sz="2000">
                    <a:latin typeface="Times New Roman" panose="02020603050405020304" pitchFamily="2" charset="0"/>
                  </a:endParaRPr>
                </a:p>
              </p:txBody>
            </p:sp>
            <p:sp>
              <p:nvSpPr>
                <p:cNvPr id="18459" name="Rectangle 50"/>
                <p:cNvSpPr>
                  <a:spLocks noChangeArrowheads="1"/>
                </p:cNvSpPr>
                <p:nvPr/>
              </p:nvSpPr>
              <p:spPr bwMode="auto">
                <a:xfrm>
                  <a:off x="0" y="0"/>
                  <a:ext cx="70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000" b="1">
                    <a:latin typeface="Times New Roman" panose="02020603050405020304" pitchFamily="2" charset="0"/>
                  </a:endParaRPr>
                </a:p>
              </p:txBody>
            </p:sp>
          </p:grpSp>
          <p:grpSp>
            <p:nvGrpSpPr>
              <p:cNvPr id="18455" name="Group 52"/>
              <p:cNvGrpSpPr/>
              <p:nvPr/>
            </p:nvGrpSpPr>
            <p:grpSpPr bwMode="auto">
              <a:xfrm>
                <a:off x="709" y="2688"/>
                <a:ext cx="2356" cy="384"/>
                <a:chOff x="0" y="0"/>
                <a:chExt cx="2356" cy="384"/>
              </a:xfrm>
            </p:grpSpPr>
            <p:sp>
              <p:nvSpPr>
                <p:cNvPr id="18456" name="Rectangle 52"/>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fontAlgn="b" hangingPunct="1"/>
                  <a:r>
                    <a:rPr lang="zh-CN" altLang="en-US" sz="2000" b="1">
                      <a:latin typeface="Times New Roman" panose="02020603050405020304" pitchFamily="2" charset="0"/>
                    </a:rPr>
                    <a:t>最小保护（</a:t>
                  </a:r>
                  <a:r>
                    <a:rPr lang="en-US" altLang="zh-CN" sz="2000" b="1">
                      <a:latin typeface="Times New Roman" panose="02020603050405020304" pitchFamily="2" charset="0"/>
                    </a:rPr>
                    <a:t>Minimal Protection</a:t>
                  </a:r>
                  <a:r>
                    <a:rPr lang="zh-CN" altLang="en-US" sz="2000" b="1">
                      <a:latin typeface="Times New Roman" panose="02020603050405020304" pitchFamily="2" charset="0"/>
                    </a:rPr>
                    <a:t>）</a:t>
                  </a:r>
                </a:p>
              </p:txBody>
            </p:sp>
            <p:sp>
              <p:nvSpPr>
                <p:cNvPr id="18457" name="Rectangle 53"/>
                <p:cNvSpPr>
                  <a:spLocks noChangeArrowheads="1"/>
                </p:cNvSpPr>
                <p:nvPr/>
              </p:nvSpPr>
              <p:spPr bwMode="auto">
                <a:xfrm>
                  <a:off x="0" y="0"/>
                  <a:ext cx="235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000" b="1">
                    <a:latin typeface="Times New Roman" panose="02020603050405020304" pitchFamily="2" charset="0"/>
                  </a:endParaRPr>
                </a:p>
              </p:txBody>
            </p:sp>
          </p:grpSp>
        </p:grpSp>
        <p:sp>
          <p:nvSpPr>
            <p:cNvPr id="18439" name="Rectangle 54"/>
            <p:cNvSpPr>
              <a:spLocks noChangeArrowheads="1"/>
            </p:cNvSpPr>
            <p:nvPr/>
          </p:nvSpPr>
          <p:spPr bwMode="auto">
            <a:xfrm>
              <a:off x="0" y="0"/>
              <a:ext cx="3071" cy="3078"/>
            </a:xfrm>
            <a:prstGeom prst="rect">
              <a:avLst/>
            </a:prstGeom>
            <a:noFill/>
            <a:ln w="11112">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000" b="1">
                <a:latin typeface="Times New Roman" panose="02020603050405020304" pitchFamily="2" charset="0"/>
              </a:endParaRPr>
            </a:p>
          </p:txBody>
        </p:sp>
      </p:grpSp>
      <p:sp>
        <p:nvSpPr>
          <p:cNvPr id="2" name="灯片编号占位符 1"/>
          <p:cNvSpPr>
            <a:spLocks noGrp="1"/>
          </p:cNvSpPr>
          <p:nvPr>
            <p:ph type="sldNum" sz="quarter" idx="12"/>
          </p:nvPr>
        </p:nvSpPr>
        <p:spPr/>
        <p:txBody>
          <a:bodyPr/>
          <a:lstStyle/>
          <a:p>
            <a:fld id="{565CE74E-AB26-4998-AD42-012C4C1AD076}" type="slidenum">
              <a:rPr lang="zh-CN" altLang="en-US" smtClean="0"/>
              <a:t>9</a:t>
            </a:fld>
            <a:endParaRPr lang="zh-CN" altLang="en-US"/>
          </a:p>
        </p:txBody>
      </p:sp>
      <p:grpSp>
        <p:nvGrpSpPr>
          <p:cNvPr id="7" name="组合 6"/>
          <p:cNvGrpSpPr/>
          <p:nvPr/>
        </p:nvGrpSpPr>
        <p:grpSpPr>
          <a:xfrm>
            <a:off x="1082040" y="2546985"/>
            <a:ext cx="760095" cy="3555365"/>
            <a:chOff x="1704" y="4011"/>
            <a:chExt cx="1197" cy="5599"/>
          </a:xfrm>
        </p:grpSpPr>
        <p:cxnSp>
          <p:nvCxnSpPr>
            <p:cNvPr id="4" name="直接箭头连接符 3"/>
            <p:cNvCxnSpPr/>
            <p:nvPr/>
          </p:nvCxnSpPr>
          <p:spPr>
            <a:xfrm flipH="1" flipV="1">
              <a:off x="2839" y="4011"/>
              <a:ext cx="63" cy="5267"/>
            </a:xfrm>
            <a:prstGeom prst="straightConnector1">
              <a:avLst/>
            </a:prstGeom>
            <a:ln w="19050">
              <a:solidFill>
                <a:srgbClr val="C00000"/>
              </a:solidFill>
              <a:tailEnd type="arrow" w="lg" len="med"/>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1704" y="8886"/>
              <a:ext cx="1037" cy="725"/>
            </a:xfrm>
            <a:prstGeom prst="rect">
              <a:avLst/>
            </a:prstGeom>
            <a:noFill/>
          </p:spPr>
          <p:txBody>
            <a:bodyPr wrap="square" rtlCol="0">
              <a:spAutoFit/>
            </a:bodyPr>
            <a:lstStyle/>
            <a:p>
              <a:pPr algn="ctr"/>
              <a:r>
                <a:rPr lang="zh-CN" altLang="en-US" sz="2400" b="1">
                  <a:solidFill>
                    <a:srgbClr val="C00000"/>
                  </a:solidFill>
                  <a:latin typeface="楷体" panose="02010609060101010101" charset="-122"/>
                  <a:ea typeface="楷体" panose="02010609060101010101" charset="-122"/>
                </a:rPr>
                <a:t>低</a:t>
              </a:r>
            </a:p>
          </p:txBody>
        </p:sp>
        <p:sp>
          <p:nvSpPr>
            <p:cNvPr id="6" name="文本框 5"/>
            <p:cNvSpPr txBox="1"/>
            <p:nvPr/>
          </p:nvSpPr>
          <p:spPr>
            <a:xfrm>
              <a:off x="1704" y="4011"/>
              <a:ext cx="1037" cy="725"/>
            </a:xfrm>
            <a:prstGeom prst="rect">
              <a:avLst/>
            </a:prstGeom>
            <a:noFill/>
          </p:spPr>
          <p:txBody>
            <a:bodyPr wrap="square" rtlCol="0">
              <a:spAutoFit/>
            </a:bodyPr>
            <a:lstStyle/>
            <a:p>
              <a:pPr algn="ctr"/>
              <a:r>
                <a:rPr lang="zh-CN" altLang="en-US" sz="2400" b="1">
                  <a:solidFill>
                    <a:srgbClr val="C00000"/>
                  </a:solidFill>
                  <a:latin typeface="楷体" panose="02010609060101010101" charset="-122"/>
                  <a:ea typeface="楷体" panose="02010609060101010101" charset="-122"/>
                </a:rPr>
                <a:t>高</a:t>
              </a:r>
            </a:p>
          </p:txBody>
        </p:sp>
      </p:grpSp>
      <p:sp>
        <p:nvSpPr>
          <p:cNvPr id="3" name="页脚占位符 2"/>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rmAutofit fontScale="90000"/>
          </a:bodyPr>
          <a:lstStyle/>
          <a:p>
            <a:r>
              <a:rPr lang="en-US" altLang="zh-CN" dirty="0"/>
              <a:t>TCSEC/TDI</a:t>
            </a:r>
            <a:r>
              <a:rPr lang="zh-CN" altLang="en-US" dirty="0"/>
              <a:t>安全级别划分 </a:t>
            </a:r>
            <a:r>
              <a:rPr lang="en-US" altLang="zh-CN" dirty="0"/>
              <a:t>2</a:t>
            </a:r>
            <a:endParaRPr lang="zh-CN" altLang="en-US" dirty="0"/>
          </a:p>
        </p:txBody>
      </p:sp>
      <p:sp>
        <p:nvSpPr>
          <p:cNvPr id="20483" name="Rectangle 3"/>
          <p:cNvSpPr>
            <a:spLocks noGrp="1" noChangeArrowheads="1"/>
          </p:cNvSpPr>
          <p:nvPr>
            <p:ph sz="half" idx="1"/>
          </p:nvPr>
        </p:nvSpPr>
        <p:spPr/>
        <p:txBody>
          <a:bodyPr>
            <a:noAutofit/>
          </a:bodyPr>
          <a:lstStyle/>
          <a:p>
            <a:pPr>
              <a:lnSpc>
                <a:spcPct val="100000"/>
              </a:lnSpc>
              <a:spcBef>
                <a:spcPct val="0"/>
              </a:spcBef>
            </a:pPr>
            <a:r>
              <a:rPr lang="en-US" altLang="zh-CN" sz="2000" dirty="0">
                <a:solidFill>
                  <a:srgbClr val="FF0000"/>
                </a:solidFill>
              </a:rPr>
              <a:t>D</a:t>
            </a:r>
            <a:r>
              <a:rPr lang="zh-CN" altLang="en-US" sz="2000" dirty="0">
                <a:solidFill>
                  <a:srgbClr val="FF0000"/>
                </a:solidFill>
              </a:rPr>
              <a:t>级</a:t>
            </a:r>
            <a:endParaRPr lang="zh-CN" altLang="en-US" sz="2000" dirty="0"/>
          </a:p>
          <a:p>
            <a:pPr lvl="1">
              <a:lnSpc>
                <a:spcPct val="100000"/>
              </a:lnSpc>
              <a:spcBef>
                <a:spcPct val="0"/>
              </a:spcBef>
            </a:pPr>
            <a:r>
              <a:rPr lang="zh-CN" altLang="en-US" sz="2000" dirty="0"/>
              <a:t>将一切不符合更高标准的系统均归于</a:t>
            </a:r>
            <a:r>
              <a:rPr lang="en-US" altLang="zh-CN" sz="2000" dirty="0"/>
              <a:t>D</a:t>
            </a:r>
            <a:r>
              <a:rPr lang="zh-CN" altLang="en-US" sz="2000" dirty="0"/>
              <a:t>组</a:t>
            </a:r>
          </a:p>
          <a:p>
            <a:pPr lvl="1">
              <a:lnSpc>
                <a:spcPct val="100000"/>
              </a:lnSpc>
              <a:spcBef>
                <a:spcPct val="0"/>
              </a:spcBef>
            </a:pPr>
            <a:endParaRPr lang="zh-CN" altLang="en-US" sz="2000" dirty="0"/>
          </a:p>
          <a:p>
            <a:pPr>
              <a:lnSpc>
                <a:spcPct val="100000"/>
              </a:lnSpc>
              <a:spcBef>
                <a:spcPct val="0"/>
              </a:spcBef>
            </a:pPr>
            <a:r>
              <a:rPr lang="en-US" altLang="zh-CN" sz="2000" dirty="0">
                <a:solidFill>
                  <a:srgbClr val="FF0000"/>
                </a:solidFill>
              </a:rPr>
              <a:t>C1</a:t>
            </a:r>
            <a:r>
              <a:rPr lang="zh-CN" altLang="en-US" sz="2000" dirty="0">
                <a:solidFill>
                  <a:srgbClr val="FF0000"/>
                </a:solidFill>
              </a:rPr>
              <a:t>级</a:t>
            </a:r>
            <a:endParaRPr lang="zh-CN" altLang="en-US" sz="2000" dirty="0"/>
          </a:p>
          <a:p>
            <a:pPr lvl="1">
              <a:lnSpc>
                <a:spcPct val="100000"/>
              </a:lnSpc>
              <a:spcBef>
                <a:spcPct val="0"/>
              </a:spcBef>
            </a:pPr>
            <a:r>
              <a:rPr lang="zh-CN" altLang="en-US" sz="2000" dirty="0"/>
              <a:t>非常初级的</a:t>
            </a:r>
            <a:r>
              <a:rPr lang="zh-CN" altLang="en-US" sz="2000" dirty="0">
                <a:solidFill>
                  <a:srgbClr val="C00000"/>
                </a:solidFill>
              </a:rPr>
              <a:t>自主安全保护</a:t>
            </a:r>
          </a:p>
          <a:p>
            <a:pPr lvl="1">
              <a:lnSpc>
                <a:spcPct val="100000"/>
              </a:lnSpc>
              <a:spcBef>
                <a:spcPct val="0"/>
              </a:spcBef>
            </a:pPr>
            <a:r>
              <a:rPr lang="zh-CN" altLang="en-US" sz="2000" dirty="0"/>
              <a:t>能够实现对用户和数据的分离，进行自主存取控制（</a:t>
            </a:r>
            <a:r>
              <a:rPr lang="en-US" altLang="zh-CN" sz="2000" dirty="0"/>
              <a:t>DAC</a:t>
            </a:r>
            <a:r>
              <a:rPr lang="zh-CN" altLang="en-US" sz="2000" dirty="0"/>
              <a:t>），保护或限制用户权限的传播。</a:t>
            </a:r>
          </a:p>
          <a:p>
            <a:pPr lvl="1">
              <a:lnSpc>
                <a:spcPct val="100000"/>
              </a:lnSpc>
              <a:spcBef>
                <a:spcPct val="0"/>
              </a:spcBef>
            </a:pPr>
            <a:r>
              <a:rPr lang="zh-CN" altLang="en-US" sz="2000" dirty="0"/>
              <a:t>现有的商业系统稍作改进即可满足</a:t>
            </a:r>
          </a:p>
          <a:p>
            <a:pPr lvl="1">
              <a:lnSpc>
                <a:spcPct val="100000"/>
              </a:lnSpc>
              <a:spcBef>
                <a:spcPct val="0"/>
              </a:spcBef>
            </a:pPr>
            <a:endParaRPr lang="en-US" altLang="zh-CN" sz="2000" dirty="0"/>
          </a:p>
          <a:p>
            <a:pPr>
              <a:lnSpc>
                <a:spcPct val="100000"/>
              </a:lnSpc>
              <a:spcBef>
                <a:spcPct val="0"/>
              </a:spcBef>
            </a:pPr>
            <a:r>
              <a:rPr lang="en-US" altLang="zh-CN" sz="2000" dirty="0">
                <a:solidFill>
                  <a:srgbClr val="FF0000"/>
                </a:solidFill>
              </a:rPr>
              <a:t>C2</a:t>
            </a:r>
            <a:r>
              <a:rPr lang="zh-CN" altLang="en-US" sz="2000" dirty="0">
                <a:solidFill>
                  <a:srgbClr val="FF0000"/>
                </a:solidFill>
              </a:rPr>
              <a:t>级</a:t>
            </a:r>
            <a:endParaRPr lang="zh-CN" altLang="en-US" sz="2000" dirty="0"/>
          </a:p>
          <a:p>
            <a:pPr lvl="1">
              <a:lnSpc>
                <a:spcPct val="100000"/>
              </a:lnSpc>
              <a:spcBef>
                <a:spcPct val="0"/>
              </a:spcBef>
            </a:pPr>
            <a:r>
              <a:rPr lang="zh-CN" altLang="en-US" sz="2000" dirty="0"/>
              <a:t>安全产品的最低档次</a:t>
            </a:r>
          </a:p>
          <a:p>
            <a:pPr lvl="1">
              <a:lnSpc>
                <a:spcPct val="100000"/>
              </a:lnSpc>
              <a:spcBef>
                <a:spcPct val="0"/>
              </a:spcBef>
            </a:pPr>
            <a:r>
              <a:rPr lang="zh-CN" altLang="en-US" sz="2000" dirty="0"/>
              <a:t>提供</a:t>
            </a:r>
            <a:r>
              <a:rPr lang="zh-CN" altLang="en-US" sz="2000" dirty="0">
                <a:solidFill>
                  <a:srgbClr val="C00000"/>
                </a:solidFill>
              </a:rPr>
              <a:t>受控的存取保护</a:t>
            </a:r>
            <a:r>
              <a:rPr lang="zh-CN" altLang="en-US" sz="2000" dirty="0"/>
              <a:t>，将</a:t>
            </a:r>
            <a:r>
              <a:rPr lang="en-US" altLang="zh-CN" sz="2000" dirty="0"/>
              <a:t>C1</a:t>
            </a:r>
            <a:r>
              <a:rPr lang="zh-CN" altLang="en-US" sz="2000" dirty="0"/>
              <a:t>级的</a:t>
            </a:r>
            <a:r>
              <a:rPr lang="en-US" altLang="zh-CN" sz="2000" dirty="0"/>
              <a:t>DAC</a:t>
            </a:r>
            <a:r>
              <a:rPr lang="zh-CN" altLang="en-US" sz="2000" dirty="0"/>
              <a:t>进一步细化，以个人身份注册负责，并实施审计和资源隔离</a:t>
            </a:r>
          </a:p>
          <a:p>
            <a:pPr lvl="1">
              <a:lnSpc>
                <a:spcPct val="100000"/>
              </a:lnSpc>
              <a:spcBef>
                <a:spcPct val="0"/>
              </a:spcBef>
            </a:pPr>
            <a:r>
              <a:rPr lang="zh-CN" altLang="en-US" sz="2000" dirty="0"/>
              <a:t>达到</a:t>
            </a:r>
            <a:r>
              <a:rPr lang="en-US" altLang="zh-CN" sz="2000" dirty="0"/>
              <a:t>C2</a:t>
            </a:r>
            <a:r>
              <a:rPr lang="zh-CN" altLang="en-US" sz="2000" dirty="0"/>
              <a:t>级的产品在其名称中往往不突出“安全”（</a:t>
            </a:r>
            <a:r>
              <a:rPr lang="en-US" altLang="zh-CN" sz="2000" dirty="0"/>
              <a:t>Security</a:t>
            </a:r>
            <a:r>
              <a:rPr lang="zh-CN" altLang="en-US" sz="2000" dirty="0"/>
              <a:t>）这一特色</a:t>
            </a:r>
          </a:p>
        </p:txBody>
      </p:sp>
      <p:sp>
        <p:nvSpPr>
          <p:cNvPr id="2" name="内容占位符 1"/>
          <p:cNvSpPr>
            <a:spLocks noGrp="1"/>
          </p:cNvSpPr>
          <p:nvPr>
            <p:ph sz="half" idx="2"/>
          </p:nvPr>
        </p:nvSpPr>
        <p:spPr/>
        <p:txBody>
          <a:bodyPr>
            <a:noAutofit/>
          </a:bodyPr>
          <a:lstStyle/>
          <a:p>
            <a:pPr>
              <a:lnSpc>
                <a:spcPct val="100000"/>
              </a:lnSpc>
              <a:spcBef>
                <a:spcPct val="0"/>
              </a:spcBef>
            </a:pPr>
            <a:r>
              <a:rPr lang="en-US" altLang="zh-CN" sz="2000" dirty="0">
                <a:solidFill>
                  <a:srgbClr val="FF0000"/>
                </a:solidFill>
              </a:rPr>
              <a:t>B1</a:t>
            </a:r>
            <a:r>
              <a:rPr lang="zh-CN" altLang="en-US" sz="2000" dirty="0">
                <a:solidFill>
                  <a:srgbClr val="FF0000"/>
                </a:solidFill>
              </a:rPr>
              <a:t>级</a:t>
            </a:r>
            <a:endParaRPr lang="zh-CN" altLang="en-US" sz="2000" dirty="0"/>
          </a:p>
          <a:p>
            <a:pPr lvl="1">
              <a:lnSpc>
                <a:spcPct val="100000"/>
              </a:lnSpc>
              <a:spcBef>
                <a:spcPct val="0"/>
              </a:spcBef>
            </a:pPr>
            <a:r>
              <a:rPr lang="zh-CN" altLang="en-US" sz="2000" dirty="0">
                <a:solidFill>
                  <a:srgbClr val="C00000"/>
                </a:solidFill>
              </a:rPr>
              <a:t>标记安全保护</a:t>
            </a:r>
            <a:r>
              <a:rPr lang="zh-CN" altLang="en-US" sz="2000" dirty="0"/>
              <a:t>。“安全”（</a:t>
            </a:r>
            <a:r>
              <a:rPr lang="en-US" altLang="zh-CN" sz="2000" dirty="0"/>
              <a:t>Security</a:t>
            </a:r>
            <a:r>
              <a:rPr lang="zh-CN" altLang="en-US" sz="2000" dirty="0"/>
              <a:t>）或“可信的” （</a:t>
            </a:r>
            <a:r>
              <a:rPr lang="en-US" altLang="zh-CN" sz="2000" dirty="0"/>
              <a:t>Trusted</a:t>
            </a:r>
            <a:r>
              <a:rPr lang="zh-CN" altLang="en-US" sz="2000" dirty="0"/>
              <a:t>）产品。</a:t>
            </a:r>
          </a:p>
          <a:p>
            <a:pPr lvl="1">
              <a:lnSpc>
                <a:spcPct val="100000"/>
              </a:lnSpc>
              <a:spcBef>
                <a:spcPct val="0"/>
              </a:spcBef>
            </a:pPr>
            <a:r>
              <a:rPr lang="zh-CN" altLang="en-US" sz="2000" dirty="0"/>
              <a:t>对系统的数据加以标记，对标记的主体和客体实施强制存取控制（</a:t>
            </a:r>
            <a:r>
              <a:rPr lang="en-US" altLang="zh-CN" sz="2000" dirty="0"/>
              <a:t>MAC</a:t>
            </a:r>
            <a:r>
              <a:rPr lang="zh-CN" altLang="en-US" sz="2000" dirty="0"/>
              <a:t>）、审计等安全机制</a:t>
            </a:r>
            <a:endParaRPr lang="en-US" altLang="zh-CN" sz="2000" dirty="0"/>
          </a:p>
          <a:p>
            <a:pPr>
              <a:lnSpc>
                <a:spcPct val="100000"/>
              </a:lnSpc>
            </a:pPr>
            <a:r>
              <a:rPr lang="en-US" altLang="zh-CN" sz="2000" dirty="0">
                <a:solidFill>
                  <a:srgbClr val="FF0000"/>
                </a:solidFill>
              </a:rPr>
              <a:t>B2</a:t>
            </a:r>
            <a:r>
              <a:rPr lang="zh-CN" altLang="en-US" sz="2000" dirty="0">
                <a:solidFill>
                  <a:srgbClr val="FF0000"/>
                </a:solidFill>
              </a:rPr>
              <a:t>级</a:t>
            </a:r>
          </a:p>
          <a:p>
            <a:pPr lvl="1">
              <a:lnSpc>
                <a:spcPct val="100000"/>
              </a:lnSpc>
              <a:spcBef>
                <a:spcPct val="0"/>
              </a:spcBef>
            </a:pPr>
            <a:r>
              <a:rPr lang="zh-CN" altLang="en-US" sz="2000" dirty="0">
                <a:solidFill>
                  <a:srgbClr val="C00000"/>
                </a:solidFill>
              </a:rPr>
              <a:t>结构化保护</a:t>
            </a:r>
            <a:endParaRPr lang="zh-CN" altLang="en-US" sz="2000" dirty="0"/>
          </a:p>
          <a:p>
            <a:pPr lvl="1">
              <a:lnSpc>
                <a:spcPct val="100000"/>
              </a:lnSpc>
              <a:spcBef>
                <a:spcPct val="0"/>
              </a:spcBef>
            </a:pPr>
            <a:r>
              <a:rPr lang="zh-CN" altLang="en-US" sz="2000" dirty="0"/>
              <a:t>建立形式化的安全策略模型并对系统内的所有主体和客体实施</a:t>
            </a:r>
            <a:r>
              <a:rPr lang="en-US" altLang="zh-CN" sz="2000" dirty="0"/>
              <a:t>DAC</a:t>
            </a:r>
            <a:r>
              <a:rPr lang="zh-CN" altLang="en-US" sz="2000" dirty="0"/>
              <a:t>和</a:t>
            </a:r>
            <a:r>
              <a:rPr lang="en-US" altLang="zh-CN" sz="2000" dirty="0"/>
              <a:t>MAC</a:t>
            </a:r>
          </a:p>
          <a:p>
            <a:pPr>
              <a:lnSpc>
                <a:spcPct val="100000"/>
              </a:lnSpc>
            </a:pPr>
            <a:r>
              <a:rPr lang="en-US" altLang="zh-CN" sz="2000" dirty="0">
                <a:solidFill>
                  <a:srgbClr val="FF0000"/>
                </a:solidFill>
              </a:rPr>
              <a:t>B3</a:t>
            </a:r>
            <a:r>
              <a:rPr lang="zh-CN" altLang="en-US" sz="2000" dirty="0">
                <a:solidFill>
                  <a:srgbClr val="FF0000"/>
                </a:solidFill>
              </a:rPr>
              <a:t>级</a:t>
            </a:r>
          </a:p>
          <a:p>
            <a:pPr lvl="1">
              <a:lnSpc>
                <a:spcPct val="100000"/>
              </a:lnSpc>
              <a:spcBef>
                <a:spcPct val="0"/>
              </a:spcBef>
            </a:pPr>
            <a:r>
              <a:rPr lang="zh-CN" altLang="en-US" sz="2000" dirty="0">
                <a:solidFill>
                  <a:srgbClr val="C00000"/>
                </a:solidFill>
              </a:rPr>
              <a:t>安全域</a:t>
            </a:r>
            <a:endParaRPr lang="zh-CN" altLang="en-US" sz="2000" dirty="0"/>
          </a:p>
          <a:p>
            <a:pPr lvl="1">
              <a:lnSpc>
                <a:spcPct val="100000"/>
              </a:lnSpc>
              <a:spcBef>
                <a:spcPct val="0"/>
              </a:spcBef>
            </a:pPr>
            <a:r>
              <a:rPr lang="zh-CN" altLang="en-US" sz="2000" dirty="0"/>
              <a:t>该级的</a:t>
            </a:r>
            <a:r>
              <a:rPr lang="en-US" altLang="zh-CN" sz="2000" dirty="0"/>
              <a:t>TCB</a:t>
            </a:r>
            <a:r>
              <a:rPr lang="zh-CN" altLang="en-US" sz="2000" dirty="0"/>
              <a:t>必须满足访问监控器的要求，审计跟踪能力更强，并提供系统恢复过程</a:t>
            </a:r>
            <a:endParaRPr lang="en-US" altLang="zh-CN" sz="2000" dirty="0"/>
          </a:p>
          <a:p>
            <a:pPr>
              <a:lnSpc>
                <a:spcPct val="100000"/>
              </a:lnSpc>
            </a:pPr>
            <a:r>
              <a:rPr lang="en-US" altLang="zh-CN" sz="2000" dirty="0">
                <a:solidFill>
                  <a:srgbClr val="FF0000"/>
                </a:solidFill>
              </a:rPr>
              <a:t>A1</a:t>
            </a:r>
            <a:r>
              <a:rPr lang="zh-CN" altLang="en-US" sz="2000" dirty="0">
                <a:solidFill>
                  <a:srgbClr val="FF0000"/>
                </a:solidFill>
              </a:rPr>
              <a:t>级</a:t>
            </a:r>
          </a:p>
          <a:p>
            <a:pPr lvl="1">
              <a:lnSpc>
                <a:spcPct val="100000"/>
              </a:lnSpc>
              <a:spcBef>
                <a:spcPct val="0"/>
              </a:spcBef>
            </a:pPr>
            <a:r>
              <a:rPr lang="zh-CN" altLang="en-US" sz="2000" dirty="0">
                <a:solidFill>
                  <a:srgbClr val="C00000"/>
                </a:solidFill>
              </a:rPr>
              <a:t>验证设计</a:t>
            </a:r>
            <a:r>
              <a:rPr lang="zh-CN" altLang="en-US" sz="2000" dirty="0"/>
              <a:t>，即提供</a:t>
            </a:r>
            <a:r>
              <a:rPr lang="en-US" altLang="zh-CN" sz="2000" dirty="0"/>
              <a:t>B3</a:t>
            </a:r>
            <a:r>
              <a:rPr lang="zh-CN" altLang="en-US" sz="2000" dirty="0"/>
              <a:t>级保护的同时给出系统的形式化设计说明和验证以确信各安全保护真正实现。</a:t>
            </a:r>
            <a:endParaRPr lang="en-US" altLang="zh-CN" sz="2000" dirty="0"/>
          </a:p>
        </p:txBody>
      </p:sp>
      <p:sp>
        <p:nvSpPr>
          <p:cNvPr id="3" name="灯片编号占位符 2"/>
          <p:cNvSpPr>
            <a:spLocks noGrp="1"/>
          </p:cNvSpPr>
          <p:nvPr>
            <p:ph type="sldNum" sz="quarter" idx="12"/>
          </p:nvPr>
        </p:nvSpPr>
        <p:spPr/>
        <p:txBody>
          <a:bodyPr/>
          <a:lstStyle/>
          <a:p>
            <a:fld id="{565CE74E-AB26-4998-AD42-012C4C1AD076}" type="slidenum">
              <a:rPr lang="zh-CN" altLang="en-US" smtClean="0"/>
              <a:t>10</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blinds(horizontal)">
                                      <p:cBhvr>
                                        <p:cTn id="10" dur="500"/>
                                        <p:tgtEl>
                                          <p:spTgt spid="2">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blinds(horizontal)">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blinds(horizontal)">
                                      <p:cBhvr>
                                        <p:cTn id="18" dur="500"/>
                                        <p:tgtEl>
                                          <p:spTgt spid="2">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blinds(horizontal)">
                                      <p:cBhvr>
                                        <p:cTn id="21" dur="500"/>
                                        <p:tgtEl>
                                          <p:spTgt spid="2">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blinds(horizontal)">
                                      <p:cBhvr>
                                        <p:cTn id="24" dur="500"/>
                                        <p:tgtEl>
                                          <p:spTgt spid="2">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animEffect transition="in" filter="blinds(horizontal)">
                                      <p:cBhvr>
                                        <p:cTn id="29" dur="500"/>
                                        <p:tgtEl>
                                          <p:spTgt spid="2">
                                            <p:txEl>
                                              <p:pRg st="6" end="6"/>
                                            </p:txEl>
                                          </p:spTgt>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blinds(horizontal)">
                                      <p:cBhvr>
                                        <p:cTn id="32" dur="500"/>
                                        <p:tgtEl>
                                          <p:spTgt spid="2">
                                            <p:txEl>
                                              <p:pRg st="7" end="7"/>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animEffect transition="in" filter="blinds(horizontal)">
                                      <p:cBhvr>
                                        <p:cTn id="35" dur="500"/>
                                        <p:tgtEl>
                                          <p:spTgt spid="2">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2">
                                            <p:txEl>
                                              <p:pRg st="9" end="9"/>
                                            </p:txEl>
                                          </p:spTgt>
                                        </p:tgtEl>
                                        <p:attrNameLst>
                                          <p:attrName>style.visibility</p:attrName>
                                        </p:attrNameLst>
                                      </p:cBhvr>
                                      <p:to>
                                        <p:strVal val="visible"/>
                                      </p:to>
                                    </p:set>
                                    <p:animEffect transition="in" filter="blinds(horizontal)">
                                      <p:cBhvr>
                                        <p:cTn id="40" dur="500"/>
                                        <p:tgtEl>
                                          <p:spTgt spid="2">
                                            <p:txEl>
                                              <p:pRg st="9" end="9"/>
                                            </p:txEl>
                                          </p:spTgt>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2">
                                            <p:txEl>
                                              <p:pRg st="10" end="10"/>
                                            </p:txEl>
                                          </p:spTgt>
                                        </p:tgtEl>
                                        <p:attrNameLst>
                                          <p:attrName>style.visibility</p:attrName>
                                        </p:attrNameLst>
                                      </p:cBhvr>
                                      <p:to>
                                        <p:strVal val="visible"/>
                                      </p:to>
                                    </p:set>
                                    <p:animEffect transition="in" filter="blinds(horizontal)">
                                      <p:cBhvr>
                                        <p:cTn id="43"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normAutofit fontScale="90000"/>
          </a:bodyPr>
          <a:lstStyle/>
          <a:p>
            <a:r>
              <a:rPr lang="en-US" dirty="0"/>
              <a:t>CC</a:t>
            </a:r>
            <a:r>
              <a:rPr lang="zh-CN" altLang="en-US" dirty="0"/>
              <a:t>标准</a:t>
            </a:r>
            <a:endParaRPr lang="en-US" altLang="zh-CN" dirty="0"/>
          </a:p>
        </p:txBody>
      </p:sp>
      <p:sp>
        <p:nvSpPr>
          <p:cNvPr id="25604" name="Rectangle 3"/>
          <p:cNvSpPr>
            <a:spLocks noGrp="1" noChangeArrowheads="1"/>
          </p:cNvSpPr>
          <p:nvPr>
            <p:ph idx="1"/>
          </p:nvPr>
        </p:nvSpPr>
        <p:spPr/>
        <p:txBody>
          <a:bodyPr>
            <a:normAutofit fontScale="92500" lnSpcReduction="10000"/>
          </a:bodyPr>
          <a:lstStyle/>
          <a:p>
            <a:r>
              <a:rPr lang="en-US" altLang="zh-CN" dirty="0"/>
              <a:t>CC</a:t>
            </a:r>
            <a:r>
              <a:rPr lang="zh-CN" altLang="en-US" dirty="0">
                <a:sym typeface="+mn-ea"/>
              </a:rPr>
              <a:t>标准</a:t>
            </a:r>
            <a:r>
              <a:rPr lang="en-US" altLang="zh-CN" dirty="0">
                <a:sym typeface="+mn-ea"/>
              </a:rPr>
              <a:t> (Common Criteria standard)</a:t>
            </a:r>
            <a:endParaRPr lang="en-US" altLang="zh-CN" dirty="0"/>
          </a:p>
          <a:p>
            <a:pPr lvl="1"/>
            <a:r>
              <a:rPr lang="zh-CN" altLang="en-US" dirty="0"/>
              <a:t>提出国际公认的表述信息技术安全性的结构</a:t>
            </a:r>
          </a:p>
          <a:p>
            <a:pPr lvl="1"/>
            <a:r>
              <a:rPr lang="zh-CN" altLang="en-US" dirty="0"/>
              <a:t>把信息产品的安全要求分为</a:t>
            </a:r>
          </a:p>
          <a:p>
            <a:pPr lvl="2"/>
            <a:r>
              <a:rPr lang="zh-CN" altLang="en-US" dirty="0"/>
              <a:t>安全功能要求</a:t>
            </a:r>
          </a:p>
          <a:p>
            <a:pPr lvl="2"/>
            <a:r>
              <a:rPr lang="zh-CN" altLang="en-US" dirty="0"/>
              <a:t>安全保证要求</a:t>
            </a:r>
          </a:p>
          <a:p>
            <a:r>
              <a:rPr lang="en-US" altLang="zh-CN" dirty="0"/>
              <a:t> CC</a:t>
            </a:r>
            <a:r>
              <a:rPr lang="zh-CN" altLang="en-US" dirty="0"/>
              <a:t>标准的文本组成（三个组成部分相互依存，缺一不可）</a:t>
            </a:r>
          </a:p>
          <a:p>
            <a:pPr lvl="1"/>
            <a:r>
              <a:rPr lang="zh-CN" altLang="en-US" dirty="0">
                <a:solidFill>
                  <a:srgbClr val="C00000"/>
                </a:solidFill>
              </a:rPr>
              <a:t>简介和一般模型</a:t>
            </a:r>
            <a:endParaRPr lang="en-US" altLang="zh-CN" dirty="0">
              <a:solidFill>
                <a:srgbClr val="C00000"/>
              </a:solidFill>
            </a:endParaRPr>
          </a:p>
          <a:p>
            <a:pPr lvl="2"/>
            <a:r>
              <a:rPr lang="zh-CN" altLang="zh-CN" dirty="0"/>
              <a:t>介绍有关术语、基本概念和一般模型以及与评估有关的一些框架</a:t>
            </a:r>
            <a:endParaRPr lang="zh-CN" altLang="en-US" dirty="0"/>
          </a:p>
          <a:p>
            <a:pPr lvl="1"/>
            <a:r>
              <a:rPr lang="zh-CN" altLang="en-US" dirty="0">
                <a:solidFill>
                  <a:srgbClr val="C00000"/>
                </a:solidFill>
              </a:rPr>
              <a:t>安全功能要求</a:t>
            </a:r>
            <a:endParaRPr lang="en-US" altLang="zh-CN" dirty="0">
              <a:solidFill>
                <a:srgbClr val="C00000"/>
              </a:solidFill>
            </a:endParaRPr>
          </a:p>
          <a:p>
            <a:pPr lvl="2"/>
            <a:r>
              <a:rPr lang="zh-CN" altLang="zh-CN" dirty="0"/>
              <a:t>列出了一系列类、子类和组件</a:t>
            </a:r>
            <a:endParaRPr lang="zh-CN" altLang="en-US" dirty="0"/>
          </a:p>
          <a:p>
            <a:pPr lvl="1"/>
            <a:r>
              <a:rPr lang="zh-CN" altLang="en-US" dirty="0">
                <a:solidFill>
                  <a:srgbClr val="C00000"/>
                </a:solidFill>
              </a:rPr>
              <a:t>安全保证要求</a:t>
            </a:r>
            <a:endParaRPr lang="en-US" altLang="zh-CN" dirty="0"/>
          </a:p>
          <a:p>
            <a:pPr lvl="2"/>
            <a:r>
              <a:rPr lang="zh-CN" altLang="zh-CN" dirty="0"/>
              <a:t>列出了一系列保证类、子类和组件</a:t>
            </a:r>
            <a:endParaRPr lang="en-US" altLang="zh-CN" dirty="0"/>
          </a:p>
          <a:p>
            <a:pPr lvl="2"/>
            <a:r>
              <a:rPr lang="zh-CN" altLang="zh-CN" dirty="0"/>
              <a:t>提出了</a:t>
            </a:r>
            <a:r>
              <a:rPr lang="zh-CN" altLang="zh-CN" dirty="0">
                <a:solidFill>
                  <a:srgbClr val="C00000"/>
                </a:solidFill>
              </a:rPr>
              <a:t>评估保证级</a:t>
            </a:r>
            <a:r>
              <a:rPr lang="zh-CN" altLang="zh-CN" dirty="0"/>
              <a:t>（</a:t>
            </a:r>
            <a:r>
              <a:rPr lang="en-US" altLang="zh-CN" dirty="0"/>
              <a:t>Evaluation Assurance Level</a:t>
            </a:r>
            <a:r>
              <a:rPr lang="zh-CN" altLang="zh-CN" dirty="0"/>
              <a:t>，</a:t>
            </a:r>
            <a:r>
              <a:rPr lang="en-US" altLang="zh-CN" dirty="0"/>
              <a:t>EAL</a:t>
            </a:r>
            <a:r>
              <a:rPr lang="zh-CN" altLang="zh-CN" dirty="0"/>
              <a:t>），从</a:t>
            </a:r>
            <a:r>
              <a:rPr lang="en-US" altLang="zh-CN" dirty="0"/>
              <a:t>EAL1</a:t>
            </a:r>
            <a:r>
              <a:rPr lang="zh-CN" altLang="zh-CN" dirty="0"/>
              <a:t>至</a:t>
            </a:r>
            <a:r>
              <a:rPr lang="en-US" altLang="zh-CN" dirty="0"/>
              <a:t>EAL7</a:t>
            </a:r>
            <a:r>
              <a:rPr lang="zh-CN" altLang="zh-CN" dirty="0"/>
              <a:t>共分为七级</a:t>
            </a:r>
            <a:endParaRPr lang="zh-CN" altLang="en-US" dirty="0"/>
          </a:p>
        </p:txBody>
      </p:sp>
      <p:sp>
        <p:nvSpPr>
          <p:cNvPr id="2" name="灯片编号占位符 1"/>
          <p:cNvSpPr>
            <a:spLocks noGrp="1"/>
          </p:cNvSpPr>
          <p:nvPr>
            <p:ph type="sldNum" sz="quarter" idx="12"/>
          </p:nvPr>
        </p:nvSpPr>
        <p:spPr/>
        <p:txBody>
          <a:bodyPr/>
          <a:lstStyle/>
          <a:p>
            <a:fld id="{565CE74E-AB26-4998-AD42-012C4C1AD076}" type="slidenum">
              <a:rPr lang="zh-CN" altLang="en-US" smtClean="0"/>
              <a:t>11</a:t>
            </a:fld>
            <a:endParaRPr lang="zh-CN" altLang="en-US"/>
          </a:p>
        </p:txBody>
      </p:sp>
      <p:sp>
        <p:nvSpPr>
          <p:cNvPr id="3" name="页脚占位符 2"/>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604">
                                            <p:txEl>
                                              <p:pRg st="5" end="5"/>
                                            </p:txEl>
                                          </p:spTgt>
                                        </p:tgtEl>
                                        <p:attrNameLst>
                                          <p:attrName>style.visibility</p:attrName>
                                        </p:attrNameLst>
                                      </p:cBhvr>
                                      <p:to>
                                        <p:strVal val="visible"/>
                                      </p:to>
                                    </p:set>
                                    <p:animEffect transition="in" filter="blinds(horizontal)">
                                      <p:cBhvr>
                                        <p:cTn id="7" dur="500"/>
                                        <p:tgtEl>
                                          <p:spTgt spid="25604">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5604">
                                            <p:txEl>
                                              <p:pRg st="6" end="6"/>
                                            </p:txEl>
                                          </p:spTgt>
                                        </p:tgtEl>
                                        <p:attrNameLst>
                                          <p:attrName>style.visibility</p:attrName>
                                        </p:attrNameLst>
                                      </p:cBhvr>
                                      <p:to>
                                        <p:strVal val="visible"/>
                                      </p:to>
                                    </p:set>
                                    <p:animEffect transition="in" filter="blinds(horizontal)">
                                      <p:cBhvr>
                                        <p:cTn id="10" dur="500"/>
                                        <p:tgtEl>
                                          <p:spTgt spid="25604">
                                            <p:txEl>
                                              <p:pRg st="6" end="6"/>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5604">
                                            <p:txEl>
                                              <p:pRg st="7" end="7"/>
                                            </p:txEl>
                                          </p:spTgt>
                                        </p:tgtEl>
                                        <p:attrNameLst>
                                          <p:attrName>style.visibility</p:attrName>
                                        </p:attrNameLst>
                                      </p:cBhvr>
                                      <p:to>
                                        <p:strVal val="visible"/>
                                      </p:to>
                                    </p:set>
                                    <p:animEffect transition="in" filter="blinds(horizontal)">
                                      <p:cBhvr>
                                        <p:cTn id="13" dur="500"/>
                                        <p:tgtEl>
                                          <p:spTgt spid="25604">
                                            <p:txEl>
                                              <p:pRg st="7" end="7"/>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5604">
                                            <p:txEl>
                                              <p:pRg st="8" end="8"/>
                                            </p:txEl>
                                          </p:spTgt>
                                        </p:tgtEl>
                                        <p:attrNameLst>
                                          <p:attrName>style.visibility</p:attrName>
                                        </p:attrNameLst>
                                      </p:cBhvr>
                                      <p:to>
                                        <p:strVal val="visible"/>
                                      </p:to>
                                    </p:set>
                                    <p:animEffect transition="in" filter="blinds(horizontal)">
                                      <p:cBhvr>
                                        <p:cTn id="16" dur="500"/>
                                        <p:tgtEl>
                                          <p:spTgt spid="25604">
                                            <p:txEl>
                                              <p:pRg st="8" end="8"/>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25604">
                                            <p:txEl>
                                              <p:pRg st="9" end="9"/>
                                            </p:txEl>
                                          </p:spTgt>
                                        </p:tgtEl>
                                        <p:attrNameLst>
                                          <p:attrName>style.visibility</p:attrName>
                                        </p:attrNameLst>
                                      </p:cBhvr>
                                      <p:to>
                                        <p:strVal val="visible"/>
                                      </p:to>
                                    </p:set>
                                    <p:animEffect transition="in" filter="blinds(horizontal)">
                                      <p:cBhvr>
                                        <p:cTn id="19" dur="500"/>
                                        <p:tgtEl>
                                          <p:spTgt spid="25604">
                                            <p:txEl>
                                              <p:pRg st="9" end="9"/>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25604">
                                            <p:txEl>
                                              <p:pRg st="10" end="10"/>
                                            </p:txEl>
                                          </p:spTgt>
                                        </p:tgtEl>
                                        <p:attrNameLst>
                                          <p:attrName>style.visibility</p:attrName>
                                        </p:attrNameLst>
                                      </p:cBhvr>
                                      <p:to>
                                        <p:strVal val="visible"/>
                                      </p:to>
                                    </p:set>
                                    <p:animEffect transition="in" filter="blinds(horizontal)">
                                      <p:cBhvr>
                                        <p:cTn id="22" dur="500"/>
                                        <p:tgtEl>
                                          <p:spTgt spid="25604">
                                            <p:txEl>
                                              <p:pRg st="10" end="10"/>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25604">
                                            <p:txEl>
                                              <p:pRg st="11" end="11"/>
                                            </p:txEl>
                                          </p:spTgt>
                                        </p:tgtEl>
                                        <p:attrNameLst>
                                          <p:attrName>style.visibility</p:attrName>
                                        </p:attrNameLst>
                                      </p:cBhvr>
                                      <p:to>
                                        <p:strVal val="visible"/>
                                      </p:to>
                                    </p:set>
                                    <p:animEffect transition="in" filter="blinds(horizontal)">
                                      <p:cBhvr>
                                        <p:cTn id="25" dur="500"/>
                                        <p:tgtEl>
                                          <p:spTgt spid="25604">
                                            <p:txEl>
                                              <p:pRg st="11" end="11"/>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25604">
                                            <p:txEl>
                                              <p:pRg st="12" end="12"/>
                                            </p:txEl>
                                          </p:spTgt>
                                        </p:tgtEl>
                                        <p:attrNameLst>
                                          <p:attrName>style.visibility</p:attrName>
                                        </p:attrNameLst>
                                      </p:cBhvr>
                                      <p:to>
                                        <p:strVal val="visible"/>
                                      </p:to>
                                    </p:set>
                                    <p:animEffect transition="in" filter="blinds(horizontal)">
                                      <p:cBhvr>
                                        <p:cTn id="28" dur="500"/>
                                        <p:tgtEl>
                                          <p:spTgt spid="2560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页脚占位符 5"/>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28675" name="Rectangle 2"/>
          <p:cNvSpPr>
            <a:spLocks noGrp="1" noChangeArrowheads="1"/>
          </p:cNvSpPr>
          <p:nvPr>
            <p:ph type="title"/>
          </p:nvPr>
        </p:nvSpPr>
        <p:spPr/>
        <p:txBody>
          <a:bodyPr/>
          <a:lstStyle/>
          <a:p>
            <a:r>
              <a:rPr lang="zh-CN" altLang="en-US" dirty="0"/>
              <a:t>表</a:t>
            </a:r>
            <a:r>
              <a:rPr lang="en-US" altLang="zh-CN" dirty="0"/>
              <a:t>4.2  CC</a:t>
            </a:r>
            <a:r>
              <a:rPr lang="zh-CN" altLang="en-US" dirty="0"/>
              <a:t>评估保证级（</a:t>
            </a:r>
            <a:r>
              <a:rPr lang="en-US" altLang="zh-CN" dirty="0"/>
              <a:t>EAL</a:t>
            </a:r>
            <a:r>
              <a:rPr lang="zh-CN" altLang="en-US" dirty="0"/>
              <a:t>）划分 </a:t>
            </a:r>
          </a:p>
        </p:txBody>
      </p:sp>
      <p:graphicFrame>
        <p:nvGraphicFramePr>
          <p:cNvPr id="17413" name="Group 5"/>
          <p:cNvGraphicFramePr>
            <a:graphicFrameLocks noGrp="1"/>
          </p:cNvGraphicFramePr>
          <p:nvPr>
            <p:ph idx="1"/>
          </p:nvPr>
        </p:nvGraphicFramePr>
        <p:xfrm>
          <a:off x="424180" y="687070"/>
          <a:ext cx="11343005" cy="5852144"/>
        </p:xfrm>
        <a:graphic>
          <a:graphicData uri="http://schemas.openxmlformats.org/drawingml/2006/table">
            <a:tbl>
              <a:tblPr/>
              <a:tblGrid>
                <a:gridCol w="1769110">
                  <a:extLst>
                    <a:ext uri="{9D8B030D-6E8A-4147-A177-3AD203B41FA5}">
                      <a16:colId xmlns:a16="http://schemas.microsoft.com/office/drawing/2014/main" val="20000"/>
                    </a:ext>
                  </a:extLst>
                </a:gridCol>
                <a:gridCol w="6870065">
                  <a:extLst>
                    <a:ext uri="{9D8B030D-6E8A-4147-A177-3AD203B41FA5}">
                      <a16:colId xmlns:a16="http://schemas.microsoft.com/office/drawing/2014/main" val="20001"/>
                    </a:ext>
                  </a:extLst>
                </a:gridCol>
                <a:gridCol w="2703830">
                  <a:extLst>
                    <a:ext uri="{9D8B030D-6E8A-4147-A177-3AD203B41FA5}">
                      <a16:colId xmlns:a16="http://schemas.microsoft.com/office/drawing/2014/main" val="20002"/>
                    </a:ext>
                  </a:extLst>
                </a:gridCol>
              </a:tblGrid>
              <a:tr h="579418">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400" b="1" i="0" u="none" strike="noStrike" cap="none" normalizeH="0" baseline="0" dirty="0">
                          <a:ln>
                            <a:noFill/>
                          </a:ln>
                          <a:solidFill>
                            <a:schemeClr val="tx1"/>
                          </a:solidFill>
                          <a:effectLst/>
                          <a:latin typeface="+mn-lt"/>
                          <a:ea typeface="宋体" panose="02010600030101010101" pitchFamily="2" charset="-122"/>
                        </a:rPr>
                        <a:t>评估保证级</a:t>
                      </a:r>
                    </a:p>
                  </a:txBody>
                  <a:tcPr marL="91439" marR="91439" marT="45719" marB="457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400" b="1" i="0" u="none" strike="noStrike" cap="none" normalizeH="0" baseline="0" dirty="0">
                          <a:ln>
                            <a:noFill/>
                          </a:ln>
                          <a:solidFill>
                            <a:schemeClr val="tx1"/>
                          </a:solidFill>
                          <a:effectLst/>
                          <a:latin typeface="+mn-lt"/>
                          <a:ea typeface="宋体" panose="02010600030101010101" pitchFamily="2" charset="-122"/>
                        </a:rPr>
                        <a:t>定　　义</a:t>
                      </a:r>
                    </a:p>
                  </a:txBody>
                  <a:tcPr marL="91439" marR="91439" marT="45719" marB="457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chemeClr val="tx1"/>
                          </a:solidFill>
                          <a:effectLst/>
                          <a:latin typeface="+mn-lt"/>
                          <a:ea typeface="宋体" panose="02010600030101010101" pitchFamily="2" charset="-122"/>
                        </a:rPr>
                        <a:t>TCSEC</a:t>
                      </a:r>
                      <a:r>
                        <a:rPr kumimoji="0" lang="zh-CN" altLang="en-US" sz="2400" b="1" i="0" u="none" strike="noStrike" cap="none" normalizeH="0" baseline="0">
                          <a:ln>
                            <a:noFill/>
                          </a:ln>
                          <a:solidFill>
                            <a:schemeClr val="tx1"/>
                          </a:solidFill>
                          <a:effectLst/>
                          <a:latin typeface="+mn-lt"/>
                          <a:ea typeface="宋体" panose="02010600030101010101" pitchFamily="2" charset="-122"/>
                        </a:rPr>
                        <a:t>安全级别（近似相当）</a:t>
                      </a:r>
                    </a:p>
                  </a:txBody>
                  <a:tcPr marL="91439" marR="91439" marT="45719" marB="457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0"/>
                  </a:ext>
                </a:extLst>
              </a:tr>
              <a:tr h="335315">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1F2DA8"/>
                          </a:solidFill>
                          <a:effectLst/>
                          <a:latin typeface="+mn-lt"/>
                          <a:ea typeface="宋体" panose="02010600030101010101" pitchFamily="2" charset="-122"/>
                        </a:rPr>
                        <a:t>EAL1</a:t>
                      </a:r>
                    </a:p>
                  </a:txBody>
                  <a:tcPr marL="91439" marR="91439" marT="45719" marB="457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400" b="1" i="0" u="none" strike="noStrike" cap="none" normalizeH="0" baseline="0" dirty="0">
                          <a:ln>
                            <a:noFill/>
                          </a:ln>
                          <a:solidFill>
                            <a:srgbClr val="1F2DA8"/>
                          </a:solidFill>
                          <a:effectLst/>
                          <a:latin typeface="+mn-lt"/>
                          <a:ea typeface="宋体" panose="02010600030101010101" pitchFamily="2" charset="-122"/>
                        </a:rPr>
                        <a:t>功能测试（</a:t>
                      </a:r>
                      <a:r>
                        <a:rPr kumimoji="0" lang="en-US" sz="2400" b="1" i="0" u="none" strike="noStrike" cap="none" normalizeH="0" baseline="0" dirty="0">
                          <a:ln>
                            <a:noFill/>
                          </a:ln>
                          <a:solidFill>
                            <a:srgbClr val="1F2DA8"/>
                          </a:solidFill>
                          <a:effectLst/>
                          <a:latin typeface="+mn-lt"/>
                          <a:ea typeface="宋体" panose="02010600030101010101" pitchFamily="2" charset="-122"/>
                        </a:rPr>
                        <a:t>functionally tested</a:t>
                      </a:r>
                      <a:r>
                        <a:rPr kumimoji="0" lang="zh-CN" altLang="en-US" sz="2400" b="1" i="0" u="none" strike="noStrike" cap="none" normalizeH="0" baseline="0" dirty="0">
                          <a:ln>
                            <a:noFill/>
                          </a:ln>
                          <a:solidFill>
                            <a:srgbClr val="1F2DA8"/>
                          </a:solidFill>
                          <a:effectLst/>
                          <a:latin typeface="+mn-lt"/>
                          <a:ea typeface="宋体" panose="02010600030101010101" pitchFamily="2" charset="-122"/>
                        </a:rPr>
                        <a:t>）</a:t>
                      </a:r>
                    </a:p>
                  </a:txBody>
                  <a:tcPr marL="91439" marR="91439" marT="45719" marB="457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endParaRPr kumimoji="0" lang="zh-CN" altLang="zh-CN" sz="2400" b="1" i="0" u="none" strike="noStrike" cap="none" normalizeH="0" baseline="0" dirty="0">
                        <a:ln>
                          <a:noFill/>
                        </a:ln>
                        <a:solidFill>
                          <a:srgbClr val="1F2DA8"/>
                        </a:solidFill>
                        <a:effectLst/>
                        <a:latin typeface="+mn-lt"/>
                        <a:ea typeface="宋体" panose="02010600030101010101" pitchFamily="2" charset="-122"/>
                      </a:endParaRPr>
                    </a:p>
                  </a:txBody>
                  <a:tcPr marL="91439" marR="91439" marT="45719" marB="457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6539">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1F2DA8"/>
                          </a:solidFill>
                          <a:effectLst/>
                          <a:latin typeface="+mn-lt"/>
                          <a:ea typeface="宋体" panose="02010600030101010101" pitchFamily="2" charset="-122"/>
                        </a:rPr>
                        <a:t>EAL2</a:t>
                      </a:r>
                    </a:p>
                  </a:txBody>
                  <a:tcPr marL="91439" marR="91439" marT="45719" marB="457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400" b="1" i="0" u="none" strike="noStrike" cap="none" normalizeH="0" baseline="0">
                          <a:ln>
                            <a:noFill/>
                          </a:ln>
                          <a:solidFill>
                            <a:srgbClr val="1F2DA8"/>
                          </a:solidFill>
                          <a:effectLst/>
                          <a:latin typeface="+mn-lt"/>
                          <a:ea typeface="宋体" panose="02010600030101010101" pitchFamily="2" charset="-122"/>
                        </a:rPr>
                        <a:t>结构测试（</a:t>
                      </a:r>
                      <a:r>
                        <a:rPr kumimoji="0" lang="en-US" sz="2400" b="1" i="0" u="none" strike="noStrike" cap="none" normalizeH="0" baseline="0">
                          <a:ln>
                            <a:noFill/>
                          </a:ln>
                          <a:solidFill>
                            <a:srgbClr val="1F2DA8"/>
                          </a:solidFill>
                          <a:effectLst/>
                          <a:latin typeface="+mn-lt"/>
                          <a:ea typeface="宋体" panose="02010600030101010101" pitchFamily="2" charset="-122"/>
                        </a:rPr>
                        <a:t>structurally tested</a:t>
                      </a:r>
                      <a:r>
                        <a:rPr kumimoji="0" lang="zh-CN" altLang="en-US" sz="2400" b="1" i="0" u="none" strike="noStrike" cap="none" normalizeH="0" baseline="0">
                          <a:ln>
                            <a:noFill/>
                          </a:ln>
                          <a:solidFill>
                            <a:srgbClr val="1F2DA8"/>
                          </a:solidFill>
                          <a:effectLst/>
                          <a:latin typeface="+mn-lt"/>
                          <a:ea typeface="宋体" panose="02010600030101010101" pitchFamily="2" charset="-122"/>
                        </a:rPr>
                        <a:t>）</a:t>
                      </a:r>
                    </a:p>
                  </a:txBody>
                  <a:tcPr marL="91439" marR="91439" marT="45719" marB="457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1F2DA8"/>
                          </a:solidFill>
                          <a:effectLst/>
                          <a:latin typeface="+mn-lt"/>
                          <a:ea typeface="宋体" panose="02010600030101010101" pitchFamily="2" charset="-122"/>
                        </a:rPr>
                        <a:t>C1</a:t>
                      </a:r>
                    </a:p>
                  </a:txBody>
                  <a:tcPr marL="91439" marR="91439" marT="45719" marB="457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9191">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1F2DA8"/>
                          </a:solidFill>
                          <a:effectLst/>
                          <a:latin typeface="+mn-lt"/>
                          <a:ea typeface="宋体" panose="02010600030101010101" pitchFamily="2" charset="-122"/>
                        </a:rPr>
                        <a:t>EAL3</a:t>
                      </a:r>
                    </a:p>
                  </a:txBody>
                  <a:tcPr marL="91439" marR="91439" marT="45719" marB="457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400" b="1" i="0" u="none" strike="noStrike" cap="none" normalizeH="0" baseline="0" dirty="0">
                          <a:ln>
                            <a:noFill/>
                          </a:ln>
                          <a:solidFill>
                            <a:srgbClr val="1F2DA8"/>
                          </a:solidFill>
                          <a:effectLst/>
                          <a:latin typeface="+mn-lt"/>
                          <a:ea typeface="宋体" panose="02010600030101010101" pitchFamily="2" charset="-122"/>
                        </a:rPr>
                        <a:t>系统地测试和检查（</a:t>
                      </a:r>
                      <a:r>
                        <a:rPr kumimoji="0" lang="en-US" sz="2400" b="1" i="0" u="none" strike="noStrike" cap="none" normalizeH="0" baseline="0" dirty="0">
                          <a:ln>
                            <a:noFill/>
                          </a:ln>
                          <a:solidFill>
                            <a:srgbClr val="1F2DA8"/>
                          </a:solidFill>
                          <a:effectLst/>
                          <a:latin typeface="+mn-lt"/>
                          <a:ea typeface="宋体" panose="02010600030101010101" pitchFamily="2" charset="-122"/>
                        </a:rPr>
                        <a:t>methodically tested and checked</a:t>
                      </a:r>
                      <a:r>
                        <a:rPr kumimoji="0" lang="zh-CN" altLang="en-US" sz="2400" b="1" i="0" u="none" strike="noStrike" cap="none" normalizeH="0" baseline="0" dirty="0">
                          <a:ln>
                            <a:noFill/>
                          </a:ln>
                          <a:solidFill>
                            <a:srgbClr val="1F2DA8"/>
                          </a:solidFill>
                          <a:effectLst/>
                          <a:latin typeface="+mn-lt"/>
                          <a:ea typeface="宋体" panose="02010600030101010101" pitchFamily="2" charset="-122"/>
                        </a:rPr>
                        <a:t>）</a:t>
                      </a:r>
                    </a:p>
                  </a:txBody>
                  <a:tcPr marL="91439" marR="91439" marT="45719" marB="457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1F2DA8"/>
                          </a:solidFill>
                          <a:effectLst/>
                          <a:latin typeface="+mn-lt"/>
                          <a:ea typeface="宋体" panose="02010600030101010101" pitchFamily="2" charset="-122"/>
                        </a:rPr>
                        <a:t>C2</a:t>
                      </a:r>
                    </a:p>
                  </a:txBody>
                  <a:tcPr marL="91439" marR="91439" marT="45719" marB="457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9418">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1F2DA8"/>
                          </a:solidFill>
                          <a:effectLst/>
                          <a:latin typeface="+mn-lt"/>
                          <a:ea typeface="宋体" panose="02010600030101010101" pitchFamily="2" charset="-122"/>
                        </a:rPr>
                        <a:t>EAL4</a:t>
                      </a:r>
                    </a:p>
                  </a:txBody>
                  <a:tcPr marL="91439" marR="91439" marT="45719" marB="457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400" b="1" i="0" u="none" strike="noStrike" cap="none" normalizeH="0" baseline="0">
                          <a:ln>
                            <a:noFill/>
                          </a:ln>
                          <a:solidFill>
                            <a:srgbClr val="1F2DA8"/>
                          </a:solidFill>
                          <a:effectLst/>
                          <a:latin typeface="+mn-lt"/>
                          <a:ea typeface="宋体" panose="02010600030101010101" pitchFamily="2" charset="-122"/>
                        </a:rPr>
                        <a:t>系统地设计、测试和复查（</a:t>
                      </a:r>
                      <a:r>
                        <a:rPr kumimoji="0" lang="en-US" sz="2400" b="1" i="0" u="none" strike="noStrike" cap="none" normalizeH="0" baseline="0">
                          <a:ln>
                            <a:noFill/>
                          </a:ln>
                          <a:solidFill>
                            <a:srgbClr val="1F2DA8"/>
                          </a:solidFill>
                          <a:effectLst/>
                          <a:latin typeface="+mn-lt"/>
                          <a:ea typeface="宋体" panose="02010600030101010101" pitchFamily="2" charset="-122"/>
                        </a:rPr>
                        <a:t>methodically designed</a:t>
                      </a:r>
                      <a:r>
                        <a:rPr kumimoji="0" lang="zh-CN" altLang="en-US" sz="2400" b="1" i="0" u="none" strike="noStrike" cap="none" normalizeH="0" baseline="0">
                          <a:ln>
                            <a:noFill/>
                          </a:ln>
                          <a:solidFill>
                            <a:srgbClr val="1F2DA8"/>
                          </a:solidFill>
                          <a:effectLst/>
                          <a:latin typeface="+mn-lt"/>
                          <a:ea typeface="宋体" panose="02010600030101010101" pitchFamily="2" charset="-122"/>
                        </a:rPr>
                        <a:t>， </a:t>
                      </a:r>
                      <a:r>
                        <a:rPr kumimoji="0" lang="en-US" sz="2400" b="1" i="0" u="none" strike="noStrike" cap="none" normalizeH="0" baseline="0">
                          <a:ln>
                            <a:noFill/>
                          </a:ln>
                          <a:solidFill>
                            <a:srgbClr val="1F2DA8"/>
                          </a:solidFill>
                          <a:effectLst/>
                          <a:latin typeface="+mn-lt"/>
                          <a:ea typeface="宋体" panose="02010600030101010101" pitchFamily="2" charset="-122"/>
                        </a:rPr>
                        <a:t>tested</a:t>
                      </a:r>
                      <a:r>
                        <a:rPr kumimoji="0" lang="zh-CN" altLang="en-US" sz="2400" b="1" i="0" u="none" strike="noStrike" cap="none" normalizeH="0" baseline="0">
                          <a:ln>
                            <a:noFill/>
                          </a:ln>
                          <a:solidFill>
                            <a:srgbClr val="1F2DA8"/>
                          </a:solidFill>
                          <a:effectLst/>
                          <a:latin typeface="+mn-lt"/>
                          <a:ea typeface="宋体" panose="02010600030101010101" pitchFamily="2" charset="-122"/>
                        </a:rPr>
                        <a:t>， </a:t>
                      </a:r>
                      <a:r>
                        <a:rPr kumimoji="0" lang="en-US" sz="2400" b="1" i="0" u="none" strike="noStrike" cap="none" normalizeH="0" baseline="0">
                          <a:ln>
                            <a:noFill/>
                          </a:ln>
                          <a:solidFill>
                            <a:srgbClr val="1F2DA8"/>
                          </a:solidFill>
                          <a:effectLst/>
                          <a:latin typeface="+mn-lt"/>
                          <a:ea typeface="宋体" panose="02010600030101010101" pitchFamily="2" charset="-122"/>
                        </a:rPr>
                        <a:t>and reviewed</a:t>
                      </a:r>
                      <a:r>
                        <a:rPr kumimoji="0" lang="zh-CN" altLang="en-US" sz="2400" b="1" i="0" u="none" strike="noStrike" cap="none" normalizeH="0" baseline="0">
                          <a:ln>
                            <a:noFill/>
                          </a:ln>
                          <a:solidFill>
                            <a:srgbClr val="1F2DA8"/>
                          </a:solidFill>
                          <a:effectLst/>
                          <a:latin typeface="+mn-lt"/>
                          <a:ea typeface="宋体" panose="02010600030101010101" pitchFamily="2" charset="-122"/>
                        </a:rPr>
                        <a:t>）</a:t>
                      </a:r>
                    </a:p>
                  </a:txBody>
                  <a:tcPr marL="91439" marR="91439" marT="45719" marB="457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1F2DA8"/>
                          </a:solidFill>
                          <a:effectLst/>
                          <a:latin typeface="+mn-lt"/>
                          <a:ea typeface="宋体" panose="02010600030101010101" pitchFamily="2" charset="-122"/>
                        </a:rPr>
                        <a:t>B1</a:t>
                      </a:r>
                    </a:p>
                  </a:txBody>
                  <a:tcPr marL="91439" marR="91439" marT="45719" marB="457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9418">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1F2DA8"/>
                          </a:solidFill>
                          <a:effectLst/>
                          <a:latin typeface="+mn-lt"/>
                          <a:ea typeface="宋体" panose="02010600030101010101" pitchFamily="2" charset="-122"/>
                        </a:rPr>
                        <a:t>EAL5</a:t>
                      </a:r>
                    </a:p>
                  </a:txBody>
                  <a:tcPr marL="91439" marR="91439" marT="45719" marB="457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400" b="1" i="0" u="none" strike="noStrike" cap="none" normalizeH="0" baseline="0">
                          <a:ln>
                            <a:noFill/>
                          </a:ln>
                          <a:solidFill>
                            <a:srgbClr val="1F2DA8"/>
                          </a:solidFill>
                          <a:effectLst/>
                          <a:latin typeface="+mn-lt"/>
                          <a:ea typeface="宋体" panose="02010600030101010101" pitchFamily="2" charset="-122"/>
                        </a:rPr>
                        <a:t>半形式化设计和测试（</a:t>
                      </a:r>
                      <a:r>
                        <a:rPr kumimoji="0" lang="en-US" sz="2400" b="1" i="0" u="none" strike="noStrike" cap="none" normalizeH="0" baseline="0">
                          <a:ln>
                            <a:noFill/>
                          </a:ln>
                          <a:solidFill>
                            <a:srgbClr val="1F2DA8"/>
                          </a:solidFill>
                          <a:effectLst/>
                          <a:latin typeface="+mn-lt"/>
                          <a:ea typeface="宋体" panose="02010600030101010101" pitchFamily="2" charset="-122"/>
                        </a:rPr>
                        <a:t>semiformally designed and tested</a:t>
                      </a:r>
                      <a:r>
                        <a:rPr kumimoji="0" lang="zh-CN" altLang="en-US" sz="2400" b="1" i="0" u="none" strike="noStrike" cap="none" normalizeH="0" baseline="0">
                          <a:ln>
                            <a:noFill/>
                          </a:ln>
                          <a:solidFill>
                            <a:srgbClr val="1F2DA8"/>
                          </a:solidFill>
                          <a:effectLst/>
                          <a:latin typeface="+mn-lt"/>
                          <a:ea typeface="宋体" panose="02010600030101010101" pitchFamily="2" charset="-122"/>
                        </a:rPr>
                        <a:t>）</a:t>
                      </a:r>
                    </a:p>
                  </a:txBody>
                  <a:tcPr marL="91439" marR="91439" marT="45719" marB="457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1F2DA8"/>
                          </a:solidFill>
                          <a:effectLst/>
                          <a:latin typeface="+mn-lt"/>
                          <a:ea typeface="宋体" panose="02010600030101010101" pitchFamily="2" charset="-122"/>
                        </a:rPr>
                        <a:t>B2</a:t>
                      </a:r>
                    </a:p>
                  </a:txBody>
                  <a:tcPr marL="91439" marR="91439" marT="45719" marB="457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79418">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1F2DA8"/>
                          </a:solidFill>
                          <a:effectLst/>
                          <a:latin typeface="+mn-lt"/>
                          <a:ea typeface="宋体" panose="02010600030101010101" pitchFamily="2" charset="-122"/>
                        </a:rPr>
                        <a:t>EAL6</a:t>
                      </a:r>
                    </a:p>
                  </a:txBody>
                  <a:tcPr marL="91439" marR="91439" marT="45719" marB="457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defRPr/>
                      </a:pPr>
                      <a:r>
                        <a:rPr kumimoji="0" lang="zh-CN" altLang="en-US" sz="2400" b="1" i="0" u="none" strike="noStrike" cap="none" normalizeH="0" baseline="0" dirty="0">
                          <a:ln>
                            <a:noFill/>
                          </a:ln>
                          <a:solidFill>
                            <a:srgbClr val="1F2DA8"/>
                          </a:solidFill>
                          <a:effectLst/>
                          <a:latin typeface="+mn-lt"/>
                          <a:ea typeface="宋体" panose="02010600030101010101" pitchFamily="2" charset="-122"/>
                        </a:rPr>
                        <a:t>半形式化验证的设计和测试（</a:t>
                      </a:r>
                      <a:r>
                        <a:rPr kumimoji="0" lang="en-US" sz="2400" b="1" i="0" u="none" strike="noStrike" cap="none" normalizeH="0" baseline="0" dirty="0" err="1">
                          <a:ln>
                            <a:noFill/>
                          </a:ln>
                          <a:solidFill>
                            <a:srgbClr val="1F2DA8"/>
                          </a:solidFill>
                          <a:effectLst/>
                          <a:latin typeface="+mn-lt"/>
                          <a:ea typeface="宋体" panose="02010600030101010101" pitchFamily="2" charset="-122"/>
                        </a:rPr>
                        <a:t>semiformally</a:t>
                      </a:r>
                      <a:r>
                        <a:rPr kumimoji="0" lang="en-US" sz="2400" b="1" i="0" u="none" strike="noStrike" cap="none" normalizeH="0" baseline="0" dirty="0">
                          <a:ln>
                            <a:noFill/>
                          </a:ln>
                          <a:solidFill>
                            <a:srgbClr val="1F2DA8"/>
                          </a:solidFill>
                          <a:effectLst/>
                          <a:latin typeface="+mn-lt"/>
                          <a:ea typeface="宋体" panose="02010600030101010101" pitchFamily="2" charset="-122"/>
                        </a:rPr>
                        <a:t> verified design and </a:t>
                      </a:r>
                      <a:r>
                        <a:rPr kumimoji="0" lang="en-US" altLang="zh-CN" sz="2400" b="1" i="0" u="none" strike="noStrike" cap="none" normalizeH="0" baseline="0" dirty="0">
                          <a:ln>
                            <a:noFill/>
                          </a:ln>
                          <a:solidFill>
                            <a:srgbClr val="1F2DA8"/>
                          </a:solidFill>
                          <a:effectLst/>
                          <a:latin typeface="+mn-lt"/>
                          <a:ea typeface="宋体" panose="02010600030101010101" pitchFamily="2" charset="-122"/>
                        </a:rPr>
                        <a:t>tested</a:t>
                      </a:r>
                      <a:r>
                        <a:rPr kumimoji="0" lang="zh-CN" altLang="en-US" sz="2400" b="1" i="0" u="none" strike="noStrike" cap="none" normalizeH="0" baseline="0" dirty="0">
                          <a:ln>
                            <a:noFill/>
                          </a:ln>
                          <a:solidFill>
                            <a:srgbClr val="1F2DA8"/>
                          </a:solidFill>
                          <a:effectLst/>
                          <a:latin typeface="+mn-lt"/>
                          <a:ea typeface="宋体" panose="02010600030101010101" pitchFamily="2" charset="-122"/>
                        </a:rPr>
                        <a:t>）</a:t>
                      </a:r>
                    </a:p>
                  </a:txBody>
                  <a:tcPr marL="91439" marR="91439" marT="45719" marB="457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1F2DA8"/>
                          </a:solidFill>
                          <a:effectLst/>
                          <a:latin typeface="+mn-lt"/>
                          <a:ea typeface="宋体" panose="02010600030101010101" pitchFamily="2" charset="-122"/>
                        </a:rPr>
                        <a:t>B3</a:t>
                      </a:r>
                    </a:p>
                  </a:txBody>
                  <a:tcPr marL="91439" marR="91439" marT="45719" marB="457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79418">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1F2DA8"/>
                          </a:solidFill>
                          <a:effectLst/>
                          <a:latin typeface="+mn-lt"/>
                          <a:ea typeface="宋体" panose="02010600030101010101" pitchFamily="2" charset="-122"/>
                        </a:rPr>
                        <a:t>EAL7</a:t>
                      </a:r>
                    </a:p>
                  </a:txBody>
                  <a:tcPr marL="91439" marR="91439" marT="45719" marB="457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400" b="1" i="0" u="none" strike="noStrike" cap="none" normalizeH="0" baseline="0" dirty="0">
                          <a:ln>
                            <a:noFill/>
                          </a:ln>
                          <a:solidFill>
                            <a:srgbClr val="1F2DA8"/>
                          </a:solidFill>
                          <a:effectLst/>
                          <a:latin typeface="+mn-lt"/>
                          <a:ea typeface="宋体" panose="02010600030101010101" pitchFamily="2" charset="-122"/>
                        </a:rPr>
                        <a:t>形式化验证的设计和测试（</a:t>
                      </a:r>
                      <a:r>
                        <a:rPr kumimoji="0" lang="en-US" sz="2400" b="1" i="0" u="none" strike="noStrike" cap="none" normalizeH="0" baseline="0" dirty="0">
                          <a:ln>
                            <a:noFill/>
                          </a:ln>
                          <a:solidFill>
                            <a:srgbClr val="1F2DA8"/>
                          </a:solidFill>
                          <a:effectLst/>
                          <a:latin typeface="+mn-lt"/>
                          <a:ea typeface="宋体" panose="02010600030101010101" pitchFamily="2" charset="-122"/>
                        </a:rPr>
                        <a:t>formally verified design and tested</a:t>
                      </a:r>
                      <a:r>
                        <a:rPr kumimoji="0" lang="zh-CN" altLang="en-US" sz="2400" b="1" i="0" u="none" strike="noStrike" cap="none" normalizeH="0" baseline="0" dirty="0">
                          <a:ln>
                            <a:noFill/>
                          </a:ln>
                          <a:solidFill>
                            <a:srgbClr val="1F2DA8"/>
                          </a:solidFill>
                          <a:effectLst/>
                          <a:latin typeface="+mn-lt"/>
                          <a:ea typeface="宋体" panose="02010600030101010101" pitchFamily="2" charset="-122"/>
                        </a:rPr>
                        <a:t>）</a:t>
                      </a:r>
                    </a:p>
                  </a:txBody>
                  <a:tcPr marL="91439" marR="91439" marT="45719" marB="457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1F2DA8"/>
                          </a:solidFill>
                          <a:effectLst/>
                          <a:latin typeface="+mn-lt"/>
                          <a:ea typeface="宋体" panose="02010600030101010101" pitchFamily="2" charset="-122"/>
                        </a:rPr>
                        <a:t>A1</a:t>
                      </a:r>
                    </a:p>
                  </a:txBody>
                  <a:tcPr marL="91439" marR="91439" marT="45719" marB="457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 name="灯片编号占位符 1"/>
          <p:cNvSpPr>
            <a:spLocks noGrp="1"/>
          </p:cNvSpPr>
          <p:nvPr>
            <p:ph type="sldNum" sz="quarter" idx="12"/>
          </p:nvPr>
        </p:nvSpPr>
        <p:spPr/>
        <p:txBody>
          <a:bodyPr/>
          <a:lstStyle/>
          <a:p>
            <a:fld id="{565CE74E-AB26-4998-AD42-012C4C1AD076}" type="slidenum">
              <a:rPr lang="zh-CN" altLang="en-US" smtClean="0"/>
              <a:t>12</a:t>
            </a:fld>
            <a:endParaRPr lang="zh-CN" altLang="en-US"/>
          </a:p>
        </p:txBody>
      </p:sp>
      <p:sp>
        <p:nvSpPr>
          <p:cNvPr id="3" name="页脚占位符 2"/>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p:cNvSpPr>
          <p:nvPr>
            <p:ph type="title"/>
          </p:nvPr>
        </p:nvSpPr>
        <p:spPr/>
        <p:txBody>
          <a:bodyPr wrap="square" tIns="0" bIns="0" anchor="ctr"/>
          <a:lstStyle/>
          <a:p>
            <a:r>
              <a:rPr lang="en-US" altLang="zh-CN">
                <a:cs typeface="+mj-lt"/>
                <a:sym typeface="+mn-ea"/>
              </a:rPr>
              <a:t>4.1.3  </a:t>
            </a:r>
            <a:r>
              <a:rPr lang="zh-CN" altLang="en-US">
                <a:cs typeface="+mj-lt"/>
                <a:sym typeface="+mn-ea"/>
              </a:rPr>
              <a:t>中国计算机安全标准制订历史</a:t>
            </a:r>
            <a:endParaRPr lang="zh-CN" altLang="en-US" dirty="0">
              <a:cs typeface="+mj-lt"/>
            </a:endParaRPr>
          </a:p>
        </p:txBody>
      </p:sp>
      <p:sp>
        <p:nvSpPr>
          <p:cNvPr id="27650" name="Rectangle 3"/>
          <p:cNvSpPr>
            <a:spLocks noGrp="1"/>
          </p:cNvSpPr>
          <p:nvPr>
            <p:ph idx="1"/>
          </p:nvPr>
        </p:nvSpPr>
        <p:spPr>
          <a:xfrm>
            <a:off x="424180" y="687070"/>
            <a:ext cx="11343005" cy="1675130"/>
          </a:xfrm>
        </p:spPr>
        <p:txBody>
          <a:bodyPr wrap="square" anchor="t">
            <a:spAutoFit/>
          </a:bodyPr>
          <a:lstStyle/>
          <a:p>
            <a:pPr>
              <a:spcBef>
                <a:spcPct val="15000"/>
              </a:spcBef>
            </a:pPr>
            <a:r>
              <a:rPr lang="zh-CN" altLang="en-US" dirty="0">
                <a:solidFill>
                  <a:srgbClr val="C00000"/>
                </a:solidFill>
                <a:latin typeface="华文楷体" panose="02010600040101010101" charset="-122"/>
                <a:ea typeface="华文楷体" panose="02010600040101010101" charset="-122"/>
                <a:cs typeface="华文楷体" panose="02010600040101010101" charset="-122"/>
              </a:rPr>
              <a:t>安全标准的制订历史（中国）</a:t>
            </a:r>
            <a:endParaRPr lang="zh-CN" altLang="en-US" dirty="0">
              <a:solidFill>
                <a:srgbClr val="1F2DA8"/>
              </a:solidFill>
              <a:latin typeface="华文楷体" panose="02010600040101010101" charset="-122"/>
              <a:ea typeface="华文楷体" panose="02010600040101010101" charset="-122"/>
              <a:cs typeface="华文楷体" panose="02010600040101010101" charset="-122"/>
            </a:endParaRPr>
          </a:p>
          <a:p>
            <a:pPr lvl="1">
              <a:spcBef>
                <a:spcPct val="15000"/>
              </a:spcBef>
            </a:pPr>
            <a:r>
              <a:rPr lang="en-US" altLang="zh-CN" dirty="0">
                <a:solidFill>
                  <a:srgbClr val="FF0000"/>
                </a:solidFill>
                <a:latin typeface="华文楷体" panose="02010600040101010101" charset="-122"/>
                <a:ea typeface="华文楷体" panose="02010600040101010101" charset="-122"/>
                <a:cs typeface="华文楷体" panose="02010600040101010101" charset="-122"/>
              </a:rPr>
              <a:t>GB 17859-1999</a:t>
            </a:r>
            <a:r>
              <a:rPr lang="zh-CN" altLang="en-US" dirty="0">
                <a:latin typeface="华文楷体" panose="02010600040101010101" charset="-122"/>
                <a:ea typeface="华文楷体" panose="02010600040101010101" charset="-122"/>
                <a:cs typeface="华文楷体" panose="02010600040101010101" charset="-122"/>
              </a:rPr>
              <a:t>：计算机信息系统安全保护等级划分准则</a:t>
            </a:r>
            <a:endParaRPr lang="en-US" altLang="zh-CN" u="sng" dirty="0">
              <a:latin typeface="华文楷体" panose="02010600040101010101" charset="-122"/>
              <a:ea typeface="华文楷体" panose="02010600040101010101" charset="-122"/>
              <a:cs typeface="华文楷体" panose="02010600040101010101" charset="-122"/>
            </a:endParaRPr>
          </a:p>
          <a:p>
            <a:pPr lvl="2">
              <a:spcBef>
                <a:spcPct val="15000"/>
              </a:spcBef>
              <a:buFont typeface="Arial" panose="020B0604020202020204" pitchFamily="34" charset="0"/>
              <a:buChar char="•"/>
            </a:pPr>
            <a:r>
              <a:rPr lang="zh-CN" altLang="en-US" dirty="0">
                <a:latin typeface="华文楷体" panose="02010600040101010101" charset="-122"/>
                <a:ea typeface="华文楷体" panose="02010600040101010101" charset="-122"/>
                <a:cs typeface="华文楷体" panose="02010600040101010101" charset="-122"/>
              </a:rPr>
              <a:t>参照美国的</a:t>
            </a:r>
            <a:r>
              <a:rPr lang="en-US" altLang="zh-CN" dirty="0">
                <a:latin typeface="华文楷体" panose="02010600040101010101" charset="-122"/>
                <a:ea typeface="华文楷体" panose="02010600040101010101" charset="-122"/>
                <a:cs typeface="华文楷体" panose="02010600040101010101" charset="-122"/>
              </a:rPr>
              <a:t>TCSEC</a:t>
            </a:r>
            <a:r>
              <a:rPr lang="zh-CN" altLang="en-US" dirty="0">
                <a:latin typeface="华文楷体" panose="02010600040101010101" charset="-122"/>
                <a:ea typeface="华文楷体" panose="02010600040101010101" charset="-122"/>
                <a:cs typeface="华文楷体" panose="02010600040101010101" charset="-122"/>
              </a:rPr>
              <a:t>标准来制订等级划分标准</a:t>
            </a:r>
          </a:p>
        </p:txBody>
      </p:sp>
      <p:graphicFrame>
        <p:nvGraphicFramePr>
          <p:cNvPr id="27651" name="Object 4"/>
          <p:cNvGraphicFramePr>
            <a:graphicFrameLocks noChangeAspect="1"/>
          </p:cNvGraphicFramePr>
          <p:nvPr/>
        </p:nvGraphicFramePr>
        <p:xfrm>
          <a:off x="2555558" y="2542223"/>
          <a:ext cx="7110095" cy="3786505"/>
        </p:xfrm>
        <a:graphic>
          <a:graphicData uri="http://schemas.openxmlformats.org/presentationml/2006/ole">
            <mc:AlternateContent xmlns:mc="http://schemas.openxmlformats.org/markup-compatibility/2006">
              <mc:Choice xmlns:v="urn:schemas-microsoft-com:vml" Requires="v">
                <p:oleObj r:id="rId2" imgW="3665220" imgH="1813560" progId="Word.Picture.8">
                  <p:embed/>
                </p:oleObj>
              </mc:Choice>
              <mc:Fallback>
                <p:oleObj r:id="rId2" imgW="3665220" imgH="1813560" progId="Word.Picture.8">
                  <p:embed/>
                  <p:pic>
                    <p:nvPicPr>
                      <p:cNvPr id="0" name="图片 3075"/>
                      <p:cNvPicPr/>
                      <p:nvPr/>
                    </p:nvPicPr>
                    <p:blipFill>
                      <a:blip r:embed="rId3"/>
                      <a:stretch>
                        <a:fillRect/>
                      </a:stretch>
                    </p:blipFill>
                    <p:spPr>
                      <a:xfrm>
                        <a:off x="2555558" y="2542223"/>
                        <a:ext cx="7110095" cy="3786505"/>
                      </a:xfrm>
                      <a:prstGeom prst="rect">
                        <a:avLst/>
                      </a:prstGeom>
                      <a:noFill/>
                      <a:ln w="38100">
                        <a:noFill/>
                        <a:miter/>
                      </a:ln>
                    </p:spPr>
                  </p:pic>
                </p:oleObj>
              </mc:Fallback>
            </mc:AlternateContent>
          </a:graphicData>
        </a:graphic>
      </p:graphicFrame>
      <p:sp>
        <p:nvSpPr>
          <p:cNvPr id="2" name="灯片编号占位符 1"/>
          <p:cNvSpPr>
            <a:spLocks noGrp="1"/>
          </p:cNvSpPr>
          <p:nvPr>
            <p:ph type="sldNum" sz="quarter" idx="12"/>
          </p:nvPr>
        </p:nvSpPr>
        <p:spPr/>
        <p:txBody>
          <a:bodyPr/>
          <a:lstStyle/>
          <a:p>
            <a:fld id="{565CE74E-AB26-4998-AD42-012C4C1AD076}" type="slidenum">
              <a:rPr lang="zh-CN" altLang="en-US" smtClean="0"/>
              <a:t>13</a:t>
            </a:fld>
            <a:endParaRPr lang="zh-CN" altLang="en-US"/>
          </a:p>
        </p:txBody>
      </p:sp>
      <p:sp>
        <p:nvSpPr>
          <p:cNvPr id="3" name="页脚占位符 2"/>
          <p:cNvSpPr>
            <a:spLocks noGrp="1"/>
          </p:cNvSpPr>
          <p:nvPr>
            <p:ph type="ftr" sz="quarter" idx="11"/>
          </p:nvPr>
        </p:nvSpPr>
        <p:spPr/>
        <p:txBody>
          <a:bodyPr/>
          <a:lstStyle/>
          <a:p>
            <a:r>
              <a:rPr lang="zh-CN" altLang="en-US"/>
              <a:t>ch04_数据库安全性</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p:cNvSpPr>
          <p:nvPr>
            <p:ph type="title"/>
          </p:nvPr>
        </p:nvSpPr>
        <p:spPr/>
        <p:txBody>
          <a:bodyPr wrap="square" tIns="0" bIns="0" anchor="ctr"/>
          <a:lstStyle/>
          <a:p>
            <a:r>
              <a:rPr lang="en-US" altLang="zh-CN">
                <a:cs typeface="+mj-lt"/>
                <a:sym typeface="+mn-ea"/>
              </a:rPr>
              <a:t>4.1.3  </a:t>
            </a:r>
            <a:r>
              <a:rPr lang="zh-CN" altLang="en-US">
                <a:cs typeface="+mj-lt"/>
                <a:sym typeface="+mn-ea"/>
              </a:rPr>
              <a:t>中国计算机安全标准制订历史</a:t>
            </a:r>
            <a:endParaRPr lang="zh-CN" altLang="en-US" dirty="0">
              <a:latin typeface="宋体" panose="02010600030101010101" pitchFamily="2" charset="-122"/>
            </a:endParaRPr>
          </a:p>
        </p:txBody>
      </p:sp>
      <p:sp>
        <p:nvSpPr>
          <p:cNvPr id="28674" name="Rectangle 3"/>
          <p:cNvSpPr>
            <a:spLocks noGrp="1"/>
          </p:cNvSpPr>
          <p:nvPr>
            <p:ph idx="1"/>
          </p:nvPr>
        </p:nvSpPr>
        <p:spPr>
          <a:xfrm>
            <a:off x="424180" y="687070"/>
            <a:ext cx="11343005" cy="5322570"/>
          </a:xfrm>
        </p:spPr>
        <p:txBody>
          <a:bodyPr wrap="square" anchor="t">
            <a:spAutoFit/>
          </a:bodyPr>
          <a:lstStyle/>
          <a:p>
            <a:pPr>
              <a:lnSpc>
                <a:spcPct val="110000"/>
              </a:lnSpc>
              <a:spcBef>
                <a:spcPts val="0"/>
              </a:spcBef>
            </a:pPr>
            <a:r>
              <a:rPr lang="zh-CN" altLang="en-US" sz="2800" dirty="0">
                <a:solidFill>
                  <a:srgbClr val="C00000"/>
                </a:solidFill>
                <a:latin typeface="华文楷体" panose="02010600040101010101" charset="-122"/>
                <a:ea typeface="华文楷体" panose="02010600040101010101" charset="-122"/>
                <a:cs typeface="华文楷体" panose="02010600040101010101" charset="-122"/>
              </a:rPr>
              <a:t>安全标准的制订历史（中国）</a:t>
            </a:r>
            <a:endParaRPr lang="zh-CN" altLang="en-US" sz="2800" dirty="0">
              <a:solidFill>
                <a:srgbClr val="1F2DA8"/>
              </a:solidFill>
              <a:latin typeface="华文楷体" panose="02010600040101010101" charset="-122"/>
              <a:ea typeface="华文楷体" panose="02010600040101010101" charset="-122"/>
              <a:cs typeface="华文楷体" panose="02010600040101010101" charset="-122"/>
            </a:endParaRPr>
          </a:p>
          <a:p>
            <a:pPr lvl="1">
              <a:lnSpc>
                <a:spcPct val="110000"/>
              </a:lnSpc>
              <a:spcBef>
                <a:spcPts val="1000"/>
              </a:spcBef>
              <a:spcAft>
                <a:spcPts val="1000"/>
              </a:spcAft>
            </a:pPr>
            <a:r>
              <a:rPr lang="zh-CN" altLang="en-US" sz="2800" dirty="0">
                <a:latin typeface="华文楷体" panose="02010600040101010101" charset="-122"/>
                <a:ea typeface="华文楷体" panose="02010600040101010101" charset="-122"/>
                <a:cs typeface="华文楷体" panose="02010600040101010101" charset="-122"/>
              </a:rPr>
              <a:t>中国: 2002年(公安部)</a:t>
            </a:r>
          </a:p>
          <a:p>
            <a:pPr lvl="2">
              <a:lnSpc>
                <a:spcPct val="110000"/>
              </a:lnSpc>
              <a:spcBef>
                <a:spcPts val="0"/>
              </a:spcBef>
            </a:pPr>
            <a:r>
              <a:rPr lang="zh-CN" altLang="en-US" sz="2800" dirty="0">
                <a:latin typeface="华文楷体" panose="02010600040101010101" charset="-122"/>
                <a:ea typeface="华文楷体" panose="02010600040101010101" charset="-122"/>
                <a:cs typeface="华文楷体" panose="02010600040101010101" charset="-122"/>
              </a:rPr>
              <a:t>计算机信息系统安全等级保护系列标准，内容涉及：技术要求、管理要求、工程实施要求、实施管理办法、评测标准。</a:t>
            </a:r>
          </a:p>
          <a:p>
            <a:pPr lvl="2">
              <a:lnSpc>
                <a:spcPct val="110000"/>
              </a:lnSpc>
              <a:spcBef>
                <a:spcPts val="0"/>
              </a:spcBef>
            </a:pPr>
            <a:endParaRPr lang="zh-CN" altLang="en-US" sz="1400" dirty="0">
              <a:latin typeface="华文楷体" panose="02010600040101010101" charset="-122"/>
              <a:ea typeface="华文楷体" panose="02010600040101010101" charset="-122"/>
              <a:cs typeface="华文楷体" panose="02010600040101010101" charset="-122"/>
            </a:endParaRPr>
          </a:p>
          <a:p>
            <a:pPr lvl="2">
              <a:lnSpc>
                <a:spcPct val="110000"/>
              </a:lnSpc>
              <a:spcBef>
                <a:spcPts val="0"/>
              </a:spcBef>
            </a:pPr>
            <a:r>
              <a:rPr lang="zh-CN" altLang="en-US" sz="2800" dirty="0">
                <a:latin typeface="华文楷体" panose="02010600040101010101" charset="-122"/>
                <a:ea typeface="华文楷体" panose="02010600040101010101" charset="-122"/>
                <a:cs typeface="华文楷体" panose="02010600040101010101" charset="-122"/>
              </a:rPr>
              <a:t>技术要求有：</a:t>
            </a:r>
          </a:p>
          <a:p>
            <a:pPr lvl="3">
              <a:lnSpc>
                <a:spcPct val="110000"/>
              </a:lnSpc>
              <a:spcBef>
                <a:spcPts val="0"/>
              </a:spcBef>
            </a:pPr>
            <a:r>
              <a:rPr lang="zh-CN" altLang="en-US" dirty="0">
                <a:latin typeface="华文楷体" panose="02010600040101010101" charset="-122"/>
                <a:ea typeface="华文楷体" panose="02010600040101010101" charset="-122"/>
                <a:cs typeface="华文楷体" panose="02010600040101010101" charset="-122"/>
              </a:rPr>
              <a:t>网络技术要求</a:t>
            </a:r>
            <a:r>
              <a:rPr lang="en-US" altLang="zh-CN" dirty="0">
                <a:latin typeface="华文楷体" panose="02010600040101010101" charset="-122"/>
                <a:ea typeface="华文楷体" panose="02010600040101010101" charset="-122"/>
                <a:cs typeface="华文楷体" panose="02010600040101010101" charset="-122"/>
              </a:rPr>
              <a:t>(GA/T 387 – 2002)</a:t>
            </a:r>
          </a:p>
          <a:p>
            <a:pPr lvl="3">
              <a:lnSpc>
                <a:spcPct val="110000"/>
              </a:lnSpc>
              <a:spcBef>
                <a:spcPts val="0"/>
              </a:spcBef>
            </a:pPr>
            <a:r>
              <a:rPr lang="zh-CN" altLang="en-US" dirty="0">
                <a:latin typeface="华文楷体" panose="02010600040101010101" charset="-122"/>
                <a:ea typeface="华文楷体" panose="02010600040101010101" charset="-122"/>
                <a:cs typeface="华文楷体" panose="02010600040101010101" charset="-122"/>
              </a:rPr>
              <a:t>操作系统技术要求</a:t>
            </a:r>
            <a:r>
              <a:rPr lang="en-US" altLang="zh-CN" dirty="0">
                <a:latin typeface="华文楷体" panose="02010600040101010101" charset="-122"/>
                <a:ea typeface="华文楷体" panose="02010600040101010101" charset="-122"/>
                <a:cs typeface="华文楷体" panose="02010600040101010101" charset="-122"/>
              </a:rPr>
              <a:t>(GA/T 388 – 2002)</a:t>
            </a:r>
          </a:p>
          <a:p>
            <a:pPr lvl="3">
              <a:lnSpc>
                <a:spcPct val="110000"/>
              </a:lnSpc>
              <a:spcBef>
                <a:spcPts val="0"/>
              </a:spcBef>
            </a:pPr>
            <a:r>
              <a:rPr lang="zh-CN" altLang="en-US" dirty="0">
                <a:latin typeface="华文楷体" panose="02010600040101010101" charset="-122"/>
                <a:ea typeface="华文楷体" panose="02010600040101010101" charset="-122"/>
                <a:cs typeface="华文楷体" panose="02010600040101010101" charset="-122"/>
              </a:rPr>
              <a:t>数据库管理系统技术要求</a:t>
            </a:r>
            <a:r>
              <a:rPr lang="en-US" altLang="zh-CN" dirty="0">
                <a:latin typeface="华文楷体" panose="02010600040101010101" charset="-122"/>
                <a:ea typeface="华文楷体" panose="02010600040101010101" charset="-122"/>
                <a:cs typeface="华文楷体" panose="02010600040101010101" charset="-122"/>
              </a:rPr>
              <a:t>(GA/T 389 – 2002)</a:t>
            </a:r>
          </a:p>
          <a:p>
            <a:pPr lvl="3">
              <a:lnSpc>
                <a:spcPct val="110000"/>
              </a:lnSpc>
              <a:spcBef>
                <a:spcPts val="0"/>
              </a:spcBef>
            </a:pPr>
            <a:r>
              <a:rPr lang="zh-CN" altLang="en-US" dirty="0">
                <a:latin typeface="华文楷体" panose="02010600040101010101" charset="-122"/>
                <a:ea typeface="华文楷体" panose="02010600040101010101" charset="-122"/>
                <a:cs typeface="华文楷体" panose="02010600040101010101" charset="-122"/>
              </a:rPr>
              <a:t>通用技术要求</a:t>
            </a:r>
            <a:r>
              <a:rPr lang="en-US" altLang="zh-CN" dirty="0">
                <a:latin typeface="华文楷体" panose="02010600040101010101" charset="-122"/>
                <a:ea typeface="华文楷体" panose="02010600040101010101" charset="-122"/>
                <a:cs typeface="华文楷体" panose="02010600040101010101" charset="-122"/>
              </a:rPr>
              <a:t>(GA/T 390 – 2002)</a:t>
            </a:r>
          </a:p>
          <a:p>
            <a:pPr lvl="3">
              <a:lnSpc>
                <a:spcPct val="110000"/>
              </a:lnSpc>
              <a:spcBef>
                <a:spcPts val="0"/>
              </a:spcBef>
            </a:pPr>
            <a:r>
              <a:rPr lang="zh-CN" altLang="en-US" dirty="0">
                <a:latin typeface="华文楷体" panose="02010600040101010101" charset="-122"/>
                <a:ea typeface="华文楷体" panose="02010600040101010101" charset="-122"/>
                <a:cs typeface="华文楷体" panose="02010600040101010101" charset="-122"/>
              </a:rPr>
              <a:t>管理技术要求</a:t>
            </a:r>
            <a:r>
              <a:rPr lang="en-US" altLang="zh-CN" dirty="0">
                <a:latin typeface="华文楷体" panose="02010600040101010101" charset="-122"/>
                <a:ea typeface="华文楷体" panose="02010600040101010101" charset="-122"/>
                <a:cs typeface="华文楷体" panose="02010600040101010101" charset="-122"/>
              </a:rPr>
              <a:t>(GA/T 391 – 2002)</a:t>
            </a:r>
            <a:endParaRPr lang="zh-CN" altLang="en-US" dirty="0">
              <a:latin typeface="华文楷体" panose="02010600040101010101" charset="-122"/>
              <a:ea typeface="华文楷体" panose="02010600040101010101" charset="-122"/>
              <a:cs typeface="华文楷体" panose="02010600040101010101" charset="-122"/>
            </a:endParaRPr>
          </a:p>
        </p:txBody>
      </p:sp>
      <p:sp>
        <p:nvSpPr>
          <p:cNvPr id="2" name="灯片编号占位符 1"/>
          <p:cNvSpPr>
            <a:spLocks noGrp="1"/>
          </p:cNvSpPr>
          <p:nvPr>
            <p:ph type="sldNum" sz="quarter" idx="12"/>
          </p:nvPr>
        </p:nvSpPr>
        <p:spPr/>
        <p:txBody>
          <a:bodyPr/>
          <a:lstStyle/>
          <a:p>
            <a:fld id="{565CE74E-AB26-4998-AD42-012C4C1AD076}" type="slidenum">
              <a:rPr lang="zh-CN" altLang="en-US" smtClean="0"/>
              <a:t>14</a:t>
            </a:fld>
            <a:endParaRPr lang="zh-CN" altLang="en-US"/>
          </a:p>
        </p:txBody>
      </p:sp>
      <p:sp>
        <p:nvSpPr>
          <p:cNvPr id="3" name="页脚占位符 2"/>
          <p:cNvSpPr>
            <a:spLocks noGrp="1"/>
          </p:cNvSpPr>
          <p:nvPr>
            <p:ph type="ftr" sz="quarter" idx="11"/>
          </p:nvPr>
        </p:nvSpPr>
        <p:spPr/>
        <p:txBody>
          <a:bodyPr/>
          <a:lstStyle/>
          <a:p>
            <a:r>
              <a:rPr lang="zh-CN" altLang="en-US"/>
              <a:t>ch04_数据库安全性</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p:cNvSpPr>
          <p:nvPr>
            <p:ph type="title"/>
          </p:nvPr>
        </p:nvSpPr>
        <p:spPr/>
        <p:txBody>
          <a:bodyPr wrap="square" tIns="0" bIns="0" anchor="ctr"/>
          <a:lstStyle/>
          <a:p>
            <a:pPr eaLnBrk="1" hangingPunct="1"/>
            <a:r>
              <a:rPr lang="en-US" altLang="zh-CN">
                <a:cs typeface="+mj-lt"/>
                <a:sym typeface="+mn-ea"/>
              </a:rPr>
              <a:t>4.1.3  </a:t>
            </a:r>
            <a:r>
              <a:rPr lang="zh-CN" altLang="en-US">
                <a:cs typeface="+mj-lt"/>
                <a:sym typeface="+mn-ea"/>
              </a:rPr>
              <a:t>中国计算机安全标准制订历史</a:t>
            </a:r>
            <a:endParaRPr lang="zh-CN" altLang="en-US" dirty="0">
              <a:latin typeface="宋体" panose="02010600030101010101" pitchFamily="2" charset="-122"/>
            </a:endParaRPr>
          </a:p>
        </p:txBody>
      </p:sp>
      <p:sp>
        <p:nvSpPr>
          <p:cNvPr id="29700" name="Rectangle 3"/>
          <p:cNvSpPr>
            <a:spLocks noGrp="1"/>
          </p:cNvSpPr>
          <p:nvPr>
            <p:ph idx="1"/>
          </p:nvPr>
        </p:nvSpPr>
        <p:spPr/>
        <p:txBody>
          <a:bodyPr wrap="square" anchor="t"/>
          <a:lstStyle/>
          <a:p>
            <a:pPr marL="381000" indent="-381000" eaLnBrk="1" hangingPunct="1">
              <a:lnSpc>
                <a:spcPct val="110000"/>
              </a:lnSpc>
              <a:spcBef>
                <a:spcPct val="0"/>
              </a:spcBef>
            </a:pPr>
            <a:r>
              <a:rPr lang="zh-CN" altLang="en-US" sz="2800" dirty="0">
                <a:solidFill>
                  <a:srgbClr val="C00000"/>
                </a:solidFill>
                <a:latin typeface="华文楷体" panose="02010600040101010101" charset="-122"/>
                <a:ea typeface="华文楷体" panose="02010600040101010101" charset="-122"/>
                <a:cs typeface="华文楷体" panose="02010600040101010101" charset="-122"/>
              </a:rPr>
              <a:t>安全标准的制订历史（中国）</a:t>
            </a:r>
          </a:p>
          <a:p>
            <a:pPr marL="838200" lvl="1" indent="-381000" eaLnBrk="1" hangingPunct="1">
              <a:lnSpc>
                <a:spcPct val="110000"/>
              </a:lnSpc>
              <a:spcBef>
                <a:spcPts val="1000"/>
              </a:spcBef>
              <a:buAutoNum type="arabicPeriod"/>
            </a:pPr>
            <a:r>
              <a:rPr lang="en-US" altLang="zh-CN" sz="2800" dirty="0">
                <a:solidFill>
                  <a:srgbClr val="FF0000"/>
                </a:solidFill>
                <a:latin typeface="华文楷体" panose="02010600040101010101" charset="-122"/>
                <a:ea typeface="华文楷体" panose="02010600040101010101" charset="-122"/>
                <a:cs typeface="华文楷体" panose="02010600040101010101" charset="-122"/>
              </a:rPr>
              <a:t>GB/T18336-2001</a:t>
            </a:r>
            <a:r>
              <a:rPr lang="en-US" altLang="zh-CN" sz="2800" dirty="0">
                <a:latin typeface="华文楷体" panose="02010600040101010101" charset="-122"/>
                <a:ea typeface="华文楷体" panose="02010600040101010101" charset="-122"/>
                <a:cs typeface="华文楷体" panose="02010600040101010101" charset="-122"/>
              </a:rPr>
              <a:t>：</a:t>
            </a:r>
            <a:r>
              <a:rPr lang="zh-CN" altLang="en-US" sz="2800" dirty="0">
                <a:latin typeface="华文楷体" panose="02010600040101010101" charset="-122"/>
                <a:ea typeface="华文楷体" panose="02010600040101010101" charset="-122"/>
                <a:cs typeface="华文楷体" panose="02010600040101010101" charset="-122"/>
              </a:rPr>
              <a:t>信息技术安全性评估准则</a:t>
            </a:r>
          </a:p>
          <a:p>
            <a:pPr lvl="2" eaLnBrk="1" hangingPunct="1">
              <a:lnSpc>
                <a:spcPct val="110000"/>
              </a:lnSpc>
              <a:spcBef>
                <a:spcPct val="0"/>
              </a:spcBef>
              <a:buFont typeface="Arial" panose="020B0604020202020204" pitchFamily="34" charset="0"/>
              <a:buChar char="•"/>
            </a:pPr>
            <a:r>
              <a:rPr lang="zh-CN" altLang="en-US" sz="2800" dirty="0">
                <a:latin typeface="华文楷体" panose="02010600040101010101" charset="-122"/>
                <a:ea typeface="华文楷体" panose="02010600040101010101" charset="-122"/>
                <a:cs typeface="华文楷体" panose="02010600040101010101" charset="-122"/>
              </a:rPr>
              <a:t>参照</a:t>
            </a:r>
            <a:r>
              <a:rPr lang="en-US" altLang="zh-CN" sz="2800" dirty="0">
                <a:latin typeface="华文楷体" panose="02010600040101010101" charset="-122"/>
                <a:ea typeface="华文楷体" panose="02010600040101010101" charset="-122"/>
                <a:cs typeface="华文楷体" panose="02010600040101010101" charset="-122"/>
              </a:rPr>
              <a:t>CC</a:t>
            </a:r>
            <a:r>
              <a:rPr lang="zh-CN" altLang="en-US" sz="2800" dirty="0">
                <a:latin typeface="华文楷体" panose="02010600040101010101" charset="-122"/>
                <a:ea typeface="华文楷体" panose="02010600040101010101" charset="-122"/>
                <a:cs typeface="华文楷体" panose="02010600040101010101" charset="-122"/>
              </a:rPr>
              <a:t>标准</a:t>
            </a:r>
          </a:p>
          <a:p>
            <a:pPr marL="838200" lvl="1" indent="-381000" eaLnBrk="1" hangingPunct="1">
              <a:lnSpc>
                <a:spcPct val="110000"/>
              </a:lnSpc>
              <a:spcBef>
                <a:spcPts val="1000"/>
              </a:spcBef>
              <a:buAutoNum type="arabicPeriod"/>
            </a:pPr>
            <a:r>
              <a:rPr lang="en-US" altLang="zh-CN" sz="2800" dirty="0">
                <a:solidFill>
                  <a:srgbClr val="FF0000"/>
                </a:solidFill>
                <a:latin typeface="华文楷体" panose="02010600040101010101" charset="-122"/>
                <a:ea typeface="华文楷体" panose="02010600040101010101" charset="-122"/>
                <a:cs typeface="华文楷体" panose="02010600040101010101" charset="-122"/>
              </a:rPr>
              <a:t>GJB2646-96</a:t>
            </a:r>
            <a:r>
              <a:rPr lang="en-US" altLang="zh-CN" sz="2800" dirty="0">
                <a:latin typeface="华文楷体" panose="02010600040101010101" charset="-122"/>
                <a:ea typeface="华文楷体" panose="02010600040101010101" charset="-122"/>
                <a:cs typeface="华文楷体" panose="02010600040101010101" charset="-122"/>
              </a:rPr>
              <a:t>：</a:t>
            </a:r>
            <a:r>
              <a:rPr lang="zh-CN" altLang="en-US" sz="2800" dirty="0">
                <a:latin typeface="华文楷体" panose="02010600040101010101" charset="-122"/>
                <a:ea typeface="华文楷体" panose="02010600040101010101" charset="-122"/>
                <a:cs typeface="华文楷体" panose="02010600040101010101" charset="-122"/>
              </a:rPr>
              <a:t>军用计算机安全评估标准</a:t>
            </a:r>
          </a:p>
          <a:p>
            <a:pPr lvl="2" eaLnBrk="1" hangingPunct="1">
              <a:lnSpc>
                <a:spcPct val="110000"/>
              </a:lnSpc>
              <a:spcBef>
                <a:spcPct val="0"/>
              </a:spcBef>
              <a:buFont typeface="Arial" panose="020B0604020202020204" pitchFamily="34" charset="0"/>
              <a:buChar char="•"/>
            </a:pPr>
            <a:r>
              <a:rPr lang="zh-CN" altLang="en-US" sz="2800" dirty="0">
                <a:latin typeface="华文楷体" panose="02010600040101010101" charset="-122"/>
                <a:ea typeface="华文楷体" panose="02010600040101010101" charset="-122"/>
                <a:cs typeface="华文楷体" panose="02010600040101010101" charset="-122"/>
              </a:rPr>
              <a:t>参照美国的</a:t>
            </a:r>
            <a:r>
              <a:rPr lang="en-US" altLang="zh-CN" sz="2800" dirty="0">
                <a:latin typeface="华文楷体" panose="02010600040101010101" charset="-122"/>
                <a:ea typeface="华文楷体" panose="02010600040101010101" charset="-122"/>
                <a:cs typeface="华文楷体" panose="02010600040101010101" charset="-122"/>
              </a:rPr>
              <a:t>TCSEC</a:t>
            </a:r>
            <a:r>
              <a:rPr lang="zh-CN" altLang="en-US" sz="2800" dirty="0">
                <a:latin typeface="华文楷体" panose="02010600040101010101" charset="-122"/>
                <a:ea typeface="华文楷体" panose="02010600040101010101" charset="-122"/>
                <a:cs typeface="华文楷体" panose="02010600040101010101" charset="-122"/>
              </a:rPr>
              <a:t>标准</a:t>
            </a:r>
          </a:p>
          <a:p>
            <a:pPr marL="838200" lvl="1" indent="-381000" eaLnBrk="1" hangingPunct="1">
              <a:lnSpc>
                <a:spcPct val="110000"/>
              </a:lnSpc>
              <a:spcBef>
                <a:spcPts val="1000"/>
              </a:spcBef>
              <a:buAutoNum type="arabicPeriod"/>
            </a:pPr>
            <a:r>
              <a:rPr lang="en-US" altLang="zh-CN" sz="2800" dirty="0">
                <a:solidFill>
                  <a:srgbClr val="FF0000"/>
                </a:solidFill>
                <a:latin typeface="华文楷体" panose="02010600040101010101" charset="-122"/>
                <a:ea typeface="华文楷体" panose="02010600040101010101" charset="-122"/>
                <a:cs typeface="华文楷体" panose="02010600040101010101" charset="-122"/>
              </a:rPr>
              <a:t>GJB5023-2001</a:t>
            </a:r>
            <a:r>
              <a:rPr lang="en-US" altLang="zh-CN" sz="2800" dirty="0">
                <a:latin typeface="华文楷体" panose="02010600040101010101" charset="-122"/>
                <a:ea typeface="华文楷体" panose="02010600040101010101" charset="-122"/>
                <a:cs typeface="华文楷体" panose="02010600040101010101" charset="-122"/>
              </a:rPr>
              <a:t>：</a:t>
            </a:r>
            <a:r>
              <a:rPr lang="zh-CN" altLang="en-US" sz="2800" dirty="0">
                <a:latin typeface="华文楷体" panose="02010600040101010101" charset="-122"/>
                <a:ea typeface="华文楷体" panose="02010600040101010101" charset="-122"/>
                <a:cs typeface="华文楷体" panose="02010600040101010101" charset="-122"/>
              </a:rPr>
              <a:t>军用数据库安全评估准则</a:t>
            </a:r>
          </a:p>
          <a:p>
            <a:pPr marL="838200" lvl="1" indent="-381000" eaLnBrk="1" hangingPunct="1">
              <a:lnSpc>
                <a:spcPct val="110000"/>
              </a:lnSpc>
              <a:spcBef>
                <a:spcPts val="1000"/>
              </a:spcBef>
              <a:buAutoNum type="arabicPeriod"/>
            </a:pPr>
            <a:r>
              <a:rPr lang="en-US" altLang="zh-CN" sz="2800" dirty="0">
                <a:solidFill>
                  <a:srgbClr val="FF0000"/>
                </a:solidFill>
                <a:latin typeface="华文楷体" panose="02010600040101010101" charset="-122"/>
                <a:ea typeface="华文楷体" panose="02010600040101010101" charset="-122"/>
                <a:cs typeface="华文楷体" panose="02010600040101010101" charset="-122"/>
              </a:rPr>
              <a:t>GB/T20009-2005</a:t>
            </a:r>
            <a:r>
              <a:rPr lang="zh-CN" altLang="en-US" sz="2800" dirty="0">
                <a:latin typeface="华文楷体" panose="02010600040101010101" charset="-122"/>
                <a:ea typeface="华文楷体" panose="02010600040101010101" charset="-122"/>
                <a:cs typeface="华文楷体" panose="02010600040101010101" charset="-122"/>
              </a:rPr>
              <a:t>：信息安全技术</a:t>
            </a:r>
            <a:r>
              <a:rPr lang="en-US" altLang="zh-CN" sz="2800" dirty="0">
                <a:latin typeface="华文楷体" panose="02010600040101010101" charset="-122"/>
                <a:ea typeface="华文楷体" panose="02010600040101010101" charset="-122"/>
                <a:cs typeface="华文楷体" panose="02010600040101010101" charset="-122"/>
              </a:rPr>
              <a:t>--</a:t>
            </a:r>
            <a:r>
              <a:rPr lang="zh-CN" altLang="en-US" sz="2800" dirty="0">
                <a:latin typeface="华文楷体" panose="02010600040101010101" charset="-122"/>
                <a:ea typeface="华文楷体" panose="02010600040101010101" charset="-122"/>
                <a:cs typeface="华文楷体" panose="02010600040101010101" charset="-122"/>
              </a:rPr>
              <a:t>数据库管理系统安全评估准则</a:t>
            </a:r>
          </a:p>
          <a:p>
            <a:pPr marL="838200" lvl="1" indent="-381000" eaLnBrk="1" hangingPunct="1">
              <a:lnSpc>
                <a:spcPct val="110000"/>
              </a:lnSpc>
              <a:spcBef>
                <a:spcPts val="1000"/>
              </a:spcBef>
              <a:buAutoNum type="arabicPeriod"/>
            </a:pPr>
            <a:r>
              <a:rPr lang="en-US" altLang="zh-CN" sz="2800" dirty="0">
                <a:solidFill>
                  <a:srgbClr val="FF0000"/>
                </a:solidFill>
                <a:latin typeface="华文楷体" panose="02010600040101010101" charset="-122"/>
                <a:ea typeface="华文楷体" panose="02010600040101010101" charset="-122"/>
                <a:cs typeface="华文楷体" panose="02010600040101010101" charset="-122"/>
              </a:rPr>
              <a:t>GB/T20273-2006</a:t>
            </a:r>
            <a:r>
              <a:rPr lang="zh-CN" altLang="en-US" sz="2800" dirty="0">
                <a:latin typeface="华文楷体" panose="02010600040101010101" charset="-122"/>
                <a:ea typeface="华文楷体" panose="02010600040101010101" charset="-122"/>
                <a:cs typeface="华文楷体" panose="02010600040101010101" charset="-122"/>
              </a:rPr>
              <a:t>：信息安全技术</a:t>
            </a:r>
            <a:r>
              <a:rPr lang="en-US" altLang="zh-CN" sz="2800" dirty="0">
                <a:latin typeface="华文楷体" panose="02010600040101010101" charset="-122"/>
                <a:ea typeface="华文楷体" panose="02010600040101010101" charset="-122"/>
                <a:cs typeface="华文楷体" panose="02010600040101010101" charset="-122"/>
              </a:rPr>
              <a:t>--</a:t>
            </a:r>
            <a:r>
              <a:rPr lang="zh-CN" altLang="en-US" sz="2800" dirty="0">
                <a:latin typeface="华文楷体" panose="02010600040101010101" charset="-122"/>
                <a:ea typeface="华文楷体" panose="02010600040101010101" charset="-122"/>
                <a:cs typeface="华文楷体" panose="02010600040101010101" charset="-122"/>
              </a:rPr>
              <a:t>数据库管理系统安全技术要求</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15</a:t>
            </a:fld>
            <a:endParaRPr lang="zh-CN" altLang="en-US"/>
          </a:p>
        </p:txBody>
      </p:sp>
      <p:sp>
        <p:nvSpPr>
          <p:cNvPr id="3" name="页脚占位符 2"/>
          <p:cNvSpPr>
            <a:spLocks noGrp="1"/>
          </p:cNvSpPr>
          <p:nvPr>
            <p:ph type="ftr" sz="quarter" idx="11"/>
          </p:nvPr>
        </p:nvSpPr>
        <p:spPr/>
        <p:txBody>
          <a:bodyPr/>
          <a:lstStyle/>
          <a:p>
            <a:r>
              <a:rPr lang="zh-CN" altLang="en-US"/>
              <a:t>ch04_数据库安全性</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p:cNvSpPr>
          <p:nvPr>
            <p:ph type="title"/>
          </p:nvPr>
        </p:nvSpPr>
        <p:spPr/>
        <p:txBody>
          <a:bodyPr wrap="square" tIns="0" bIns="0" anchor="ctr"/>
          <a:lstStyle/>
          <a:p>
            <a:pPr eaLnBrk="1" hangingPunct="1"/>
            <a:r>
              <a:rPr lang="en-US" altLang="zh-CN">
                <a:cs typeface="+mj-lt"/>
                <a:sym typeface="+mn-ea"/>
              </a:rPr>
              <a:t>4.1.3  </a:t>
            </a:r>
            <a:r>
              <a:rPr lang="zh-CN" altLang="en-US">
                <a:cs typeface="+mj-lt"/>
                <a:sym typeface="+mn-ea"/>
              </a:rPr>
              <a:t>中国计算机安全标准制订历史</a:t>
            </a:r>
            <a:endParaRPr lang="zh-CN" altLang="en-US" dirty="0">
              <a:latin typeface="宋体" panose="02010600030101010101" pitchFamily="2" charset="-122"/>
            </a:endParaRPr>
          </a:p>
        </p:txBody>
      </p:sp>
      <p:sp>
        <p:nvSpPr>
          <p:cNvPr id="30724" name="Rectangle 3"/>
          <p:cNvSpPr>
            <a:spLocks noGrp="1"/>
          </p:cNvSpPr>
          <p:nvPr>
            <p:ph idx="1"/>
          </p:nvPr>
        </p:nvSpPr>
        <p:spPr>
          <a:xfrm>
            <a:off x="424180" y="687070"/>
            <a:ext cx="11343005" cy="553085"/>
          </a:xfrm>
        </p:spPr>
        <p:txBody>
          <a:bodyPr wrap="square" anchor="t">
            <a:spAutoFit/>
          </a:bodyPr>
          <a:lstStyle/>
          <a:p>
            <a:pPr eaLnBrk="1" hangingPunct="1">
              <a:lnSpc>
                <a:spcPct val="100000"/>
              </a:lnSpc>
              <a:spcBef>
                <a:spcPct val="0"/>
              </a:spcBef>
            </a:pPr>
            <a:r>
              <a:rPr lang="zh-CN" altLang="en-US" dirty="0">
                <a:latin typeface="华文楷体" panose="02010600040101010101" charset="-122"/>
                <a:ea typeface="华文楷体" panose="02010600040101010101" charset="-122"/>
                <a:cs typeface="华文楷体" panose="02010600040101010101" charset="-122"/>
              </a:rPr>
              <a:t>计算机信息系统安全保护等级划分准则（</a:t>
            </a:r>
            <a:r>
              <a:rPr lang="en-US" altLang="zh-CN" dirty="0">
                <a:latin typeface="华文楷体" panose="02010600040101010101" charset="-122"/>
                <a:ea typeface="华文楷体" panose="02010600040101010101" charset="-122"/>
                <a:cs typeface="华文楷体" panose="02010600040101010101" charset="-122"/>
              </a:rPr>
              <a:t>GB 17859-1999）</a:t>
            </a:r>
            <a:endParaRPr lang="zh-CN" altLang="en-US" dirty="0">
              <a:solidFill>
                <a:srgbClr val="FF0000"/>
              </a:solidFill>
              <a:latin typeface="华文楷体" panose="02010600040101010101" charset="-122"/>
              <a:ea typeface="华文楷体" panose="02010600040101010101" charset="-122"/>
              <a:cs typeface="华文楷体" panose="02010600040101010101" charset="-122"/>
            </a:endParaRPr>
          </a:p>
        </p:txBody>
      </p:sp>
      <p:sp>
        <p:nvSpPr>
          <p:cNvPr id="63492" name="Text Box 4"/>
          <p:cNvSpPr txBox="1">
            <a:spLocks noChangeArrowheads="1"/>
          </p:cNvSpPr>
          <p:nvPr/>
        </p:nvSpPr>
        <p:spPr bwMode="auto">
          <a:xfrm>
            <a:off x="5530215" y="1918970"/>
            <a:ext cx="6236970" cy="3809365"/>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tIns="82550">
            <a:noAutofit/>
          </a:bodyPr>
          <a:lstStyle/>
          <a:p>
            <a:pPr eaLnBrk="1" hangingPunct="1">
              <a:lnSpc>
                <a:spcPct val="100000"/>
              </a:lnSpc>
              <a:spcBef>
                <a:spcPts val="0"/>
              </a:spcBef>
              <a:spcAft>
                <a:spcPts val="2000"/>
              </a:spcAft>
            </a:pPr>
            <a:r>
              <a:rPr lang="zh-CN" altLang="en-US" sz="2800" b="1">
                <a:latin typeface="楷体" panose="02010609060101010101" charset="-122"/>
                <a:ea typeface="楷体" panose="02010609060101010101" charset="-122"/>
              </a:rPr>
              <a:t>第五级：访问验证保护级</a:t>
            </a:r>
          </a:p>
          <a:p>
            <a:pPr eaLnBrk="1" hangingPunct="1">
              <a:lnSpc>
                <a:spcPct val="100000"/>
              </a:lnSpc>
              <a:spcBef>
                <a:spcPts val="0"/>
              </a:spcBef>
              <a:spcAft>
                <a:spcPts val="2000"/>
              </a:spcAft>
            </a:pPr>
            <a:endParaRPr lang="zh-CN" altLang="en-US" sz="2800" b="1">
              <a:latin typeface="楷体" panose="02010609060101010101" charset="-122"/>
              <a:ea typeface="楷体" panose="02010609060101010101" charset="-122"/>
            </a:endParaRPr>
          </a:p>
          <a:p>
            <a:pPr eaLnBrk="1" hangingPunct="1">
              <a:lnSpc>
                <a:spcPct val="100000"/>
              </a:lnSpc>
              <a:spcBef>
                <a:spcPts val="0"/>
              </a:spcBef>
              <a:spcAft>
                <a:spcPts val="2000"/>
              </a:spcAft>
            </a:pPr>
            <a:endParaRPr lang="zh-CN" altLang="en-US" sz="2800" b="1">
              <a:latin typeface="楷体" panose="02010609060101010101" charset="-122"/>
              <a:ea typeface="楷体" panose="02010609060101010101" charset="-122"/>
            </a:endParaRPr>
          </a:p>
          <a:p>
            <a:pPr eaLnBrk="1" hangingPunct="1">
              <a:lnSpc>
                <a:spcPct val="100000"/>
              </a:lnSpc>
              <a:spcBef>
                <a:spcPts val="0"/>
              </a:spcBef>
              <a:spcAft>
                <a:spcPts val="2000"/>
              </a:spcAft>
            </a:pPr>
            <a:endParaRPr lang="zh-CN" altLang="en-US" sz="2800" b="1">
              <a:latin typeface="楷体" panose="02010609060101010101" charset="-122"/>
              <a:ea typeface="楷体" panose="02010609060101010101" charset="-122"/>
            </a:endParaRPr>
          </a:p>
          <a:p>
            <a:pPr eaLnBrk="1" hangingPunct="1">
              <a:lnSpc>
                <a:spcPct val="100000"/>
              </a:lnSpc>
              <a:spcBef>
                <a:spcPts val="0"/>
              </a:spcBef>
              <a:spcAft>
                <a:spcPts val="2000"/>
              </a:spcAft>
            </a:pPr>
            <a:endParaRPr lang="zh-CN" altLang="en-US" sz="2800" b="1">
              <a:latin typeface="楷体" panose="02010609060101010101" charset="-122"/>
              <a:ea typeface="楷体" panose="02010609060101010101" charset="-122"/>
            </a:endParaRPr>
          </a:p>
        </p:txBody>
      </p:sp>
      <p:sp>
        <p:nvSpPr>
          <p:cNvPr id="63493" name="Text Box 5"/>
          <p:cNvSpPr txBox="1">
            <a:spLocks noChangeArrowheads="1"/>
          </p:cNvSpPr>
          <p:nvPr/>
        </p:nvSpPr>
        <p:spPr bwMode="auto">
          <a:xfrm>
            <a:off x="6053455" y="2691765"/>
            <a:ext cx="5713730" cy="3037205"/>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tIns="82550">
            <a:noAutofit/>
          </a:bodyPr>
          <a:lstStyle/>
          <a:p>
            <a:pPr eaLnBrk="1" hangingPunct="1">
              <a:lnSpc>
                <a:spcPct val="100000"/>
              </a:lnSpc>
              <a:spcBef>
                <a:spcPts val="0"/>
              </a:spcBef>
              <a:spcAft>
                <a:spcPts val="2000"/>
              </a:spcAft>
            </a:pPr>
            <a:r>
              <a:rPr lang="zh-CN" altLang="en-US" sz="2800" b="1">
                <a:latin typeface="楷体" panose="02010609060101010101" charset="-122"/>
                <a:ea typeface="楷体" panose="02010609060101010101" charset="-122"/>
              </a:rPr>
              <a:t>第四级：结构化保护级</a:t>
            </a:r>
          </a:p>
          <a:p>
            <a:pPr eaLnBrk="1" hangingPunct="1">
              <a:lnSpc>
                <a:spcPct val="100000"/>
              </a:lnSpc>
              <a:spcBef>
                <a:spcPts val="0"/>
              </a:spcBef>
              <a:spcAft>
                <a:spcPts val="2000"/>
              </a:spcAft>
            </a:pPr>
            <a:endParaRPr lang="zh-CN" altLang="en-US" sz="2800" b="1">
              <a:latin typeface="楷体" panose="02010609060101010101" charset="-122"/>
              <a:ea typeface="楷体" panose="02010609060101010101" charset="-122"/>
            </a:endParaRPr>
          </a:p>
          <a:p>
            <a:pPr eaLnBrk="1" hangingPunct="1">
              <a:lnSpc>
                <a:spcPct val="100000"/>
              </a:lnSpc>
              <a:spcBef>
                <a:spcPts val="0"/>
              </a:spcBef>
              <a:spcAft>
                <a:spcPts val="2000"/>
              </a:spcAft>
            </a:pPr>
            <a:endParaRPr lang="zh-CN" altLang="en-US" sz="2800" b="1">
              <a:latin typeface="楷体" panose="02010609060101010101" charset="-122"/>
              <a:ea typeface="楷体" panose="02010609060101010101" charset="-122"/>
            </a:endParaRPr>
          </a:p>
          <a:p>
            <a:pPr eaLnBrk="1" hangingPunct="1">
              <a:lnSpc>
                <a:spcPct val="100000"/>
              </a:lnSpc>
              <a:spcBef>
                <a:spcPts val="0"/>
              </a:spcBef>
              <a:spcAft>
                <a:spcPts val="2000"/>
              </a:spcAft>
            </a:pPr>
            <a:endParaRPr lang="zh-CN" altLang="en-US" sz="2800" b="1">
              <a:latin typeface="楷体" panose="02010609060101010101" charset="-122"/>
              <a:ea typeface="楷体" panose="02010609060101010101" charset="-122"/>
            </a:endParaRPr>
          </a:p>
        </p:txBody>
      </p:sp>
      <p:sp>
        <p:nvSpPr>
          <p:cNvPr id="63494" name="Text Box 6"/>
          <p:cNvSpPr txBox="1">
            <a:spLocks noChangeArrowheads="1"/>
          </p:cNvSpPr>
          <p:nvPr/>
        </p:nvSpPr>
        <p:spPr bwMode="auto">
          <a:xfrm>
            <a:off x="6603365" y="3466465"/>
            <a:ext cx="5163820" cy="2261870"/>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tIns="82550">
            <a:noAutofit/>
          </a:bodyPr>
          <a:lstStyle/>
          <a:p>
            <a:pPr eaLnBrk="1" hangingPunct="1">
              <a:lnSpc>
                <a:spcPct val="100000"/>
              </a:lnSpc>
              <a:spcAft>
                <a:spcPts val="2000"/>
              </a:spcAft>
            </a:pPr>
            <a:r>
              <a:rPr lang="zh-CN" altLang="en-US" sz="2800" b="1">
                <a:latin typeface="楷体" panose="02010609060101010101" charset="-122"/>
                <a:ea typeface="楷体" panose="02010609060101010101" charset="-122"/>
              </a:rPr>
              <a:t>第三级：安全标记保护级</a:t>
            </a:r>
          </a:p>
          <a:p>
            <a:pPr>
              <a:lnSpc>
                <a:spcPct val="100000"/>
              </a:lnSpc>
              <a:spcAft>
                <a:spcPts val="2000"/>
              </a:spcAft>
            </a:pPr>
            <a:endParaRPr lang="zh-CN" altLang="en-US" sz="2800" b="1">
              <a:latin typeface="楷体" panose="02010609060101010101" charset="-122"/>
              <a:ea typeface="楷体" panose="02010609060101010101" charset="-122"/>
            </a:endParaRPr>
          </a:p>
          <a:p>
            <a:pPr>
              <a:lnSpc>
                <a:spcPct val="100000"/>
              </a:lnSpc>
              <a:spcAft>
                <a:spcPts val="2000"/>
              </a:spcAft>
            </a:pPr>
            <a:endParaRPr lang="zh-CN" altLang="en-US" sz="2800" b="1">
              <a:latin typeface="楷体" panose="02010609060101010101" charset="-122"/>
              <a:ea typeface="楷体" panose="02010609060101010101" charset="-122"/>
            </a:endParaRPr>
          </a:p>
        </p:txBody>
      </p:sp>
      <p:sp>
        <p:nvSpPr>
          <p:cNvPr id="63495" name="Text Box 7"/>
          <p:cNvSpPr txBox="1">
            <a:spLocks noChangeArrowheads="1"/>
          </p:cNvSpPr>
          <p:nvPr/>
        </p:nvSpPr>
        <p:spPr bwMode="auto">
          <a:xfrm>
            <a:off x="7096125" y="4238625"/>
            <a:ext cx="4671695" cy="1489710"/>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tIns="82550">
            <a:noAutofit/>
          </a:bodyPr>
          <a:lstStyle/>
          <a:p>
            <a:pPr>
              <a:lnSpc>
                <a:spcPct val="100000"/>
              </a:lnSpc>
              <a:spcBef>
                <a:spcPts val="0"/>
              </a:spcBef>
              <a:spcAft>
                <a:spcPts val="2000"/>
              </a:spcAft>
            </a:pPr>
            <a:r>
              <a:rPr lang="zh-CN" altLang="en-US" sz="2800" b="1">
                <a:latin typeface="楷体" panose="02010609060101010101" charset="-122"/>
                <a:ea typeface="楷体" panose="02010609060101010101" charset="-122"/>
              </a:rPr>
              <a:t>第二级：系统审计保护级</a:t>
            </a:r>
          </a:p>
          <a:p>
            <a:pPr>
              <a:lnSpc>
                <a:spcPct val="100000"/>
              </a:lnSpc>
              <a:spcBef>
                <a:spcPts val="0"/>
              </a:spcBef>
              <a:spcAft>
                <a:spcPts val="2000"/>
              </a:spcAft>
            </a:pPr>
            <a:endParaRPr lang="zh-CN" altLang="en-US" sz="2800" b="1">
              <a:latin typeface="楷体" panose="02010609060101010101" charset="-122"/>
              <a:ea typeface="楷体" panose="02010609060101010101" charset="-122"/>
            </a:endParaRPr>
          </a:p>
        </p:txBody>
      </p:sp>
      <p:sp>
        <p:nvSpPr>
          <p:cNvPr id="63496" name="Text Box 8"/>
          <p:cNvSpPr txBox="1">
            <a:spLocks noChangeArrowheads="1"/>
          </p:cNvSpPr>
          <p:nvPr/>
        </p:nvSpPr>
        <p:spPr bwMode="auto">
          <a:xfrm>
            <a:off x="7621905" y="5013325"/>
            <a:ext cx="4145280" cy="715010"/>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tIns="82550">
            <a:noAutofit/>
          </a:bodyPr>
          <a:lstStyle/>
          <a:p>
            <a:pPr eaLnBrk="1" hangingPunct="1">
              <a:lnSpc>
                <a:spcPct val="100000"/>
              </a:lnSpc>
              <a:spcBef>
                <a:spcPts val="0"/>
              </a:spcBef>
              <a:spcAft>
                <a:spcPts val="2000"/>
              </a:spcAft>
            </a:pPr>
            <a:r>
              <a:rPr lang="zh-CN" altLang="en-US" sz="2800" b="1">
                <a:latin typeface="楷体" panose="02010609060101010101" charset="-122"/>
                <a:ea typeface="楷体" panose="02010609060101010101" charset="-122"/>
              </a:rPr>
              <a:t>第一级：用户自主保护级</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16</a:t>
            </a:fld>
            <a:endParaRPr lang="zh-CN" altLang="en-US"/>
          </a:p>
        </p:txBody>
      </p:sp>
      <p:sp>
        <p:nvSpPr>
          <p:cNvPr id="3" name="页脚占位符 2"/>
          <p:cNvSpPr>
            <a:spLocks noGrp="1"/>
          </p:cNvSpPr>
          <p:nvPr>
            <p:ph type="ftr" sz="quarter" idx="11"/>
          </p:nvPr>
        </p:nvSpPr>
        <p:spPr/>
        <p:txBody>
          <a:bodyPr/>
          <a:lstStyle/>
          <a:p>
            <a:r>
              <a:rPr lang="zh-CN" altLang="en-US"/>
              <a:t>ch04_数据库安全性</a:t>
            </a:r>
          </a:p>
        </p:txBody>
      </p:sp>
      <p:sp>
        <p:nvSpPr>
          <p:cNvPr id="4" name="Rectangle 3"/>
          <p:cNvSpPr>
            <a:spLocks noGrp="1"/>
          </p:cNvSpPr>
          <p:nvPr/>
        </p:nvSpPr>
        <p:spPr>
          <a:xfrm>
            <a:off x="424180" y="1918970"/>
            <a:ext cx="5106035" cy="2758440"/>
          </a:xfrm>
          <a:prstGeom prst="rect">
            <a:avLst/>
          </a:prstGeom>
        </p:spPr>
        <p:txBody>
          <a:bodyPr vert="horz" wrap="square" lIns="91440" tIns="45720" rIns="91440" bIns="45720" rtlCol="0" anchor="t">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fontAlgn="auto">
              <a:lnSpc>
                <a:spcPct val="100000"/>
              </a:lnSpc>
              <a:spcBef>
                <a:spcPts val="1000"/>
              </a:spcBef>
              <a:buNone/>
            </a:pPr>
            <a:r>
              <a:rPr lang="zh-CN" altLang="en-US" dirty="0">
                <a:solidFill>
                  <a:srgbClr val="FF0000"/>
                </a:solidFill>
                <a:latin typeface="华文楷体" panose="02010600040101010101" charset="-122"/>
                <a:ea typeface="华文楷体" panose="02010600040101010101" charset="-122"/>
                <a:cs typeface="华文楷体" panose="02010600040101010101" charset="-122"/>
              </a:rPr>
              <a:t>第一级：用户自主保护级</a:t>
            </a:r>
          </a:p>
          <a:p>
            <a:pPr lvl="1" fontAlgn="auto">
              <a:lnSpc>
                <a:spcPct val="100000"/>
              </a:lnSpc>
              <a:spcBef>
                <a:spcPts val="1000"/>
              </a:spcBef>
              <a:buNone/>
            </a:pPr>
            <a:r>
              <a:rPr lang="zh-CN" altLang="en-US" dirty="0">
                <a:solidFill>
                  <a:srgbClr val="FF0000"/>
                </a:solidFill>
                <a:latin typeface="华文楷体" panose="02010600040101010101" charset="-122"/>
                <a:ea typeface="华文楷体" panose="02010600040101010101" charset="-122"/>
                <a:cs typeface="华文楷体" panose="02010600040101010101" charset="-122"/>
              </a:rPr>
              <a:t>第二级：系统审计保护级</a:t>
            </a:r>
          </a:p>
          <a:p>
            <a:pPr lvl="1" fontAlgn="auto">
              <a:lnSpc>
                <a:spcPct val="100000"/>
              </a:lnSpc>
              <a:spcBef>
                <a:spcPts val="1000"/>
              </a:spcBef>
              <a:buNone/>
            </a:pPr>
            <a:r>
              <a:rPr lang="zh-CN" altLang="en-US" dirty="0">
                <a:solidFill>
                  <a:srgbClr val="FF0000"/>
                </a:solidFill>
                <a:latin typeface="华文楷体" panose="02010600040101010101" charset="-122"/>
                <a:ea typeface="华文楷体" panose="02010600040101010101" charset="-122"/>
                <a:cs typeface="华文楷体" panose="02010600040101010101" charset="-122"/>
              </a:rPr>
              <a:t>第三级：安全标记保护级</a:t>
            </a:r>
          </a:p>
          <a:p>
            <a:pPr lvl="1" fontAlgn="auto">
              <a:lnSpc>
                <a:spcPct val="100000"/>
              </a:lnSpc>
              <a:spcBef>
                <a:spcPts val="1000"/>
              </a:spcBef>
              <a:buNone/>
            </a:pPr>
            <a:r>
              <a:rPr lang="zh-CN" altLang="en-US" dirty="0">
                <a:solidFill>
                  <a:srgbClr val="FF0000"/>
                </a:solidFill>
                <a:latin typeface="华文楷体" panose="02010600040101010101" charset="-122"/>
                <a:ea typeface="华文楷体" panose="02010600040101010101" charset="-122"/>
                <a:cs typeface="华文楷体" panose="02010600040101010101" charset="-122"/>
              </a:rPr>
              <a:t>第四级：结构化保护级</a:t>
            </a:r>
          </a:p>
          <a:p>
            <a:pPr lvl="1" fontAlgn="auto">
              <a:lnSpc>
                <a:spcPct val="100000"/>
              </a:lnSpc>
              <a:spcBef>
                <a:spcPts val="1000"/>
              </a:spcBef>
              <a:buNone/>
            </a:pPr>
            <a:r>
              <a:rPr lang="zh-CN" altLang="en-US" dirty="0">
                <a:solidFill>
                  <a:srgbClr val="FF0000"/>
                </a:solidFill>
                <a:latin typeface="华文楷体" panose="02010600040101010101" charset="-122"/>
                <a:ea typeface="华文楷体" panose="02010600040101010101" charset="-122"/>
                <a:cs typeface="华文楷体" panose="02010600040101010101" charset="-122"/>
              </a:rPr>
              <a:t>第五级：访问验证保护级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3496"/>
                                        </p:tgtEl>
                                        <p:attrNameLst>
                                          <p:attrName>style.visibility</p:attrName>
                                        </p:attrNameLst>
                                      </p:cBhvr>
                                      <p:to>
                                        <p:strVal val="visible"/>
                                      </p:to>
                                    </p:set>
                                    <p:animEffect transition="in" filter="blinds(horizontal)">
                                      <p:cBhvr>
                                        <p:cTn id="7" dur="500"/>
                                        <p:tgtEl>
                                          <p:spTgt spid="6349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3495"/>
                                        </p:tgtEl>
                                        <p:attrNameLst>
                                          <p:attrName>style.visibility</p:attrName>
                                        </p:attrNameLst>
                                      </p:cBhvr>
                                      <p:to>
                                        <p:strVal val="visible"/>
                                      </p:to>
                                    </p:set>
                                    <p:animEffect transition="in" filter="blinds(horizontal)">
                                      <p:cBhvr>
                                        <p:cTn id="12" dur="500"/>
                                        <p:tgtEl>
                                          <p:spTgt spid="6349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3494"/>
                                        </p:tgtEl>
                                        <p:attrNameLst>
                                          <p:attrName>style.visibility</p:attrName>
                                        </p:attrNameLst>
                                      </p:cBhvr>
                                      <p:to>
                                        <p:strVal val="visible"/>
                                      </p:to>
                                    </p:set>
                                    <p:animEffect transition="in" filter="blinds(horizontal)">
                                      <p:cBhvr>
                                        <p:cTn id="17" dur="500"/>
                                        <p:tgtEl>
                                          <p:spTgt spid="6349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3493"/>
                                        </p:tgtEl>
                                        <p:attrNameLst>
                                          <p:attrName>style.visibility</p:attrName>
                                        </p:attrNameLst>
                                      </p:cBhvr>
                                      <p:to>
                                        <p:strVal val="visible"/>
                                      </p:to>
                                    </p:set>
                                    <p:animEffect transition="in" filter="blinds(horizontal)">
                                      <p:cBhvr>
                                        <p:cTn id="22" dur="500"/>
                                        <p:tgtEl>
                                          <p:spTgt spid="6349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3492"/>
                                        </p:tgtEl>
                                        <p:attrNameLst>
                                          <p:attrName>style.visibility</p:attrName>
                                        </p:attrNameLst>
                                      </p:cBhvr>
                                      <p:to>
                                        <p:strVal val="visible"/>
                                      </p:to>
                                    </p:set>
                                    <p:animEffect transition="in" filter="blinds(horizontal)">
                                      <p:cBhvr>
                                        <p:cTn id="27" dur="500"/>
                                        <p:tgtEl>
                                          <p:spTgt spid="63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2" grpId="0" bldLvl="0" animBg="1"/>
      <p:bldP spid="63493" grpId="0" bldLvl="0" animBg="1"/>
      <p:bldP spid="63494" grpId="0" bldLvl="0" animBg="1"/>
      <p:bldP spid="63495" grpId="0" bldLvl="0" animBg="1"/>
      <p:bldP spid="63496"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标题 499713"/>
          <p:cNvSpPr>
            <a:spLocks noGrp="1"/>
          </p:cNvSpPr>
          <p:nvPr>
            <p:ph type="title"/>
          </p:nvPr>
        </p:nvSpPr>
        <p:spPr/>
        <p:txBody>
          <a:bodyPr tIns="0" bIns="0" anchor="ctr" anchorCtr="0"/>
          <a:lstStyle/>
          <a:p>
            <a:r>
              <a:rPr lang="zh-CN" altLang="en-US" dirty="0">
                <a:latin typeface="宋体" panose="02010600030101010101" pitchFamily="2" charset="-122"/>
              </a:rPr>
              <a:t>数据库安全标准</a:t>
            </a:r>
            <a:r>
              <a:rPr lang="en-US" altLang="zh-CN" dirty="0">
                <a:latin typeface="宋体" panose="02010600030101010101" pitchFamily="2" charset="-122"/>
              </a:rPr>
              <a:t> - </a:t>
            </a:r>
            <a:r>
              <a:rPr lang="zh-CN" altLang="en-US" dirty="0">
                <a:sym typeface="+mn-ea"/>
              </a:rPr>
              <a:t>安全功能要求</a:t>
            </a:r>
            <a:endParaRPr lang="en-US" altLang="zh-CN" dirty="0">
              <a:latin typeface="宋体" panose="02010600030101010101" pitchFamily="2" charset="-122"/>
            </a:endParaRPr>
          </a:p>
        </p:txBody>
      </p:sp>
      <p:graphicFrame>
        <p:nvGraphicFramePr>
          <p:cNvPr id="500097" name="对象 500096"/>
          <p:cNvGraphicFramePr/>
          <p:nvPr/>
        </p:nvGraphicFramePr>
        <p:xfrm>
          <a:off x="431800" y="595630"/>
          <a:ext cx="11404600" cy="5866130"/>
        </p:xfrm>
        <a:graphic>
          <a:graphicData uri="http://schemas.openxmlformats.org/presentationml/2006/ole">
            <mc:AlternateContent xmlns:mc="http://schemas.openxmlformats.org/markup-compatibility/2006">
              <mc:Choice xmlns:v="urn:schemas-microsoft-com:vml" Requires="v">
                <p:oleObj r:id="rId2" imgW="5334000" imgH="2659380" progId="Word.Picture.8">
                  <p:embed/>
                </p:oleObj>
              </mc:Choice>
              <mc:Fallback>
                <p:oleObj r:id="rId2" imgW="5334000" imgH="2659380" progId="Word.Picture.8">
                  <p:embed/>
                  <p:pic>
                    <p:nvPicPr>
                      <p:cNvPr id="0" name="图片 3077"/>
                      <p:cNvPicPr/>
                      <p:nvPr/>
                    </p:nvPicPr>
                    <p:blipFill>
                      <a:blip r:embed="rId3"/>
                      <a:stretch>
                        <a:fillRect/>
                      </a:stretch>
                    </p:blipFill>
                    <p:spPr>
                      <a:xfrm>
                        <a:off x="431800" y="595630"/>
                        <a:ext cx="11404600" cy="5866130"/>
                      </a:xfrm>
                      <a:prstGeom prst="rect">
                        <a:avLst/>
                      </a:prstGeom>
                      <a:noFill/>
                      <a:ln w="38100">
                        <a:noFill/>
                        <a:miter/>
                      </a:ln>
                    </p:spPr>
                  </p:pic>
                </p:oleObj>
              </mc:Fallback>
            </mc:AlternateContent>
          </a:graphicData>
        </a:graphic>
      </p:graphicFrame>
      <p:sp>
        <p:nvSpPr>
          <p:cNvPr id="2" name="灯片编号占位符 1"/>
          <p:cNvSpPr>
            <a:spLocks noGrp="1"/>
          </p:cNvSpPr>
          <p:nvPr>
            <p:ph type="sldNum" sz="quarter" idx="12"/>
          </p:nvPr>
        </p:nvSpPr>
        <p:spPr/>
        <p:txBody>
          <a:bodyPr/>
          <a:lstStyle/>
          <a:p>
            <a:fld id="{565CE74E-AB26-4998-AD42-012C4C1AD076}" type="slidenum">
              <a:rPr lang="zh-CN" altLang="en-US" smtClean="0"/>
              <a:t>17</a:t>
            </a:fld>
            <a:endParaRPr lang="zh-CN" altLang="en-US"/>
          </a:p>
        </p:txBody>
      </p:sp>
      <p:sp>
        <p:nvSpPr>
          <p:cNvPr id="3" name="页脚占位符 2"/>
          <p:cNvSpPr>
            <a:spLocks noGrp="1"/>
          </p:cNvSpPr>
          <p:nvPr>
            <p:ph type="ftr" sz="quarter" idx="11"/>
          </p:nvPr>
        </p:nvSpPr>
        <p:spPr/>
        <p:txBody>
          <a:bodyPr/>
          <a:lstStyle/>
          <a:p>
            <a:r>
              <a:rPr lang="zh-CN" altLang="en-US"/>
              <a:t>ch04_数据库安全性</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第</a:t>
            </a:r>
            <a:r>
              <a:rPr lang="en-US" altLang="zh-CN"/>
              <a:t>4</a:t>
            </a:r>
            <a:r>
              <a:rPr lang="zh-CN" altLang="en-US"/>
              <a:t>章</a:t>
            </a:r>
            <a:r>
              <a:rPr lang="en-US" altLang="zh-CN"/>
              <a:t> </a:t>
            </a:r>
            <a:r>
              <a:rPr lang="zh-CN" altLang="en-US"/>
              <a:t> 数据库安全性</a:t>
            </a:r>
          </a:p>
        </p:txBody>
      </p:sp>
      <p:sp>
        <p:nvSpPr>
          <p:cNvPr id="3" name="内容占位符 2"/>
          <p:cNvSpPr>
            <a:spLocks noGrp="1"/>
          </p:cNvSpPr>
          <p:nvPr>
            <p:ph idx="1"/>
          </p:nvPr>
        </p:nvSpPr>
        <p:spPr/>
        <p:txBody>
          <a:bodyPr/>
          <a:lstStyle/>
          <a:p>
            <a:r>
              <a:rPr lang="zh-CN" altLang="en-US">
                <a:solidFill>
                  <a:srgbClr val="1F2DA8"/>
                </a:solidFill>
              </a:rPr>
              <a:t>4.1 数据库安全性概述</a:t>
            </a:r>
          </a:p>
          <a:p>
            <a:r>
              <a:rPr lang="zh-CN" altLang="en-US">
                <a:solidFill>
                  <a:srgbClr val="FF0000"/>
                </a:solidFill>
              </a:rPr>
              <a:t>4.2 数据库安全性控制</a:t>
            </a:r>
          </a:p>
          <a:p>
            <a:r>
              <a:rPr lang="zh-CN" altLang="en-US"/>
              <a:t>4.3 视图机制</a:t>
            </a:r>
          </a:p>
          <a:p>
            <a:r>
              <a:rPr lang="zh-CN" altLang="en-US"/>
              <a:t>4.4 审计（Audit）</a:t>
            </a:r>
          </a:p>
          <a:p>
            <a:r>
              <a:rPr lang="zh-CN" altLang="en-US"/>
              <a:t>4.5 数据加密</a:t>
            </a:r>
          </a:p>
          <a:p>
            <a:r>
              <a:rPr lang="zh-CN" altLang="en-US"/>
              <a:t>4.6 其他安全性保护</a:t>
            </a:r>
          </a:p>
          <a:p>
            <a:r>
              <a:rPr lang="zh-CN" altLang="en-US"/>
              <a:t>4.7 小结</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18</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4.2  </a:t>
            </a:r>
            <a:r>
              <a:rPr lang="zh-CN" altLang="en-US"/>
              <a:t>数据库安全性控制</a:t>
            </a:r>
          </a:p>
        </p:txBody>
      </p:sp>
      <p:sp>
        <p:nvSpPr>
          <p:cNvPr id="3" name="内容占位符 2"/>
          <p:cNvSpPr>
            <a:spLocks noGrp="1"/>
          </p:cNvSpPr>
          <p:nvPr>
            <p:ph idx="1"/>
          </p:nvPr>
        </p:nvSpPr>
        <p:spPr/>
        <p:txBody>
          <a:bodyPr/>
          <a:lstStyle/>
          <a:p>
            <a:pPr>
              <a:lnSpc>
                <a:spcPct val="150000"/>
              </a:lnSpc>
            </a:pPr>
            <a:r>
              <a:rPr lang="zh-CN" altLang="en-US"/>
              <a:t>非法使用数据库的情况</a:t>
            </a:r>
          </a:p>
          <a:p>
            <a:pPr lvl="1">
              <a:lnSpc>
                <a:spcPct val="150000"/>
              </a:lnSpc>
            </a:pPr>
            <a:r>
              <a:rPr lang="zh-CN" altLang="en-US"/>
              <a:t>编写合法程序绕过数据库管理系统及其授权机制</a:t>
            </a:r>
          </a:p>
          <a:p>
            <a:pPr lvl="1">
              <a:lnSpc>
                <a:spcPct val="150000"/>
              </a:lnSpc>
            </a:pPr>
            <a:r>
              <a:rPr lang="zh-CN" altLang="en-US"/>
              <a:t>直接或编写应用程序执行非授权操作</a:t>
            </a:r>
          </a:p>
          <a:p>
            <a:pPr lvl="1">
              <a:lnSpc>
                <a:spcPct val="150000"/>
              </a:lnSpc>
            </a:pPr>
            <a:r>
              <a:rPr lang="zh-CN" altLang="en-US"/>
              <a:t>通过多次合法查询数据库从中推导出一些保密数据</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19</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r>
              <a:rPr lang="zh-CN" altLang="en-US" dirty="0"/>
              <a:t>图</a:t>
            </a:r>
            <a:r>
              <a:rPr lang="en-US" altLang="zh-CN" dirty="0"/>
              <a:t>4.2  </a:t>
            </a:r>
            <a:r>
              <a:rPr lang="zh-CN" altLang="en-US" dirty="0"/>
              <a:t>计算机系统的安全模型 </a:t>
            </a:r>
          </a:p>
        </p:txBody>
      </p:sp>
      <p:sp>
        <p:nvSpPr>
          <p:cNvPr id="31748" name="Rectangle 3"/>
          <p:cNvSpPr>
            <a:spLocks noGrp="1" noChangeArrowheads="1"/>
          </p:cNvSpPr>
          <p:nvPr>
            <p:ph idx="1"/>
          </p:nvPr>
        </p:nvSpPr>
        <p:spPr/>
        <p:txBody>
          <a:bodyPr>
            <a:normAutofit/>
          </a:bodyPr>
          <a:lstStyle/>
          <a:p>
            <a:r>
              <a:rPr lang="zh-CN" altLang="en-US" dirty="0"/>
              <a:t>计算机系统中，安全措施是一级一级层层设置</a:t>
            </a:r>
            <a:endParaRPr lang="en-US" altLang="zh-CN" dirty="0"/>
          </a:p>
          <a:p>
            <a:pPr lvl="1">
              <a:lnSpc>
                <a:spcPct val="110000"/>
              </a:lnSpc>
              <a:spcBef>
                <a:spcPts val="1000"/>
              </a:spcBef>
            </a:pPr>
            <a:r>
              <a:rPr lang="zh-CN" altLang="en-US" dirty="0"/>
              <a:t>系统根据用户标识鉴定用户身份，合法用户才准许进入计算机系统</a:t>
            </a:r>
          </a:p>
          <a:p>
            <a:pPr lvl="1">
              <a:lnSpc>
                <a:spcPct val="110000"/>
              </a:lnSpc>
              <a:spcBef>
                <a:spcPts val="1000"/>
              </a:spcBef>
            </a:pPr>
            <a:r>
              <a:rPr lang="zh-CN" altLang="en-US" dirty="0"/>
              <a:t>数据库管理系统还要进行存取控制，只允许用户执行合法操作 </a:t>
            </a:r>
          </a:p>
          <a:p>
            <a:pPr lvl="1">
              <a:lnSpc>
                <a:spcPct val="110000"/>
              </a:lnSpc>
              <a:spcBef>
                <a:spcPts val="1000"/>
              </a:spcBef>
            </a:pPr>
            <a:r>
              <a:rPr lang="zh-CN" altLang="en-US" dirty="0"/>
              <a:t>操作系统有自己的保护措施 </a:t>
            </a:r>
          </a:p>
          <a:p>
            <a:pPr lvl="1">
              <a:lnSpc>
                <a:spcPct val="110000"/>
              </a:lnSpc>
              <a:spcBef>
                <a:spcPts val="1000"/>
              </a:spcBef>
            </a:pPr>
            <a:r>
              <a:rPr lang="zh-CN" altLang="en-US" dirty="0"/>
              <a:t>数据以密码形式存储到数据库中</a:t>
            </a:r>
          </a:p>
        </p:txBody>
      </p:sp>
      <p:pic>
        <p:nvPicPr>
          <p:cNvPr id="31749" name="Picture 17" descr="4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72590" y="4531360"/>
            <a:ext cx="8846185" cy="1049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p:txBody>
          <a:bodyPr/>
          <a:lstStyle/>
          <a:p>
            <a:fld id="{565CE74E-AB26-4998-AD42-012C4C1AD076}" type="slidenum">
              <a:rPr lang="zh-CN" altLang="en-US" smtClean="0"/>
              <a:t>20</a:t>
            </a:fld>
            <a:endParaRPr lang="zh-CN" altLang="en-US"/>
          </a:p>
        </p:txBody>
      </p:sp>
      <p:sp>
        <p:nvSpPr>
          <p:cNvPr id="3" name="页脚占位符 2"/>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33795" name="Rectangle 2"/>
          <p:cNvSpPr>
            <a:spLocks noGrp="1" noChangeArrowheads="1"/>
          </p:cNvSpPr>
          <p:nvPr>
            <p:ph type="title"/>
          </p:nvPr>
        </p:nvSpPr>
        <p:spPr/>
        <p:txBody>
          <a:bodyPr>
            <a:normAutofit fontScale="90000"/>
          </a:bodyPr>
          <a:lstStyle/>
          <a:p>
            <a:r>
              <a:rPr lang="zh-CN" altLang="en-US" dirty="0"/>
              <a:t>图</a:t>
            </a:r>
            <a:r>
              <a:rPr lang="en-US" altLang="zh-CN" dirty="0"/>
              <a:t>4.3  </a:t>
            </a:r>
            <a:r>
              <a:rPr lang="zh-CN" altLang="en-US" dirty="0"/>
              <a:t>数据库管理系统安全性控制模型</a:t>
            </a:r>
          </a:p>
        </p:txBody>
      </p:sp>
      <p:sp>
        <p:nvSpPr>
          <p:cNvPr id="33796" name="Rectangle 2"/>
          <p:cNvSpPr>
            <a:spLocks noChangeArrowheads="1"/>
          </p:cNvSpPr>
          <p:nvPr/>
        </p:nvSpPr>
        <p:spPr bwMode="auto">
          <a:xfrm>
            <a:off x="1524000" y="-184150"/>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 name="灯片编号占位符 1"/>
          <p:cNvSpPr>
            <a:spLocks noGrp="1"/>
          </p:cNvSpPr>
          <p:nvPr>
            <p:ph type="sldNum" sz="quarter" idx="12"/>
          </p:nvPr>
        </p:nvSpPr>
        <p:spPr/>
        <p:txBody>
          <a:bodyPr/>
          <a:lstStyle/>
          <a:p>
            <a:fld id="{565CE74E-AB26-4998-AD42-012C4C1AD076}" type="slidenum">
              <a:rPr lang="zh-CN" altLang="en-US" smtClean="0"/>
              <a:t>21</a:t>
            </a:fld>
            <a:endParaRPr lang="zh-CN" altLang="en-US"/>
          </a:p>
        </p:txBody>
      </p:sp>
      <p:sp>
        <p:nvSpPr>
          <p:cNvPr id="3" name="页脚占位符 2"/>
          <p:cNvSpPr>
            <a:spLocks noGrp="1"/>
          </p:cNvSpPr>
          <p:nvPr>
            <p:ph type="ftr" sz="quarter" idx="11"/>
          </p:nvPr>
        </p:nvSpPr>
        <p:spPr/>
        <p:txBody>
          <a:bodyPr/>
          <a:lstStyle/>
          <a:p>
            <a:r>
              <a:rPr lang="zh-CN" altLang="en-US"/>
              <a:t>ch04_数据库安全性</a:t>
            </a:r>
          </a:p>
        </p:txBody>
      </p:sp>
      <p:pic>
        <p:nvPicPr>
          <p:cNvPr id="4" name="图片 3"/>
          <p:cNvPicPr>
            <a:picLocks noChangeAspect="1"/>
          </p:cNvPicPr>
          <p:nvPr/>
        </p:nvPicPr>
        <p:blipFill>
          <a:blip r:embed="rId2"/>
          <a:stretch>
            <a:fillRect/>
          </a:stretch>
        </p:blipFill>
        <p:spPr>
          <a:xfrm>
            <a:off x="424180" y="1340485"/>
            <a:ext cx="6294120" cy="3977640"/>
          </a:xfrm>
          <a:prstGeom prst="rect">
            <a:avLst/>
          </a:prstGeom>
        </p:spPr>
      </p:pic>
      <p:sp>
        <p:nvSpPr>
          <p:cNvPr id="5" name="内容占位符 4"/>
          <p:cNvSpPr>
            <a:spLocks noGrp="1"/>
          </p:cNvSpPr>
          <p:nvPr>
            <p:ph idx="1"/>
          </p:nvPr>
        </p:nvSpPr>
        <p:spPr>
          <a:xfrm>
            <a:off x="6816725" y="967740"/>
            <a:ext cx="4950460" cy="4923155"/>
          </a:xfrm>
        </p:spPr>
        <p:txBody>
          <a:bodyPr wrap="square">
            <a:spAutoFit/>
          </a:bodyPr>
          <a:lstStyle/>
          <a:p>
            <a:pPr>
              <a:lnSpc>
                <a:spcPct val="100000"/>
              </a:lnSpc>
            </a:pPr>
            <a:r>
              <a:rPr lang="zh-CN" altLang="en-US" sz="2400">
                <a:solidFill>
                  <a:srgbClr val="C00000"/>
                </a:solidFill>
                <a:sym typeface="+mn-ea"/>
              </a:rPr>
              <a:t>存取控制的流程</a:t>
            </a:r>
            <a:endParaRPr lang="zh-CN" altLang="en-US" sz="2400">
              <a:sym typeface="+mn-ea"/>
            </a:endParaRPr>
          </a:p>
          <a:p>
            <a:pPr lvl="1">
              <a:lnSpc>
                <a:spcPct val="100000"/>
              </a:lnSpc>
              <a:spcBef>
                <a:spcPts val="2000"/>
              </a:spcBef>
            </a:pPr>
            <a:r>
              <a:rPr lang="zh-CN" altLang="en-US" sz="2400"/>
              <a:t>首先，数据库管理系统对提出SQL访问请求的数据库用户进行身份鉴别，防止不可信用户使用系统。</a:t>
            </a:r>
          </a:p>
          <a:p>
            <a:pPr lvl="1">
              <a:lnSpc>
                <a:spcPct val="100000"/>
              </a:lnSpc>
              <a:spcBef>
                <a:spcPts val="2000"/>
              </a:spcBef>
            </a:pPr>
            <a:r>
              <a:rPr lang="zh-CN" altLang="en-US" sz="2400"/>
              <a:t>然后，在SQL处理层进行自主存取控制和强制存取控制，进一步可以进行推理控制。</a:t>
            </a:r>
          </a:p>
          <a:p>
            <a:pPr lvl="1">
              <a:lnSpc>
                <a:spcPct val="100000"/>
              </a:lnSpc>
              <a:spcBef>
                <a:spcPts val="2000"/>
              </a:spcBef>
            </a:pPr>
            <a:r>
              <a:rPr lang="zh-CN" altLang="en-US" sz="2400"/>
              <a:t>还可以对用户访问行为和系统关键操作进行审计，对异常用户行为进行简单入侵检测。</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linds(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linds(horizontal)">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4.2  </a:t>
            </a:r>
            <a:r>
              <a:rPr lang="zh-CN" altLang="en-US">
                <a:sym typeface="+mn-ea"/>
              </a:rPr>
              <a:t>数据库安全性控制</a:t>
            </a:r>
            <a:endParaRPr lang="zh-CN" altLang="en-US"/>
          </a:p>
        </p:txBody>
      </p:sp>
      <p:sp>
        <p:nvSpPr>
          <p:cNvPr id="5" name="内容占位符 4"/>
          <p:cNvSpPr>
            <a:spLocks noGrp="1"/>
          </p:cNvSpPr>
          <p:nvPr>
            <p:ph idx="1"/>
          </p:nvPr>
        </p:nvSpPr>
        <p:spPr/>
        <p:txBody>
          <a:bodyPr/>
          <a:lstStyle/>
          <a:p>
            <a:pPr lvl="0">
              <a:lnSpc>
                <a:spcPct val="150000"/>
              </a:lnSpc>
            </a:pPr>
            <a:r>
              <a:rPr lang="zh-CN" altLang="en-US">
                <a:solidFill>
                  <a:srgbClr val="C00000"/>
                </a:solidFill>
              </a:rPr>
              <a:t>数据库安全性控制的常用方法</a:t>
            </a:r>
            <a:endParaRPr lang="zh-CN" altLang="en-US"/>
          </a:p>
          <a:p>
            <a:pPr lvl="1">
              <a:lnSpc>
                <a:spcPct val="150000"/>
              </a:lnSpc>
            </a:pPr>
            <a:r>
              <a:rPr lang="zh-CN" altLang="en-US"/>
              <a:t>用户标识和鉴定</a:t>
            </a:r>
          </a:p>
          <a:p>
            <a:pPr lvl="1">
              <a:lnSpc>
                <a:spcPct val="150000"/>
              </a:lnSpc>
            </a:pPr>
            <a:r>
              <a:rPr lang="zh-CN" altLang="en-US"/>
              <a:t>存取控制</a:t>
            </a:r>
          </a:p>
          <a:p>
            <a:pPr lvl="1">
              <a:lnSpc>
                <a:spcPct val="150000"/>
              </a:lnSpc>
            </a:pPr>
            <a:r>
              <a:rPr lang="zh-CN" altLang="en-US"/>
              <a:t>视图</a:t>
            </a:r>
          </a:p>
          <a:p>
            <a:pPr lvl="1">
              <a:lnSpc>
                <a:spcPct val="150000"/>
              </a:lnSpc>
            </a:pPr>
            <a:r>
              <a:rPr lang="zh-CN" altLang="en-US"/>
              <a:t>审计</a:t>
            </a:r>
          </a:p>
          <a:p>
            <a:pPr lvl="1">
              <a:lnSpc>
                <a:spcPct val="150000"/>
              </a:lnSpc>
            </a:pPr>
            <a:r>
              <a:rPr lang="zh-CN" altLang="en-US"/>
              <a:t>数据加密</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22</a:t>
            </a:fld>
            <a:endParaRPr lang="zh-CN" altLang="en-US"/>
          </a:p>
        </p:txBody>
      </p:sp>
      <p:sp>
        <p:nvSpPr>
          <p:cNvPr id="3" name="页脚占位符 2"/>
          <p:cNvSpPr>
            <a:spLocks noGrp="1"/>
          </p:cNvSpPr>
          <p:nvPr>
            <p:ph type="ftr" sz="quarter" idx="11"/>
          </p:nvPr>
        </p:nvSpPr>
        <p:spPr/>
        <p:txBody>
          <a:bodyPr/>
          <a:lstStyle/>
          <a:p>
            <a:r>
              <a:rPr lang="zh-CN" altLang="en-US"/>
              <a:t>ch04_数据库安全性</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4.2  </a:t>
            </a:r>
            <a:r>
              <a:rPr lang="zh-CN" altLang="en-US">
                <a:sym typeface="+mn-ea"/>
              </a:rPr>
              <a:t>数据库安全性控制</a:t>
            </a:r>
            <a:endParaRPr lang="zh-CN" altLang="en-US"/>
          </a:p>
        </p:txBody>
      </p:sp>
      <p:sp>
        <p:nvSpPr>
          <p:cNvPr id="3" name="内容占位符 2"/>
          <p:cNvSpPr>
            <a:spLocks noGrp="1"/>
          </p:cNvSpPr>
          <p:nvPr>
            <p:ph idx="1"/>
          </p:nvPr>
        </p:nvSpPr>
        <p:spPr/>
        <p:txBody>
          <a:bodyPr/>
          <a:lstStyle/>
          <a:p>
            <a:pPr marL="0" indent="0">
              <a:buNone/>
            </a:pPr>
            <a:r>
              <a:rPr lang="zh-CN" altLang="en-US">
                <a:solidFill>
                  <a:srgbClr val="FF0000"/>
                </a:solidFill>
              </a:rPr>
              <a:t>4.2.1 用户身份鉴别</a:t>
            </a:r>
          </a:p>
          <a:p>
            <a:pPr marL="0" indent="0">
              <a:buNone/>
            </a:pPr>
            <a:r>
              <a:rPr lang="zh-CN" altLang="en-US"/>
              <a:t>4.2.2 存取控制</a:t>
            </a:r>
          </a:p>
          <a:p>
            <a:pPr marL="0" indent="0">
              <a:buNone/>
            </a:pPr>
            <a:r>
              <a:rPr lang="zh-CN" altLang="en-US"/>
              <a:t>4.2.3 自主存取控制方法</a:t>
            </a:r>
          </a:p>
          <a:p>
            <a:pPr marL="0" indent="0">
              <a:buNone/>
            </a:pPr>
            <a:r>
              <a:rPr lang="zh-CN" altLang="en-US"/>
              <a:t>4.2.4 授权：授予与回收</a:t>
            </a:r>
          </a:p>
          <a:p>
            <a:pPr marL="0" indent="0">
              <a:buNone/>
            </a:pPr>
            <a:r>
              <a:rPr lang="zh-CN" altLang="en-US"/>
              <a:t>4.2.5 数据库角色</a:t>
            </a:r>
          </a:p>
          <a:p>
            <a:pPr marL="0" indent="0">
              <a:buNone/>
            </a:pPr>
            <a:r>
              <a:rPr lang="zh-CN" altLang="en-US"/>
              <a:t>4.2.6 强制存取控制方法</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23</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4.2.1 用户身份鉴别</a:t>
            </a:r>
            <a:endParaRPr lang="zh-CN" altLang="en-US"/>
          </a:p>
        </p:txBody>
      </p:sp>
      <p:sp>
        <p:nvSpPr>
          <p:cNvPr id="3" name="内容占位符 2"/>
          <p:cNvSpPr>
            <a:spLocks noGrp="1"/>
          </p:cNvSpPr>
          <p:nvPr>
            <p:ph idx="1"/>
          </p:nvPr>
        </p:nvSpPr>
        <p:spPr/>
        <p:txBody>
          <a:bodyPr/>
          <a:lstStyle/>
          <a:p>
            <a:r>
              <a:rPr lang="zh-CN" altLang="en-US" sz="2800">
                <a:solidFill>
                  <a:srgbClr val="FF0000"/>
                </a:solidFill>
              </a:rPr>
              <a:t>用户身份鉴别</a:t>
            </a:r>
            <a:r>
              <a:rPr lang="zh-CN" altLang="en-US" sz="2800"/>
              <a:t>（Identification &amp; Authentication）</a:t>
            </a:r>
          </a:p>
          <a:p>
            <a:pPr lvl="1">
              <a:lnSpc>
                <a:spcPct val="110000"/>
              </a:lnSpc>
              <a:spcBef>
                <a:spcPts val="500"/>
              </a:spcBef>
            </a:pPr>
            <a:r>
              <a:rPr lang="zh-CN" altLang="en-US" sz="2400"/>
              <a:t>系统提供的最外层安全保护措施</a:t>
            </a:r>
          </a:p>
          <a:p>
            <a:pPr lvl="1">
              <a:lnSpc>
                <a:spcPct val="110000"/>
              </a:lnSpc>
              <a:spcBef>
                <a:spcPts val="500"/>
              </a:spcBef>
            </a:pPr>
            <a:r>
              <a:rPr lang="zh-CN" altLang="en-US" sz="2400"/>
              <a:t>用户标识：由</a:t>
            </a:r>
            <a:r>
              <a:rPr lang="zh-CN" altLang="en-US" sz="2400">
                <a:solidFill>
                  <a:srgbClr val="C00000"/>
                </a:solidFill>
              </a:rPr>
              <a:t>用户名</a:t>
            </a:r>
            <a:r>
              <a:rPr lang="zh-CN" altLang="en-US" sz="2400"/>
              <a:t>和</a:t>
            </a:r>
            <a:r>
              <a:rPr lang="zh-CN" altLang="en-US" sz="2400">
                <a:solidFill>
                  <a:srgbClr val="C00000"/>
                </a:solidFill>
              </a:rPr>
              <a:t>用户标识号</a:t>
            </a:r>
            <a:r>
              <a:rPr lang="zh-CN" altLang="en-US" sz="2400"/>
              <a:t>组成（用户标识号在系统整个生命周期内唯一）</a:t>
            </a:r>
          </a:p>
          <a:p>
            <a:pPr lvl="0"/>
            <a:r>
              <a:rPr lang="zh-CN" altLang="en-US" sz="2800"/>
              <a:t>用户身份鉴别的方法</a:t>
            </a:r>
          </a:p>
          <a:p>
            <a:pPr marL="914400" lvl="1" indent="-457200">
              <a:lnSpc>
                <a:spcPct val="110000"/>
              </a:lnSpc>
              <a:spcBef>
                <a:spcPts val="500"/>
              </a:spcBef>
              <a:spcAft>
                <a:spcPts val="1000"/>
              </a:spcAft>
              <a:buFont typeface="+mj-lt"/>
              <a:buAutoNum type="arabicPeriod"/>
            </a:pPr>
            <a:r>
              <a:rPr lang="zh-CN" altLang="en-US" sz="2400">
                <a:solidFill>
                  <a:srgbClr val="C00000"/>
                </a:solidFill>
              </a:rPr>
              <a:t>静态口令鉴别</a:t>
            </a:r>
            <a:r>
              <a:rPr lang="zh-CN" altLang="en-US" sz="2400"/>
              <a:t>：静态口令一般由用户自己设定，这些口令是静态不变的</a:t>
            </a:r>
          </a:p>
          <a:p>
            <a:pPr marL="914400" lvl="1" indent="-457200">
              <a:lnSpc>
                <a:spcPct val="110000"/>
              </a:lnSpc>
              <a:spcAft>
                <a:spcPts val="1000"/>
              </a:spcAft>
              <a:buFont typeface="+mj-lt"/>
              <a:buAutoNum type="arabicPeriod"/>
            </a:pPr>
            <a:r>
              <a:rPr lang="zh-CN" altLang="en-US" sz="2400">
                <a:solidFill>
                  <a:srgbClr val="C00000"/>
                </a:solidFill>
              </a:rPr>
              <a:t>动态口令鉴别</a:t>
            </a:r>
            <a:r>
              <a:rPr lang="zh-CN" altLang="en-US" sz="2400"/>
              <a:t>：口令是动态变化的，每次鉴别时均需使用动态产生的新口令登录数据库管理系统，即采用一次一密的方法</a:t>
            </a:r>
          </a:p>
          <a:p>
            <a:pPr marL="914400" lvl="1" indent="-457200">
              <a:lnSpc>
                <a:spcPct val="110000"/>
              </a:lnSpc>
              <a:spcAft>
                <a:spcPts val="1000"/>
              </a:spcAft>
              <a:buFont typeface="+mj-lt"/>
              <a:buAutoNum type="arabicPeriod"/>
            </a:pPr>
            <a:r>
              <a:rPr lang="zh-CN" altLang="en-US" sz="2400">
                <a:solidFill>
                  <a:srgbClr val="C00000"/>
                </a:solidFill>
              </a:rPr>
              <a:t>生物特征鉴别</a:t>
            </a:r>
            <a:r>
              <a:rPr lang="zh-CN" altLang="en-US" sz="2400"/>
              <a:t>：通过生物特征进行认证的技术，生物特征如指纹、虹膜和掌纹等</a:t>
            </a:r>
          </a:p>
          <a:p>
            <a:pPr marL="914400" lvl="1" indent="-457200">
              <a:lnSpc>
                <a:spcPct val="110000"/>
              </a:lnSpc>
              <a:spcAft>
                <a:spcPts val="1000"/>
              </a:spcAft>
              <a:buFont typeface="+mj-lt"/>
              <a:buAutoNum type="arabicPeriod"/>
            </a:pPr>
            <a:r>
              <a:rPr lang="zh-CN" altLang="en-US" sz="2400">
                <a:solidFill>
                  <a:srgbClr val="C00000"/>
                </a:solidFill>
              </a:rPr>
              <a:t>智能卡鉴别</a:t>
            </a:r>
            <a:r>
              <a:rPr lang="zh-CN" altLang="en-US" sz="2400"/>
              <a:t>：智能卡是一种不可复制的硬件，内置集成电路的芯片，具有硬件加密功能</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24</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linds(horizontal)">
                                      <p:cBhvr>
                                        <p:cTn id="10" dur="500"/>
                                        <p:tgtEl>
                                          <p:spTgt spid="3">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blinds(horizontal)">
                                      <p:cBhvr>
                                        <p:cTn id="13" dur="500"/>
                                        <p:tgtEl>
                                          <p:spTgt spid="3">
                                            <p:txEl>
                                              <p:pRg st="5" end="5"/>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blinds(horizontal)">
                                      <p:cBhvr>
                                        <p:cTn id="16" dur="500"/>
                                        <p:tgtEl>
                                          <p:spTgt spid="3">
                                            <p:txEl>
                                              <p:pRg st="6" end="6"/>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blinds(horizontal)">
                                      <p:cBhvr>
                                        <p:cTn id="19"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宋体" panose="02010600030101010101" pitchFamily="2" charset="-122"/>
              </a:rPr>
              <a:t>4.2.2  </a:t>
            </a:r>
            <a:r>
              <a:rPr lang="zh-CN" altLang="en-US" dirty="0">
                <a:sym typeface="宋体" panose="02010600030101010101" pitchFamily="2" charset="-122"/>
              </a:rPr>
              <a:t>存取控制</a:t>
            </a:r>
            <a:endParaRPr lang="zh-CN" altLang="en-US" dirty="0"/>
          </a:p>
        </p:txBody>
      </p:sp>
      <p:sp>
        <p:nvSpPr>
          <p:cNvPr id="3" name="内容占位符 2"/>
          <p:cNvSpPr>
            <a:spLocks noGrp="1"/>
          </p:cNvSpPr>
          <p:nvPr>
            <p:ph idx="1"/>
          </p:nvPr>
        </p:nvSpPr>
        <p:spPr/>
        <p:txBody>
          <a:bodyPr>
            <a:noAutofit/>
          </a:bodyPr>
          <a:lstStyle/>
          <a:p>
            <a:r>
              <a:rPr lang="zh-CN" altLang="en-US" dirty="0">
                <a:solidFill>
                  <a:srgbClr val="1F2DA8"/>
                </a:solidFill>
                <a:latin typeface="Calibri" panose="020F0502020204030204" charset="0"/>
                <a:cs typeface="Calibri" panose="020F0502020204030204" charset="0"/>
              </a:rPr>
              <a:t>存取控制机制的组成</a:t>
            </a:r>
            <a:endParaRPr lang="zh-CN" altLang="en-US" dirty="0">
              <a:latin typeface="Calibri" panose="020F0502020204030204" charset="0"/>
              <a:cs typeface="Calibri" panose="020F0502020204030204" charset="0"/>
            </a:endParaRPr>
          </a:p>
          <a:p>
            <a:pPr lvl="1"/>
            <a:r>
              <a:rPr lang="zh-CN" altLang="en-US" dirty="0">
                <a:solidFill>
                  <a:srgbClr val="C00000"/>
                </a:solidFill>
                <a:latin typeface="Calibri" panose="020F0502020204030204" charset="0"/>
                <a:cs typeface="Calibri" panose="020F0502020204030204" charset="0"/>
              </a:rPr>
              <a:t>定义用户权限，</a:t>
            </a:r>
            <a:r>
              <a:rPr lang="zh-CN" altLang="zh-CN" dirty="0">
                <a:solidFill>
                  <a:srgbClr val="C00000"/>
                </a:solidFill>
                <a:latin typeface="Calibri" panose="020F0502020204030204" charset="0"/>
                <a:cs typeface="Calibri" panose="020F0502020204030204" charset="0"/>
              </a:rPr>
              <a:t>并将用户权限登记到数据字典中</a:t>
            </a:r>
            <a:endParaRPr lang="en-US" altLang="zh-CN" dirty="0">
              <a:latin typeface="Calibri" panose="020F0502020204030204" charset="0"/>
              <a:cs typeface="Calibri" panose="020F0502020204030204" charset="0"/>
            </a:endParaRPr>
          </a:p>
          <a:p>
            <a:pPr lvl="2"/>
            <a:r>
              <a:rPr lang="zh-CN" altLang="en-US" dirty="0">
                <a:latin typeface="Calibri" panose="020F0502020204030204" charset="0"/>
                <a:cs typeface="Calibri" panose="020F0502020204030204" charset="0"/>
              </a:rPr>
              <a:t>用户对某一数据对象的操作权力称为</a:t>
            </a:r>
            <a:r>
              <a:rPr lang="en-US" altLang="zh-CN" dirty="0">
                <a:latin typeface="Calibri" panose="020F0502020204030204" charset="0"/>
                <a:cs typeface="Calibri" panose="020F0502020204030204" charset="0"/>
              </a:rPr>
              <a:t> ‘</a:t>
            </a:r>
            <a:r>
              <a:rPr lang="zh-CN" altLang="en-US" dirty="0">
                <a:solidFill>
                  <a:srgbClr val="C00000"/>
                </a:solidFill>
                <a:latin typeface="Calibri" panose="020F0502020204030204" charset="0"/>
                <a:cs typeface="Calibri" panose="020F0502020204030204" charset="0"/>
              </a:rPr>
              <a:t>权限</a:t>
            </a:r>
            <a:r>
              <a:rPr lang="en-US" altLang="zh-CN" dirty="0">
                <a:latin typeface="Calibri" panose="020F0502020204030204" charset="0"/>
                <a:cs typeface="Calibri" panose="020F0502020204030204" charset="0"/>
              </a:rPr>
              <a:t>’</a:t>
            </a:r>
            <a:r>
              <a:rPr lang="zh-CN" altLang="en-US" dirty="0">
                <a:latin typeface="Calibri" panose="020F0502020204030204" charset="0"/>
                <a:cs typeface="Calibri" panose="020F0502020204030204" charset="0"/>
              </a:rPr>
              <a:t> </a:t>
            </a:r>
          </a:p>
          <a:p>
            <a:pPr lvl="2"/>
            <a:r>
              <a:rPr lang="en-US" altLang="zh-CN" dirty="0">
                <a:latin typeface="Calibri" panose="020F0502020204030204" charset="0"/>
                <a:cs typeface="Calibri" panose="020F0502020204030204" charset="0"/>
              </a:rPr>
              <a:t>DBMS</a:t>
            </a:r>
            <a:r>
              <a:rPr lang="zh-CN" altLang="en-US" dirty="0">
                <a:latin typeface="Calibri" panose="020F0502020204030204" charset="0"/>
                <a:cs typeface="Calibri" panose="020F0502020204030204" charset="0"/>
              </a:rPr>
              <a:t>提供适当的语言来定义用户权限，这些定义经编译后存放在数据字典中，被称做</a:t>
            </a:r>
            <a:r>
              <a:rPr lang="en-US" altLang="zh-CN" dirty="0">
                <a:latin typeface="Calibri" panose="020F0502020204030204" charset="0"/>
                <a:cs typeface="Calibri" panose="020F0502020204030204" charset="0"/>
              </a:rPr>
              <a:t>‘</a:t>
            </a:r>
            <a:r>
              <a:rPr lang="zh-CN" altLang="en-US" dirty="0">
                <a:latin typeface="Calibri" panose="020F0502020204030204" charset="0"/>
                <a:cs typeface="Calibri" panose="020F0502020204030204" charset="0"/>
              </a:rPr>
              <a:t>安全规则</a:t>
            </a:r>
            <a:r>
              <a:rPr lang="en-US" altLang="zh-CN" dirty="0">
                <a:latin typeface="Calibri" panose="020F0502020204030204" charset="0"/>
                <a:cs typeface="Calibri" panose="020F0502020204030204" charset="0"/>
              </a:rPr>
              <a:t>’</a:t>
            </a:r>
            <a:r>
              <a:rPr lang="zh-CN" altLang="en-US" dirty="0">
                <a:latin typeface="Calibri" panose="020F0502020204030204" charset="0"/>
                <a:cs typeface="Calibri" panose="020F0502020204030204" charset="0"/>
              </a:rPr>
              <a:t>或</a:t>
            </a:r>
            <a:r>
              <a:rPr lang="en-US" altLang="zh-CN" dirty="0">
                <a:latin typeface="Calibri" panose="020F0502020204030204" charset="0"/>
                <a:cs typeface="Calibri" panose="020F0502020204030204" charset="0"/>
              </a:rPr>
              <a:t>‘</a:t>
            </a:r>
            <a:r>
              <a:rPr lang="zh-CN" altLang="en-US" dirty="0">
                <a:latin typeface="Calibri" panose="020F0502020204030204" charset="0"/>
                <a:cs typeface="Calibri" panose="020F0502020204030204" charset="0"/>
              </a:rPr>
              <a:t>授权规则</a:t>
            </a:r>
            <a:r>
              <a:rPr lang="en-US" altLang="zh-CN" dirty="0">
                <a:latin typeface="Calibri" panose="020F0502020204030204" charset="0"/>
                <a:cs typeface="Calibri" panose="020F0502020204030204" charset="0"/>
              </a:rPr>
              <a:t>’</a:t>
            </a:r>
            <a:r>
              <a:rPr lang="zh-CN" altLang="en-US" dirty="0">
                <a:latin typeface="Calibri" panose="020F0502020204030204" charset="0"/>
                <a:cs typeface="Calibri" panose="020F0502020204030204" charset="0"/>
              </a:rPr>
              <a:t> </a:t>
            </a:r>
          </a:p>
          <a:p>
            <a:pPr lvl="1">
              <a:lnSpc>
                <a:spcPct val="110000"/>
              </a:lnSpc>
              <a:spcBef>
                <a:spcPts val="1000"/>
              </a:spcBef>
            </a:pPr>
            <a:r>
              <a:rPr lang="zh-CN" altLang="en-US" dirty="0">
                <a:solidFill>
                  <a:srgbClr val="C00000"/>
                </a:solidFill>
                <a:latin typeface="Calibri" panose="020F0502020204030204" charset="0"/>
                <a:cs typeface="Calibri" panose="020F0502020204030204" charset="0"/>
              </a:rPr>
              <a:t>合法权限检查</a:t>
            </a:r>
            <a:r>
              <a:rPr lang="zh-CN" altLang="en-US" dirty="0">
                <a:latin typeface="Calibri" panose="020F0502020204030204" charset="0"/>
                <a:cs typeface="Calibri" panose="020F0502020204030204" charset="0"/>
              </a:rPr>
              <a:t> </a:t>
            </a:r>
            <a:endParaRPr lang="en-US" altLang="zh-CN" dirty="0">
              <a:latin typeface="Calibri" panose="020F0502020204030204" charset="0"/>
              <a:cs typeface="Calibri" panose="020F0502020204030204" charset="0"/>
            </a:endParaRPr>
          </a:p>
          <a:p>
            <a:pPr lvl="2"/>
            <a:r>
              <a:rPr lang="zh-CN" altLang="en-US" dirty="0">
                <a:latin typeface="Calibri" panose="020F0502020204030204" charset="0"/>
                <a:cs typeface="Calibri" panose="020F0502020204030204" charset="0"/>
              </a:rPr>
              <a:t>在用户发出存取数据库的操作请求（一般应包括操作类型、操作对象、请求操作的用户等信息）后，</a:t>
            </a:r>
            <a:r>
              <a:rPr lang="en-US" altLang="zh-CN" dirty="0">
                <a:latin typeface="Calibri" panose="020F0502020204030204" charset="0"/>
                <a:cs typeface="Calibri" panose="020F0502020204030204" charset="0"/>
              </a:rPr>
              <a:t>DBMS</a:t>
            </a:r>
            <a:r>
              <a:rPr lang="zh-CN" altLang="en-US" dirty="0">
                <a:latin typeface="Calibri" panose="020F0502020204030204" charset="0"/>
                <a:cs typeface="Calibri" panose="020F0502020204030204" charset="0"/>
              </a:rPr>
              <a:t>查找数据字典，根据安全规则进行合法权限检查</a:t>
            </a:r>
          </a:p>
          <a:p>
            <a:pPr>
              <a:lnSpc>
                <a:spcPct val="110000"/>
              </a:lnSpc>
              <a:spcBef>
                <a:spcPts val="3000"/>
              </a:spcBef>
            </a:pPr>
            <a:r>
              <a:rPr lang="zh-CN" altLang="en-US" dirty="0">
                <a:solidFill>
                  <a:srgbClr val="C00000"/>
                </a:solidFill>
                <a:latin typeface="Calibri" panose="020F0502020204030204" charset="0"/>
                <a:cs typeface="Calibri" panose="020F0502020204030204" charset="0"/>
                <a:sym typeface="+mn-ea"/>
              </a:rPr>
              <a:t>定义</a:t>
            </a:r>
            <a:r>
              <a:rPr lang="zh-CN" altLang="en-US" dirty="0">
                <a:solidFill>
                  <a:srgbClr val="C00000"/>
                </a:solidFill>
                <a:latin typeface="Calibri" panose="020F0502020204030204" charset="0"/>
                <a:cs typeface="Calibri" panose="020F0502020204030204" charset="0"/>
              </a:rPr>
              <a:t>用户权限</a:t>
            </a:r>
            <a:r>
              <a:rPr lang="zh-CN" altLang="en-US" dirty="0">
                <a:latin typeface="Calibri" panose="020F0502020204030204" charset="0"/>
                <a:cs typeface="Calibri" panose="020F0502020204030204" charset="0"/>
              </a:rPr>
              <a:t>和</a:t>
            </a:r>
            <a:r>
              <a:rPr lang="zh-CN" altLang="en-US" dirty="0">
                <a:solidFill>
                  <a:srgbClr val="C00000"/>
                </a:solidFill>
                <a:latin typeface="Calibri" panose="020F0502020204030204" charset="0"/>
                <a:cs typeface="Calibri" panose="020F0502020204030204" charset="0"/>
              </a:rPr>
              <a:t>合法权限检查</a:t>
            </a:r>
            <a:r>
              <a:rPr lang="zh-CN" altLang="en-US" dirty="0">
                <a:latin typeface="Calibri" panose="020F0502020204030204" charset="0"/>
                <a:cs typeface="Calibri" panose="020F0502020204030204" charset="0"/>
              </a:rPr>
              <a:t>机制一起组成了数据库管理系统的存取控制子系统</a:t>
            </a:r>
          </a:p>
        </p:txBody>
      </p:sp>
      <p:sp>
        <p:nvSpPr>
          <p:cNvPr id="5" name="灯片编号占位符 4"/>
          <p:cNvSpPr>
            <a:spLocks noGrp="1"/>
          </p:cNvSpPr>
          <p:nvPr>
            <p:ph type="sldNum" sz="quarter" idx="12"/>
          </p:nvPr>
        </p:nvSpPr>
        <p:spPr/>
        <p:txBody>
          <a:bodyPr/>
          <a:lstStyle/>
          <a:p>
            <a:fld id="{565CE74E-AB26-4998-AD42-012C4C1AD076}" type="slidenum">
              <a:rPr lang="zh-CN" altLang="en-US" smtClean="0"/>
              <a:t>25</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blinds(horizontal)">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blinds(horizontal)">
                                      <p:cBhvr>
                                        <p:cTn id="15" dur="500"/>
                                        <p:tgtEl>
                                          <p:spTgt spid="3">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anim calcmode="lin" valueType="num">
                                      <p:cBhvr additive="base">
                                        <p:cTn id="20"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sym typeface="+mn-ea"/>
              </a:rPr>
              <a:t>常用存取控制方法</a:t>
            </a:r>
            <a:endParaRPr lang="en-US" altLang="zh-CN" dirty="0">
              <a:sym typeface="+mn-ea"/>
            </a:endParaRPr>
          </a:p>
        </p:txBody>
      </p:sp>
      <p:sp>
        <p:nvSpPr>
          <p:cNvPr id="3" name="内容占位符 2"/>
          <p:cNvSpPr>
            <a:spLocks noGrp="1"/>
          </p:cNvSpPr>
          <p:nvPr>
            <p:ph idx="1"/>
          </p:nvPr>
        </p:nvSpPr>
        <p:spPr/>
        <p:txBody>
          <a:bodyPr>
            <a:noAutofit/>
          </a:bodyPr>
          <a:lstStyle/>
          <a:p>
            <a:pPr lvl="0"/>
            <a:r>
              <a:rPr lang="zh-CN" altLang="en-US" dirty="0">
                <a:solidFill>
                  <a:srgbClr val="C00000"/>
                </a:solidFill>
                <a:latin typeface="Calibri" panose="020F0502020204030204" charset="0"/>
                <a:cs typeface="Calibri" panose="020F0502020204030204" charset="0"/>
              </a:rPr>
              <a:t>自主存取控制</a:t>
            </a:r>
            <a:r>
              <a:rPr lang="zh-CN" altLang="en-US" dirty="0">
                <a:latin typeface="Calibri" panose="020F0502020204030204" charset="0"/>
                <a:cs typeface="Calibri" panose="020F0502020204030204" charset="0"/>
              </a:rPr>
              <a:t>（</a:t>
            </a:r>
            <a:r>
              <a:rPr lang="en-US" altLang="zh-CN" dirty="0">
                <a:latin typeface="Calibri" panose="020F0502020204030204" charset="0"/>
                <a:cs typeface="Calibri" panose="020F0502020204030204" charset="0"/>
              </a:rPr>
              <a:t>Discretionary Access Control </a:t>
            </a:r>
            <a:r>
              <a:rPr lang="zh-CN" altLang="en-US" dirty="0">
                <a:latin typeface="Calibri" panose="020F0502020204030204" charset="0"/>
                <a:cs typeface="Calibri" panose="020F0502020204030204" charset="0"/>
              </a:rPr>
              <a:t>，简称</a:t>
            </a:r>
            <a:r>
              <a:rPr lang="en-US" altLang="zh-CN" dirty="0">
                <a:latin typeface="Calibri" panose="020F0502020204030204" charset="0"/>
                <a:cs typeface="Calibri" panose="020F0502020204030204" charset="0"/>
              </a:rPr>
              <a:t>DAC</a:t>
            </a:r>
            <a:r>
              <a:rPr lang="zh-CN" altLang="en-US" dirty="0">
                <a:latin typeface="Calibri" panose="020F0502020204030204" charset="0"/>
                <a:cs typeface="Calibri" panose="020F0502020204030204" charset="0"/>
              </a:rPr>
              <a:t>）</a:t>
            </a:r>
          </a:p>
          <a:p>
            <a:pPr lvl="1"/>
            <a:r>
              <a:rPr lang="zh-CN" altLang="en-US" dirty="0">
                <a:latin typeface="Calibri" panose="020F0502020204030204" charset="0"/>
                <a:cs typeface="Calibri" panose="020F0502020204030204" charset="0"/>
              </a:rPr>
              <a:t>自</a:t>
            </a:r>
            <a:r>
              <a:rPr lang="en-US" altLang="zh-CN" dirty="0">
                <a:latin typeface="Calibri" panose="020F0502020204030204" charset="0"/>
                <a:cs typeface="Calibri" panose="020F0502020204030204" charset="0"/>
              </a:rPr>
              <a:t>C1</a:t>
            </a:r>
            <a:r>
              <a:rPr lang="zh-CN" altLang="en-US" dirty="0">
                <a:latin typeface="Calibri" panose="020F0502020204030204" charset="0"/>
                <a:cs typeface="Calibri" panose="020F0502020204030204" charset="0"/>
              </a:rPr>
              <a:t>级开始，要求提供</a:t>
            </a:r>
            <a:r>
              <a:rPr lang="en-US" altLang="zh-CN" dirty="0">
                <a:latin typeface="Calibri" panose="020F0502020204030204" charset="0"/>
                <a:cs typeface="Calibri" panose="020F0502020204030204" charset="0"/>
              </a:rPr>
              <a:t> ‘</a:t>
            </a:r>
            <a:r>
              <a:rPr lang="zh-CN" altLang="en-US" dirty="0">
                <a:latin typeface="Calibri" panose="020F0502020204030204" charset="0"/>
                <a:cs typeface="Calibri" panose="020F0502020204030204" charset="0"/>
              </a:rPr>
              <a:t>自主存取控制</a:t>
            </a:r>
            <a:r>
              <a:rPr lang="en-US" altLang="zh-CN" dirty="0">
                <a:latin typeface="Calibri" panose="020F0502020204030204" charset="0"/>
                <a:cs typeface="Calibri" panose="020F0502020204030204" charset="0"/>
              </a:rPr>
              <a:t>’</a:t>
            </a:r>
            <a:endParaRPr lang="zh-CN" altLang="en-US" dirty="0">
              <a:latin typeface="Calibri" panose="020F0502020204030204" charset="0"/>
              <a:cs typeface="Calibri" panose="020F0502020204030204" charset="0"/>
            </a:endParaRPr>
          </a:p>
          <a:p>
            <a:pPr lvl="1"/>
            <a:r>
              <a:rPr lang="zh-CN" altLang="en-US" dirty="0">
                <a:latin typeface="Calibri" panose="020F0502020204030204" charset="0"/>
                <a:cs typeface="Calibri" panose="020F0502020204030204" charset="0"/>
              </a:rPr>
              <a:t>用户对不同的数据对象有不同的存取权限</a:t>
            </a:r>
          </a:p>
          <a:p>
            <a:pPr lvl="1"/>
            <a:r>
              <a:rPr lang="zh-CN" altLang="en-US" dirty="0">
                <a:latin typeface="Calibri" panose="020F0502020204030204" charset="0"/>
                <a:cs typeface="Calibri" panose="020F0502020204030204" charset="0"/>
              </a:rPr>
              <a:t>不同的用户对同一对象也有不同的权限</a:t>
            </a:r>
          </a:p>
          <a:p>
            <a:pPr lvl="1"/>
            <a:r>
              <a:rPr lang="zh-CN" altLang="en-US" dirty="0">
                <a:latin typeface="Calibri" panose="020F0502020204030204" charset="0"/>
                <a:cs typeface="Calibri" panose="020F0502020204030204" charset="0"/>
              </a:rPr>
              <a:t>用户还可将其拥有的存取权限转授给其他用户</a:t>
            </a:r>
          </a:p>
          <a:p>
            <a:pPr lvl="1"/>
            <a:endParaRPr lang="zh-CN" altLang="en-US" dirty="0">
              <a:latin typeface="Calibri" panose="020F0502020204030204" charset="0"/>
              <a:cs typeface="Calibri" panose="020F0502020204030204" charset="0"/>
            </a:endParaRPr>
          </a:p>
          <a:p>
            <a:pPr lvl="0"/>
            <a:r>
              <a:rPr lang="zh-CN" altLang="en-US" dirty="0">
                <a:solidFill>
                  <a:srgbClr val="C00000"/>
                </a:solidFill>
                <a:latin typeface="Calibri" panose="020F0502020204030204" charset="0"/>
                <a:cs typeface="Calibri" panose="020F0502020204030204" charset="0"/>
              </a:rPr>
              <a:t>强制存取控制</a:t>
            </a:r>
            <a:r>
              <a:rPr lang="zh-CN" altLang="en-US" dirty="0">
                <a:latin typeface="Calibri" panose="020F0502020204030204" charset="0"/>
                <a:cs typeface="Calibri" panose="020F0502020204030204" charset="0"/>
              </a:rPr>
              <a:t>（Mandatory Access Control，简称 MAC）</a:t>
            </a:r>
          </a:p>
          <a:p>
            <a:pPr lvl="1"/>
            <a:r>
              <a:rPr lang="zh-CN" altLang="en-US" dirty="0">
                <a:latin typeface="Calibri" panose="020F0502020204030204" charset="0"/>
                <a:cs typeface="Calibri" panose="020F0502020204030204" charset="0"/>
              </a:rPr>
              <a:t>自B1级开始，</a:t>
            </a:r>
            <a:r>
              <a:rPr lang="zh-CN" altLang="en-US" dirty="0">
                <a:latin typeface="Calibri" panose="020F0502020204030204" charset="0"/>
                <a:cs typeface="Calibri" panose="020F0502020204030204" charset="0"/>
                <a:sym typeface="+mn-ea"/>
              </a:rPr>
              <a:t>要求提供</a:t>
            </a:r>
            <a:r>
              <a:rPr lang="en-US" altLang="zh-CN" dirty="0">
                <a:latin typeface="Calibri" panose="020F0502020204030204" charset="0"/>
                <a:cs typeface="Calibri" panose="020F0502020204030204" charset="0"/>
                <a:sym typeface="+mn-ea"/>
              </a:rPr>
              <a:t> ‘</a:t>
            </a:r>
            <a:r>
              <a:rPr lang="zh-CN" altLang="en-US" dirty="0">
                <a:latin typeface="Calibri" panose="020F0502020204030204" charset="0"/>
                <a:cs typeface="Calibri" panose="020F0502020204030204" charset="0"/>
                <a:sym typeface="+mn-ea"/>
              </a:rPr>
              <a:t>强制存取控制</a:t>
            </a:r>
            <a:r>
              <a:rPr lang="en-US" altLang="zh-CN" dirty="0">
                <a:latin typeface="Calibri" panose="020F0502020204030204" charset="0"/>
                <a:cs typeface="Calibri" panose="020F0502020204030204" charset="0"/>
                <a:sym typeface="+mn-ea"/>
              </a:rPr>
              <a:t>’</a:t>
            </a:r>
            <a:endParaRPr lang="zh-CN" altLang="en-US" dirty="0">
              <a:latin typeface="Calibri" panose="020F0502020204030204" charset="0"/>
              <a:cs typeface="Calibri" panose="020F0502020204030204" charset="0"/>
            </a:endParaRPr>
          </a:p>
          <a:p>
            <a:pPr lvl="1"/>
            <a:r>
              <a:rPr lang="zh-CN" altLang="en-US" dirty="0">
                <a:latin typeface="Calibri" panose="020F0502020204030204" charset="0"/>
                <a:cs typeface="Calibri" panose="020F0502020204030204" charset="0"/>
              </a:rPr>
              <a:t>每一个数据对象被标以一定的密级</a:t>
            </a:r>
          </a:p>
          <a:p>
            <a:pPr lvl="1"/>
            <a:r>
              <a:rPr lang="zh-CN" altLang="en-US" dirty="0">
                <a:latin typeface="Calibri" panose="020F0502020204030204" charset="0"/>
                <a:cs typeface="Calibri" panose="020F0502020204030204" charset="0"/>
              </a:rPr>
              <a:t>每一个用户也被授予某一个级别的许可证</a:t>
            </a:r>
          </a:p>
          <a:p>
            <a:pPr lvl="1"/>
            <a:r>
              <a:rPr lang="zh-CN" altLang="en-US" dirty="0">
                <a:latin typeface="Calibri" panose="020F0502020204030204" charset="0"/>
                <a:cs typeface="Calibri" panose="020F0502020204030204" charset="0"/>
              </a:rPr>
              <a:t>对于任意一个对象，只有具有合法许可证的用户才可以存取</a:t>
            </a:r>
          </a:p>
        </p:txBody>
      </p:sp>
      <p:sp>
        <p:nvSpPr>
          <p:cNvPr id="5" name="灯片编号占位符 4"/>
          <p:cNvSpPr>
            <a:spLocks noGrp="1"/>
          </p:cNvSpPr>
          <p:nvPr>
            <p:ph type="sldNum" sz="quarter" idx="12"/>
          </p:nvPr>
        </p:nvSpPr>
        <p:spPr/>
        <p:txBody>
          <a:bodyPr/>
          <a:lstStyle/>
          <a:p>
            <a:fld id="{565CE74E-AB26-4998-AD42-012C4C1AD076}" type="slidenum">
              <a:rPr lang="zh-CN" altLang="en-US" smtClean="0"/>
              <a:t>26</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linds(horizontal)">
                                      <p:cBhvr>
                                        <p:cTn id="13" dur="500"/>
                                        <p:tgtEl>
                                          <p:spTgt spid="3">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blinds(horizontal)">
                                      <p:cBhvr>
                                        <p:cTn id="16" dur="500"/>
                                        <p:tgtEl>
                                          <p:spTgt spid="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blinds(horizontal)">
                                      <p:cBhvr>
                                        <p:cTn id="21" dur="500"/>
                                        <p:tgtEl>
                                          <p:spTgt spid="3">
                                            <p:txEl>
                                              <p:pRg st="7" end="7"/>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blinds(horizontal)">
                                      <p:cBhvr>
                                        <p:cTn id="24" dur="500"/>
                                        <p:tgtEl>
                                          <p:spTgt spid="3">
                                            <p:txEl>
                                              <p:pRg st="8" end="8"/>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Effect transition="in" filter="blinds(horizontal)">
                                      <p:cBhvr>
                                        <p:cTn id="27" dur="500"/>
                                        <p:tgtEl>
                                          <p:spTgt spid="3">
                                            <p:txEl>
                                              <p:pRg st="9" end="9"/>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3">
                                            <p:txEl>
                                              <p:pRg st="10" end="10"/>
                                            </p:txEl>
                                          </p:spTgt>
                                        </p:tgtEl>
                                        <p:attrNameLst>
                                          <p:attrName>style.visibility</p:attrName>
                                        </p:attrNameLst>
                                      </p:cBhvr>
                                      <p:to>
                                        <p:strVal val="visible"/>
                                      </p:to>
                                    </p:set>
                                    <p:animEffect transition="in" filter="blinds(horizontal)">
                                      <p:cBhvr>
                                        <p:cTn id="30"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4.2.3  </a:t>
            </a:r>
            <a:r>
              <a:rPr lang="zh-CN" altLang="en-US" dirty="0"/>
              <a:t>自主存取控制方法 </a:t>
            </a:r>
            <a:r>
              <a:rPr lang="en-US" altLang="zh-CN" dirty="0"/>
              <a:t>1</a:t>
            </a:r>
            <a:endParaRPr lang="zh-CN" altLang="en-US" dirty="0"/>
          </a:p>
        </p:txBody>
      </p:sp>
      <p:sp>
        <p:nvSpPr>
          <p:cNvPr id="3" name="内容占位符 2"/>
          <p:cNvSpPr>
            <a:spLocks noGrp="1"/>
          </p:cNvSpPr>
          <p:nvPr>
            <p:ph idx="1"/>
          </p:nvPr>
        </p:nvSpPr>
        <p:spPr/>
        <p:txBody>
          <a:bodyPr>
            <a:noAutofit/>
          </a:bodyPr>
          <a:lstStyle/>
          <a:p>
            <a:r>
              <a:rPr lang="zh-CN" altLang="en-US" dirty="0"/>
              <a:t>通过 </a:t>
            </a:r>
            <a:r>
              <a:rPr lang="en-US" altLang="zh-CN" dirty="0"/>
              <a:t>SQL</a:t>
            </a:r>
            <a:r>
              <a:rPr lang="zh-CN" altLang="en-US" dirty="0"/>
              <a:t>语言中</a:t>
            </a:r>
            <a:r>
              <a:rPr lang="en-US" altLang="zh-CN" dirty="0"/>
              <a:t> </a:t>
            </a:r>
            <a:r>
              <a:rPr lang="zh-CN" altLang="en-US" dirty="0"/>
              <a:t>的</a:t>
            </a:r>
            <a:r>
              <a:rPr lang="en-US" altLang="zh-CN" dirty="0"/>
              <a:t> GRANT</a:t>
            </a:r>
            <a:r>
              <a:rPr lang="zh-CN" altLang="en-US" dirty="0"/>
              <a:t>语句</a:t>
            </a:r>
            <a:r>
              <a:rPr lang="en-US" altLang="zh-CN" dirty="0"/>
              <a:t> </a:t>
            </a:r>
            <a:r>
              <a:rPr lang="zh-CN" altLang="en-US" dirty="0"/>
              <a:t>和</a:t>
            </a:r>
            <a:r>
              <a:rPr lang="en-US" altLang="zh-CN" dirty="0"/>
              <a:t> REVOKE</a:t>
            </a:r>
            <a:r>
              <a:rPr lang="zh-CN" altLang="en-US" dirty="0"/>
              <a:t>语句</a:t>
            </a:r>
            <a:r>
              <a:rPr lang="en-US" altLang="zh-CN" dirty="0"/>
              <a:t> </a:t>
            </a:r>
            <a:r>
              <a:rPr lang="zh-CN" altLang="en-US" dirty="0"/>
              <a:t>提供支持</a:t>
            </a:r>
          </a:p>
          <a:p>
            <a:pPr>
              <a:lnSpc>
                <a:spcPct val="110000"/>
              </a:lnSpc>
              <a:spcBef>
                <a:spcPts val="3000"/>
              </a:spcBef>
            </a:pPr>
            <a:r>
              <a:rPr lang="zh-CN" altLang="en-US" dirty="0"/>
              <a:t>用户权限的组成要素</a:t>
            </a:r>
          </a:p>
          <a:p>
            <a:pPr lvl="2"/>
            <a:r>
              <a:rPr lang="zh-CN" altLang="en-US" dirty="0">
                <a:solidFill>
                  <a:srgbClr val="C00000"/>
                </a:solidFill>
              </a:rPr>
              <a:t>数据库对象</a:t>
            </a:r>
          </a:p>
          <a:p>
            <a:pPr lvl="2"/>
            <a:r>
              <a:rPr lang="zh-CN" altLang="en-US" dirty="0">
                <a:solidFill>
                  <a:srgbClr val="C00000"/>
                </a:solidFill>
              </a:rPr>
              <a:t>操作类型</a:t>
            </a:r>
          </a:p>
          <a:p>
            <a:pPr>
              <a:lnSpc>
                <a:spcPct val="110000"/>
              </a:lnSpc>
              <a:spcBef>
                <a:spcPts val="3000"/>
              </a:spcBef>
            </a:pPr>
            <a:r>
              <a:rPr lang="zh-CN" altLang="en-US" dirty="0"/>
              <a:t>定义用户的存取权限</a:t>
            </a:r>
          </a:p>
          <a:p>
            <a:pPr lvl="1">
              <a:lnSpc>
                <a:spcPct val="110000"/>
              </a:lnSpc>
              <a:spcBef>
                <a:spcPts val="1000"/>
              </a:spcBef>
            </a:pPr>
            <a:r>
              <a:rPr lang="zh-CN" altLang="en-US" dirty="0"/>
              <a:t>定义一个</a:t>
            </a:r>
            <a:r>
              <a:rPr lang="zh-CN" altLang="en-US" dirty="0">
                <a:solidFill>
                  <a:srgbClr val="C00000"/>
                </a:solidFill>
              </a:rPr>
              <a:t>用户</a:t>
            </a:r>
            <a:r>
              <a:rPr lang="zh-CN" altLang="en-US" dirty="0"/>
              <a:t>可以在哪些</a:t>
            </a:r>
            <a:r>
              <a:rPr lang="zh-CN" altLang="en-US" dirty="0">
                <a:solidFill>
                  <a:srgbClr val="C00000"/>
                </a:solidFill>
              </a:rPr>
              <a:t>数据库对象</a:t>
            </a:r>
            <a:r>
              <a:rPr lang="zh-CN" altLang="en-US" dirty="0"/>
              <a:t>上进行哪些类型的</a:t>
            </a:r>
            <a:r>
              <a:rPr lang="zh-CN" altLang="en-US" dirty="0">
                <a:solidFill>
                  <a:srgbClr val="C00000"/>
                </a:solidFill>
              </a:rPr>
              <a:t>操作</a:t>
            </a:r>
          </a:p>
          <a:p>
            <a:pPr lvl="1"/>
            <a:endParaRPr lang="zh-CN" altLang="en-US" dirty="0">
              <a:solidFill>
                <a:srgbClr val="C00000"/>
              </a:solidFill>
            </a:endParaRPr>
          </a:p>
          <a:p>
            <a:pPr lvl="1"/>
            <a:r>
              <a:rPr lang="zh-CN" altLang="en-US" dirty="0">
                <a:solidFill>
                  <a:srgbClr val="1F2DA8"/>
                </a:solidFill>
                <a:uFillTx/>
                <a:latin typeface="Arial" panose="020B0604020202020204" pitchFamily="34" charset="0"/>
                <a:sym typeface="+mn-ea"/>
              </a:rPr>
              <a:t>定义用户的存取权限称为</a:t>
            </a:r>
            <a:r>
              <a:rPr lang="en-US" altLang="zh-CN" dirty="0">
                <a:solidFill>
                  <a:srgbClr val="1F2DA8"/>
                </a:solidFill>
                <a:uFillTx/>
                <a:latin typeface="Arial" panose="020B0604020202020204" pitchFamily="34" charset="0"/>
                <a:sym typeface="+mn-ea"/>
              </a:rPr>
              <a:t> ‘</a:t>
            </a:r>
            <a:r>
              <a:rPr lang="zh-CN" altLang="en-US" dirty="0">
                <a:solidFill>
                  <a:srgbClr val="C00000"/>
                </a:solidFill>
                <a:uFillTx/>
                <a:latin typeface="Arial" panose="020B0604020202020204" pitchFamily="34" charset="0"/>
                <a:sym typeface="+mn-ea"/>
              </a:rPr>
              <a:t>授权管理</a:t>
            </a:r>
            <a:r>
              <a:rPr lang="en-US" altLang="zh-CN" dirty="0">
                <a:solidFill>
                  <a:srgbClr val="1F2DA8"/>
                </a:solidFill>
                <a:uFillTx/>
                <a:latin typeface="Arial" panose="020B0604020202020204" pitchFamily="34" charset="0"/>
                <a:sym typeface="+mn-ea"/>
              </a:rPr>
              <a:t>’</a:t>
            </a:r>
            <a:r>
              <a:rPr lang="zh-CN" altLang="en-US" dirty="0">
                <a:solidFill>
                  <a:srgbClr val="1F2DA8"/>
                </a:solidFill>
                <a:uFillTx/>
                <a:latin typeface="Arial" panose="020B0604020202020204" pitchFamily="34" charset="0"/>
                <a:sym typeface="+mn-ea"/>
              </a:rPr>
              <a:t>，包括向用户</a:t>
            </a:r>
            <a:r>
              <a:rPr lang="en-US" altLang="zh-CN" dirty="0">
                <a:solidFill>
                  <a:srgbClr val="1F2DA8"/>
                </a:solidFill>
                <a:uFillTx/>
                <a:latin typeface="Arial" panose="020B0604020202020204" pitchFamily="34" charset="0"/>
                <a:sym typeface="+mn-ea"/>
              </a:rPr>
              <a:t>‘</a:t>
            </a:r>
            <a:r>
              <a:rPr lang="zh-CN" altLang="en-US" dirty="0">
                <a:solidFill>
                  <a:srgbClr val="C00000"/>
                </a:solidFill>
                <a:uFillTx/>
                <a:latin typeface="Arial" panose="020B0604020202020204" pitchFamily="34" charset="0"/>
                <a:sym typeface="+mn-ea"/>
              </a:rPr>
              <a:t>授予</a:t>
            </a:r>
            <a:r>
              <a:rPr lang="en-US" altLang="zh-CN" dirty="0">
                <a:solidFill>
                  <a:srgbClr val="1F2DA8"/>
                </a:solidFill>
                <a:uFillTx/>
                <a:latin typeface="Arial" panose="020B0604020202020204" pitchFamily="34" charset="0"/>
                <a:sym typeface="+mn-ea"/>
              </a:rPr>
              <a:t>’</a:t>
            </a:r>
            <a:r>
              <a:rPr lang="zh-CN" altLang="en-US" dirty="0">
                <a:solidFill>
                  <a:srgbClr val="1F2DA8"/>
                </a:solidFill>
                <a:uFillTx/>
                <a:latin typeface="Arial" panose="020B0604020202020204" pitchFamily="34" charset="0"/>
                <a:sym typeface="+mn-ea"/>
              </a:rPr>
              <a:t>或</a:t>
            </a:r>
            <a:r>
              <a:rPr lang="en-US" altLang="zh-CN" dirty="0">
                <a:solidFill>
                  <a:srgbClr val="1F2DA8"/>
                </a:solidFill>
                <a:uFillTx/>
                <a:latin typeface="Arial" panose="020B0604020202020204" pitchFamily="34" charset="0"/>
                <a:sym typeface="+mn-ea"/>
              </a:rPr>
              <a:t>‘</a:t>
            </a:r>
            <a:r>
              <a:rPr lang="zh-CN" altLang="en-US" dirty="0">
                <a:solidFill>
                  <a:srgbClr val="C00000"/>
                </a:solidFill>
                <a:uFillTx/>
                <a:latin typeface="Arial" panose="020B0604020202020204" pitchFamily="34" charset="0"/>
                <a:sym typeface="+mn-ea"/>
              </a:rPr>
              <a:t>收回</a:t>
            </a:r>
            <a:r>
              <a:rPr lang="en-US" altLang="zh-CN" dirty="0">
                <a:solidFill>
                  <a:srgbClr val="1F2DA8"/>
                </a:solidFill>
                <a:uFillTx/>
                <a:latin typeface="Arial" panose="020B0604020202020204" pitchFamily="34" charset="0"/>
                <a:sym typeface="+mn-ea"/>
              </a:rPr>
              <a:t>’</a:t>
            </a:r>
            <a:r>
              <a:rPr lang="zh-CN" altLang="en-US" dirty="0">
                <a:solidFill>
                  <a:srgbClr val="1F2DA8"/>
                </a:solidFill>
                <a:uFillTx/>
                <a:latin typeface="Arial" panose="020B0604020202020204" pitchFamily="34" charset="0"/>
                <a:sym typeface="+mn-ea"/>
              </a:rPr>
              <a:t>对数据的存取权限。</a:t>
            </a:r>
            <a:endParaRPr lang="en-US" altLang="zh-CN" dirty="0">
              <a:solidFill>
                <a:srgbClr val="1F2DA8"/>
              </a:solidFill>
              <a:uFillTx/>
              <a:latin typeface="Arial" panose="020B0604020202020204" pitchFamily="34" charset="0"/>
            </a:endParaRPr>
          </a:p>
        </p:txBody>
      </p:sp>
      <p:sp>
        <p:nvSpPr>
          <p:cNvPr id="5" name="灯片编号占位符 4"/>
          <p:cNvSpPr>
            <a:spLocks noGrp="1"/>
          </p:cNvSpPr>
          <p:nvPr>
            <p:ph type="sldNum" sz="quarter" idx="12"/>
          </p:nvPr>
        </p:nvSpPr>
        <p:spPr/>
        <p:txBody>
          <a:bodyPr/>
          <a:lstStyle/>
          <a:p>
            <a:fld id="{565CE74E-AB26-4998-AD42-012C4C1AD076}" type="slidenum">
              <a:rPr lang="zh-CN" altLang="en-US" smtClean="0"/>
              <a:t>27</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linds(horizontal)">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blinds(horizontal)">
                                      <p:cBhvr>
                                        <p:cTn id="18" dur="500"/>
                                        <p:tgtEl>
                                          <p:spTgt spid="3">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blinds(horizontal)">
                                      <p:cBhvr>
                                        <p:cTn id="21" dur="500"/>
                                        <p:tgtEl>
                                          <p:spTgt spid="3">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blinds(horizontal)">
                                      <p:cBhvr>
                                        <p:cTn id="2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4.2.3  </a:t>
            </a:r>
            <a:r>
              <a:rPr lang="zh-CN" altLang="en-US" dirty="0"/>
              <a:t>自主存取控制方法 </a:t>
            </a:r>
            <a:r>
              <a:rPr lang="en-US" altLang="zh-CN" dirty="0"/>
              <a:t>2</a:t>
            </a:r>
            <a:endParaRPr lang="zh-CN" altLang="en-US" dirty="0"/>
          </a:p>
        </p:txBody>
      </p:sp>
      <p:sp>
        <p:nvSpPr>
          <p:cNvPr id="3" name="内容占位符 2"/>
          <p:cNvSpPr>
            <a:spLocks noGrp="1"/>
          </p:cNvSpPr>
          <p:nvPr>
            <p:ph idx="1"/>
          </p:nvPr>
        </p:nvSpPr>
        <p:spPr/>
        <p:txBody>
          <a:bodyPr/>
          <a:lstStyle/>
          <a:p>
            <a:pPr marL="0" indent="0" algn="ctr">
              <a:buNone/>
            </a:pPr>
            <a:r>
              <a:rPr lang="zh-CN" altLang="zh-CN" dirty="0"/>
              <a:t>表</a:t>
            </a:r>
            <a:r>
              <a:rPr lang="en-US" altLang="zh-CN" dirty="0"/>
              <a:t>4.3 </a:t>
            </a:r>
            <a:r>
              <a:rPr lang="zh-CN" altLang="zh-CN" dirty="0"/>
              <a:t>关系数据库系统中的存取控制对象与权限 </a:t>
            </a:r>
          </a:p>
        </p:txBody>
      </p:sp>
      <p:graphicFrame>
        <p:nvGraphicFramePr>
          <p:cNvPr id="5" name="Group 5"/>
          <p:cNvGraphicFramePr/>
          <p:nvPr>
            <p:custDataLst>
              <p:tags r:id="rId1"/>
            </p:custDataLst>
          </p:nvPr>
        </p:nvGraphicFramePr>
        <p:xfrm>
          <a:off x="424815" y="1254125"/>
          <a:ext cx="11343005" cy="5334000"/>
        </p:xfrm>
        <a:graphic>
          <a:graphicData uri="http://schemas.openxmlformats.org/drawingml/2006/table">
            <a:tbl>
              <a:tblPr/>
              <a:tblGrid>
                <a:gridCol w="1631950">
                  <a:extLst>
                    <a:ext uri="{9D8B030D-6E8A-4147-A177-3AD203B41FA5}">
                      <a16:colId xmlns:a16="http://schemas.microsoft.com/office/drawing/2014/main" val="20000"/>
                    </a:ext>
                  </a:extLst>
                </a:gridCol>
                <a:gridCol w="2393950">
                  <a:extLst>
                    <a:ext uri="{9D8B030D-6E8A-4147-A177-3AD203B41FA5}">
                      <a16:colId xmlns:a16="http://schemas.microsoft.com/office/drawing/2014/main" val="20001"/>
                    </a:ext>
                  </a:extLst>
                </a:gridCol>
                <a:gridCol w="7317105">
                  <a:extLst>
                    <a:ext uri="{9D8B030D-6E8A-4147-A177-3AD203B41FA5}">
                      <a16:colId xmlns:a16="http://schemas.microsoft.com/office/drawing/2014/main" val="20002"/>
                    </a:ext>
                  </a:extLst>
                </a:gridCol>
              </a:tblGrid>
              <a:tr h="431800">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dirty="0">
                          <a:ln>
                            <a:noFill/>
                          </a:ln>
                          <a:solidFill>
                            <a:schemeClr val="tx1"/>
                          </a:solidFill>
                          <a:effectLst/>
                          <a:latin typeface="楷体" panose="02010609060101010101" charset="-122"/>
                          <a:ea typeface="楷体" panose="02010609060101010101" charset="-122"/>
                        </a:rPr>
                        <a:t>对象类型</a:t>
                      </a:r>
                    </a:p>
                  </a:txBody>
                  <a:tcPr marL="91435" marR="9143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dirty="0">
                          <a:ln>
                            <a:noFill/>
                          </a:ln>
                          <a:solidFill>
                            <a:schemeClr val="tx1"/>
                          </a:solidFill>
                          <a:effectLst/>
                          <a:latin typeface="楷体" panose="02010609060101010101" charset="-122"/>
                          <a:ea typeface="楷体" panose="02010609060101010101" charset="-122"/>
                        </a:rPr>
                        <a:t>对象</a:t>
                      </a:r>
                    </a:p>
                  </a:txBody>
                  <a:tcPr marL="91435" marR="9143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dirty="0">
                          <a:ln>
                            <a:noFill/>
                          </a:ln>
                          <a:solidFill>
                            <a:schemeClr val="tx1"/>
                          </a:solidFill>
                          <a:effectLst/>
                          <a:latin typeface="楷体" panose="02010609060101010101" charset="-122"/>
                          <a:ea typeface="楷体" panose="02010609060101010101" charset="-122"/>
                          <a:cs typeface="楷体" panose="02010609060101010101" charset="-122"/>
                        </a:rPr>
                        <a:t>操 作 类 型</a:t>
                      </a:r>
                    </a:p>
                  </a:txBody>
                  <a:tcPr marL="91435" marR="9143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alpha val="50000"/>
                      </a:schemeClr>
                    </a:solidFill>
                  </a:tcPr>
                </a:tc>
                <a:extLst>
                  <a:ext uri="{0D108BD9-81ED-4DB2-BD59-A6C34878D82A}">
                    <a16:rowId xmlns:a16="http://schemas.microsoft.com/office/drawing/2014/main" val="10000"/>
                  </a:ext>
                </a:extLst>
              </a:tr>
              <a:tr h="431165">
                <a:tc rowSpan="4">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dirty="0">
                          <a:ln>
                            <a:noFill/>
                          </a:ln>
                          <a:solidFill>
                            <a:srgbClr val="0000C8"/>
                          </a:solidFill>
                          <a:effectLst/>
                          <a:latin typeface="楷体" panose="02010609060101010101" charset="-122"/>
                          <a:ea typeface="楷体" panose="02010609060101010101" charset="-122"/>
                        </a:rPr>
                        <a:t>数据库</a:t>
                      </a:r>
                      <a:endParaRPr kumimoji="0" lang="en-US" altLang="zh-CN" sz="2800" b="1" i="0" u="none" strike="noStrike" cap="none" normalizeH="0" baseline="0" dirty="0">
                        <a:ln>
                          <a:noFill/>
                        </a:ln>
                        <a:solidFill>
                          <a:srgbClr val="0000C8"/>
                        </a:solidFill>
                        <a:effectLst/>
                        <a:latin typeface="楷体" panose="02010609060101010101" charset="-122"/>
                        <a:ea typeface="楷体" panose="02010609060101010101" charset="-122"/>
                      </a:endParaRPr>
                    </a:p>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dirty="0">
                          <a:ln>
                            <a:noFill/>
                          </a:ln>
                          <a:solidFill>
                            <a:srgbClr val="0000C8"/>
                          </a:solidFill>
                          <a:effectLst/>
                          <a:latin typeface="楷体" panose="02010609060101010101" charset="-122"/>
                          <a:ea typeface="楷体" panose="02010609060101010101" charset="-122"/>
                        </a:rPr>
                        <a:t>模式</a:t>
                      </a:r>
                    </a:p>
                  </a:txBody>
                  <a:tcPr marL="91435" marR="9143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dirty="0">
                          <a:ln>
                            <a:noFill/>
                          </a:ln>
                          <a:solidFill>
                            <a:srgbClr val="0000C8"/>
                          </a:solidFill>
                          <a:effectLst/>
                          <a:latin typeface="楷体" panose="02010609060101010101" charset="-122"/>
                          <a:ea typeface="楷体" panose="02010609060101010101" charset="-122"/>
                        </a:rPr>
                        <a:t>模式</a:t>
                      </a:r>
                    </a:p>
                  </a:txBody>
                  <a:tcPr marL="91435" marR="9143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800" b="1" i="0" u="none" strike="noStrike" cap="none" normalizeH="0" baseline="0" dirty="0">
                          <a:ln>
                            <a:noFill/>
                          </a:ln>
                          <a:solidFill>
                            <a:srgbClr val="0000C8"/>
                          </a:solidFill>
                          <a:effectLst/>
                          <a:latin typeface="+mn-lt"/>
                          <a:ea typeface="宋体" panose="02010600030101010101" pitchFamily="2" charset="-122"/>
                        </a:rPr>
                        <a:t>CREATE SCHEMA</a:t>
                      </a:r>
                    </a:p>
                  </a:txBody>
                  <a:tcPr marL="91435" marR="9143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9580">
                <a:tc vMerge="1">
                  <a:txBody>
                    <a:bodyPr/>
                    <a:lstStyle/>
                    <a:p>
                      <a:endParaRPr lang="zh-CN"/>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dirty="0">
                          <a:ln>
                            <a:noFill/>
                          </a:ln>
                          <a:solidFill>
                            <a:srgbClr val="0000C8"/>
                          </a:solidFill>
                          <a:effectLst/>
                          <a:latin typeface="楷体" panose="02010609060101010101" charset="-122"/>
                          <a:ea typeface="楷体" panose="02010609060101010101" charset="-122"/>
                        </a:rPr>
                        <a:t>基本表</a:t>
                      </a:r>
                    </a:p>
                  </a:txBody>
                  <a:tcPr marL="91435" marR="9143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800" b="1" i="0" u="none" strike="noStrike" cap="none" normalizeH="0" baseline="0" dirty="0">
                          <a:ln>
                            <a:noFill/>
                          </a:ln>
                          <a:solidFill>
                            <a:srgbClr val="0000C8"/>
                          </a:solidFill>
                          <a:effectLst/>
                          <a:latin typeface="+mn-lt"/>
                          <a:ea typeface="宋体" panose="02010600030101010101" pitchFamily="2" charset="-122"/>
                        </a:rPr>
                        <a:t>CREATE TABLE</a:t>
                      </a:r>
                      <a:r>
                        <a:rPr kumimoji="0" lang="zh-CN" altLang="en-US" sz="2800" b="1" i="0" u="none" strike="noStrike" cap="none" normalizeH="0" baseline="0" dirty="0">
                          <a:ln>
                            <a:noFill/>
                          </a:ln>
                          <a:solidFill>
                            <a:srgbClr val="0000C8"/>
                          </a:solidFill>
                          <a:effectLst/>
                          <a:latin typeface="+mn-lt"/>
                          <a:ea typeface="宋体" panose="02010600030101010101" pitchFamily="2" charset="-122"/>
                        </a:rPr>
                        <a:t>，</a:t>
                      </a:r>
                      <a:r>
                        <a:rPr kumimoji="0" lang="en-US" sz="2800" b="1" i="0" u="none" strike="noStrike" cap="none" normalizeH="0" baseline="0" dirty="0">
                          <a:ln>
                            <a:noFill/>
                          </a:ln>
                          <a:solidFill>
                            <a:srgbClr val="0000C8"/>
                          </a:solidFill>
                          <a:effectLst/>
                          <a:latin typeface="+mn-lt"/>
                          <a:ea typeface="宋体" panose="02010600030101010101" pitchFamily="2" charset="-122"/>
                        </a:rPr>
                        <a:t>ALTER TABLE</a:t>
                      </a:r>
                    </a:p>
                  </a:txBody>
                  <a:tcPr marL="91435" marR="9143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800">
                <a:tc vMerge="1">
                  <a:txBody>
                    <a:bodyPr/>
                    <a:lstStyle/>
                    <a:p>
                      <a:endParaRPr lang="zh-CN"/>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dirty="0">
                          <a:ln>
                            <a:noFill/>
                          </a:ln>
                          <a:solidFill>
                            <a:srgbClr val="0000C8"/>
                          </a:solidFill>
                          <a:effectLst/>
                          <a:latin typeface="楷体" panose="02010609060101010101" charset="-122"/>
                          <a:ea typeface="楷体" panose="02010609060101010101" charset="-122"/>
                        </a:rPr>
                        <a:t>视图</a:t>
                      </a:r>
                    </a:p>
                  </a:txBody>
                  <a:tcPr marL="91435" marR="9143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800" b="1" i="0" u="none" strike="noStrike" cap="none" normalizeH="0" baseline="0" dirty="0">
                          <a:ln>
                            <a:noFill/>
                          </a:ln>
                          <a:solidFill>
                            <a:srgbClr val="0000C8"/>
                          </a:solidFill>
                          <a:effectLst/>
                          <a:latin typeface="+mn-lt"/>
                          <a:ea typeface="宋体" panose="02010600030101010101" pitchFamily="2" charset="-122"/>
                        </a:rPr>
                        <a:t>CREATE VIEW</a:t>
                      </a:r>
                    </a:p>
                  </a:txBody>
                  <a:tcPr marL="91435" marR="9143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6405">
                <a:tc vMerge="1">
                  <a:txBody>
                    <a:bodyPr/>
                    <a:lstStyle/>
                    <a:p>
                      <a:endParaRPr lang="zh-CN"/>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dirty="0">
                          <a:ln>
                            <a:noFill/>
                          </a:ln>
                          <a:solidFill>
                            <a:srgbClr val="0000C8"/>
                          </a:solidFill>
                          <a:effectLst/>
                          <a:latin typeface="楷体" panose="02010609060101010101" charset="-122"/>
                          <a:ea typeface="楷体" panose="02010609060101010101" charset="-122"/>
                        </a:rPr>
                        <a:t>索引</a:t>
                      </a:r>
                    </a:p>
                  </a:txBody>
                  <a:tcPr marL="91435" marR="9143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800" b="1" i="0" u="none" strike="noStrike" cap="none" normalizeH="0" baseline="0" dirty="0">
                          <a:ln>
                            <a:noFill/>
                          </a:ln>
                          <a:solidFill>
                            <a:srgbClr val="0000C8"/>
                          </a:solidFill>
                          <a:effectLst/>
                          <a:latin typeface="+mn-lt"/>
                          <a:ea typeface="宋体" panose="02010600030101010101" pitchFamily="2" charset="-122"/>
                        </a:rPr>
                        <a:t>CREATE INDEX</a:t>
                      </a:r>
                    </a:p>
                  </a:txBody>
                  <a:tcPr marL="91435" marR="9143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63270">
                <a:tc rowSpan="2">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dirty="0">
                          <a:ln>
                            <a:noFill/>
                          </a:ln>
                          <a:solidFill>
                            <a:srgbClr val="0000C8"/>
                          </a:solidFill>
                          <a:effectLst/>
                          <a:latin typeface="楷体" panose="02010609060101010101" charset="-122"/>
                          <a:ea typeface="楷体" panose="02010609060101010101" charset="-122"/>
                          <a:cs typeface="楷体" panose="02010609060101010101" charset="-122"/>
                        </a:rPr>
                        <a:t>数据</a:t>
                      </a:r>
                    </a:p>
                  </a:txBody>
                  <a:tcPr marL="91435" marR="9143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dirty="0">
                          <a:ln>
                            <a:noFill/>
                          </a:ln>
                          <a:solidFill>
                            <a:srgbClr val="0000C8"/>
                          </a:solidFill>
                          <a:effectLst/>
                          <a:latin typeface="楷体" panose="02010609060101010101" charset="-122"/>
                          <a:ea typeface="楷体" panose="02010609060101010101" charset="-122"/>
                        </a:rPr>
                        <a:t>基本表和视图</a:t>
                      </a:r>
                    </a:p>
                  </a:txBody>
                  <a:tcPr marL="91435" marR="9143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800" b="1" i="0" u="none" strike="noStrike" cap="none" normalizeH="0" baseline="0" dirty="0">
                          <a:ln>
                            <a:noFill/>
                          </a:ln>
                          <a:solidFill>
                            <a:srgbClr val="C00000"/>
                          </a:solidFill>
                          <a:effectLst/>
                          <a:latin typeface="+mn-lt"/>
                          <a:ea typeface="宋体" panose="02010600030101010101" pitchFamily="2" charset="-122"/>
                        </a:rPr>
                        <a:t>SELECT</a:t>
                      </a:r>
                      <a:r>
                        <a:rPr kumimoji="0" lang="zh-CN" altLang="en-US" sz="2800" b="1" i="0" u="none" strike="noStrike" cap="none" normalizeH="0" baseline="0" dirty="0">
                          <a:ln>
                            <a:noFill/>
                          </a:ln>
                          <a:solidFill>
                            <a:srgbClr val="C00000"/>
                          </a:solidFill>
                          <a:effectLst/>
                          <a:latin typeface="+mn-lt"/>
                          <a:ea typeface="宋体" panose="02010600030101010101" pitchFamily="2" charset="-122"/>
                        </a:rPr>
                        <a:t>，</a:t>
                      </a:r>
                      <a:r>
                        <a:rPr kumimoji="0" lang="en-US" sz="2800" b="1" i="0" u="none" strike="noStrike" cap="none" normalizeH="0" baseline="0" dirty="0">
                          <a:ln>
                            <a:noFill/>
                          </a:ln>
                          <a:solidFill>
                            <a:srgbClr val="C00000"/>
                          </a:solidFill>
                          <a:effectLst/>
                          <a:latin typeface="+mn-lt"/>
                          <a:ea typeface="宋体" panose="02010600030101010101" pitchFamily="2" charset="-122"/>
                        </a:rPr>
                        <a:t>INSERT</a:t>
                      </a:r>
                      <a:r>
                        <a:rPr kumimoji="0" lang="zh-CN" altLang="en-US" sz="2800" b="1" i="0" u="none" strike="noStrike" cap="none" normalizeH="0" baseline="0" dirty="0">
                          <a:ln>
                            <a:noFill/>
                          </a:ln>
                          <a:solidFill>
                            <a:srgbClr val="C00000"/>
                          </a:solidFill>
                          <a:effectLst/>
                          <a:latin typeface="+mn-lt"/>
                          <a:ea typeface="宋体" panose="02010600030101010101" pitchFamily="2" charset="-122"/>
                        </a:rPr>
                        <a:t>，</a:t>
                      </a:r>
                      <a:r>
                        <a:rPr kumimoji="0" lang="en-US" sz="2800" b="1" i="0" u="none" strike="noStrike" cap="none" normalizeH="0" baseline="0" dirty="0">
                          <a:ln>
                            <a:noFill/>
                          </a:ln>
                          <a:solidFill>
                            <a:srgbClr val="C00000"/>
                          </a:solidFill>
                          <a:effectLst/>
                          <a:latin typeface="+mn-lt"/>
                          <a:ea typeface="宋体" panose="02010600030101010101" pitchFamily="2" charset="-122"/>
                        </a:rPr>
                        <a:t>UPDATE</a:t>
                      </a:r>
                      <a:r>
                        <a:rPr kumimoji="0" lang="zh-CN" altLang="en-US" sz="2800" b="1" i="0" u="none" strike="noStrike" cap="none" normalizeH="0" baseline="0" dirty="0">
                          <a:ln>
                            <a:noFill/>
                          </a:ln>
                          <a:solidFill>
                            <a:srgbClr val="C00000"/>
                          </a:solidFill>
                          <a:effectLst/>
                          <a:latin typeface="+mn-lt"/>
                          <a:ea typeface="宋体" panose="02010600030101010101" pitchFamily="2" charset="-122"/>
                        </a:rPr>
                        <a:t>，</a:t>
                      </a:r>
                      <a:r>
                        <a:rPr kumimoji="0" lang="en-US" sz="2800" b="1" i="0" u="none" strike="noStrike" cap="none" normalizeH="0" baseline="0" dirty="0">
                          <a:ln>
                            <a:noFill/>
                          </a:ln>
                          <a:solidFill>
                            <a:srgbClr val="C00000"/>
                          </a:solidFill>
                          <a:effectLst/>
                          <a:latin typeface="+mn-lt"/>
                          <a:ea typeface="宋体" panose="02010600030101010101" pitchFamily="2" charset="-122"/>
                        </a:rPr>
                        <a:t>DELETE</a:t>
                      </a:r>
                      <a:r>
                        <a:rPr kumimoji="0" lang="zh-CN" altLang="en-US" sz="2800" b="1" i="0" u="none" strike="noStrike" cap="none" normalizeH="0" baseline="0" dirty="0">
                          <a:ln>
                            <a:noFill/>
                          </a:ln>
                          <a:solidFill>
                            <a:srgbClr val="C00000"/>
                          </a:solidFill>
                          <a:effectLst/>
                          <a:latin typeface="+mn-lt"/>
                          <a:ea typeface="宋体" panose="02010600030101010101" pitchFamily="2" charset="-122"/>
                        </a:rPr>
                        <a:t>，</a:t>
                      </a:r>
                      <a:r>
                        <a:rPr kumimoji="0" lang="en-US" sz="2800" b="1" i="0" u="none" strike="noStrike" cap="none" normalizeH="0" baseline="0" dirty="0">
                          <a:ln>
                            <a:noFill/>
                          </a:ln>
                          <a:solidFill>
                            <a:srgbClr val="C00000"/>
                          </a:solidFill>
                          <a:effectLst/>
                          <a:latin typeface="+mn-lt"/>
                          <a:ea typeface="宋体" panose="02010600030101010101" pitchFamily="2" charset="-122"/>
                        </a:rPr>
                        <a:t>REFERENCES</a:t>
                      </a:r>
                      <a:r>
                        <a:rPr kumimoji="0" lang="zh-CN" altLang="en-US" sz="2800" b="1" i="0" u="none" strike="noStrike" cap="none" normalizeH="0" baseline="0" dirty="0">
                          <a:ln>
                            <a:noFill/>
                          </a:ln>
                          <a:solidFill>
                            <a:srgbClr val="C00000"/>
                          </a:solidFill>
                          <a:effectLst/>
                          <a:latin typeface="+mn-lt"/>
                          <a:ea typeface="宋体" panose="02010600030101010101" pitchFamily="2" charset="-122"/>
                        </a:rPr>
                        <a:t>，</a:t>
                      </a:r>
                    </a:p>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800" b="1" i="0" u="none" strike="noStrike" cap="none" normalizeH="0" baseline="0" dirty="0">
                          <a:ln>
                            <a:noFill/>
                          </a:ln>
                          <a:solidFill>
                            <a:srgbClr val="C00000"/>
                          </a:solidFill>
                          <a:effectLst/>
                          <a:latin typeface="+mn-lt"/>
                          <a:ea typeface="宋体" panose="02010600030101010101" pitchFamily="2" charset="-122"/>
                        </a:rPr>
                        <a:t>ALL PRIVILEGES</a:t>
                      </a:r>
                    </a:p>
                  </a:txBody>
                  <a:tcPr marL="91435" marR="9143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763905">
                <a:tc vMerge="1">
                  <a:txBody>
                    <a:bodyPr/>
                    <a:lstStyle/>
                    <a:p>
                      <a:endParaRPr lang="zh-CN"/>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a:ln>
                            <a:noFill/>
                          </a:ln>
                          <a:solidFill>
                            <a:srgbClr val="0000C8"/>
                          </a:solidFill>
                          <a:effectLst/>
                          <a:latin typeface="楷体" panose="02010609060101010101" charset="-122"/>
                          <a:ea typeface="楷体" panose="02010609060101010101" charset="-122"/>
                        </a:rPr>
                        <a:t>属性列</a:t>
                      </a:r>
                    </a:p>
                  </a:txBody>
                  <a:tcPr marL="91435" marR="9143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defRPr/>
                      </a:pPr>
                      <a:r>
                        <a:rPr kumimoji="0" lang="en-US" sz="2800" b="1" i="0" u="none" strike="noStrike" cap="none" normalizeH="0" baseline="0" dirty="0">
                          <a:ln>
                            <a:noFill/>
                          </a:ln>
                          <a:solidFill>
                            <a:srgbClr val="C00000"/>
                          </a:solidFill>
                          <a:effectLst/>
                          <a:latin typeface="+mn-lt"/>
                          <a:ea typeface="宋体" panose="02010600030101010101" pitchFamily="2" charset="-122"/>
                        </a:rPr>
                        <a:t>SELECT</a:t>
                      </a:r>
                      <a:r>
                        <a:rPr kumimoji="0" lang="zh-CN" altLang="en-US" sz="2800" b="1" i="0" u="none" strike="noStrike" cap="none" normalizeH="0" baseline="0" dirty="0">
                          <a:ln>
                            <a:noFill/>
                          </a:ln>
                          <a:solidFill>
                            <a:srgbClr val="C00000"/>
                          </a:solidFill>
                          <a:effectLst/>
                          <a:latin typeface="+mn-lt"/>
                          <a:ea typeface="宋体" panose="02010600030101010101" pitchFamily="2" charset="-122"/>
                        </a:rPr>
                        <a:t>，</a:t>
                      </a:r>
                      <a:r>
                        <a:rPr kumimoji="0" lang="en-US" sz="2800" b="1" i="0" u="none" strike="noStrike" cap="none" normalizeH="0" baseline="0" dirty="0">
                          <a:ln>
                            <a:noFill/>
                          </a:ln>
                          <a:solidFill>
                            <a:srgbClr val="C00000"/>
                          </a:solidFill>
                          <a:effectLst/>
                          <a:latin typeface="+mn-lt"/>
                          <a:ea typeface="宋体" panose="02010600030101010101" pitchFamily="2" charset="-122"/>
                        </a:rPr>
                        <a:t>INSERT</a:t>
                      </a:r>
                      <a:r>
                        <a:rPr kumimoji="0" lang="zh-CN" altLang="en-US" sz="2800" b="1" i="0" u="none" strike="noStrike" cap="none" normalizeH="0" baseline="0" dirty="0">
                          <a:ln>
                            <a:noFill/>
                          </a:ln>
                          <a:solidFill>
                            <a:srgbClr val="C00000"/>
                          </a:solidFill>
                          <a:effectLst/>
                          <a:latin typeface="+mn-lt"/>
                          <a:ea typeface="宋体" panose="02010600030101010101" pitchFamily="2" charset="-122"/>
                        </a:rPr>
                        <a:t>，</a:t>
                      </a:r>
                      <a:r>
                        <a:rPr kumimoji="0" lang="en-US" sz="2800" b="1" i="0" u="none" strike="noStrike" cap="none" normalizeH="0" baseline="0" dirty="0">
                          <a:ln>
                            <a:noFill/>
                          </a:ln>
                          <a:solidFill>
                            <a:srgbClr val="C00000"/>
                          </a:solidFill>
                          <a:effectLst/>
                          <a:latin typeface="+mn-lt"/>
                          <a:ea typeface="宋体" panose="02010600030101010101" pitchFamily="2" charset="-122"/>
                        </a:rPr>
                        <a:t>UPDATE</a:t>
                      </a:r>
                      <a:r>
                        <a:rPr kumimoji="0" lang="zh-CN" altLang="en-US" sz="2800" b="1" i="0" u="none" strike="noStrike" cap="none" normalizeH="0" baseline="0" dirty="0">
                          <a:ln>
                            <a:noFill/>
                          </a:ln>
                          <a:solidFill>
                            <a:srgbClr val="C00000"/>
                          </a:solidFill>
                          <a:effectLst/>
                          <a:latin typeface="+mn-lt"/>
                          <a:ea typeface="宋体" panose="02010600030101010101" pitchFamily="2" charset="-122"/>
                        </a:rPr>
                        <a:t>，</a:t>
                      </a:r>
                    </a:p>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defRPr/>
                      </a:pPr>
                      <a:r>
                        <a:rPr kumimoji="0" lang="en-US" sz="2800" b="1" i="0" u="none" strike="noStrike" cap="none" normalizeH="0" baseline="0" dirty="0">
                          <a:ln>
                            <a:noFill/>
                          </a:ln>
                          <a:solidFill>
                            <a:srgbClr val="C00000"/>
                          </a:solidFill>
                          <a:effectLst/>
                          <a:latin typeface="+mn-lt"/>
                          <a:ea typeface="宋体" panose="02010600030101010101" pitchFamily="2" charset="-122"/>
                        </a:rPr>
                        <a:t>REFERENCES</a:t>
                      </a:r>
                      <a:r>
                        <a:rPr kumimoji="0" lang="zh-CN" altLang="en-US" sz="2800" b="1" i="0" u="none" strike="noStrike" cap="none" normalizeH="0" baseline="0" dirty="0">
                          <a:ln>
                            <a:noFill/>
                          </a:ln>
                          <a:solidFill>
                            <a:srgbClr val="C00000"/>
                          </a:solidFill>
                          <a:effectLst/>
                          <a:latin typeface="+mn-lt"/>
                          <a:ea typeface="宋体" panose="02010600030101010101" pitchFamily="2" charset="-122"/>
                        </a:rPr>
                        <a:t>，</a:t>
                      </a:r>
                    </a:p>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defRPr/>
                      </a:pPr>
                      <a:r>
                        <a:rPr kumimoji="0" lang="en-US" altLang="zh-CN" sz="2800" b="1" i="0" u="none" strike="noStrike" cap="none" normalizeH="0" baseline="0" dirty="0">
                          <a:ln>
                            <a:noFill/>
                          </a:ln>
                          <a:solidFill>
                            <a:srgbClr val="C00000"/>
                          </a:solidFill>
                          <a:effectLst/>
                          <a:latin typeface="+mn-lt"/>
                          <a:ea typeface="宋体" panose="02010600030101010101" pitchFamily="2" charset="-122"/>
                        </a:rPr>
                        <a:t>ALL PRIVILEGES</a:t>
                      </a:r>
                    </a:p>
                  </a:txBody>
                  <a:tcPr marL="91435" marR="9143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6" name="灯片编号占位符 5"/>
          <p:cNvSpPr>
            <a:spLocks noGrp="1"/>
          </p:cNvSpPr>
          <p:nvPr>
            <p:ph type="sldNum" sz="quarter" idx="12"/>
          </p:nvPr>
        </p:nvSpPr>
        <p:spPr/>
        <p:txBody>
          <a:bodyPr/>
          <a:lstStyle/>
          <a:p>
            <a:fld id="{565CE74E-AB26-4998-AD42-012C4C1AD076}" type="slidenum">
              <a:rPr lang="zh-CN" altLang="en-US" smtClean="0"/>
              <a:t>28</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p:cNvSpPr>
          <p:nvPr>
            <p:ph type="title"/>
          </p:nvPr>
        </p:nvSpPr>
        <p:spPr/>
        <p:txBody>
          <a:bodyPr wrap="square" tIns="0" bIns="0" anchor="ctr"/>
          <a:lstStyle/>
          <a:p>
            <a:pPr algn="ctr"/>
            <a:r>
              <a:rPr lang="en-US" altLang="zh-CN" dirty="0">
                <a:sym typeface="+mn-ea"/>
              </a:rPr>
              <a:t>4.2.3  </a:t>
            </a:r>
            <a:r>
              <a:rPr lang="zh-CN" altLang="en-US" dirty="0">
                <a:sym typeface="+mn-ea"/>
              </a:rPr>
              <a:t>自主存取控制方法 </a:t>
            </a:r>
            <a:r>
              <a:rPr lang="en-US" altLang="zh-CN" dirty="0">
                <a:sym typeface="+mn-ea"/>
              </a:rPr>
              <a:t>3</a:t>
            </a:r>
            <a:endParaRPr lang="zh-CN" altLang="en-US" dirty="0"/>
          </a:p>
        </p:txBody>
      </p:sp>
      <p:sp>
        <p:nvSpPr>
          <p:cNvPr id="15362" name="Rectangle 3"/>
          <p:cNvSpPr>
            <a:spLocks noGrp="1"/>
          </p:cNvSpPr>
          <p:nvPr>
            <p:ph idx="1"/>
          </p:nvPr>
        </p:nvSpPr>
        <p:spPr>
          <a:xfrm>
            <a:off x="424180" y="687070"/>
            <a:ext cx="11343005" cy="5600700"/>
          </a:xfrm>
        </p:spPr>
        <p:txBody>
          <a:bodyPr wrap="square" anchor="t">
            <a:spAutoFit/>
          </a:bodyPr>
          <a:lstStyle/>
          <a:p>
            <a:pPr>
              <a:lnSpc>
                <a:spcPct val="100000"/>
              </a:lnSpc>
              <a:buFont typeface="Wingdings" panose="05000000000000000000" charset="0"/>
              <a:buChar char="q"/>
            </a:pPr>
            <a:r>
              <a:rPr lang="zh-CN" altLang="en-US" sz="2800" dirty="0">
                <a:highlight>
                  <a:srgbClr val="FFFF00"/>
                </a:highlight>
                <a:latin typeface="Arial" panose="020B0604020202020204" pitchFamily="34" charset="0"/>
                <a:cs typeface="Arial" panose="020B0604020202020204" pitchFamily="34" charset="0"/>
              </a:rPr>
              <a:t>用户存取权限的定义</a:t>
            </a:r>
          </a:p>
          <a:p>
            <a:pPr marL="971550" lvl="1" indent="-514350">
              <a:lnSpc>
                <a:spcPct val="100000"/>
              </a:lnSpc>
              <a:spcBef>
                <a:spcPts val="1000"/>
              </a:spcBef>
              <a:buClr>
                <a:srgbClr val="C00000"/>
              </a:buClr>
              <a:buFont typeface="+mj-ea"/>
              <a:buAutoNum type="circleNumDbPlain"/>
            </a:pPr>
            <a:r>
              <a:rPr lang="zh-CN" altLang="en-US" sz="2800" dirty="0">
                <a:solidFill>
                  <a:srgbClr val="C00000"/>
                </a:solidFill>
                <a:latin typeface="Arial" panose="020B0604020202020204" pitchFamily="34" charset="0"/>
                <a:cs typeface="Arial" panose="020B0604020202020204" pitchFamily="34" charset="0"/>
              </a:rPr>
              <a:t>一个客体的</a:t>
            </a:r>
            <a:r>
              <a:rPr lang="en-US" altLang="zh-CN" sz="2800" dirty="0">
                <a:solidFill>
                  <a:srgbClr val="C00000"/>
                </a:solidFill>
                <a:latin typeface="Arial" panose="020B0604020202020204" pitchFamily="34" charset="0"/>
                <a:cs typeface="Arial" panose="020B0604020202020204" pitchFamily="34" charset="0"/>
              </a:rPr>
              <a:t> ‘</a:t>
            </a:r>
            <a:r>
              <a:rPr lang="zh-CN" altLang="en-US" sz="2800" dirty="0">
                <a:solidFill>
                  <a:srgbClr val="C00000"/>
                </a:solidFill>
                <a:latin typeface="Arial" panose="020B0604020202020204" pitchFamily="34" charset="0"/>
                <a:cs typeface="Arial" panose="020B0604020202020204" pitchFamily="34" charset="0"/>
              </a:rPr>
              <a:t>属主</a:t>
            </a:r>
            <a:r>
              <a:rPr lang="en-US" altLang="zh-CN" sz="2800" dirty="0">
                <a:solidFill>
                  <a:srgbClr val="C00000"/>
                </a:solidFill>
                <a:latin typeface="Arial" panose="020B0604020202020204" pitchFamily="34" charset="0"/>
                <a:cs typeface="Arial" panose="020B0604020202020204" pitchFamily="34" charset="0"/>
              </a:rPr>
              <a:t>’ </a:t>
            </a:r>
            <a:r>
              <a:rPr lang="zh-CN" altLang="en-US" sz="2800" dirty="0">
                <a:solidFill>
                  <a:srgbClr val="C00000"/>
                </a:solidFill>
                <a:latin typeface="Arial" panose="020B0604020202020204" pitchFamily="34" charset="0"/>
                <a:cs typeface="Arial" panose="020B0604020202020204" pitchFamily="34" charset="0"/>
              </a:rPr>
              <a:t>自动拥有该客体上的所有存取权限；</a:t>
            </a:r>
          </a:p>
          <a:p>
            <a:pPr lvl="2">
              <a:lnSpc>
                <a:spcPct val="100000"/>
              </a:lnSpc>
              <a:spcBef>
                <a:spcPts val="1000"/>
              </a:spcBef>
            </a:pPr>
            <a:r>
              <a:rPr lang="zh-CN" altLang="en-US" sz="2800" dirty="0">
                <a:latin typeface="Arial" panose="020B0604020202020204" pitchFamily="34" charset="0"/>
                <a:cs typeface="Arial" panose="020B0604020202020204" pitchFamily="34" charset="0"/>
              </a:rPr>
              <a:t>客体是指数据库中可以被访问的数据库对象</a:t>
            </a:r>
          </a:p>
          <a:p>
            <a:pPr lvl="2">
              <a:lnSpc>
                <a:spcPct val="100000"/>
              </a:lnSpc>
              <a:spcBef>
                <a:spcPts val="1000"/>
              </a:spcBef>
            </a:pPr>
            <a:r>
              <a:rPr lang="zh-CN" altLang="en-US" sz="2800" dirty="0">
                <a:latin typeface="Arial" panose="020B0604020202020204" pitchFamily="34" charset="0"/>
                <a:cs typeface="Arial" panose="020B0604020202020204" pitchFamily="34" charset="0"/>
              </a:rPr>
              <a:t>客体的创建者即客体的</a:t>
            </a:r>
            <a:r>
              <a:rPr lang="zh-CN" altLang="en-US" sz="2800" dirty="0">
                <a:latin typeface="Arial" panose="020B0604020202020204" pitchFamily="34" charset="0"/>
                <a:cs typeface="Arial" panose="020B0604020202020204" pitchFamily="34" charset="0"/>
                <a:sym typeface="+mn-ea"/>
              </a:rPr>
              <a:t>属主</a:t>
            </a:r>
            <a:r>
              <a:rPr lang="en-US" altLang="zh-CN" sz="2800" dirty="0">
                <a:latin typeface="Arial" panose="020B0604020202020204" pitchFamily="34" charset="0"/>
                <a:cs typeface="Arial" panose="020B0604020202020204" pitchFamily="34" charset="0"/>
              </a:rPr>
              <a:t> (Owner)</a:t>
            </a:r>
            <a:endParaRPr lang="zh-CN" altLang="en-US" sz="2800" dirty="0">
              <a:latin typeface="Arial" panose="020B0604020202020204" pitchFamily="34" charset="0"/>
              <a:cs typeface="Arial" panose="020B0604020202020204" pitchFamily="34" charset="0"/>
            </a:endParaRPr>
          </a:p>
          <a:p>
            <a:pPr lvl="2">
              <a:lnSpc>
                <a:spcPct val="100000"/>
              </a:lnSpc>
              <a:spcBef>
                <a:spcPts val="1000"/>
              </a:spcBef>
            </a:pPr>
            <a:r>
              <a:rPr lang="zh-CN" altLang="en-US" sz="2800" dirty="0">
                <a:latin typeface="Arial" panose="020B0604020202020204" pitchFamily="34" charset="0"/>
                <a:cs typeface="Arial" panose="020B0604020202020204" pitchFamily="34" charset="0"/>
              </a:rPr>
              <a:t>系统应该控制客体所有权的转移</a:t>
            </a:r>
          </a:p>
          <a:p>
            <a:pPr marL="1371600" lvl="2" indent="-457200">
              <a:lnSpc>
                <a:spcPct val="100000"/>
              </a:lnSpc>
            </a:pPr>
            <a:endParaRPr lang="zh-CN" altLang="en-US" sz="2800" dirty="0">
              <a:latin typeface="Arial" panose="020B0604020202020204" pitchFamily="34" charset="0"/>
              <a:cs typeface="Arial" panose="020B0604020202020204" pitchFamily="34" charset="0"/>
            </a:endParaRPr>
          </a:p>
          <a:p>
            <a:pPr marL="971550" lvl="1" indent="-514350" algn="l">
              <a:lnSpc>
                <a:spcPct val="100000"/>
              </a:lnSpc>
              <a:spcBef>
                <a:spcPts val="1000"/>
              </a:spcBef>
              <a:buClr>
                <a:srgbClr val="C00000"/>
              </a:buClr>
              <a:buFont typeface="+mj-ea"/>
              <a:buAutoNum type="circleNumDbPlain" startAt="2"/>
            </a:pPr>
            <a:r>
              <a:rPr lang="zh-CN" altLang="en-US" sz="2800" dirty="0">
                <a:solidFill>
                  <a:srgbClr val="C00000"/>
                </a:solidFill>
                <a:latin typeface="Arial" panose="020B0604020202020204" pitchFamily="34" charset="0"/>
                <a:cs typeface="Arial" panose="020B0604020202020204" pitchFamily="34" charset="0"/>
              </a:rPr>
              <a:t>拥有权限的用户可以自主地将他所拥有的权限传授给在数据库系统中注册的其他用户；</a:t>
            </a:r>
          </a:p>
          <a:p>
            <a:pPr marL="914400" lvl="1" indent="-457200">
              <a:lnSpc>
                <a:spcPct val="100000"/>
              </a:lnSpc>
              <a:buClr>
                <a:srgbClr val="FF0000"/>
              </a:buClr>
              <a:buFont typeface="Arial" panose="020B0604020202020204" pitchFamily="34" charset="0"/>
              <a:buAutoNum type="circleNumDbPlain" startAt="2"/>
            </a:pPr>
            <a:endParaRPr lang="zh-CN" altLang="en-US" sz="2800" dirty="0">
              <a:latin typeface="Arial" panose="020B0604020202020204" pitchFamily="34" charset="0"/>
              <a:cs typeface="Arial" panose="020B0604020202020204" pitchFamily="34" charset="0"/>
            </a:endParaRPr>
          </a:p>
          <a:p>
            <a:pPr marL="971550" lvl="1" indent="-514350" algn="l">
              <a:lnSpc>
                <a:spcPct val="100000"/>
              </a:lnSpc>
              <a:spcBef>
                <a:spcPts val="1000"/>
              </a:spcBef>
              <a:buClr>
                <a:srgbClr val="C00000"/>
              </a:buClr>
              <a:buFont typeface="+mj-ea"/>
              <a:buAutoNum type="circleNumDbPlain" startAt="3"/>
            </a:pPr>
            <a:r>
              <a:rPr lang="zh-CN" altLang="en-US" sz="2800" dirty="0">
                <a:solidFill>
                  <a:srgbClr val="C00000"/>
                </a:solidFill>
                <a:latin typeface="Arial" panose="020B0604020202020204" pitchFamily="34" charset="0"/>
                <a:cs typeface="Arial" panose="020B0604020202020204" pitchFamily="34" charset="0"/>
              </a:rPr>
              <a:t>用户只能通过上述两种方式（或之一）来获得在一个客体上的存取权限。</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29</a:t>
            </a:fld>
            <a:endParaRPr lang="zh-CN" altLang="en-US"/>
          </a:p>
        </p:txBody>
      </p:sp>
      <p:sp>
        <p:nvSpPr>
          <p:cNvPr id="3" name="页脚占位符 2"/>
          <p:cNvSpPr>
            <a:spLocks noGrp="1"/>
          </p:cNvSpPr>
          <p:nvPr>
            <p:ph type="ftr" sz="quarter" idx="11"/>
          </p:nvPr>
        </p:nvSpPr>
        <p:spPr/>
        <p:txBody>
          <a:bodyPr/>
          <a:lstStyle/>
          <a:p>
            <a:r>
              <a:rPr lang="zh-CN" altLang="en-US"/>
              <a:t>ch04_数据库安全性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362">
                                            <p:txEl>
                                              <p:pRg st="1" end="1"/>
                                            </p:txEl>
                                          </p:spTgt>
                                        </p:tgtEl>
                                        <p:attrNameLst>
                                          <p:attrName>style.visibility</p:attrName>
                                        </p:attrNameLst>
                                      </p:cBhvr>
                                      <p:to>
                                        <p:strVal val="visible"/>
                                      </p:to>
                                    </p:set>
                                    <p:animEffect transition="in" filter="blinds(horizontal)">
                                      <p:cBhvr>
                                        <p:cTn id="7" dur="500"/>
                                        <p:tgtEl>
                                          <p:spTgt spid="1536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362">
                                            <p:txEl>
                                              <p:pRg st="2" end="2"/>
                                            </p:txEl>
                                          </p:spTgt>
                                        </p:tgtEl>
                                        <p:attrNameLst>
                                          <p:attrName>style.visibility</p:attrName>
                                        </p:attrNameLst>
                                      </p:cBhvr>
                                      <p:to>
                                        <p:strVal val="visible"/>
                                      </p:to>
                                    </p:set>
                                    <p:animEffect transition="in" filter="blinds(horizontal)">
                                      <p:cBhvr>
                                        <p:cTn id="12" dur="500"/>
                                        <p:tgtEl>
                                          <p:spTgt spid="1536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362">
                                            <p:txEl>
                                              <p:pRg st="3" end="3"/>
                                            </p:txEl>
                                          </p:spTgt>
                                        </p:tgtEl>
                                        <p:attrNameLst>
                                          <p:attrName>style.visibility</p:attrName>
                                        </p:attrNameLst>
                                      </p:cBhvr>
                                      <p:to>
                                        <p:strVal val="visible"/>
                                      </p:to>
                                    </p:set>
                                    <p:animEffect transition="in" filter="blinds(horizontal)">
                                      <p:cBhvr>
                                        <p:cTn id="17" dur="500"/>
                                        <p:tgtEl>
                                          <p:spTgt spid="1536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5362">
                                            <p:txEl>
                                              <p:pRg st="4" end="4"/>
                                            </p:txEl>
                                          </p:spTgt>
                                        </p:tgtEl>
                                        <p:attrNameLst>
                                          <p:attrName>style.visibility</p:attrName>
                                        </p:attrNameLst>
                                      </p:cBhvr>
                                      <p:to>
                                        <p:strVal val="visible"/>
                                      </p:to>
                                    </p:set>
                                    <p:animEffect transition="in" filter="blinds(horizontal)">
                                      <p:cBhvr>
                                        <p:cTn id="22" dur="500"/>
                                        <p:tgtEl>
                                          <p:spTgt spid="1536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5362">
                                            <p:txEl>
                                              <p:pRg st="6" end="6"/>
                                            </p:txEl>
                                          </p:spTgt>
                                        </p:tgtEl>
                                        <p:attrNameLst>
                                          <p:attrName>style.visibility</p:attrName>
                                        </p:attrNameLst>
                                      </p:cBhvr>
                                      <p:to>
                                        <p:strVal val="visible"/>
                                      </p:to>
                                    </p:set>
                                    <p:animEffect transition="in" filter="blinds(horizontal)">
                                      <p:cBhvr>
                                        <p:cTn id="27" dur="500"/>
                                        <p:tgtEl>
                                          <p:spTgt spid="15362">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5362">
                                            <p:txEl>
                                              <p:pRg st="8" end="8"/>
                                            </p:txEl>
                                          </p:spTgt>
                                        </p:tgtEl>
                                        <p:attrNameLst>
                                          <p:attrName>style.visibility</p:attrName>
                                        </p:attrNameLst>
                                      </p:cBhvr>
                                      <p:to>
                                        <p:strVal val="visible"/>
                                      </p:to>
                                    </p:set>
                                    <p:animEffect transition="in" filter="blinds(horizontal)">
                                      <p:cBhvr>
                                        <p:cTn id="32" dur="500"/>
                                        <p:tgtEl>
                                          <p:spTgt spid="1536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p:cNvSpPr>
          <p:nvPr>
            <p:ph type="title"/>
          </p:nvPr>
        </p:nvSpPr>
        <p:spPr/>
        <p:txBody>
          <a:bodyPr wrap="square" tIns="0" bIns="0" anchor="ctr"/>
          <a:lstStyle/>
          <a:p>
            <a:pPr algn="ctr"/>
            <a:r>
              <a:rPr lang="en-US" altLang="zh-CN" dirty="0">
                <a:sym typeface="+mn-ea"/>
              </a:rPr>
              <a:t>4.2.3  </a:t>
            </a:r>
            <a:r>
              <a:rPr lang="zh-CN" altLang="en-US" dirty="0">
                <a:sym typeface="+mn-ea"/>
              </a:rPr>
              <a:t>自主存取控制方法 </a:t>
            </a:r>
            <a:r>
              <a:rPr lang="en-US" altLang="zh-CN" dirty="0">
                <a:sym typeface="+mn-ea"/>
              </a:rPr>
              <a:t>4</a:t>
            </a:r>
            <a:endParaRPr lang="zh-CN" altLang="en-US" dirty="0"/>
          </a:p>
        </p:txBody>
      </p:sp>
      <p:sp>
        <p:nvSpPr>
          <p:cNvPr id="16386" name="Rectangle 3"/>
          <p:cNvSpPr>
            <a:spLocks noGrp="1"/>
          </p:cNvSpPr>
          <p:nvPr>
            <p:ph sz="half" idx="1"/>
          </p:nvPr>
        </p:nvSpPr>
        <p:spPr>
          <a:xfrm>
            <a:off x="424815" y="615950"/>
            <a:ext cx="5579745" cy="5164455"/>
          </a:xfrm>
        </p:spPr>
        <p:txBody>
          <a:bodyPr wrap="square" anchor="t">
            <a:spAutoFit/>
          </a:bodyPr>
          <a:lstStyle/>
          <a:p>
            <a:pPr>
              <a:lnSpc>
                <a:spcPct val="100000"/>
              </a:lnSpc>
              <a:spcBef>
                <a:spcPts val="1000"/>
              </a:spcBef>
            </a:pPr>
            <a:r>
              <a:rPr lang="zh-CN" altLang="en-US" dirty="0">
                <a:solidFill>
                  <a:srgbClr val="1F2DA8"/>
                </a:solidFill>
                <a:latin typeface="Arial" panose="020B0604020202020204" pitchFamily="34" charset="0"/>
                <a:cs typeface="Arial" panose="020B0604020202020204" pitchFamily="34" charset="0"/>
              </a:rPr>
              <a:t>访问控制</a:t>
            </a:r>
          </a:p>
          <a:p>
            <a:pPr marL="990600" lvl="1" indent="-533400">
              <a:lnSpc>
                <a:spcPct val="100000"/>
              </a:lnSpc>
              <a:spcBef>
                <a:spcPts val="1000"/>
              </a:spcBef>
              <a:buAutoNum type="arabicPeriod"/>
            </a:pPr>
            <a:r>
              <a:rPr lang="zh-CN" altLang="en-US" dirty="0">
                <a:solidFill>
                  <a:srgbClr val="1F2DA8"/>
                </a:solidFill>
                <a:latin typeface="Arial" panose="020B0604020202020204" pitchFamily="34" charset="0"/>
                <a:cs typeface="Arial" panose="020B0604020202020204" pitchFamily="34" charset="0"/>
              </a:rPr>
              <a:t>在用户登录时进行用户的身份鉴别</a:t>
            </a:r>
          </a:p>
          <a:p>
            <a:pPr marL="990600" lvl="1" indent="-533400">
              <a:lnSpc>
                <a:spcPct val="100000"/>
              </a:lnSpc>
              <a:spcBef>
                <a:spcPts val="1000"/>
              </a:spcBef>
              <a:buAutoNum type="arabicPeriod"/>
            </a:pPr>
            <a:r>
              <a:rPr lang="zh-CN" altLang="en-US" dirty="0">
                <a:solidFill>
                  <a:srgbClr val="1F2DA8"/>
                </a:solidFill>
                <a:latin typeface="Arial" panose="020B0604020202020204" pitchFamily="34" charset="0"/>
                <a:cs typeface="Arial" panose="020B0604020202020204" pitchFamily="34" charset="0"/>
              </a:rPr>
              <a:t>在用户访问数据库时执行访问控制检查</a:t>
            </a:r>
          </a:p>
          <a:p>
            <a:pPr marL="990600" lvl="1" indent="-533400">
              <a:lnSpc>
                <a:spcPct val="100000"/>
              </a:lnSpc>
              <a:spcBef>
                <a:spcPts val="1000"/>
              </a:spcBef>
              <a:buAutoNum type="arabicPeriod"/>
            </a:pPr>
            <a:endParaRPr lang="zh-CN" altLang="en-US" dirty="0">
              <a:solidFill>
                <a:srgbClr val="1F2DA8"/>
              </a:solidFill>
              <a:latin typeface="Arial" panose="020B0604020202020204" pitchFamily="34" charset="0"/>
              <a:cs typeface="Arial" panose="020B0604020202020204" pitchFamily="34" charset="0"/>
            </a:endParaRPr>
          </a:p>
          <a:p>
            <a:pPr marL="990600" lvl="1" indent="-533400">
              <a:lnSpc>
                <a:spcPct val="100000"/>
              </a:lnSpc>
              <a:spcBef>
                <a:spcPts val="1000"/>
              </a:spcBef>
              <a:buAutoNum type="arabicPeriod"/>
            </a:pPr>
            <a:endParaRPr lang="zh-CN" altLang="en-US" dirty="0">
              <a:solidFill>
                <a:srgbClr val="1F2DA8"/>
              </a:solidFill>
              <a:latin typeface="Arial" panose="020B0604020202020204" pitchFamily="34" charset="0"/>
              <a:cs typeface="Arial" panose="020B0604020202020204" pitchFamily="34" charset="0"/>
            </a:endParaRPr>
          </a:p>
          <a:p>
            <a:pPr lvl="0">
              <a:lnSpc>
                <a:spcPct val="100000"/>
              </a:lnSpc>
              <a:spcBef>
                <a:spcPts val="1000"/>
              </a:spcBef>
            </a:pPr>
            <a:r>
              <a:rPr lang="zh-CN" altLang="en-US" dirty="0">
                <a:solidFill>
                  <a:srgbClr val="1F2DA8"/>
                </a:solidFill>
                <a:latin typeface="Arial" panose="020B0604020202020204" pitchFamily="34" charset="0"/>
                <a:cs typeface="Arial" panose="020B0604020202020204" pitchFamily="34" charset="0"/>
                <a:sym typeface="+mn-ea"/>
              </a:rPr>
              <a:t>对于用户提交的每一条数据访问命令，系统将按照如右图所示的流程进行权限检查：</a:t>
            </a:r>
          </a:p>
        </p:txBody>
      </p:sp>
      <p:pic>
        <p:nvPicPr>
          <p:cNvPr id="2" name="图片 1"/>
          <p:cNvPicPr>
            <a:picLocks noChangeAspect="1"/>
          </p:cNvPicPr>
          <p:nvPr/>
        </p:nvPicPr>
        <p:blipFill>
          <a:blip r:embed="rId2"/>
          <a:stretch>
            <a:fillRect/>
          </a:stretch>
        </p:blipFill>
        <p:spPr>
          <a:xfrm>
            <a:off x="6190615" y="1160780"/>
            <a:ext cx="5577205" cy="4814570"/>
          </a:xfrm>
          <a:prstGeom prst="rect">
            <a:avLst/>
          </a:prstGeom>
          <a:ln>
            <a:solidFill>
              <a:schemeClr val="accent1"/>
            </a:solidFill>
          </a:ln>
        </p:spPr>
      </p:pic>
      <p:sp>
        <p:nvSpPr>
          <p:cNvPr id="3" name="灯片编号占位符 2"/>
          <p:cNvSpPr>
            <a:spLocks noGrp="1"/>
          </p:cNvSpPr>
          <p:nvPr>
            <p:ph type="sldNum" sz="quarter" idx="12"/>
          </p:nvPr>
        </p:nvSpPr>
        <p:spPr/>
        <p:txBody>
          <a:bodyPr/>
          <a:lstStyle/>
          <a:p>
            <a:fld id="{565CE74E-AB26-4998-AD42-012C4C1AD076}" type="slidenum">
              <a:rPr lang="zh-CN" altLang="en-US" smtClean="0"/>
              <a:t>30</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386">
                                            <p:txEl>
                                              <p:pRg st="5" end="5"/>
                                            </p:txEl>
                                          </p:spTgt>
                                        </p:tgtEl>
                                        <p:attrNameLst>
                                          <p:attrName>style.visibility</p:attrName>
                                        </p:attrNameLst>
                                      </p:cBhvr>
                                      <p:to>
                                        <p:strVal val="visible"/>
                                      </p:to>
                                    </p:set>
                                    <p:animEffect transition="in" filter="blinds(horizontal)">
                                      <p:cBhvr>
                                        <p:cTn id="7" dur="500"/>
                                        <p:tgtEl>
                                          <p:spTgt spid="16386">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48131" name="Rectangle 2"/>
          <p:cNvSpPr>
            <a:spLocks noGrp="1" noChangeArrowheads="1"/>
          </p:cNvSpPr>
          <p:nvPr>
            <p:ph type="title"/>
          </p:nvPr>
        </p:nvSpPr>
        <p:spPr/>
        <p:txBody>
          <a:bodyPr/>
          <a:lstStyle/>
          <a:p>
            <a:r>
              <a:rPr lang="en-US" dirty="0"/>
              <a:t>4.2.4  </a:t>
            </a:r>
            <a:r>
              <a:rPr lang="zh-CN" altLang="en-US" dirty="0"/>
              <a:t>授权：授予</a:t>
            </a:r>
            <a:r>
              <a:rPr lang="en-US" altLang="zh-CN" dirty="0"/>
              <a:t> </a:t>
            </a:r>
            <a:r>
              <a:rPr lang="zh-CN" altLang="en-US" dirty="0"/>
              <a:t>与</a:t>
            </a:r>
            <a:r>
              <a:rPr lang="en-US" altLang="zh-CN" dirty="0"/>
              <a:t> </a:t>
            </a:r>
            <a:r>
              <a:rPr lang="zh-CN" altLang="en-US" dirty="0"/>
              <a:t>收回</a:t>
            </a:r>
          </a:p>
        </p:txBody>
      </p:sp>
      <p:sp>
        <p:nvSpPr>
          <p:cNvPr id="63492" name="Rectangle 3"/>
          <p:cNvSpPr>
            <a:spLocks noGrp="1" noChangeArrowheads="1"/>
          </p:cNvSpPr>
          <p:nvPr>
            <p:ph idx="1"/>
          </p:nvPr>
        </p:nvSpPr>
        <p:spPr/>
        <p:txBody>
          <a:bodyPr>
            <a:noAutofit/>
          </a:bodyPr>
          <a:lstStyle/>
          <a:p>
            <a:r>
              <a:rPr lang="en-US" altLang="zh-CN" dirty="0">
                <a:sym typeface="+mn-ea"/>
              </a:rPr>
              <a:t>SQL</a:t>
            </a:r>
            <a:r>
              <a:rPr lang="zh-CN" altLang="en-US" dirty="0">
                <a:sym typeface="+mn-ea"/>
              </a:rPr>
              <a:t>中的授权机制</a:t>
            </a:r>
            <a:endParaRPr lang="zh-CN" altLang="en-US" dirty="0"/>
          </a:p>
          <a:p>
            <a:pPr lvl="1"/>
            <a:r>
              <a:rPr lang="zh-CN" altLang="en-US" dirty="0">
                <a:solidFill>
                  <a:srgbClr val="C00000"/>
                </a:solidFill>
              </a:rPr>
              <a:t>数据库管理员</a:t>
            </a:r>
            <a:r>
              <a:rPr lang="zh-CN" altLang="en-US" dirty="0"/>
              <a:t>：</a:t>
            </a:r>
            <a:endParaRPr lang="en-US" altLang="zh-CN" dirty="0"/>
          </a:p>
          <a:p>
            <a:pPr lvl="2"/>
            <a:r>
              <a:rPr lang="zh-CN" altLang="en-US" dirty="0"/>
              <a:t>拥有所有对象的所有权限</a:t>
            </a:r>
          </a:p>
          <a:p>
            <a:pPr lvl="2"/>
            <a:r>
              <a:rPr lang="zh-CN" altLang="en-US" dirty="0"/>
              <a:t>根据实际情况，将不同的权限授予不同的用户</a:t>
            </a:r>
          </a:p>
          <a:p>
            <a:pPr lvl="1">
              <a:lnSpc>
                <a:spcPct val="110000"/>
              </a:lnSpc>
              <a:spcBef>
                <a:spcPts val="2000"/>
              </a:spcBef>
            </a:pPr>
            <a:r>
              <a:rPr lang="zh-CN" altLang="en-US" dirty="0">
                <a:solidFill>
                  <a:srgbClr val="C00000"/>
                </a:solidFill>
              </a:rPr>
              <a:t>用户</a:t>
            </a:r>
            <a:r>
              <a:rPr lang="zh-CN" altLang="en-US" dirty="0"/>
              <a:t>：</a:t>
            </a:r>
            <a:endParaRPr lang="en-US" altLang="zh-CN" dirty="0"/>
          </a:p>
          <a:p>
            <a:pPr lvl="2"/>
            <a:r>
              <a:rPr lang="zh-CN" altLang="en-US" dirty="0"/>
              <a:t>拥有自己建立的对象的全部的存取权限</a:t>
            </a:r>
          </a:p>
          <a:p>
            <a:pPr lvl="2"/>
            <a:r>
              <a:rPr lang="zh-CN" altLang="en-US" dirty="0"/>
              <a:t>可以使用</a:t>
            </a:r>
            <a:r>
              <a:rPr lang="en-US" altLang="zh-CN" dirty="0"/>
              <a:t>GRANT</a:t>
            </a:r>
            <a:r>
              <a:rPr lang="zh-CN" altLang="en-US" dirty="0"/>
              <a:t>，把自己拥有的对象上的存取权限授予其他用户</a:t>
            </a:r>
          </a:p>
          <a:p>
            <a:pPr lvl="1">
              <a:lnSpc>
                <a:spcPct val="110000"/>
              </a:lnSpc>
              <a:spcBef>
                <a:spcPts val="2000"/>
              </a:spcBef>
            </a:pPr>
            <a:r>
              <a:rPr lang="zh-CN" altLang="en-US" dirty="0">
                <a:solidFill>
                  <a:srgbClr val="C00000"/>
                </a:solidFill>
              </a:rPr>
              <a:t>被授权的用户</a:t>
            </a:r>
            <a:endParaRPr lang="zh-CN" altLang="en-US" dirty="0"/>
          </a:p>
          <a:p>
            <a:pPr lvl="2"/>
            <a:r>
              <a:rPr lang="zh-CN" altLang="en-US" dirty="0"/>
              <a:t>如果</a:t>
            </a:r>
            <a:r>
              <a:rPr lang="zh-CN" altLang="en-US" dirty="0">
                <a:solidFill>
                  <a:srgbClr val="1F2DA8"/>
                </a:solidFill>
                <a:uFillTx/>
                <a:latin typeface="Arial" panose="020B0604020202020204" pitchFamily="34" charset="0"/>
              </a:rPr>
              <a:t>具有</a:t>
            </a:r>
            <a:r>
              <a:rPr lang="en-US" altLang="zh-CN" dirty="0">
                <a:solidFill>
                  <a:srgbClr val="1F2DA8"/>
                </a:solidFill>
                <a:uFillTx/>
                <a:latin typeface="Arial" panose="020B0604020202020204" pitchFamily="34" charset="0"/>
              </a:rPr>
              <a:t>“</a:t>
            </a:r>
            <a:r>
              <a:rPr lang="zh-CN" altLang="en-US" dirty="0">
                <a:solidFill>
                  <a:srgbClr val="1F2DA8"/>
                </a:solidFill>
                <a:uFillTx/>
                <a:latin typeface="Arial" panose="020B0604020202020204" pitchFamily="34" charset="0"/>
              </a:rPr>
              <a:t>继续授权</a:t>
            </a:r>
            <a:r>
              <a:rPr lang="en-US" altLang="zh-CN" dirty="0">
                <a:solidFill>
                  <a:srgbClr val="1F2DA8"/>
                </a:solidFill>
                <a:uFillTx/>
                <a:latin typeface="Arial" panose="020B0604020202020204" pitchFamily="34" charset="0"/>
              </a:rPr>
              <a:t>”</a:t>
            </a:r>
            <a:r>
              <a:rPr lang="zh-CN" altLang="en-US" dirty="0">
                <a:solidFill>
                  <a:srgbClr val="1F2DA8"/>
                </a:solidFill>
                <a:uFillTx/>
                <a:latin typeface="Arial" panose="020B0604020202020204" pitchFamily="34" charset="0"/>
              </a:rPr>
              <a:t>的许可，可以把获得的权限再授予其他用户</a:t>
            </a:r>
          </a:p>
          <a:p>
            <a:pPr lvl="1">
              <a:lnSpc>
                <a:spcPct val="110000"/>
              </a:lnSpc>
              <a:spcBef>
                <a:spcPts val="2000"/>
              </a:spcBef>
            </a:pPr>
            <a:r>
              <a:rPr lang="zh-CN" altLang="en-US" dirty="0"/>
              <a:t>所有授予出去的权限在必要时又都可用</a:t>
            </a:r>
            <a:r>
              <a:rPr lang="en-US" altLang="zh-CN" dirty="0"/>
              <a:t> REVOKE</a:t>
            </a:r>
            <a:r>
              <a:rPr lang="zh-CN" altLang="en-US" dirty="0"/>
              <a:t>语句</a:t>
            </a:r>
            <a:r>
              <a:rPr lang="en-US" altLang="zh-CN" dirty="0"/>
              <a:t> </a:t>
            </a:r>
            <a:r>
              <a:rPr lang="zh-CN" altLang="en-US" dirty="0"/>
              <a:t>收回</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31</a:t>
            </a:fld>
            <a:endParaRPr lang="zh-CN" altLang="en-US"/>
          </a:p>
        </p:txBody>
      </p:sp>
      <p:sp>
        <p:nvSpPr>
          <p:cNvPr id="3" name="页脚占位符 2"/>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3492">
                                            <p:txEl>
                                              <p:pRg st="7" end="7"/>
                                            </p:txEl>
                                          </p:spTgt>
                                        </p:tgtEl>
                                        <p:attrNameLst>
                                          <p:attrName>style.visibility</p:attrName>
                                        </p:attrNameLst>
                                      </p:cBhvr>
                                      <p:to>
                                        <p:strVal val="visible"/>
                                      </p:to>
                                    </p:set>
                                    <p:anim calcmode="lin" valueType="num">
                                      <p:cBhvr additive="base">
                                        <p:cTn id="7" dur="500" fill="hold"/>
                                        <p:tgtEl>
                                          <p:spTgt spid="63492">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3492">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3492">
                                            <p:txEl>
                                              <p:pRg st="8" end="8"/>
                                            </p:txEl>
                                          </p:spTgt>
                                        </p:tgtEl>
                                        <p:attrNameLst>
                                          <p:attrName>style.visibility</p:attrName>
                                        </p:attrNameLst>
                                      </p:cBhvr>
                                      <p:to>
                                        <p:strVal val="visible"/>
                                      </p:to>
                                    </p:set>
                                    <p:anim calcmode="lin" valueType="num">
                                      <p:cBhvr additive="base">
                                        <p:cTn id="11" dur="500" fill="hold"/>
                                        <p:tgtEl>
                                          <p:spTgt spid="63492">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349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3492">
                                            <p:txEl>
                                              <p:pRg st="9" end="9"/>
                                            </p:txEl>
                                          </p:spTgt>
                                        </p:tgtEl>
                                        <p:attrNameLst>
                                          <p:attrName>style.visibility</p:attrName>
                                        </p:attrNameLst>
                                      </p:cBhvr>
                                      <p:to>
                                        <p:strVal val="visible"/>
                                      </p:to>
                                    </p:set>
                                    <p:anim calcmode="lin" valueType="num">
                                      <p:cBhvr additive="base">
                                        <p:cTn id="17" dur="500" fill="hold"/>
                                        <p:tgtEl>
                                          <p:spTgt spid="63492">
                                            <p:txEl>
                                              <p:pRg st="9" end="9"/>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3492">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GRANT 1</a:t>
            </a:r>
            <a:endParaRPr lang="zh-CN" altLang="en-US" dirty="0"/>
          </a:p>
        </p:txBody>
      </p:sp>
      <p:sp>
        <p:nvSpPr>
          <p:cNvPr id="3" name="内容占位符 2"/>
          <p:cNvSpPr>
            <a:spLocks noGrp="1"/>
          </p:cNvSpPr>
          <p:nvPr>
            <p:ph idx="1"/>
          </p:nvPr>
        </p:nvSpPr>
        <p:spPr>
          <a:xfrm>
            <a:off x="424180" y="687070"/>
            <a:ext cx="11343005" cy="460375"/>
          </a:xfrm>
        </p:spPr>
        <p:txBody>
          <a:bodyPr>
            <a:spAutoFit/>
          </a:bodyPr>
          <a:lstStyle/>
          <a:p>
            <a:pPr>
              <a:lnSpc>
                <a:spcPct val="100000"/>
              </a:lnSpc>
            </a:pPr>
            <a:r>
              <a:rPr lang="en-US" altLang="zh-CN" sz="2400" dirty="0"/>
              <a:t>GRANT</a:t>
            </a:r>
            <a:r>
              <a:rPr lang="zh-CN" altLang="en-US" sz="2400" dirty="0"/>
              <a:t>语句的一般格式</a:t>
            </a:r>
          </a:p>
        </p:txBody>
      </p:sp>
      <p:sp>
        <p:nvSpPr>
          <p:cNvPr id="5" name="灯片编号占位符 4"/>
          <p:cNvSpPr>
            <a:spLocks noGrp="1"/>
          </p:cNvSpPr>
          <p:nvPr>
            <p:ph type="sldNum" sz="quarter" idx="12"/>
          </p:nvPr>
        </p:nvSpPr>
        <p:spPr/>
        <p:txBody>
          <a:bodyPr/>
          <a:lstStyle/>
          <a:p>
            <a:fld id="{565CE74E-AB26-4998-AD42-012C4C1AD076}" type="slidenum">
              <a:rPr lang="zh-CN" altLang="en-US" smtClean="0"/>
              <a:t>32</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
        <p:nvSpPr>
          <p:cNvPr id="6" name="内容占位符 2"/>
          <p:cNvSpPr>
            <a:spLocks noGrp="1"/>
          </p:cNvSpPr>
          <p:nvPr/>
        </p:nvSpPr>
        <p:spPr>
          <a:xfrm>
            <a:off x="424180" y="1209040"/>
            <a:ext cx="11343005" cy="1568450"/>
          </a:xfrm>
          <a:prstGeom prst="rect">
            <a:avLst/>
          </a:prstGeom>
          <a:solidFill>
            <a:schemeClr val="accent3">
              <a:lumMod val="20000"/>
              <a:lumOff val="80000"/>
              <a:alpha val="50000"/>
            </a:schemeClr>
          </a:solidFill>
          <a:ln>
            <a:solidFill>
              <a:schemeClr val="tx1"/>
            </a:solidFill>
          </a:ln>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lvl="1" indent="395605">
              <a:lnSpc>
                <a:spcPct val="100000"/>
              </a:lnSpc>
              <a:buNone/>
            </a:pPr>
            <a:r>
              <a:rPr lang="en-US" altLang="zh-CN" sz="2400" dirty="0">
                <a:solidFill>
                  <a:srgbClr val="C00000"/>
                </a:solidFill>
                <a:latin typeface="Calibri" panose="020F0502020204030204" charset="0"/>
                <a:cs typeface="Calibri" panose="020F0502020204030204" charset="0"/>
              </a:rPr>
              <a:t>GRANT  &lt;</a:t>
            </a:r>
            <a:r>
              <a:rPr lang="zh-CN" altLang="en-US" sz="2400" dirty="0">
                <a:solidFill>
                  <a:srgbClr val="C00000"/>
                </a:solidFill>
                <a:latin typeface="Calibri" panose="020F0502020204030204" charset="0"/>
                <a:cs typeface="Calibri" panose="020F0502020204030204" charset="0"/>
              </a:rPr>
              <a:t>权限</a:t>
            </a:r>
            <a:r>
              <a:rPr lang="en-US" altLang="zh-CN" sz="2400" dirty="0">
                <a:solidFill>
                  <a:srgbClr val="C00000"/>
                </a:solidFill>
                <a:latin typeface="Calibri" panose="020F0502020204030204" charset="0"/>
                <a:cs typeface="Calibri" panose="020F0502020204030204" charset="0"/>
              </a:rPr>
              <a:t>&gt; [ , &lt;</a:t>
            </a:r>
            <a:r>
              <a:rPr lang="zh-CN" altLang="en-US" sz="2400" dirty="0">
                <a:solidFill>
                  <a:srgbClr val="C00000"/>
                </a:solidFill>
                <a:latin typeface="Calibri" panose="020F0502020204030204" charset="0"/>
                <a:cs typeface="Calibri" panose="020F0502020204030204" charset="0"/>
              </a:rPr>
              <a:t>权限</a:t>
            </a:r>
            <a:r>
              <a:rPr lang="en-US" altLang="zh-CN" sz="2400" dirty="0">
                <a:solidFill>
                  <a:srgbClr val="C00000"/>
                </a:solidFill>
                <a:latin typeface="Calibri" panose="020F0502020204030204" charset="0"/>
                <a:cs typeface="Calibri" panose="020F0502020204030204" charset="0"/>
              </a:rPr>
              <a:t>&gt; ] ... </a:t>
            </a:r>
          </a:p>
          <a:p>
            <a:pPr marL="352425" lvl="1" indent="395605">
              <a:lnSpc>
                <a:spcPct val="100000"/>
              </a:lnSpc>
              <a:buNone/>
            </a:pPr>
            <a:r>
              <a:rPr lang="en-US" altLang="zh-CN" sz="2400" dirty="0">
                <a:solidFill>
                  <a:srgbClr val="C00000"/>
                </a:solidFill>
                <a:latin typeface="Calibri" panose="020F0502020204030204" charset="0"/>
                <a:cs typeface="Calibri" panose="020F0502020204030204" charset="0"/>
              </a:rPr>
              <a:t>ON  &lt;</a:t>
            </a:r>
            <a:r>
              <a:rPr lang="zh-CN" altLang="en-US" sz="2400" dirty="0">
                <a:solidFill>
                  <a:srgbClr val="C00000"/>
                </a:solidFill>
                <a:latin typeface="Calibri" panose="020F0502020204030204" charset="0"/>
                <a:cs typeface="Calibri" panose="020F0502020204030204" charset="0"/>
              </a:rPr>
              <a:t>对象类型</a:t>
            </a:r>
            <a:r>
              <a:rPr lang="en-US" altLang="zh-CN" sz="2400" dirty="0">
                <a:solidFill>
                  <a:srgbClr val="C00000"/>
                </a:solidFill>
                <a:latin typeface="Calibri" panose="020F0502020204030204" charset="0"/>
                <a:cs typeface="Calibri" panose="020F0502020204030204" charset="0"/>
              </a:rPr>
              <a:t>&gt;  &lt;</a:t>
            </a:r>
            <a:r>
              <a:rPr lang="zh-CN" altLang="en-US" sz="2400" dirty="0">
                <a:solidFill>
                  <a:srgbClr val="C00000"/>
                </a:solidFill>
                <a:latin typeface="Calibri" panose="020F0502020204030204" charset="0"/>
                <a:cs typeface="Calibri" panose="020F0502020204030204" charset="0"/>
              </a:rPr>
              <a:t>对象名</a:t>
            </a:r>
            <a:r>
              <a:rPr lang="en-US" altLang="zh-CN" sz="2400" dirty="0">
                <a:solidFill>
                  <a:srgbClr val="C00000"/>
                </a:solidFill>
                <a:latin typeface="Calibri" panose="020F0502020204030204" charset="0"/>
                <a:cs typeface="Calibri" panose="020F0502020204030204" charset="0"/>
              </a:rPr>
              <a:t>&gt; [ , &lt;</a:t>
            </a:r>
            <a:r>
              <a:rPr lang="zh-CN" altLang="en-US" sz="2400" dirty="0">
                <a:solidFill>
                  <a:srgbClr val="C00000"/>
                </a:solidFill>
                <a:latin typeface="Calibri" panose="020F0502020204030204" charset="0"/>
                <a:cs typeface="Calibri" panose="020F0502020204030204" charset="0"/>
              </a:rPr>
              <a:t>对象类型</a:t>
            </a:r>
            <a:r>
              <a:rPr lang="en-US" altLang="zh-CN" sz="2400" dirty="0">
                <a:solidFill>
                  <a:srgbClr val="C00000"/>
                </a:solidFill>
                <a:latin typeface="Calibri" panose="020F0502020204030204" charset="0"/>
                <a:cs typeface="Calibri" panose="020F0502020204030204" charset="0"/>
              </a:rPr>
              <a:t>&gt;  &lt;</a:t>
            </a:r>
            <a:r>
              <a:rPr lang="zh-CN" altLang="en-US" sz="2400" dirty="0">
                <a:solidFill>
                  <a:srgbClr val="C00000"/>
                </a:solidFill>
                <a:latin typeface="Calibri" panose="020F0502020204030204" charset="0"/>
                <a:cs typeface="Calibri" panose="020F0502020204030204" charset="0"/>
              </a:rPr>
              <a:t>对象名</a:t>
            </a:r>
            <a:r>
              <a:rPr lang="en-US" altLang="zh-CN" sz="2400" dirty="0">
                <a:solidFill>
                  <a:srgbClr val="C00000"/>
                </a:solidFill>
                <a:latin typeface="Calibri" panose="020F0502020204030204" charset="0"/>
                <a:cs typeface="Calibri" panose="020F0502020204030204" charset="0"/>
              </a:rPr>
              <a:t>&gt; ]…</a:t>
            </a:r>
          </a:p>
          <a:p>
            <a:pPr marL="352425" lvl="1" indent="395605">
              <a:lnSpc>
                <a:spcPct val="100000"/>
              </a:lnSpc>
              <a:buNone/>
            </a:pPr>
            <a:r>
              <a:rPr lang="en-US" altLang="zh-CN" sz="2400" dirty="0">
                <a:solidFill>
                  <a:srgbClr val="C00000"/>
                </a:solidFill>
                <a:latin typeface="Calibri" panose="020F0502020204030204" charset="0"/>
                <a:cs typeface="Calibri" panose="020F0502020204030204" charset="0"/>
              </a:rPr>
              <a:t>TO  &lt;</a:t>
            </a:r>
            <a:r>
              <a:rPr lang="zh-CN" altLang="en-US" sz="2400" dirty="0">
                <a:solidFill>
                  <a:srgbClr val="C00000"/>
                </a:solidFill>
                <a:latin typeface="Calibri" panose="020F0502020204030204" charset="0"/>
                <a:cs typeface="Calibri" panose="020F0502020204030204" charset="0"/>
              </a:rPr>
              <a:t>用户</a:t>
            </a:r>
            <a:r>
              <a:rPr lang="en-US" altLang="zh-CN" sz="2400" dirty="0">
                <a:solidFill>
                  <a:srgbClr val="C00000"/>
                </a:solidFill>
                <a:latin typeface="Calibri" panose="020F0502020204030204" charset="0"/>
                <a:cs typeface="Calibri" panose="020F0502020204030204" charset="0"/>
              </a:rPr>
              <a:t>&gt; [ , &lt;</a:t>
            </a:r>
            <a:r>
              <a:rPr lang="zh-CN" altLang="en-US" sz="2400" dirty="0">
                <a:solidFill>
                  <a:srgbClr val="C00000"/>
                </a:solidFill>
                <a:latin typeface="Calibri" panose="020F0502020204030204" charset="0"/>
                <a:cs typeface="Calibri" panose="020F0502020204030204" charset="0"/>
              </a:rPr>
              <a:t>用户</a:t>
            </a:r>
            <a:r>
              <a:rPr lang="en-US" altLang="zh-CN" sz="2400" dirty="0">
                <a:solidFill>
                  <a:srgbClr val="C00000"/>
                </a:solidFill>
                <a:latin typeface="Calibri" panose="020F0502020204030204" charset="0"/>
                <a:cs typeface="Calibri" panose="020F0502020204030204" charset="0"/>
              </a:rPr>
              <a:t>&gt; ] ...</a:t>
            </a:r>
          </a:p>
          <a:p>
            <a:pPr marL="352425" lvl="1" indent="395605">
              <a:lnSpc>
                <a:spcPct val="100000"/>
              </a:lnSpc>
              <a:buNone/>
            </a:pPr>
            <a:r>
              <a:rPr lang="en-US" altLang="zh-CN" sz="2400" dirty="0">
                <a:solidFill>
                  <a:srgbClr val="C00000"/>
                </a:solidFill>
                <a:latin typeface="Calibri" panose="020F0502020204030204" charset="0"/>
                <a:cs typeface="Calibri" panose="020F0502020204030204" charset="0"/>
              </a:rPr>
              <a:t>[ WITH GRANT OPTION ];</a:t>
            </a:r>
          </a:p>
        </p:txBody>
      </p:sp>
      <p:sp>
        <p:nvSpPr>
          <p:cNvPr id="7" name="内容占位符 2"/>
          <p:cNvSpPr>
            <a:spLocks noGrp="1"/>
          </p:cNvSpPr>
          <p:nvPr/>
        </p:nvSpPr>
        <p:spPr>
          <a:xfrm>
            <a:off x="424180" y="2929890"/>
            <a:ext cx="11343005" cy="3671570"/>
          </a:xfrm>
          <a:prstGeom prst="rect">
            <a:avLst/>
          </a:prstGeom>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en-US" sz="2400" dirty="0">
                <a:latin typeface="Calibri" panose="020F0502020204030204" charset="0"/>
                <a:cs typeface="Calibri" panose="020F0502020204030204" charset="0"/>
              </a:rPr>
              <a:t>语义：将对指定操作对象的指定存取权限授予指定的用户 </a:t>
            </a:r>
            <a:endParaRPr lang="en-US" altLang="zh-CN" sz="2400" dirty="0">
              <a:latin typeface="Calibri" panose="020F0502020204030204" charset="0"/>
              <a:cs typeface="Calibri" panose="020F0502020204030204" charset="0"/>
            </a:endParaRPr>
          </a:p>
          <a:p>
            <a:pPr>
              <a:lnSpc>
                <a:spcPct val="100000"/>
              </a:lnSpc>
            </a:pPr>
            <a:r>
              <a:rPr lang="zh-CN" altLang="en-US" sz="2400" dirty="0">
                <a:solidFill>
                  <a:srgbClr val="C00000"/>
                </a:solidFill>
                <a:latin typeface="Calibri" panose="020F0502020204030204" charset="0"/>
                <a:cs typeface="Calibri" panose="020F0502020204030204" charset="0"/>
              </a:rPr>
              <a:t>授权用户</a:t>
            </a:r>
            <a:r>
              <a:rPr lang="zh-CN" altLang="en-US" sz="2400" dirty="0">
                <a:latin typeface="Calibri" panose="020F0502020204030204" charset="0"/>
                <a:cs typeface="Calibri" panose="020F0502020204030204" charset="0"/>
              </a:rPr>
              <a:t>（发出或执行</a:t>
            </a:r>
            <a:r>
              <a:rPr lang="en-US" altLang="zh-CN" sz="2400" dirty="0">
                <a:latin typeface="Calibri" panose="020F0502020204030204" charset="0"/>
                <a:cs typeface="Calibri" panose="020F0502020204030204" charset="0"/>
              </a:rPr>
              <a:t>GRANT</a:t>
            </a:r>
            <a:r>
              <a:rPr lang="zh-CN" altLang="en-US" sz="2400" dirty="0">
                <a:latin typeface="Calibri" panose="020F0502020204030204" charset="0"/>
                <a:cs typeface="Calibri" panose="020F0502020204030204" charset="0"/>
              </a:rPr>
              <a:t>语句的用户）</a:t>
            </a:r>
          </a:p>
          <a:p>
            <a:pPr lvl="1">
              <a:lnSpc>
                <a:spcPct val="100000"/>
              </a:lnSpc>
            </a:pPr>
            <a:r>
              <a:rPr lang="zh-CN" altLang="en-US" sz="2400" dirty="0">
                <a:latin typeface="Calibri" panose="020F0502020204030204" charset="0"/>
                <a:cs typeface="Calibri" panose="020F0502020204030204" charset="0"/>
              </a:rPr>
              <a:t>数据库管理员</a:t>
            </a:r>
          </a:p>
          <a:p>
            <a:pPr lvl="1">
              <a:lnSpc>
                <a:spcPct val="100000"/>
              </a:lnSpc>
            </a:pPr>
            <a:r>
              <a:rPr lang="zh-CN" altLang="en-US" sz="2400" dirty="0">
                <a:latin typeface="Calibri" panose="020F0502020204030204" charset="0"/>
                <a:cs typeface="Calibri" panose="020F0502020204030204" charset="0"/>
              </a:rPr>
              <a:t>数据库对象的创建者（即数据库对象的属主</a:t>
            </a:r>
            <a:r>
              <a:rPr lang="en-US" altLang="zh-CN" sz="2400" dirty="0">
                <a:latin typeface="Calibri" panose="020F0502020204030204" charset="0"/>
                <a:cs typeface="Calibri" panose="020F0502020204030204" charset="0"/>
              </a:rPr>
              <a:t>Owner</a:t>
            </a:r>
            <a:r>
              <a:rPr lang="zh-CN" altLang="en-US" sz="2400" dirty="0">
                <a:latin typeface="Calibri" panose="020F0502020204030204" charset="0"/>
                <a:cs typeface="Calibri" panose="020F0502020204030204" charset="0"/>
              </a:rPr>
              <a:t>）</a:t>
            </a:r>
          </a:p>
          <a:p>
            <a:pPr lvl="1">
              <a:lnSpc>
                <a:spcPct val="100000"/>
              </a:lnSpc>
            </a:pPr>
            <a:r>
              <a:rPr lang="zh-CN" altLang="en-US" sz="2400" dirty="0">
                <a:latin typeface="Calibri" panose="020F0502020204030204" charset="0"/>
                <a:cs typeface="Calibri" panose="020F0502020204030204" charset="0"/>
              </a:rPr>
              <a:t>拥有该存取</a:t>
            </a:r>
            <a:r>
              <a:rPr lang="en-US" altLang="zh-CN" sz="2400" dirty="0">
                <a:latin typeface="Calibri" panose="020F0502020204030204" charset="0"/>
                <a:cs typeface="Calibri" panose="020F0502020204030204" charset="0"/>
              </a:rPr>
              <a:t> ‘</a:t>
            </a:r>
            <a:r>
              <a:rPr lang="zh-CN" altLang="en-US" sz="2400" dirty="0">
                <a:latin typeface="Calibri" panose="020F0502020204030204" charset="0"/>
                <a:cs typeface="Calibri" panose="020F0502020204030204" charset="0"/>
              </a:rPr>
              <a:t>权限</a:t>
            </a:r>
            <a:r>
              <a:rPr lang="en-US" altLang="zh-CN" sz="2400" dirty="0">
                <a:latin typeface="Calibri" panose="020F0502020204030204" charset="0"/>
                <a:cs typeface="Calibri" panose="020F0502020204030204" charset="0"/>
              </a:rPr>
              <a:t>’ </a:t>
            </a:r>
            <a:r>
              <a:rPr lang="zh-CN" altLang="en-US" sz="2400" dirty="0">
                <a:latin typeface="Calibri" panose="020F0502020204030204" charset="0"/>
                <a:cs typeface="Calibri" panose="020F0502020204030204" charset="0"/>
              </a:rPr>
              <a:t>及</a:t>
            </a:r>
            <a:r>
              <a:rPr lang="en-US" altLang="zh-CN" sz="2400" dirty="0">
                <a:latin typeface="Calibri" panose="020F0502020204030204" charset="0"/>
                <a:cs typeface="Calibri" panose="020F0502020204030204" charset="0"/>
              </a:rPr>
              <a:t> ‘</a:t>
            </a:r>
            <a:r>
              <a:rPr lang="zh-CN" altLang="en-US" sz="2400" dirty="0">
                <a:latin typeface="Calibri" panose="020F0502020204030204" charset="0"/>
                <a:cs typeface="Calibri" panose="020F0502020204030204" charset="0"/>
              </a:rPr>
              <a:t>继续授权</a:t>
            </a:r>
            <a:r>
              <a:rPr lang="en-US" altLang="zh-CN" sz="2400" dirty="0">
                <a:latin typeface="Calibri" panose="020F0502020204030204" charset="0"/>
                <a:cs typeface="Calibri" panose="020F0502020204030204" charset="0"/>
              </a:rPr>
              <a:t>’ </a:t>
            </a:r>
            <a:r>
              <a:rPr lang="zh-CN" altLang="en-US" sz="2400" dirty="0">
                <a:latin typeface="Calibri" panose="020F0502020204030204" charset="0"/>
                <a:cs typeface="Calibri" panose="020F0502020204030204" charset="0"/>
              </a:rPr>
              <a:t>许可的用户</a:t>
            </a:r>
          </a:p>
          <a:p>
            <a:pPr>
              <a:lnSpc>
                <a:spcPct val="100000"/>
              </a:lnSpc>
            </a:pPr>
            <a:r>
              <a:rPr lang="zh-CN" altLang="en-US" sz="2400" dirty="0">
                <a:solidFill>
                  <a:srgbClr val="C00000"/>
                </a:solidFill>
                <a:latin typeface="Calibri" panose="020F0502020204030204" charset="0"/>
                <a:cs typeface="Calibri" panose="020F0502020204030204" charset="0"/>
              </a:rPr>
              <a:t>被授权用户</a:t>
            </a:r>
            <a:r>
              <a:rPr lang="zh-CN" altLang="en-US" sz="2400" dirty="0">
                <a:solidFill>
                  <a:srgbClr val="1F2DA8"/>
                </a:solidFill>
                <a:latin typeface="Calibri" panose="020F0502020204030204" charset="0"/>
                <a:cs typeface="Calibri" panose="020F0502020204030204" charset="0"/>
              </a:rPr>
              <a:t>（接受权限的用户） </a:t>
            </a:r>
            <a:endParaRPr lang="zh-CN" altLang="en-US" sz="2400" dirty="0">
              <a:latin typeface="Calibri" panose="020F0502020204030204" charset="0"/>
              <a:cs typeface="Calibri" panose="020F0502020204030204" charset="0"/>
            </a:endParaRPr>
          </a:p>
          <a:p>
            <a:pPr lvl="1">
              <a:lnSpc>
                <a:spcPct val="100000"/>
              </a:lnSpc>
            </a:pPr>
            <a:r>
              <a:rPr lang="zh-CN" altLang="en-US" sz="2400" dirty="0">
                <a:latin typeface="Calibri" panose="020F0502020204030204" charset="0"/>
                <a:cs typeface="Calibri" panose="020F0502020204030204" charset="0"/>
              </a:rPr>
              <a:t>一个或多个具体用户</a:t>
            </a:r>
          </a:p>
          <a:p>
            <a:pPr lvl="1">
              <a:lnSpc>
                <a:spcPct val="100000"/>
              </a:lnSpc>
            </a:pPr>
            <a:r>
              <a:rPr lang="zh-CN" altLang="en-US" sz="2400" dirty="0">
                <a:latin typeface="Calibri" panose="020F0502020204030204" charset="0"/>
                <a:cs typeface="Calibri" panose="020F0502020204030204" charset="0"/>
              </a:rPr>
              <a:t>一个或多个用户组（角色</a:t>
            </a:r>
            <a:r>
              <a:rPr lang="en-US" altLang="zh-CN" sz="2400" dirty="0">
                <a:latin typeface="Calibri" panose="020F0502020204030204" charset="0"/>
                <a:cs typeface="Calibri" panose="020F0502020204030204" charset="0"/>
              </a:rPr>
              <a:t>ROLE</a:t>
            </a:r>
            <a:r>
              <a:rPr lang="zh-CN" altLang="en-US" sz="2400" dirty="0">
                <a:latin typeface="Calibri" panose="020F0502020204030204" charset="0"/>
                <a:cs typeface="Calibri" panose="020F0502020204030204" charset="0"/>
              </a:rPr>
              <a:t>）</a:t>
            </a:r>
          </a:p>
          <a:p>
            <a:pPr lvl="1">
              <a:lnSpc>
                <a:spcPct val="100000"/>
              </a:lnSpc>
            </a:pPr>
            <a:r>
              <a:rPr lang="en-US" altLang="zh-CN" sz="2400" dirty="0">
                <a:solidFill>
                  <a:srgbClr val="C00000"/>
                </a:solidFill>
                <a:latin typeface="Calibri" panose="020F0502020204030204" charset="0"/>
                <a:cs typeface="Calibri" panose="020F0502020204030204" charset="0"/>
              </a:rPr>
              <a:t>PUBLIC</a:t>
            </a:r>
            <a:r>
              <a:rPr lang="zh-CN" altLang="en-US" sz="2400" dirty="0">
                <a:latin typeface="Calibri" panose="020F0502020204030204" charset="0"/>
                <a:cs typeface="Calibri" panose="020F0502020204030204" charset="0"/>
              </a:rPr>
              <a:t>（即全体用户） </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blinds(horizontal)">
                                      <p:cBhvr>
                                        <p:cTn id="15" dur="500"/>
                                        <p:tgtEl>
                                          <p:spTgt spid="7">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7">
                                            <p:txEl>
                                              <p:pRg st="3" end="3"/>
                                            </p:txEl>
                                          </p:spTgt>
                                        </p:tgtEl>
                                        <p:attrNameLst>
                                          <p:attrName>style.visibility</p:attrName>
                                        </p:attrNameLst>
                                      </p:cBhvr>
                                      <p:to>
                                        <p:strVal val="visible"/>
                                      </p:to>
                                    </p:set>
                                    <p:animEffect transition="in" filter="blinds(horizontal)">
                                      <p:cBhvr>
                                        <p:cTn id="18" dur="500"/>
                                        <p:tgtEl>
                                          <p:spTgt spid="7">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blinds(horizontal)">
                                      <p:cBhvr>
                                        <p:cTn id="21" dur="500"/>
                                        <p:tgtEl>
                                          <p:spTgt spid="7">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7">
                                            <p:txEl>
                                              <p:pRg st="5" end="5"/>
                                            </p:txEl>
                                          </p:spTgt>
                                        </p:tgtEl>
                                        <p:attrNameLst>
                                          <p:attrName>style.visibility</p:attrName>
                                        </p:attrNameLst>
                                      </p:cBhvr>
                                      <p:to>
                                        <p:strVal val="visible"/>
                                      </p:to>
                                    </p:set>
                                    <p:animEffect transition="in" filter="blinds(horizontal)">
                                      <p:cBhvr>
                                        <p:cTn id="26" dur="500"/>
                                        <p:tgtEl>
                                          <p:spTgt spid="7">
                                            <p:txEl>
                                              <p:pRg st="5" end="5"/>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7">
                                            <p:txEl>
                                              <p:pRg st="6" end="6"/>
                                            </p:txEl>
                                          </p:spTgt>
                                        </p:tgtEl>
                                        <p:attrNameLst>
                                          <p:attrName>style.visibility</p:attrName>
                                        </p:attrNameLst>
                                      </p:cBhvr>
                                      <p:to>
                                        <p:strVal val="visible"/>
                                      </p:to>
                                    </p:set>
                                    <p:animEffect transition="in" filter="blinds(horizontal)">
                                      <p:cBhvr>
                                        <p:cTn id="29" dur="500"/>
                                        <p:tgtEl>
                                          <p:spTgt spid="7">
                                            <p:txEl>
                                              <p:pRg st="6" end="6"/>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7">
                                            <p:txEl>
                                              <p:pRg st="7" end="7"/>
                                            </p:txEl>
                                          </p:spTgt>
                                        </p:tgtEl>
                                        <p:attrNameLst>
                                          <p:attrName>style.visibility</p:attrName>
                                        </p:attrNameLst>
                                      </p:cBhvr>
                                      <p:to>
                                        <p:strVal val="visible"/>
                                      </p:to>
                                    </p:set>
                                    <p:animEffect transition="in" filter="blinds(horizontal)">
                                      <p:cBhvr>
                                        <p:cTn id="32" dur="500"/>
                                        <p:tgtEl>
                                          <p:spTgt spid="7">
                                            <p:txEl>
                                              <p:pRg st="7" end="7"/>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blinds(horizontal)">
                                      <p:cBhvr>
                                        <p:cTn id="35"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GRANT 2</a:t>
            </a:r>
            <a:endParaRPr lang="zh-CN" altLang="en-US" dirty="0"/>
          </a:p>
        </p:txBody>
      </p:sp>
      <p:sp>
        <p:nvSpPr>
          <p:cNvPr id="3" name="内容占位符 2"/>
          <p:cNvSpPr>
            <a:spLocks noGrp="1"/>
          </p:cNvSpPr>
          <p:nvPr>
            <p:ph idx="1"/>
          </p:nvPr>
        </p:nvSpPr>
        <p:spPr>
          <a:xfrm>
            <a:off x="424180" y="687070"/>
            <a:ext cx="11343005" cy="460375"/>
          </a:xfrm>
        </p:spPr>
        <p:txBody>
          <a:bodyPr>
            <a:spAutoFit/>
          </a:bodyPr>
          <a:lstStyle/>
          <a:p>
            <a:pPr>
              <a:lnSpc>
                <a:spcPct val="100000"/>
              </a:lnSpc>
            </a:pPr>
            <a:r>
              <a:rPr lang="en-US" altLang="zh-CN" sz="2400" dirty="0"/>
              <a:t>GRANT</a:t>
            </a:r>
            <a:r>
              <a:rPr lang="zh-CN" altLang="en-US" sz="2400" dirty="0"/>
              <a:t>语句的一般格式</a:t>
            </a:r>
          </a:p>
        </p:txBody>
      </p:sp>
      <p:sp>
        <p:nvSpPr>
          <p:cNvPr id="5" name="灯片编号占位符 4"/>
          <p:cNvSpPr>
            <a:spLocks noGrp="1"/>
          </p:cNvSpPr>
          <p:nvPr>
            <p:ph type="sldNum" sz="quarter" idx="12"/>
          </p:nvPr>
        </p:nvSpPr>
        <p:spPr/>
        <p:txBody>
          <a:bodyPr/>
          <a:lstStyle/>
          <a:p>
            <a:fld id="{565CE74E-AB26-4998-AD42-012C4C1AD076}" type="slidenum">
              <a:rPr lang="zh-CN" altLang="en-US" smtClean="0"/>
              <a:t>33</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
        <p:nvSpPr>
          <p:cNvPr id="6" name="内容占位符 2"/>
          <p:cNvSpPr>
            <a:spLocks noGrp="1"/>
          </p:cNvSpPr>
          <p:nvPr/>
        </p:nvSpPr>
        <p:spPr>
          <a:xfrm>
            <a:off x="424180" y="1209040"/>
            <a:ext cx="11343005" cy="1568450"/>
          </a:xfrm>
          <a:prstGeom prst="rect">
            <a:avLst/>
          </a:prstGeom>
          <a:solidFill>
            <a:schemeClr val="accent3">
              <a:lumMod val="20000"/>
              <a:lumOff val="80000"/>
              <a:alpha val="50000"/>
            </a:schemeClr>
          </a:solidFill>
          <a:ln>
            <a:solidFill>
              <a:schemeClr val="tx1"/>
            </a:solidFill>
          </a:ln>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lvl="1" indent="395605">
              <a:lnSpc>
                <a:spcPct val="100000"/>
              </a:lnSpc>
              <a:buNone/>
            </a:pPr>
            <a:r>
              <a:rPr lang="en-US" altLang="zh-CN" sz="2400" dirty="0">
                <a:solidFill>
                  <a:srgbClr val="C00000"/>
                </a:solidFill>
                <a:latin typeface="Calibri" panose="020F0502020204030204" charset="0"/>
                <a:cs typeface="Calibri" panose="020F0502020204030204" charset="0"/>
              </a:rPr>
              <a:t>GRANT  &lt;</a:t>
            </a:r>
            <a:r>
              <a:rPr lang="zh-CN" altLang="en-US" sz="2400" dirty="0">
                <a:solidFill>
                  <a:srgbClr val="C00000"/>
                </a:solidFill>
                <a:latin typeface="Calibri" panose="020F0502020204030204" charset="0"/>
                <a:cs typeface="Calibri" panose="020F0502020204030204" charset="0"/>
              </a:rPr>
              <a:t>权限</a:t>
            </a:r>
            <a:r>
              <a:rPr lang="en-US" altLang="zh-CN" sz="2400" dirty="0">
                <a:solidFill>
                  <a:srgbClr val="C00000"/>
                </a:solidFill>
                <a:latin typeface="Calibri" panose="020F0502020204030204" charset="0"/>
                <a:cs typeface="Calibri" panose="020F0502020204030204" charset="0"/>
              </a:rPr>
              <a:t>&gt; [ , &lt;</a:t>
            </a:r>
            <a:r>
              <a:rPr lang="zh-CN" altLang="en-US" sz="2400" dirty="0">
                <a:solidFill>
                  <a:srgbClr val="C00000"/>
                </a:solidFill>
                <a:latin typeface="Calibri" panose="020F0502020204030204" charset="0"/>
                <a:cs typeface="Calibri" panose="020F0502020204030204" charset="0"/>
              </a:rPr>
              <a:t>权限</a:t>
            </a:r>
            <a:r>
              <a:rPr lang="en-US" altLang="zh-CN" sz="2400" dirty="0">
                <a:solidFill>
                  <a:srgbClr val="C00000"/>
                </a:solidFill>
                <a:latin typeface="Calibri" panose="020F0502020204030204" charset="0"/>
                <a:cs typeface="Calibri" panose="020F0502020204030204" charset="0"/>
              </a:rPr>
              <a:t>&gt; ] ... </a:t>
            </a:r>
          </a:p>
          <a:p>
            <a:pPr marL="352425" lvl="1" indent="395605">
              <a:lnSpc>
                <a:spcPct val="100000"/>
              </a:lnSpc>
              <a:buNone/>
            </a:pPr>
            <a:r>
              <a:rPr lang="en-US" altLang="zh-CN" sz="2400" dirty="0">
                <a:solidFill>
                  <a:srgbClr val="C00000"/>
                </a:solidFill>
                <a:latin typeface="Calibri" panose="020F0502020204030204" charset="0"/>
                <a:cs typeface="Calibri" panose="020F0502020204030204" charset="0"/>
              </a:rPr>
              <a:t>ON  &lt;</a:t>
            </a:r>
            <a:r>
              <a:rPr lang="zh-CN" altLang="en-US" sz="2400" dirty="0">
                <a:solidFill>
                  <a:srgbClr val="C00000"/>
                </a:solidFill>
                <a:latin typeface="Calibri" panose="020F0502020204030204" charset="0"/>
                <a:cs typeface="Calibri" panose="020F0502020204030204" charset="0"/>
              </a:rPr>
              <a:t>对象类型</a:t>
            </a:r>
            <a:r>
              <a:rPr lang="en-US" altLang="zh-CN" sz="2400" dirty="0">
                <a:solidFill>
                  <a:srgbClr val="C00000"/>
                </a:solidFill>
                <a:latin typeface="Calibri" panose="020F0502020204030204" charset="0"/>
                <a:cs typeface="Calibri" panose="020F0502020204030204" charset="0"/>
              </a:rPr>
              <a:t>&gt;  &lt;</a:t>
            </a:r>
            <a:r>
              <a:rPr lang="zh-CN" altLang="en-US" sz="2400" dirty="0">
                <a:solidFill>
                  <a:srgbClr val="C00000"/>
                </a:solidFill>
                <a:latin typeface="Calibri" panose="020F0502020204030204" charset="0"/>
                <a:cs typeface="Calibri" panose="020F0502020204030204" charset="0"/>
              </a:rPr>
              <a:t>对象名</a:t>
            </a:r>
            <a:r>
              <a:rPr lang="en-US" altLang="zh-CN" sz="2400" dirty="0">
                <a:solidFill>
                  <a:srgbClr val="C00000"/>
                </a:solidFill>
                <a:latin typeface="Calibri" panose="020F0502020204030204" charset="0"/>
                <a:cs typeface="Calibri" panose="020F0502020204030204" charset="0"/>
              </a:rPr>
              <a:t>&gt; [ , &lt;</a:t>
            </a:r>
            <a:r>
              <a:rPr lang="zh-CN" altLang="en-US" sz="2400" dirty="0">
                <a:solidFill>
                  <a:srgbClr val="C00000"/>
                </a:solidFill>
                <a:latin typeface="Calibri" panose="020F0502020204030204" charset="0"/>
                <a:cs typeface="Calibri" panose="020F0502020204030204" charset="0"/>
              </a:rPr>
              <a:t>对象类型</a:t>
            </a:r>
            <a:r>
              <a:rPr lang="en-US" altLang="zh-CN" sz="2400" dirty="0">
                <a:solidFill>
                  <a:srgbClr val="C00000"/>
                </a:solidFill>
                <a:latin typeface="Calibri" panose="020F0502020204030204" charset="0"/>
                <a:cs typeface="Calibri" panose="020F0502020204030204" charset="0"/>
              </a:rPr>
              <a:t>&gt;  &lt;</a:t>
            </a:r>
            <a:r>
              <a:rPr lang="zh-CN" altLang="en-US" sz="2400" dirty="0">
                <a:solidFill>
                  <a:srgbClr val="C00000"/>
                </a:solidFill>
                <a:latin typeface="Calibri" panose="020F0502020204030204" charset="0"/>
                <a:cs typeface="Calibri" panose="020F0502020204030204" charset="0"/>
              </a:rPr>
              <a:t>对象名</a:t>
            </a:r>
            <a:r>
              <a:rPr lang="en-US" altLang="zh-CN" sz="2400" dirty="0">
                <a:solidFill>
                  <a:srgbClr val="C00000"/>
                </a:solidFill>
                <a:latin typeface="Calibri" panose="020F0502020204030204" charset="0"/>
                <a:cs typeface="Calibri" panose="020F0502020204030204" charset="0"/>
              </a:rPr>
              <a:t>&gt; ]…</a:t>
            </a:r>
          </a:p>
          <a:p>
            <a:pPr marL="352425" lvl="1" indent="395605">
              <a:lnSpc>
                <a:spcPct val="100000"/>
              </a:lnSpc>
              <a:buNone/>
            </a:pPr>
            <a:r>
              <a:rPr lang="en-US" altLang="zh-CN" sz="2400" dirty="0">
                <a:solidFill>
                  <a:srgbClr val="C00000"/>
                </a:solidFill>
                <a:latin typeface="Calibri" panose="020F0502020204030204" charset="0"/>
                <a:cs typeface="Calibri" panose="020F0502020204030204" charset="0"/>
              </a:rPr>
              <a:t>TO  &lt;</a:t>
            </a:r>
            <a:r>
              <a:rPr lang="zh-CN" altLang="en-US" sz="2400" dirty="0">
                <a:solidFill>
                  <a:srgbClr val="C00000"/>
                </a:solidFill>
                <a:latin typeface="Calibri" panose="020F0502020204030204" charset="0"/>
                <a:cs typeface="Calibri" panose="020F0502020204030204" charset="0"/>
              </a:rPr>
              <a:t>用户</a:t>
            </a:r>
            <a:r>
              <a:rPr lang="en-US" altLang="zh-CN" sz="2400" dirty="0">
                <a:solidFill>
                  <a:srgbClr val="C00000"/>
                </a:solidFill>
                <a:latin typeface="Calibri" panose="020F0502020204030204" charset="0"/>
                <a:cs typeface="Calibri" panose="020F0502020204030204" charset="0"/>
              </a:rPr>
              <a:t>&gt; [ , &lt;</a:t>
            </a:r>
            <a:r>
              <a:rPr lang="zh-CN" altLang="en-US" sz="2400" dirty="0">
                <a:solidFill>
                  <a:srgbClr val="C00000"/>
                </a:solidFill>
                <a:latin typeface="Calibri" panose="020F0502020204030204" charset="0"/>
                <a:cs typeface="Calibri" panose="020F0502020204030204" charset="0"/>
              </a:rPr>
              <a:t>用户</a:t>
            </a:r>
            <a:r>
              <a:rPr lang="en-US" altLang="zh-CN" sz="2400" dirty="0">
                <a:solidFill>
                  <a:srgbClr val="C00000"/>
                </a:solidFill>
                <a:latin typeface="Calibri" panose="020F0502020204030204" charset="0"/>
                <a:cs typeface="Calibri" panose="020F0502020204030204" charset="0"/>
              </a:rPr>
              <a:t>&gt; ] ...</a:t>
            </a:r>
          </a:p>
          <a:p>
            <a:pPr marL="352425" lvl="1" indent="395605">
              <a:lnSpc>
                <a:spcPct val="100000"/>
              </a:lnSpc>
              <a:buNone/>
            </a:pPr>
            <a:r>
              <a:rPr lang="en-US" altLang="zh-CN" sz="2400" dirty="0">
                <a:solidFill>
                  <a:srgbClr val="C00000"/>
                </a:solidFill>
                <a:latin typeface="Calibri" panose="020F0502020204030204" charset="0"/>
                <a:cs typeface="Calibri" panose="020F0502020204030204" charset="0"/>
              </a:rPr>
              <a:t>[ WITH GRANT OPTION ];</a:t>
            </a:r>
          </a:p>
        </p:txBody>
      </p:sp>
      <p:sp>
        <p:nvSpPr>
          <p:cNvPr id="8" name="内容占位符 2"/>
          <p:cNvSpPr>
            <a:spLocks noGrp="1"/>
          </p:cNvSpPr>
          <p:nvPr/>
        </p:nvSpPr>
        <p:spPr>
          <a:xfrm>
            <a:off x="424180" y="2923540"/>
            <a:ext cx="11343005" cy="3522345"/>
          </a:xfrm>
          <a:prstGeom prst="rect">
            <a:avLst/>
          </a:prstGeom>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dirty="0">
                <a:solidFill>
                  <a:srgbClr val="C00000"/>
                </a:solidFill>
                <a:latin typeface="Calibri" panose="020F0502020204030204" charset="0"/>
                <a:cs typeface="Calibri" panose="020F0502020204030204" charset="0"/>
              </a:rPr>
              <a:t>WITH GRANT OPTION</a:t>
            </a:r>
            <a:r>
              <a:rPr lang="zh-CN" altLang="en-US" sz="2400" dirty="0">
                <a:solidFill>
                  <a:srgbClr val="C00000"/>
                </a:solidFill>
                <a:latin typeface="Calibri" panose="020F0502020204030204" charset="0"/>
                <a:cs typeface="Calibri" panose="020F0502020204030204" charset="0"/>
              </a:rPr>
              <a:t>子句</a:t>
            </a:r>
            <a:endParaRPr lang="en-US" altLang="zh-CN" sz="2400" dirty="0">
              <a:latin typeface="Calibri" panose="020F0502020204030204" charset="0"/>
              <a:cs typeface="Calibri" panose="020F0502020204030204" charset="0"/>
            </a:endParaRPr>
          </a:p>
          <a:p>
            <a:pPr lvl="1">
              <a:lnSpc>
                <a:spcPct val="110000"/>
              </a:lnSpc>
              <a:spcBef>
                <a:spcPts val="800"/>
              </a:spcBef>
            </a:pPr>
            <a:r>
              <a:rPr lang="zh-CN" altLang="en-US" sz="2400" dirty="0">
                <a:latin typeface="Calibri" panose="020F0502020204030204" charset="0"/>
                <a:cs typeface="Calibri" panose="020F0502020204030204" charset="0"/>
              </a:rPr>
              <a:t>在</a:t>
            </a:r>
            <a:r>
              <a:rPr lang="en-US" altLang="zh-CN" sz="2400" dirty="0">
                <a:latin typeface="Calibri" panose="020F0502020204030204" charset="0"/>
                <a:cs typeface="Calibri" panose="020F0502020204030204" charset="0"/>
              </a:rPr>
              <a:t>GRANT</a:t>
            </a:r>
            <a:r>
              <a:rPr lang="zh-CN" altLang="en-US" sz="2400" dirty="0">
                <a:latin typeface="Calibri" panose="020F0502020204030204" charset="0"/>
                <a:cs typeface="Calibri" panose="020F0502020204030204" charset="0"/>
              </a:rPr>
              <a:t>命令中，如果使用了</a:t>
            </a:r>
            <a:r>
              <a:rPr lang="en-US" altLang="zh-CN" sz="2400" dirty="0">
                <a:latin typeface="Calibri" panose="020F0502020204030204" charset="0"/>
                <a:cs typeface="Calibri" panose="020F0502020204030204" charset="0"/>
              </a:rPr>
              <a:t>WITH GRANT OPTION</a:t>
            </a:r>
            <a:r>
              <a:rPr lang="zh-CN" altLang="en-US" sz="2400" dirty="0">
                <a:latin typeface="Calibri" panose="020F0502020204030204" charset="0"/>
                <a:cs typeface="Calibri" panose="020F0502020204030204" charset="0"/>
              </a:rPr>
              <a:t>选项，那么被授权用户同时获得所授予的存取权限的</a:t>
            </a:r>
            <a:r>
              <a:rPr lang="en-US" altLang="zh-CN" sz="2400" dirty="0">
                <a:latin typeface="Calibri" panose="020F0502020204030204" charset="0"/>
                <a:cs typeface="Calibri" panose="020F0502020204030204" charset="0"/>
              </a:rPr>
              <a:t>‘</a:t>
            </a:r>
            <a:r>
              <a:rPr lang="zh-CN" altLang="en-US" sz="2400" dirty="0">
                <a:latin typeface="Calibri" panose="020F0502020204030204" charset="0"/>
                <a:cs typeface="Calibri" panose="020F0502020204030204" charset="0"/>
              </a:rPr>
              <a:t>继续授权</a:t>
            </a:r>
            <a:r>
              <a:rPr lang="en-US" altLang="zh-CN" sz="2400" dirty="0">
                <a:latin typeface="Calibri" panose="020F0502020204030204" charset="0"/>
                <a:cs typeface="Calibri" panose="020F0502020204030204" charset="0"/>
              </a:rPr>
              <a:t>’</a:t>
            </a:r>
            <a:r>
              <a:rPr lang="zh-CN" altLang="en-US" sz="2400" dirty="0">
                <a:latin typeface="Calibri" panose="020F0502020204030204" charset="0"/>
                <a:cs typeface="Calibri" panose="020F0502020204030204" charset="0"/>
              </a:rPr>
              <a:t>许可，有权将接受到的权限再通过</a:t>
            </a:r>
            <a:r>
              <a:rPr lang="en-US" altLang="zh-CN" sz="2400" dirty="0">
                <a:latin typeface="Calibri" panose="020F0502020204030204" charset="0"/>
                <a:cs typeface="Calibri" panose="020F0502020204030204" charset="0"/>
              </a:rPr>
              <a:t>GRANT</a:t>
            </a:r>
            <a:r>
              <a:rPr lang="zh-CN" altLang="en-US" sz="2400" dirty="0">
                <a:latin typeface="Calibri" panose="020F0502020204030204" charset="0"/>
                <a:cs typeface="Calibri" panose="020F0502020204030204" charset="0"/>
              </a:rPr>
              <a:t>命令授予其他用户；</a:t>
            </a:r>
          </a:p>
          <a:p>
            <a:pPr lvl="1">
              <a:lnSpc>
                <a:spcPct val="110000"/>
              </a:lnSpc>
              <a:spcBef>
                <a:spcPts val="800"/>
              </a:spcBef>
            </a:pPr>
            <a:r>
              <a:rPr lang="zh-CN" altLang="en-US" sz="2400" dirty="0">
                <a:latin typeface="Calibri" panose="020F0502020204030204" charset="0"/>
                <a:cs typeface="Calibri" panose="020F0502020204030204" charset="0"/>
              </a:rPr>
              <a:t>否则，</a:t>
            </a:r>
            <a:r>
              <a:rPr lang="zh-CN" altLang="en-US" sz="2400" dirty="0">
                <a:latin typeface="Calibri" panose="020F0502020204030204" charset="0"/>
                <a:cs typeface="Calibri" panose="020F0502020204030204" charset="0"/>
                <a:sym typeface="+mn-ea"/>
              </a:rPr>
              <a:t>被授权</a:t>
            </a:r>
            <a:r>
              <a:rPr lang="zh-CN" altLang="en-US" sz="2400" dirty="0">
                <a:latin typeface="Calibri" panose="020F0502020204030204" charset="0"/>
                <a:cs typeface="Calibri" panose="020F0502020204030204" charset="0"/>
              </a:rPr>
              <a:t>用户只能获得</a:t>
            </a:r>
            <a:r>
              <a:rPr lang="zh-CN" altLang="en-US" sz="2400" dirty="0">
                <a:latin typeface="Calibri" panose="020F0502020204030204" charset="0"/>
                <a:cs typeface="Calibri" panose="020F0502020204030204" charset="0"/>
                <a:sym typeface="+mn-ea"/>
              </a:rPr>
              <a:t>所授予的存取权限，但</a:t>
            </a:r>
            <a:r>
              <a:rPr lang="zh-CN" altLang="en-US" sz="2400" dirty="0">
                <a:latin typeface="Calibri" panose="020F0502020204030204" charset="0"/>
                <a:cs typeface="Calibri" panose="020F0502020204030204" charset="0"/>
              </a:rPr>
              <a:t>不能把该存取权限再转授给其他用户。</a:t>
            </a:r>
          </a:p>
          <a:p>
            <a:pPr lvl="1">
              <a:lnSpc>
                <a:spcPct val="110000"/>
              </a:lnSpc>
              <a:spcBef>
                <a:spcPts val="3000"/>
              </a:spcBef>
            </a:pPr>
            <a:r>
              <a:rPr lang="zh-CN" altLang="en-US" sz="2400" dirty="0">
                <a:solidFill>
                  <a:srgbClr val="C00000"/>
                </a:solidFill>
                <a:latin typeface="Calibri" panose="020F0502020204030204" charset="0"/>
                <a:cs typeface="Calibri" panose="020F0502020204030204" charset="0"/>
              </a:rPr>
              <a:t>不允许循环授权</a:t>
            </a:r>
            <a:endParaRPr lang="en-US" altLang="zh-CN" sz="2400" dirty="0">
              <a:latin typeface="Calibri" panose="020F0502020204030204" charset="0"/>
              <a:cs typeface="Calibri" panose="020F0502020204030204" charset="0"/>
            </a:endParaRPr>
          </a:p>
        </p:txBody>
      </p:sp>
      <p:pic>
        <p:nvPicPr>
          <p:cNvPr id="9" name="Picture 4" descr="4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94350" y="5619115"/>
            <a:ext cx="4662805" cy="1076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blinds(horizontal)">
                                      <p:cBhvr>
                                        <p:cTn id="7" dur="500"/>
                                        <p:tgtEl>
                                          <p:spTgt spid="8">
                                            <p:txEl>
                                              <p:pRg st="3" end="3"/>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linds(horizontal)">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GRANT 3</a:t>
            </a:r>
            <a:endParaRPr lang="zh-CN" altLang="en-US" dirty="0"/>
          </a:p>
        </p:txBody>
      </p:sp>
      <p:sp>
        <p:nvSpPr>
          <p:cNvPr id="9" name="内容占位符 8"/>
          <p:cNvSpPr>
            <a:spLocks noGrp="1"/>
          </p:cNvSpPr>
          <p:nvPr>
            <p:ph idx="1"/>
          </p:nvPr>
        </p:nvSpPr>
        <p:spPr>
          <a:xfrm>
            <a:off x="424180" y="687070"/>
            <a:ext cx="11343005" cy="598805"/>
          </a:xfrm>
          <a:solidFill>
            <a:schemeClr val="accent3">
              <a:lumMod val="20000"/>
              <a:lumOff val="80000"/>
              <a:alpha val="50000"/>
            </a:schemeClr>
          </a:solidFill>
        </p:spPr>
        <p:txBody>
          <a:bodyPr>
            <a:noAutofit/>
          </a:bodyPr>
          <a:lstStyle/>
          <a:p>
            <a:r>
              <a:rPr lang="en-US" altLang="zh-CN" sz="3000" dirty="0">
                <a:sym typeface="+mn-ea"/>
              </a:rPr>
              <a:t>[</a:t>
            </a:r>
            <a:r>
              <a:rPr lang="zh-CN" altLang="en-US" sz="3000" dirty="0">
                <a:sym typeface="+mn-ea"/>
              </a:rPr>
              <a:t>例4.1</a:t>
            </a:r>
            <a:r>
              <a:rPr lang="en-US" altLang="zh-CN" sz="3000" dirty="0">
                <a:sym typeface="+mn-ea"/>
              </a:rPr>
              <a:t>]</a:t>
            </a:r>
            <a:r>
              <a:rPr lang="zh-CN" altLang="en-US" sz="3000" dirty="0">
                <a:sym typeface="+mn-ea"/>
              </a:rPr>
              <a:t>把查询</a:t>
            </a:r>
            <a:r>
              <a:rPr lang="en-US" altLang="zh-CN" sz="3000" dirty="0">
                <a:sym typeface="+mn-ea"/>
              </a:rPr>
              <a:t>Student</a:t>
            </a:r>
            <a:r>
              <a:rPr lang="zh-CN" altLang="en-US" sz="3000" dirty="0">
                <a:sym typeface="+mn-ea"/>
              </a:rPr>
              <a:t>表权限授给用户</a:t>
            </a:r>
            <a:r>
              <a:rPr lang="en-US" altLang="zh-CN" sz="3000" dirty="0">
                <a:sym typeface="+mn-ea"/>
              </a:rPr>
              <a:t>U1</a:t>
            </a:r>
            <a:r>
              <a:rPr lang="zh-CN" altLang="en-US" sz="3000" dirty="0">
                <a:sym typeface="+mn-ea"/>
              </a:rPr>
              <a:t>。</a:t>
            </a:r>
            <a:endParaRPr lang="zh-CN" altLang="en-US"/>
          </a:p>
        </p:txBody>
      </p:sp>
      <p:sp>
        <p:nvSpPr>
          <p:cNvPr id="10" name="内容占位符 9"/>
          <p:cNvSpPr>
            <a:spLocks noGrp="1"/>
          </p:cNvSpPr>
          <p:nvPr>
            <p:ph sz="half" idx="4294967295"/>
          </p:nvPr>
        </p:nvSpPr>
        <p:spPr>
          <a:xfrm>
            <a:off x="424180" y="3526790"/>
            <a:ext cx="11342370" cy="598805"/>
          </a:xfrm>
          <a:solidFill>
            <a:schemeClr val="accent3">
              <a:lumMod val="20000"/>
              <a:lumOff val="80000"/>
              <a:alpha val="50000"/>
            </a:schemeClr>
          </a:solidFill>
        </p:spPr>
        <p:txBody>
          <a:bodyPr wrap="square">
            <a:noAutofit/>
          </a:bodyPr>
          <a:lstStyle/>
          <a:p>
            <a:r>
              <a:rPr lang="en-US" altLang="zh-CN" sz="3000" dirty="0">
                <a:sym typeface="+mn-ea"/>
              </a:rPr>
              <a:t>[</a:t>
            </a:r>
            <a:r>
              <a:rPr lang="zh-CN" altLang="en-US" sz="3000" dirty="0">
                <a:sym typeface="+mn-ea"/>
              </a:rPr>
              <a:t>例</a:t>
            </a:r>
            <a:r>
              <a:rPr lang="en-US" altLang="zh-CN" sz="3000" dirty="0">
                <a:sym typeface="+mn-ea"/>
              </a:rPr>
              <a:t>4.2]</a:t>
            </a:r>
            <a:r>
              <a:rPr lang="zh-CN" altLang="en-US" sz="3000" dirty="0">
                <a:sym typeface="+mn-ea"/>
              </a:rPr>
              <a:t>把对</a:t>
            </a:r>
            <a:r>
              <a:rPr lang="en-US" altLang="zh-CN" sz="3000" dirty="0">
                <a:sym typeface="+mn-ea"/>
              </a:rPr>
              <a:t>Student</a:t>
            </a:r>
            <a:r>
              <a:rPr lang="zh-CN" altLang="en-US" sz="3000" dirty="0">
                <a:sym typeface="+mn-ea"/>
              </a:rPr>
              <a:t>表和</a:t>
            </a:r>
            <a:r>
              <a:rPr lang="en-US" altLang="zh-CN" sz="3000" dirty="0">
                <a:sym typeface="+mn-ea"/>
              </a:rPr>
              <a:t>Course</a:t>
            </a:r>
            <a:r>
              <a:rPr lang="zh-CN" altLang="en-US" sz="3000" dirty="0">
                <a:sym typeface="+mn-ea"/>
              </a:rPr>
              <a:t>表的全部权限授予用户</a:t>
            </a:r>
            <a:r>
              <a:rPr lang="en-US" altLang="zh-CN" sz="3000" dirty="0">
                <a:sym typeface="+mn-ea"/>
              </a:rPr>
              <a:t>U2</a:t>
            </a:r>
            <a:r>
              <a:rPr lang="zh-CN" altLang="en-US" sz="3000" dirty="0">
                <a:sym typeface="+mn-ea"/>
              </a:rPr>
              <a:t>和</a:t>
            </a:r>
            <a:r>
              <a:rPr lang="en-US" altLang="zh-CN" sz="3000" dirty="0">
                <a:sym typeface="+mn-ea"/>
              </a:rPr>
              <a:t>U3</a:t>
            </a:r>
            <a:r>
              <a:rPr lang="zh-CN" altLang="en-US" sz="3000" dirty="0">
                <a:sym typeface="+mn-ea"/>
              </a:rPr>
              <a:t>。</a:t>
            </a:r>
            <a:endParaRPr lang="zh-CN" altLang="en-US"/>
          </a:p>
        </p:txBody>
      </p:sp>
      <p:sp>
        <p:nvSpPr>
          <p:cNvPr id="6" name="内容占位符 2"/>
          <p:cNvSpPr>
            <a:spLocks noGrp="1"/>
          </p:cNvSpPr>
          <p:nvPr/>
        </p:nvSpPr>
        <p:spPr>
          <a:xfrm>
            <a:off x="1210310" y="1437005"/>
            <a:ext cx="5672455" cy="1512570"/>
          </a:xfrm>
          <a:prstGeom prst="rect">
            <a:avLst/>
          </a:prstGeom>
          <a:noFill/>
        </p:spPr>
        <p:txBody>
          <a:bodyPr vert="horz" wrap="square"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3855" lvl="1" indent="0">
              <a:lnSpc>
                <a:spcPct val="110000"/>
              </a:lnSpc>
              <a:spcBef>
                <a:spcPts val="1000"/>
              </a:spcBef>
              <a:buNone/>
            </a:pPr>
            <a:r>
              <a:rPr lang="en-US" altLang="zh-CN" sz="2800" dirty="0">
                <a:solidFill>
                  <a:srgbClr val="FF0000"/>
                </a:solidFill>
                <a:latin typeface="Calibri" panose="020F0502020204030204" charset="0"/>
                <a:cs typeface="Calibri" panose="020F0502020204030204" charset="0"/>
              </a:rPr>
              <a:t>GRANT   SELECT </a:t>
            </a:r>
          </a:p>
          <a:p>
            <a:pPr marL="363855" lvl="1" indent="0">
              <a:buNone/>
            </a:pPr>
            <a:r>
              <a:rPr lang="en-US" altLang="zh-CN" sz="2800" dirty="0">
                <a:solidFill>
                  <a:srgbClr val="FF0000"/>
                </a:solidFill>
                <a:latin typeface="Calibri" panose="020F0502020204030204" charset="0"/>
                <a:cs typeface="Calibri" panose="020F0502020204030204" charset="0"/>
              </a:rPr>
              <a:t>ON   TABLE   Student </a:t>
            </a:r>
          </a:p>
          <a:p>
            <a:pPr marL="363855" lvl="1" indent="0">
              <a:buNone/>
            </a:pPr>
            <a:r>
              <a:rPr lang="en-US" altLang="zh-CN" sz="2800" dirty="0">
                <a:solidFill>
                  <a:srgbClr val="FF0000"/>
                </a:solidFill>
                <a:latin typeface="Calibri" panose="020F0502020204030204" charset="0"/>
                <a:cs typeface="Calibri" panose="020F0502020204030204" charset="0"/>
              </a:rPr>
              <a:t>TO   U1 ;</a:t>
            </a:r>
          </a:p>
        </p:txBody>
      </p:sp>
      <p:sp>
        <p:nvSpPr>
          <p:cNvPr id="7" name="内容占位符 2"/>
          <p:cNvSpPr>
            <a:spLocks noGrp="1"/>
          </p:cNvSpPr>
          <p:nvPr/>
        </p:nvSpPr>
        <p:spPr>
          <a:xfrm>
            <a:off x="1210310" y="4222750"/>
            <a:ext cx="5671820" cy="1512570"/>
          </a:xfrm>
          <a:prstGeom prst="rect">
            <a:avLst/>
          </a:prstGeom>
          <a:noFill/>
        </p:spPr>
        <p:txBody>
          <a:bodyPr vert="horz" wrap="square"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3855" lvl="1" indent="0">
              <a:lnSpc>
                <a:spcPct val="110000"/>
              </a:lnSpc>
              <a:spcBef>
                <a:spcPts val="1000"/>
              </a:spcBef>
              <a:buNone/>
            </a:pPr>
            <a:r>
              <a:rPr lang="en-US" altLang="zh-CN" sz="2800" dirty="0">
                <a:solidFill>
                  <a:srgbClr val="FF0000"/>
                </a:solidFill>
                <a:latin typeface="Calibri" panose="020F0502020204030204" charset="0"/>
                <a:cs typeface="Calibri" panose="020F0502020204030204" charset="0"/>
              </a:rPr>
              <a:t>GRANT  ALL  PRIVILIGES </a:t>
            </a:r>
          </a:p>
          <a:p>
            <a:pPr marL="363855" lvl="1" indent="0">
              <a:buNone/>
            </a:pPr>
            <a:r>
              <a:rPr lang="en-US" altLang="zh-CN" sz="2800" dirty="0">
                <a:solidFill>
                  <a:srgbClr val="FF0000"/>
                </a:solidFill>
                <a:latin typeface="Calibri" panose="020F0502020204030204" charset="0"/>
                <a:cs typeface="Calibri" panose="020F0502020204030204" charset="0"/>
              </a:rPr>
              <a:t>ON  TABLE  </a:t>
            </a:r>
            <a:r>
              <a:rPr lang="en-US" altLang="zh-CN" sz="2800" dirty="0" err="1">
                <a:solidFill>
                  <a:srgbClr val="FF0000"/>
                </a:solidFill>
                <a:latin typeface="Calibri" panose="020F0502020204030204" charset="0"/>
                <a:cs typeface="Calibri" panose="020F0502020204030204" charset="0"/>
              </a:rPr>
              <a:t>Student, Course</a:t>
            </a:r>
            <a:r>
              <a:rPr lang="en-US" altLang="zh-CN" sz="2800" dirty="0">
                <a:solidFill>
                  <a:srgbClr val="FF0000"/>
                </a:solidFill>
                <a:latin typeface="Calibri" panose="020F0502020204030204" charset="0"/>
                <a:cs typeface="Calibri" panose="020F0502020204030204" charset="0"/>
              </a:rPr>
              <a:t> </a:t>
            </a:r>
          </a:p>
          <a:p>
            <a:pPr marL="363855" lvl="1" indent="0">
              <a:buNone/>
            </a:pPr>
            <a:r>
              <a:rPr lang="en-US" altLang="zh-CN" sz="2800" dirty="0">
                <a:solidFill>
                  <a:srgbClr val="FF0000"/>
                </a:solidFill>
                <a:latin typeface="Calibri" panose="020F0502020204030204" charset="0"/>
                <a:cs typeface="Calibri" panose="020F0502020204030204" charset="0"/>
              </a:rPr>
              <a:t>TO  U2, U3 ;</a:t>
            </a:r>
          </a:p>
        </p:txBody>
      </p:sp>
      <p:sp>
        <p:nvSpPr>
          <p:cNvPr id="8" name="灯片编号占位符 7"/>
          <p:cNvSpPr>
            <a:spLocks noGrp="1"/>
          </p:cNvSpPr>
          <p:nvPr>
            <p:ph type="sldNum" sz="quarter" idx="12"/>
          </p:nvPr>
        </p:nvSpPr>
        <p:spPr>
          <a:xfrm>
            <a:off x="11461115" y="6696000"/>
            <a:ext cx="730885" cy="153670"/>
          </a:xfrm>
        </p:spPr>
        <p:txBody>
          <a:bodyPr/>
          <a:lstStyle/>
          <a:p>
            <a:fld id="{565CE74E-AB26-4998-AD42-012C4C1AD076}" type="slidenum">
              <a:rPr lang="zh-CN" altLang="en-US" smtClean="0"/>
              <a:t>34</a:t>
            </a:fld>
            <a:endParaRPr lang="zh-CN" altLang="en-US"/>
          </a:p>
        </p:txBody>
      </p:sp>
      <p:sp>
        <p:nvSpPr>
          <p:cNvPr id="4" name="页脚占位符 3"/>
          <p:cNvSpPr>
            <a:spLocks noGrp="1"/>
          </p:cNvSpPr>
          <p:nvPr>
            <p:ph type="ftr" sz="quarter" idx="11"/>
          </p:nvPr>
        </p:nvSpPr>
        <p:spPr>
          <a:xfrm>
            <a:off x="0" y="6695365"/>
            <a:ext cx="4114800" cy="153670"/>
          </a:xfrm>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GRANT 4</a:t>
            </a:r>
            <a:endParaRPr lang="zh-CN" altLang="en-US" dirty="0"/>
          </a:p>
        </p:txBody>
      </p:sp>
      <p:sp>
        <p:nvSpPr>
          <p:cNvPr id="3" name="内容占位符 2"/>
          <p:cNvSpPr>
            <a:spLocks noGrp="1"/>
          </p:cNvSpPr>
          <p:nvPr>
            <p:ph idx="1"/>
          </p:nvPr>
        </p:nvSpPr>
        <p:spPr>
          <a:xfrm>
            <a:off x="424180" y="687070"/>
            <a:ext cx="11343005" cy="521970"/>
          </a:xfrm>
          <a:solidFill>
            <a:schemeClr val="accent3">
              <a:lumMod val="20000"/>
              <a:lumOff val="80000"/>
              <a:alpha val="50000"/>
            </a:schemeClr>
          </a:solidFill>
        </p:spPr>
        <p:txBody>
          <a:bodyPr>
            <a:noAutofit/>
          </a:bodyPr>
          <a:lstStyle/>
          <a:p>
            <a:pPr>
              <a:lnSpc>
                <a:spcPct val="100000"/>
              </a:lnSpc>
              <a:spcBef>
                <a:spcPct val="0"/>
              </a:spcBef>
            </a:pP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例4.</a:t>
            </a:r>
            <a:r>
              <a:rPr lang="en-US" altLang="zh-CN" sz="2800" dirty="0">
                <a:latin typeface="Calibri" panose="020F0502020204030204" charset="0"/>
                <a:cs typeface="Calibri" panose="020F0502020204030204" charset="0"/>
              </a:rPr>
              <a:t>3]</a:t>
            </a:r>
            <a:r>
              <a:rPr lang="zh-CN" altLang="en-US" sz="2800" dirty="0">
                <a:latin typeface="Calibri" panose="020F0502020204030204" charset="0"/>
                <a:cs typeface="Calibri" panose="020F0502020204030204" charset="0"/>
              </a:rPr>
              <a:t>把对表</a:t>
            </a:r>
            <a:r>
              <a:rPr lang="en-US" altLang="zh-CN" sz="2800" dirty="0">
                <a:latin typeface="Calibri" panose="020F0502020204030204" charset="0"/>
                <a:cs typeface="Calibri" panose="020F0502020204030204" charset="0"/>
              </a:rPr>
              <a:t>SC</a:t>
            </a:r>
            <a:r>
              <a:rPr lang="zh-CN" altLang="en-US" sz="2800" dirty="0">
                <a:latin typeface="Calibri" panose="020F0502020204030204" charset="0"/>
                <a:cs typeface="Calibri" panose="020F0502020204030204" charset="0"/>
              </a:rPr>
              <a:t>的查询权限授予所有用户。</a:t>
            </a:r>
            <a:endParaRPr lang="en-US" altLang="zh-CN" sz="2800" dirty="0">
              <a:solidFill>
                <a:srgbClr val="FF0000"/>
              </a:solidFill>
              <a:latin typeface="Calibri" panose="020F0502020204030204" charset="0"/>
              <a:cs typeface="Calibri" panose="020F0502020204030204" charset="0"/>
            </a:endParaRPr>
          </a:p>
        </p:txBody>
      </p:sp>
      <p:sp>
        <p:nvSpPr>
          <p:cNvPr id="8" name="内容占位符 7"/>
          <p:cNvSpPr>
            <a:spLocks noGrp="1"/>
          </p:cNvSpPr>
          <p:nvPr>
            <p:ph sz="half" idx="4294967295"/>
          </p:nvPr>
        </p:nvSpPr>
        <p:spPr>
          <a:xfrm>
            <a:off x="424180" y="3363595"/>
            <a:ext cx="11343005" cy="521970"/>
          </a:xfrm>
          <a:solidFill>
            <a:schemeClr val="accent3">
              <a:lumMod val="20000"/>
              <a:lumOff val="80000"/>
              <a:alpha val="50000"/>
            </a:schemeClr>
          </a:solidFill>
        </p:spPr>
        <p:txBody>
          <a:bodyPr wrap="square">
            <a:noAutofit/>
          </a:bodyPr>
          <a:lstStyle/>
          <a:p>
            <a:pPr>
              <a:lnSpc>
                <a:spcPct val="100000"/>
              </a:lnSpc>
              <a:spcBef>
                <a:spcPct val="0"/>
              </a:spcBef>
            </a:pPr>
            <a:r>
              <a:rPr lang="en-US" altLang="zh-CN" sz="2800" dirty="0">
                <a:latin typeface="Calibri" panose="020F0502020204030204" charset="0"/>
                <a:cs typeface="Calibri" panose="020F0502020204030204" charset="0"/>
                <a:sym typeface="+mn-ea"/>
              </a:rPr>
              <a:t>[</a:t>
            </a:r>
            <a:r>
              <a:rPr lang="zh-CN" altLang="en-US" sz="2800" dirty="0">
                <a:latin typeface="Calibri" panose="020F0502020204030204" charset="0"/>
                <a:cs typeface="Calibri" panose="020F0502020204030204" charset="0"/>
                <a:sym typeface="+mn-ea"/>
              </a:rPr>
              <a:t>例4.</a:t>
            </a:r>
            <a:r>
              <a:rPr lang="en-US" altLang="zh-CN" sz="2800" dirty="0">
                <a:latin typeface="Calibri" panose="020F0502020204030204" charset="0"/>
                <a:cs typeface="Calibri" panose="020F0502020204030204" charset="0"/>
                <a:sym typeface="+mn-ea"/>
              </a:rPr>
              <a:t>4]</a:t>
            </a:r>
            <a:r>
              <a:rPr lang="zh-CN" altLang="en-US" sz="2800" dirty="0">
                <a:latin typeface="Calibri" panose="020F0502020204030204" charset="0"/>
                <a:cs typeface="Calibri" panose="020F0502020204030204" charset="0"/>
                <a:sym typeface="+mn-ea"/>
              </a:rPr>
              <a:t>把查询</a:t>
            </a:r>
            <a:r>
              <a:rPr lang="en-US" altLang="zh-CN" sz="2800" dirty="0">
                <a:latin typeface="Calibri" panose="020F0502020204030204" charset="0"/>
                <a:cs typeface="Calibri" panose="020F0502020204030204" charset="0"/>
                <a:sym typeface="+mn-ea"/>
              </a:rPr>
              <a:t>Student</a:t>
            </a:r>
            <a:r>
              <a:rPr lang="zh-CN" altLang="en-US" sz="2800" dirty="0">
                <a:latin typeface="Calibri" panose="020F0502020204030204" charset="0"/>
                <a:cs typeface="Calibri" panose="020F0502020204030204" charset="0"/>
                <a:sym typeface="+mn-ea"/>
              </a:rPr>
              <a:t>表和修改学生学号的权限授给用户</a:t>
            </a:r>
            <a:r>
              <a:rPr lang="en-US" altLang="zh-CN" sz="2800" dirty="0">
                <a:latin typeface="Calibri" panose="020F0502020204030204" charset="0"/>
                <a:cs typeface="Calibri" panose="020F0502020204030204" charset="0"/>
                <a:sym typeface="+mn-ea"/>
              </a:rPr>
              <a:t>U4</a:t>
            </a:r>
            <a:r>
              <a:rPr lang="zh-CN" altLang="en-US" sz="2800" dirty="0">
                <a:latin typeface="Calibri" panose="020F0502020204030204" charset="0"/>
                <a:cs typeface="Calibri" panose="020F0502020204030204" charset="0"/>
                <a:sym typeface="+mn-ea"/>
              </a:rPr>
              <a:t>。</a:t>
            </a:r>
            <a:endParaRPr lang="en-US" altLang="zh-CN" sz="2800" dirty="0">
              <a:latin typeface="Calibri" panose="020F0502020204030204" charset="0"/>
              <a:cs typeface="Calibri" panose="020F0502020204030204" charset="0"/>
            </a:endParaRPr>
          </a:p>
        </p:txBody>
      </p:sp>
      <p:sp>
        <p:nvSpPr>
          <p:cNvPr id="5" name="灯片编号占位符 4"/>
          <p:cNvSpPr>
            <a:spLocks noGrp="1"/>
          </p:cNvSpPr>
          <p:nvPr>
            <p:ph type="sldNum" sz="quarter" idx="12"/>
          </p:nvPr>
        </p:nvSpPr>
        <p:spPr>
          <a:xfrm>
            <a:off x="11461115" y="6696000"/>
            <a:ext cx="730885" cy="153670"/>
          </a:xfrm>
        </p:spPr>
        <p:txBody>
          <a:bodyPr/>
          <a:lstStyle/>
          <a:p>
            <a:fld id="{565CE74E-AB26-4998-AD42-012C4C1AD076}" type="slidenum">
              <a:rPr lang="zh-CN" altLang="en-US" smtClean="0"/>
              <a:t>35</a:t>
            </a:fld>
            <a:endParaRPr lang="zh-CN" altLang="en-US"/>
          </a:p>
        </p:txBody>
      </p:sp>
      <p:sp>
        <p:nvSpPr>
          <p:cNvPr id="4" name="页脚占位符 3"/>
          <p:cNvSpPr>
            <a:spLocks noGrp="1"/>
          </p:cNvSpPr>
          <p:nvPr>
            <p:ph type="ftr" sz="quarter" idx="11"/>
          </p:nvPr>
        </p:nvSpPr>
        <p:spPr>
          <a:xfrm>
            <a:off x="0" y="6695365"/>
            <a:ext cx="4114800" cy="153670"/>
          </a:xfrm>
        </p:spPr>
        <p:txBody>
          <a:bodyPr/>
          <a:lstStyle/>
          <a:p>
            <a:r>
              <a:rPr lang="zh-CN" altLang="en-US"/>
              <a:t>ch04_数据库安全性</a:t>
            </a:r>
          </a:p>
        </p:txBody>
      </p:sp>
      <p:sp>
        <p:nvSpPr>
          <p:cNvPr id="6" name="内容占位符 2"/>
          <p:cNvSpPr>
            <a:spLocks noGrp="1"/>
          </p:cNvSpPr>
          <p:nvPr/>
        </p:nvSpPr>
        <p:spPr>
          <a:xfrm>
            <a:off x="2112645" y="1300480"/>
            <a:ext cx="9654540" cy="1383665"/>
          </a:xfrm>
          <a:prstGeom prst="rect">
            <a:avLst/>
          </a:prstGeom>
        </p:spPr>
        <p:txBody>
          <a:bodyPr vert="horz" wrap="square"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ct val="0"/>
              </a:spcBef>
              <a:buNone/>
            </a:pPr>
            <a:r>
              <a:rPr lang="en-US" altLang="zh-CN" sz="2800" dirty="0">
                <a:solidFill>
                  <a:srgbClr val="FF0000"/>
                </a:solidFill>
                <a:latin typeface="Calibri" panose="020F0502020204030204" charset="0"/>
                <a:cs typeface="Calibri" panose="020F0502020204030204" charset="0"/>
              </a:rPr>
              <a:t>GRANT  SELECT </a:t>
            </a:r>
          </a:p>
          <a:p>
            <a:pPr marL="0" lvl="0" indent="0">
              <a:lnSpc>
                <a:spcPct val="100000"/>
              </a:lnSpc>
              <a:spcBef>
                <a:spcPct val="0"/>
              </a:spcBef>
              <a:buNone/>
            </a:pPr>
            <a:r>
              <a:rPr lang="en-US" altLang="zh-CN" sz="2800" dirty="0">
                <a:solidFill>
                  <a:srgbClr val="FF0000"/>
                </a:solidFill>
                <a:latin typeface="Calibri" panose="020F0502020204030204" charset="0"/>
                <a:cs typeface="Calibri" panose="020F0502020204030204" charset="0"/>
              </a:rPr>
              <a:t>ON  TABLE  SC </a:t>
            </a:r>
          </a:p>
          <a:p>
            <a:pPr marL="0" lvl="0" indent="0">
              <a:lnSpc>
                <a:spcPct val="100000"/>
              </a:lnSpc>
              <a:spcBef>
                <a:spcPct val="0"/>
              </a:spcBef>
              <a:buNone/>
            </a:pPr>
            <a:r>
              <a:rPr lang="en-US" altLang="zh-CN" sz="2800" dirty="0">
                <a:solidFill>
                  <a:srgbClr val="FF0000"/>
                </a:solidFill>
                <a:latin typeface="Calibri" panose="020F0502020204030204" charset="0"/>
                <a:cs typeface="Calibri" panose="020F0502020204030204" charset="0"/>
              </a:rPr>
              <a:t>TO  PUBLIC;</a:t>
            </a:r>
          </a:p>
        </p:txBody>
      </p:sp>
      <p:sp>
        <p:nvSpPr>
          <p:cNvPr id="7" name="内容占位符 7"/>
          <p:cNvSpPr>
            <a:spLocks noGrp="1"/>
          </p:cNvSpPr>
          <p:nvPr/>
        </p:nvSpPr>
        <p:spPr>
          <a:xfrm>
            <a:off x="2112645" y="4053205"/>
            <a:ext cx="9654540" cy="1383665"/>
          </a:xfrm>
          <a:prstGeom prst="rect">
            <a:avLst/>
          </a:prstGeom>
        </p:spPr>
        <p:txBody>
          <a:bodyPr vert="horz" wrap="square"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3855" lvl="1" indent="-363855">
              <a:lnSpc>
                <a:spcPct val="100000"/>
              </a:lnSpc>
              <a:spcBef>
                <a:spcPct val="0"/>
              </a:spcBef>
              <a:buNone/>
            </a:pPr>
            <a:r>
              <a:rPr lang="en-US" altLang="zh-CN" dirty="0">
                <a:solidFill>
                  <a:srgbClr val="FF0000"/>
                </a:solidFill>
                <a:latin typeface="Calibri" panose="020F0502020204030204" charset="0"/>
                <a:cs typeface="Calibri" panose="020F0502020204030204" charset="0"/>
                <a:sym typeface="+mn-ea"/>
              </a:rPr>
              <a:t>GRANT  UPDATE(</a:t>
            </a:r>
            <a:r>
              <a:rPr lang="en-US" altLang="zh-CN" dirty="0" err="1">
                <a:solidFill>
                  <a:srgbClr val="FF0000"/>
                </a:solidFill>
                <a:latin typeface="Calibri" panose="020F0502020204030204" charset="0"/>
                <a:cs typeface="Calibri" panose="020F0502020204030204" charset="0"/>
                <a:sym typeface="+mn-ea"/>
              </a:rPr>
              <a:t>Sno</a:t>
            </a:r>
            <a:r>
              <a:rPr lang="en-US" altLang="zh-CN" dirty="0">
                <a:solidFill>
                  <a:srgbClr val="FF0000"/>
                </a:solidFill>
                <a:latin typeface="Calibri" panose="020F0502020204030204" charset="0"/>
                <a:cs typeface="Calibri" panose="020F0502020204030204" charset="0"/>
                <a:sym typeface="+mn-ea"/>
              </a:rPr>
              <a:t>), SELECT </a:t>
            </a:r>
            <a:endParaRPr lang="en-US" altLang="zh-CN" dirty="0">
              <a:solidFill>
                <a:srgbClr val="FF0000"/>
              </a:solidFill>
              <a:latin typeface="Calibri" panose="020F0502020204030204" charset="0"/>
              <a:cs typeface="Calibri" panose="020F0502020204030204" charset="0"/>
            </a:endParaRPr>
          </a:p>
          <a:p>
            <a:pPr marL="363855" lvl="1" indent="-363855">
              <a:lnSpc>
                <a:spcPct val="100000"/>
              </a:lnSpc>
              <a:spcBef>
                <a:spcPct val="0"/>
              </a:spcBef>
              <a:buNone/>
            </a:pPr>
            <a:r>
              <a:rPr lang="en-US" altLang="zh-CN" dirty="0">
                <a:solidFill>
                  <a:srgbClr val="FF0000"/>
                </a:solidFill>
                <a:latin typeface="Calibri" panose="020F0502020204030204" charset="0"/>
                <a:cs typeface="Calibri" panose="020F0502020204030204" charset="0"/>
                <a:sym typeface="+mn-ea"/>
              </a:rPr>
              <a:t>ON  TABLE  Student </a:t>
            </a:r>
            <a:endParaRPr lang="en-US" altLang="zh-CN" dirty="0">
              <a:solidFill>
                <a:srgbClr val="FF0000"/>
              </a:solidFill>
              <a:latin typeface="Calibri" panose="020F0502020204030204" charset="0"/>
              <a:cs typeface="Calibri" panose="020F0502020204030204" charset="0"/>
            </a:endParaRPr>
          </a:p>
          <a:p>
            <a:pPr marL="363855" lvl="1" indent="-363855">
              <a:lnSpc>
                <a:spcPct val="100000"/>
              </a:lnSpc>
              <a:spcBef>
                <a:spcPct val="0"/>
              </a:spcBef>
              <a:buNone/>
            </a:pPr>
            <a:r>
              <a:rPr lang="en-US" altLang="zh-CN" dirty="0">
                <a:solidFill>
                  <a:srgbClr val="FF0000"/>
                </a:solidFill>
                <a:latin typeface="Calibri" panose="020F0502020204030204" charset="0"/>
                <a:cs typeface="Calibri" panose="020F0502020204030204" charset="0"/>
                <a:sym typeface="+mn-ea"/>
              </a:rPr>
              <a:t>TO  U4;</a:t>
            </a:r>
            <a:endParaRPr lang="en-US" altLang="zh-CN" dirty="0">
              <a:latin typeface="Calibri" panose="020F0502020204030204" charset="0"/>
              <a:cs typeface="Calibri" panose="020F0502020204030204" charset="0"/>
            </a:endParaRPr>
          </a:p>
        </p:txBody>
      </p:sp>
      <p:sp>
        <p:nvSpPr>
          <p:cNvPr id="9" name="内容占位符 7"/>
          <p:cNvSpPr>
            <a:spLocks noGrp="1"/>
          </p:cNvSpPr>
          <p:nvPr/>
        </p:nvSpPr>
        <p:spPr>
          <a:xfrm>
            <a:off x="424180" y="5711190"/>
            <a:ext cx="11343005" cy="521970"/>
          </a:xfrm>
          <a:prstGeom prst="rect">
            <a:avLst/>
          </a:prstGeom>
        </p:spPr>
        <p:txBody>
          <a:bodyPr vert="horz" wrap="square"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00000"/>
              </a:lnSpc>
              <a:spcBef>
                <a:spcPct val="0"/>
              </a:spcBef>
            </a:pPr>
            <a:r>
              <a:rPr lang="zh-CN" altLang="en-US" dirty="0">
                <a:latin typeface="Calibri" panose="020F0502020204030204" charset="0"/>
                <a:cs typeface="Calibri" panose="020F0502020204030204" charset="0"/>
                <a:sym typeface="+mn-ea"/>
              </a:rPr>
              <a:t>对属性列的授权，必须明确指出相应属性列名 </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ppt_x"/>
                                          </p:val>
                                        </p:tav>
                                        <p:tav tm="100000">
                                          <p:val>
                                            <p:strVal val="#ppt_x"/>
                                          </p:val>
                                        </p:tav>
                                      </p:tavLst>
                                    </p:anim>
                                    <p:anim calcmode="lin" valueType="num">
                                      <p:cBhvr additive="base">
                                        <p:cTn id="19"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GRANT 5</a:t>
            </a:r>
            <a:endParaRPr lang="zh-CN" altLang="en-US" dirty="0"/>
          </a:p>
        </p:txBody>
      </p:sp>
      <p:sp>
        <p:nvSpPr>
          <p:cNvPr id="3" name="内容占位符 2"/>
          <p:cNvSpPr>
            <a:spLocks noGrp="1"/>
          </p:cNvSpPr>
          <p:nvPr>
            <p:ph idx="1"/>
          </p:nvPr>
        </p:nvSpPr>
        <p:spPr>
          <a:xfrm>
            <a:off x="424180" y="687070"/>
            <a:ext cx="11343005" cy="953135"/>
          </a:xfrm>
          <a:solidFill>
            <a:schemeClr val="accent3">
              <a:lumMod val="20000"/>
              <a:lumOff val="80000"/>
              <a:alpha val="50000"/>
            </a:schemeClr>
          </a:solidFill>
        </p:spPr>
        <p:txBody>
          <a:bodyPr>
            <a:noAutofit/>
          </a:bodyPr>
          <a:lstStyle/>
          <a:p>
            <a:pPr>
              <a:lnSpc>
                <a:spcPct val="100000"/>
              </a:lnSpc>
              <a:spcBef>
                <a:spcPct val="0"/>
              </a:spcBef>
            </a:pPr>
            <a:r>
              <a:rPr lang="en-US" altLang="zh-CN" sz="2800" dirty="0">
                <a:latin typeface="Calibri" panose="020F0502020204030204" charset="0"/>
                <a:cs typeface="Calibri" panose="020F0502020204030204" charset="0"/>
                <a:sym typeface="+mn-ea"/>
              </a:rPr>
              <a:t>[</a:t>
            </a:r>
            <a:r>
              <a:rPr lang="zh-CN" altLang="en-US" sz="2800" dirty="0">
                <a:latin typeface="Calibri" panose="020F0502020204030204" charset="0"/>
                <a:cs typeface="Calibri" panose="020F0502020204030204" charset="0"/>
                <a:sym typeface="+mn-ea"/>
              </a:rPr>
              <a:t>例4.</a:t>
            </a:r>
            <a:r>
              <a:rPr lang="en-US" altLang="zh-CN" sz="2800" dirty="0">
                <a:latin typeface="Calibri" panose="020F0502020204030204" charset="0"/>
                <a:cs typeface="Calibri" panose="020F0502020204030204" charset="0"/>
                <a:sym typeface="+mn-ea"/>
              </a:rPr>
              <a:t>5]</a:t>
            </a:r>
            <a:r>
              <a:rPr lang="zh-CN" altLang="en-US" sz="2800" dirty="0">
                <a:latin typeface="Calibri" panose="020F0502020204030204" charset="0"/>
                <a:cs typeface="Calibri" panose="020F0502020204030204" charset="0"/>
                <a:sym typeface="+mn-ea"/>
              </a:rPr>
              <a:t>把对表</a:t>
            </a:r>
            <a:r>
              <a:rPr lang="en-US" altLang="zh-CN" sz="2800" dirty="0">
                <a:latin typeface="Calibri" panose="020F0502020204030204" charset="0"/>
                <a:cs typeface="Calibri" panose="020F0502020204030204" charset="0"/>
                <a:sym typeface="+mn-ea"/>
              </a:rPr>
              <a:t>SC</a:t>
            </a:r>
            <a:r>
              <a:rPr lang="zh-CN" altLang="en-US" sz="2800" dirty="0">
                <a:latin typeface="Calibri" panose="020F0502020204030204" charset="0"/>
                <a:cs typeface="Calibri" panose="020F0502020204030204" charset="0"/>
                <a:sym typeface="+mn-ea"/>
              </a:rPr>
              <a:t>的</a:t>
            </a:r>
            <a:r>
              <a:rPr lang="en-US" altLang="zh-CN" sz="2800" dirty="0">
                <a:latin typeface="Calibri" panose="020F0502020204030204" charset="0"/>
                <a:cs typeface="Calibri" panose="020F0502020204030204" charset="0"/>
                <a:sym typeface="+mn-ea"/>
              </a:rPr>
              <a:t>INSERT</a:t>
            </a:r>
            <a:r>
              <a:rPr lang="zh-CN" altLang="en-US" sz="2800" dirty="0">
                <a:latin typeface="Calibri" panose="020F0502020204030204" charset="0"/>
                <a:cs typeface="Calibri" panose="020F0502020204030204" charset="0"/>
                <a:sym typeface="+mn-ea"/>
              </a:rPr>
              <a:t>权限授予</a:t>
            </a:r>
            <a:r>
              <a:rPr lang="en-US" altLang="zh-CN" sz="2800" dirty="0">
                <a:latin typeface="Calibri" panose="020F0502020204030204" charset="0"/>
                <a:cs typeface="Calibri" panose="020F0502020204030204" charset="0"/>
                <a:sym typeface="+mn-ea"/>
              </a:rPr>
              <a:t>U5</a:t>
            </a:r>
            <a:r>
              <a:rPr lang="zh-CN" altLang="en-US" sz="2800" dirty="0">
                <a:latin typeface="Calibri" panose="020F0502020204030204" charset="0"/>
                <a:cs typeface="Calibri" panose="020F0502020204030204" charset="0"/>
                <a:sym typeface="+mn-ea"/>
              </a:rPr>
              <a:t>用户，并允许他再将此权限授予其他用户。</a:t>
            </a:r>
            <a:endParaRPr lang="en-US" altLang="zh-CN" sz="2800" dirty="0">
              <a:latin typeface="Calibri" panose="020F0502020204030204" charset="0"/>
              <a:cs typeface="Calibri" panose="020F0502020204030204" charset="0"/>
            </a:endParaRPr>
          </a:p>
        </p:txBody>
      </p:sp>
      <p:sp>
        <p:nvSpPr>
          <p:cNvPr id="8" name="内容占位符 7"/>
          <p:cNvSpPr>
            <a:spLocks noGrp="1"/>
          </p:cNvSpPr>
          <p:nvPr>
            <p:ph sz="half" idx="4294967295"/>
          </p:nvPr>
        </p:nvSpPr>
        <p:spPr>
          <a:xfrm>
            <a:off x="424180" y="3429000"/>
            <a:ext cx="11343005" cy="953135"/>
          </a:xfrm>
          <a:solidFill>
            <a:schemeClr val="accent3">
              <a:lumMod val="20000"/>
              <a:lumOff val="80000"/>
              <a:alpha val="50000"/>
            </a:schemeClr>
          </a:solidFill>
        </p:spPr>
        <p:txBody>
          <a:bodyPr wrap="square">
            <a:noAutofit/>
          </a:bodyPr>
          <a:lstStyle/>
          <a:p>
            <a:pPr>
              <a:lnSpc>
                <a:spcPct val="100000"/>
              </a:lnSpc>
              <a:spcBef>
                <a:spcPct val="0"/>
              </a:spcBef>
            </a:pP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例4.</a:t>
            </a:r>
            <a:r>
              <a:rPr lang="en-US" altLang="zh-CN" sz="2800" dirty="0">
                <a:latin typeface="Calibri" panose="020F0502020204030204" charset="0"/>
                <a:cs typeface="Calibri" panose="020F0502020204030204" charset="0"/>
              </a:rPr>
              <a:t>6]</a:t>
            </a:r>
            <a:r>
              <a:rPr lang="zh-CN" altLang="en-US" sz="2800" dirty="0">
                <a:latin typeface="Calibri" panose="020F0502020204030204" charset="0"/>
                <a:cs typeface="Calibri" panose="020F0502020204030204" charset="0"/>
              </a:rPr>
              <a:t>用户</a:t>
            </a:r>
            <a:r>
              <a:rPr lang="en-US" altLang="zh-CN" sz="2800" dirty="0">
                <a:latin typeface="Calibri" panose="020F0502020204030204" charset="0"/>
                <a:cs typeface="Calibri" panose="020F0502020204030204" charset="0"/>
              </a:rPr>
              <a:t>U5</a:t>
            </a:r>
            <a:r>
              <a:rPr lang="zh-CN" altLang="en-US" sz="2800" dirty="0">
                <a:latin typeface="Calibri" panose="020F0502020204030204" charset="0"/>
                <a:cs typeface="Calibri" panose="020F0502020204030204" charset="0"/>
              </a:rPr>
              <a:t>可以执行下述命令，将之前获得的表</a:t>
            </a:r>
            <a:r>
              <a:rPr lang="en-US" altLang="zh-CN" sz="2800" dirty="0">
                <a:latin typeface="Calibri" panose="020F0502020204030204" charset="0"/>
                <a:cs typeface="Calibri" panose="020F0502020204030204" charset="0"/>
              </a:rPr>
              <a:t>SC</a:t>
            </a:r>
            <a:r>
              <a:rPr lang="zh-CN" altLang="en-US" sz="2800" dirty="0">
                <a:latin typeface="Calibri" panose="020F0502020204030204" charset="0"/>
                <a:cs typeface="Calibri" panose="020F0502020204030204" charset="0"/>
              </a:rPr>
              <a:t>的</a:t>
            </a:r>
            <a:r>
              <a:rPr lang="en-US" altLang="zh-CN" sz="2800" dirty="0">
                <a:latin typeface="Calibri" panose="020F0502020204030204" charset="0"/>
                <a:cs typeface="Calibri" panose="020F0502020204030204" charset="0"/>
              </a:rPr>
              <a:t>INSERT</a:t>
            </a:r>
            <a:r>
              <a:rPr lang="zh-CN" altLang="en-US" sz="2800" dirty="0">
                <a:latin typeface="Calibri" panose="020F0502020204030204" charset="0"/>
                <a:cs typeface="Calibri" panose="020F0502020204030204" charset="0"/>
              </a:rPr>
              <a:t>权限及传播权限</a:t>
            </a:r>
            <a:r>
              <a:rPr lang="en-US" altLang="zh-CN" sz="2800" dirty="0">
                <a:latin typeface="Calibri" panose="020F0502020204030204" charset="0"/>
                <a:cs typeface="Calibri" panose="020F0502020204030204" charset="0"/>
              </a:rPr>
              <a:t> </a:t>
            </a:r>
            <a:r>
              <a:rPr lang="zh-CN" altLang="en-US" sz="2800" dirty="0">
                <a:latin typeface="Calibri" panose="020F0502020204030204" charset="0"/>
                <a:cs typeface="Calibri" panose="020F0502020204030204" charset="0"/>
              </a:rPr>
              <a:t>授予用户</a:t>
            </a:r>
            <a:r>
              <a:rPr lang="en-US" altLang="zh-CN" sz="2800" dirty="0">
                <a:latin typeface="Calibri" panose="020F0502020204030204" charset="0"/>
                <a:cs typeface="Calibri" panose="020F0502020204030204" charset="0"/>
              </a:rPr>
              <a:t>U6</a:t>
            </a:r>
            <a:r>
              <a:rPr lang="zh-CN" altLang="en-US" sz="2800" dirty="0">
                <a:latin typeface="Calibri" panose="020F0502020204030204" charset="0"/>
                <a:cs typeface="Calibri" panose="020F0502020204030204" charset="0"/>
              </a:rPr>
              <a:t>。</a:t>
            </a:r>
            <a:endParaRPr lang="en-US" altLang="zh-CN" sz="2800" dirty="0">
              <a:solidFill>
                <a:srgbClr val="FF0000"/>
              </a:solidFill>
              <a:latin typeface="Calibri" panose="020F0502020204030204" charset="0"/>
              <a:cs typeface="Calibri" panose="020F0502020204030204" charset="0"/>
            </a:endParaRPr>
          </a:p>
        </p:txBody>
      </p:sp>
      <p:sp>
        <p:nvSpPr>
          <p:cNvPr id="5" name="灯片编号占位符 4"/>
          <p:cNvSpPr>
            <a:spLocks noGrp="1"/>
          </p:cNvSpPr>
          <p:nvPr>
            <p:ph type="sldNum" sz="quarter" idx="12"/>
          </p:nvPr>
        </p:nvSpPr>
        <p:spPr>
          <a:xfrm>
            <a:off x="11461115" y="6696000"/>
            <a:ext cx="730885" cy="153670"/>
          </a:xfrm>
        </p:spPr>
        <p:txBody>
          <a:bodyPr/>
          <a:lstStyle/>
          <a:p>
            <a:fld id="{565CE74E-AB26-4998-AD42-012C4C1AD076}" type="slidenum">
              <a:rPr lang="zh-CN" altLang="en-US" smtClean="0"/>
              <a:t>36</a:t>
            </a:fld>
            <a:endParaRPr lang="zh-CN" altLang="en-US"/>
          </a:p>
        </p:txBody>
      </p:sp>
      <p:sp>
        <p:nvSpPr>
          <p:cNvPr id="4" name="页脚占位符 3"/>
          <p:cNvSpPr>
            <a:spLocks noGrp="1"/>
          </p:cNvSpPr>
          <p:nvPr>
            <p:ph type="ftr" sz="quarter" idx="11"/>
          </p:nvPr>
        </p:nvSpPr>
        <p:spPr>
          <a:xfrm>
            <a:off x="0" y="6695365"/>
            <a:ext cx="4114800" cy="153670"/>
          </a:xfrm>
        </p:spPr>
        <p:txBody>
          <a:bodyPr/>
          <a:lstStyle/>
          <a:p>
            <a:r>
              <a:rPr lang="zh-CN" altLang="en-US"/>
              <a:t>ch04_数据库安全性</a:t>
            </a:r>
          </a:p>
        </p:txBody>
      </p:sp>
      <p:sp>
        <p:nvSpPr>
          <p:cNvPr id="6" name="内容占位符 2"/>
          <p:cNvSpPr>
            <a:spLocks noGrp="1"/>
          </p:cNvSpPr>
          <p:nvPr/>
        </p:nvSpPr>
        <p:spPr>
          <a:xfrm>
            <a:off x="424180" y="1640205"/>
            <a:ext cx="11343005" cy="521970"/>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3855" lvl="1" indent="0">
              <a:lnSpc>
                <a:spcPct val="100000"/>
              </a:lnSpc>
              <a:spcBef>
                <a:spcPct val="0"/>
              </a:spcBef>
              <a:buNone/>
            </a:pPr>
            <a:r>
              <a:rPr lang="en-US" altLang="zh-CN" sz="2800" dirty="0">
                <a:solidFill>
                  <a:srgbClr val="FF0000"/>
                </a:solidFill>
                <a:latin typeface="Calibri" panose="020F0502020204030204" charset="0"/>
                <a:cs typeface="Calibri" panose="020F0502020204030204" charset="0"/>
                <a:sym typeface="+mn-ea"/>
              </a:rPr>
              <a:t>GRANT  INSERT ON  TABLE  SC TO  U5  WITH GRANT OPTION;</a:t>
            </a:r>
            <a:endParaRPr lang="en-US" altLang="zh-CN" sz="2800" dirty="0">
              <a:latin typeface="Calibri" panose="020F0502020204030204" charset="0"/>
              <a:cs typeface="Calibri" panose="020F0502020204030204" charset="0"/>
            </a:endParaRPr>
          </a:p>
        </p:txBody>
      </p:sp>
      <p:sp>
        <p:nvSpPr>
          <p:cNvPr id="7" name="内容占位符 2"/>
          <p:cNvSpPr>
            <a:spLocks noGrp="1"/>
          </p:cNvSpPr>
          <p:nvPr/>
        </p:nvSpPr>
        <p:spPr>
          <a:xfrm>
            <a:off x="424180" y="2263140"/>
            <a:ext cx="11343005" cy="894080"/>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00000"/>
              </a:lnSpc>
              <a:spcBef>
                <a:spcPct val="0"/>
              </a:spcBef>
            </a:pPr>
            <a:r>
              <a:rPr lang="zh-CN" altLang="en-US" sz="2610" dirty="0">
                <a:latin typeface="Calibri" panose="020F0502020204030204" charset="0"/>
                <a:cs typeface="Calibri" panose="020F0502020204030204" charset="0"/>
                <a:sym typeface="+mn-ea"/>
              </a:rPr>
              <a:t>执行例4.</a:t>
            </a:r>
            <a:r>
              <a:rPr lang="en-US" altLang="zh-CN" sz="2610" dirty="0">
                <a:latin typeface="Calibri" panose="020F0502020204030204" charset="0"/>
                <a:cs typeface="Calibri" panose="020F0502020204030204" charset="0"/>
                <a:sym typeface="+mn-ea"/>
              </a:rPr>
              <a:t>5</a:t>
            </a:r>
            <a:r>
              <a:rPr lang="zh-CN" altLang="en-US" sz="2610" dirty="0">
                <a:latin typeface="Calibri" panose="020F0502020204030204" charset="0"/>
                <a:cs typeface="Calibri" panose="020F0502020204030204" charset="0"/>
                <a:sym typeface="+mn-ea"/>
              </a:rPr>
              <a:t>后，</a:t>
            </a:r>
            <a:r>
              <a:rPr lang="en-US" altLang="zh-CN" sz="2610" dirty="0">
                <a:latin typeface="Calibri" panose="020F0502020204030204" charset="0"/>
                <a:cs typeface="Calibri" panose="020F0502020204030204" charset="0"/>
                <a:sym typeface="+mn-ea"/>
              </a:rPr>
              <a:t>U5</a:t>
            </a:r>
            <a:r>
              <a:rPr lang="zh-CN" altLang="en-US" sz="2610" dirty="0">
                <a:latin typeface="Calibri" panose="020F0502020204030204" charset="0"/>
                <a:cs typeface="Calibri" panose="020F0502020204030204" charset="0"/>
                <a:sym typeface="+mn-ea"/>
              </a:rPr>
              <a:t>不仅拥有了对表</a:t>
            </a:r>
            <a:r>
              <a:rPr lang="en-US" altLang="zh-CN" sz="2610" dirty="0">
                <a:latin typeface="Calibri" panose="020F0502020204030204" charset="0"/>
                <a:cs typeface="Calibri" panose="020F0502020204030204" charset="0"/>
                <a:sym typeface="+mn-ea"/>
              </a:rPr>
              <a:t>SC</a:t>
            </a:r>
            <a:r>
              <a:rPr lang="zh-CN" altLang="en-US" sz="2610" dirty="0">
                <a:latin typeface="Calibri" panose="020F0502020204030204" charset="0"/>
                <a:cs typeface="Calibri" panose="020F0502020204030204" charset="0"/>
                <a:sym typeface="+mn-ea"/>
              </a:rPr>
              <a:t>的</a:t>
            </a:r>
            <a:r>
              <a:rPr lang="en-US" altLang="zh-CN" sz="2610" dirty="0">
                <a:latin typeface="Calibri" panose="020F0502020204030204" charset="0"/>
                <a:cs typeface="Calibri" panose="020F0502020204030204" charset="0"/>
                <a:sym typeface="+mn-ea"/>
              </a:rPr>
              <a:t>INSERT</a:t>
            </a:r>
            <a:r>
              <a:rPr lang="zh-CN" altLang="en-US" sz="2610" dirty="0">
                <a:latin typeface="Calibri" panose="020F0502020204030204" charset="0"/>
                <a:cs typeface="Calibri" panose="020F0502020204030204" charset="0"/>
                <a:sym typeface="+mn-ea"/>
              </a:rPr>
              <a:t>权限，还拥有该权限的</a:t>
            </a:r>
            <a:r>
              <a:rPr lang="en-US" altLang="zh-CN" sz="2610" dirty="0">
                <a:latin typeface="Calibri" panose="020F0502020204030204" charset="0"/>
                <a:cs typeface="Calibri" panose="020F0502020204030204" charset="0"/>
                <a:sym typeface="+mn-ea"/>
              </a:rPr>
              <a:t>‘</a:t>
            </a:r>
            <a:r>
              <a:rPr lang="zh-CN" altLang="en-US" sz="2610" dirty="0">
                <a:latin typeface="Calibri" panose="020F0502020204030204" charset="0"/>
                <a:cs typeface="Calibri" panose="020F0502020204030204" charset="0"/>
                <a:sym typeface="+mn-ea"/>
              </a:rPr>
              <a:t>继续授权</a:t>
            </a:r>
            <a:r>
              <a:rPr lang="en-US" altLang="zh-CN" sz="2610" dirty="0">
                <a:latin typeface="Calibri" panose="020F0502020204030204" charset="0"/>
                <a:cs typeface="Calibri" panose="020F0502020204030204" charset="0"/>
                <a:sym typeface="+mn-ea"/>
              </a:rPr>
              <a:t>’</a:t>
            </a:r>
            <a:r>
              <a:rPr lang="zh-CN" altLang="en-US" sz="2610" dirty="0">
                <a:latin typeface="Calibri" panose="020F0502020204030204" charset="0"/>
                <a:cs typeface="Calibri" panose="020F0502020204030204" charset="0"/>
                <a:sym typeface="+mn-ea"/>
              </a:rPr>
              <a:t>许可。</a:t>
            </a:r>
          </a:p>
        </p:txBody>
      </p:sp>
      <p:sp>
        <p:nvSpPr>
          <p:cNvPr id="9" name="内容占位符 7"/>
          <p:cNvSpPr>
            <a:spLocks noGrp="1"/>
          </p:cNvSpPr>
          <p:nvPr/>
        </p:nvSpPr>
        <p:spPr>
          <a:xfrm>
            <a:off x="424180" y="4416425"/>
            <a:ext cx="11343005" cy="521970"/>
          </a:xfrm>
          <a:prstGeom prst="rect">
            <a:avLst/>
          </a:prstGeom>
        </p:spPr>
        <p:txBody>
          <a:bodyPr vert="horz" wrap="square"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84810" indent="10160">
              <a:lnSpc>
                <a:spcPct val="100000"/>
              </a:lnSpc>
              <a:spcBef>
                <a:spcPct val="0"/>
              </a:spcBef>
              <a:buNone/>
            </a:pPr>
            <a:r>
              <a:rPr lang="en-US" altLang="zh-CN" sz="2800" dirty="0">
                <a:solidFill>
                  <a:srgbClr val="FF0000"/>
                </a:solidFill>
                <a:latin typeface="Calibri" panose="020F0502020204030204" charset="0"/>
                <a:cs typeface="Calibri" panose="020F0502020204030204" charset="0"/>
              </a:rPr>
              <a:t>GRANT  INSERT ON  TABLE  SC TO  U6  WITH GRANT OPTION;</a:t>
            </a:r>
          </a:p>
        </p:txBody>
      </p:sp>
      <p:sp>
        <p:nvSpPr>
          <p:cNvPr id="10" name="内容占位符 7"/>
          <p:cNvSpPr>
            <a:spLocks noGrp="1"/>
          </p:cNvSpPr>
          <p:nvPr/>
        </p:nvSpPr>
        <p:spPr>
          <a:xfrm>
            <a:off x="424180" y="5181600"/>
            <a:ext cx="11343005" cy="521970"/>
          </a:xfrm>
          <a:prstGeom prst="rect">
            <a:avLst/>
          </a:prstGeom>
          <a:solidFill>
            <a:schemeClr val="accent3">
              <a:lumMod val="20000"/>
              <a:lumOff val="80000"/>
              <a:alpha val="50000"/>
            </a:schemeClr>
          </a:solidFill>
        </p:spPr>
        <p:txBody>
          <a:bodyPr vert="horz" wrap="square"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ct val="0"/>
              </a:spcBef>
            </a:pP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例4.</a:t>
            </a:r>
            <a:r>
              <a:rPr lang="en-US" altLang="zh-CN" sz="2800" dirty="0">
                <a:latin typeface="Calibri" panose="020F0502020204030204" charset="0"/>
                <a:cs typeface="Calibri" panose="020F0502020204030204" charset="0"/>
              </a:rPr>
              <a:t>7]</a:t>
            </a:r>
            <a:r>
              <a:rPr lang="zh-CN" altLang="en-US" sz="2800" dirty="0">
                <a:latin typeface="Calibri" panose="020F0502020204030204" charset="0"/>
                <a:cs typeface="Calibri" panose="020F0502020204030204" charset="0"/>
              </a:rPr>
              <a:t>同样，</a:t>
            </a:r>
            <a:r>
              <a:rPr lang="en-US" altLang="zh-CN" sz="2800" dirty="0">
                <a:latin typeface="Calibri" panose="020F0502020204030204" charset="0"/>
                <a:cs typeface="Calibri" panose="020F0502020204030204" charset="0"/>
              </a:rPr>
              <a:t>U6</a:t>
            </a:r>
            <a:r>
              <a:rPr lang="zh-CN" altLang="en-US" sz="2800" dirty="0">
                <a:latin typeface="Calibri" panose="020F0502020204030204" charset="0"/>
                <a:cs typeface="Calibri" panose="020F0502020204030204" charset="0"/>
              </a:rPr>
              <a:t>还可以将此权限授予</a:t>
            </a:r>
            <a:r>
              <a:rPr lang="en-US" altLang="zh-CN" sz="2800" dirty="0">
                <a:latin typeface="Calibri" panose="020F0502020204030204" charset="0"/>
                <a:cs typeface="Calibri" panose="020F0502020204030204" charset="0"/>
              </a:rPr>
              <a:t>U7</a:t>
            </a:r>
            <a:r>
              <a:rPr lang="zh-CN" altLang="en-US" sz="2800" dirty="0">
                <a:latin typeface="Calibri" panose="020F0502020204030204" charset="0"/>
                <a:cs typeface="Calibri" panose="020F0502020204030204" charset="0"/>
              </a:rPr>
              <a:t>，但</a:t>
            </a:r>
            <a:r>
              <a:rPr lang="en-US" altLang="zh-CN" sz="2800" dirty="0">
                <a:latin typeface="Calibri" panose="020F0502020204030204" charset="0"/>
                <a:cs typeface="Calibri" panose="020F0502020204030204" charset="0"/>
              </a:rPr>
              <a:t>U7</a:t>
            </a:r>
            <a:r>
              <a:rPr lang="zh-CN" altLang="en-US" sz="2800" dirty="0">
                <a:latin typeface="Calibri" panose="020F0502020204030204" charset="0"/>
                <a:cs typeface="Calibri" panose="020F0502020204030204" charset="0"/>
              </a:rPr>
              <a:t>不能再传播此权限。</a:t>
            </a:r>
            <a:endParaRPr lang="en-US" altLang="zh-CN" sz="2800" dirty="0">
              <a:solidFill>
                <a:srgbClr val="FF0000"/>
              </a:solidFill>
              <a:latin typeface="Calibri" panose="020F0502020204030204" charset="0"/>
              <a:cs typeface="Calibri" panose="020F0502020204030204" charset="0"/>
            </a:endParaRPr>
          </a:p>
        </p:txBody>
      </p:sp>
      <p:sp>
        <p:nvSpPr>
          <p:cNvPr id="11" name="内容占位符 7"/>
          <p:cNvSpPr>
            <a:spLocks noGrp="1"/>
          </p:cNvSpPr>
          <p:nvPr/>
        </p:nvSpPr>
        <p:spPr>
          <a:xfrm>
            <a:off x="424180" y="5742940"/>
            <a:ext cx="11343005" cy="521970"/>
          </a:xfrm>
          <a:prstGeom prst="rect">
            <a:avLst/>
          </a:prstGeom>
        </p:spPr>
        <p:txBody>
          <a:bodyPr vert="horz" wrap="square"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3855" lvl="1" indent="0">
              <a:lnSpc>
                <a:spcPct val="100000"/>
              </a:lnSpc>
              <a:spcBef>
                <a:spcPct val="0"/>
              </a:spcBef>
              <a:buNone/>
            </a:pPr>
            <a:r>
              <a:rPr lang="en-US" altLang="zh-CN" sz="2800" dirty="0">
                <a:solidFill>
                  <a:srgbClr val="FF0000"/>
                </a:solidFill>
                <a:latin typeface="Calibri" panose="020F0502020204030204" charset="0"/>
                <a:cs typeface="Calibri" panose="020F0502020204030204" charset="0"/>
              </a:rPr>
              <a:t>GRANT  INSERT ON  TABLE  SC TO  U7;</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bg/>
                                          </p:spTgt>
                                        </p:tgtEl>
                                        <p:attrNameLst>
                                          <p:attrName>style.visibility</p:attrName>
                                        </p:attrNameLst>
                                      </p:cBhvr>
                                      <p:to>
                                        <p:strVal val="visible"/>
                                      </p:to>
                                    </p:set>
                                    <p:animEffect transition="in" filter="blinds(horizontal)">
                                      <p:cBhvr>
                                        <p:cTn id="17" dur="500"/>
                                        <p:tgtEl>
                                          <p:spTgt spid="8">
                                            <p:bg/>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blinds(horizontal)">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6" grpId="0"/>
      <p:bldP spid="7" grpId="0"/>
      <p:bldP spid="9" grpId="0"/>
      <p:bldP spid="10" grpId="0" animBg="1"/>
      <p:bldP spid="1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传播权限</a:t>
            </a:r>
          </a:p>
        </p:txBody>
      </p:sp>
      <p:sp>
        <p:nvSpPr>
          <p:cNvPr id="7" name="内容占位符 6"/>
          <p:cNvSpPr>
            <a:spLocks noGrp="1"/>
          </p:cNvSpPr>
          <p:nvPr>
            <p:ph idx="1"/>
          </p:nvPr>
        </p:nvSpPr>
        <p:spPr/>
        <p:txBody>
          <a:bodyPr>
            <a:normAutofit/>
          </a:bodyPr>
          <a:lstStyle/>
          <a:p>
            <a:r>
              <a:rPr lang="zh-CN" altLang="en-US" dirty="0"/>
              <a:t>执行了例</a:t>
            </a:r>
            <a:r>
              <a:rPr lang="en-US" altLang="zh-CN" dirty="0"/>
              <a:t>4.1~</a:t>
            </a:r>
            <a:r>
              <a:rPr lang="zh-CN" altLang="en-US" dirty="0"/>
              <a:t>例</a:t>
            </a:r>
            <a:r>
              <a:rPr lang="en-US" altLang="zh-CN" dirty="0"/>
              <a:t>4.7</a:t>
            </a:r>
            <a:r>
              <a:rPr lang="zh-CN" altLang="en-US" dirty="0"/>
              <a:t>语句后学生</a:t>
            </a:r>
            <a:r>
              <a:rPr lang="en-US" altLang="zh-CN" dirty="0"/>
              <a:t>-</a:t>
            </a:r>
            <a:r>
              <a:rPr lang="zh-CN" altLang="en-US" dirty="0"/>
              <a:t>课程数据库中的用户权限定义表 </a:t>
            </a:r>
          </a:p>
        </p:txBody>
      </p:sp>
      <p:graphicFrame>
        <p:nvGraphicFramePr>
          <p:cNvPr id="8" name="Group 5"/>
          <p:cNvGraphicFramePr/>
          <p:nvPr>
            <p:custDataLst>
              <p:tags r:id="rId1"/>
            </p:custDataLst>
          </p:nvPr>
        </p:nvGraphicFramePr>
        <p:xfrm>
          <a:off x="424180" y="1320165"/>
          <a:ext cx="11343005" cy="5257800"/>
        </p:xfrm>
        <a:graphic>
          <a:graphicData uri="http://schemas.openxmlformats.org/drawingml/2006/table">
            <a:tbl>
              <a:tblPr/>
              <a:tblGrid>
                <a:gridCol w="1854200">
                  <a:extLst>
                    <a:ext uri="{9D8B030D-6E8A-4147-A177-3AD203B41FA5}">
                      <a16:colId xmlns:a16="http://schemas.microsoft.com/office/drawing/2014/main" val="20000"/>
                    </a:ext>
                  </a:extLst>
                </a:gridCol>
                <a:gridCol w="2161540">
                  <a:extLst>
                    <a:ext uri="{9D8B030D-6E8A-4147-A177-3AD203B41FA5}">
                      <a16:colId xmlns:a16="http://schemas.microsoft.com/office/drawing/2014/main" val="20001"/>
                    </a:ext>
                  </a:extLst>
                </a:gridCol>
                <a:gridCol w="3030220">
                  <a:extLst>
                    <a:ext uri="{9D8B030D-6E8A-4147-A177-3AD203B41FA5}">
                      <a16:colId xmlns:a16="http://schemas.microsoft.com/office/drawing/2014/main" val="20002"/>
                    </a:ext>
                  </a:extLst>
                </a:gridCol>
                <a:gridCol w="2467610">
                  <a:extLst>
                    <a:ext uri="{9D8B030D-6E8A-4147-A177-3AD203B41FA5}">
                      <a16:colId xmlns:a16="http://schemas.microsoft.com/office/drawing/2014/main" val="20003"/>
                    </a:ext>
                  </a:extLst>
                </a:gridCol>
                <a:gridCol w="1829435">
                  <a:extLst>
                    <a:ext uri="{9D8B030D-6E8A-4147-A177-3AD203B41FA5}">
                      <a16:colId xmlns:a16="http://schemas.microsoft.com/office/drawing/2014/main" val="20004"/>
                    </a:ext>
                  </a:extLst>
                </a:gridCol>
              </a:tblGrid>
              <a:tr h="366395">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400" b="1" i="0" u="none" strike="noStrike" cap="none" normalizeH="0" baseline="0" dirty="0">
                          <a:ln>
                            <a:noFill/>
                          </a:ln>
                          <a:solidFill>
                            <a:schemeClr val="tx1"/>
                          </a:solidFill>
                          <a:effectLst/>
                          <a:latin typeface="Arial" panose="020B0604020202020204" pitchFamily="34" charset="0"/>
                          <a:ea typeface="楷体" panose="02010609060101010101" charset="-122"/>
                        </a:rPr>
                        <a:t>授权用户名</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400" b="1" i="0" u="none" strike="noStrike" cap="none" normalizeH="0" baseline="0" dirty="0">
                          <a:ln>
                            <a:noFill/>
                          </a:ln>
                          <a:solidFill>
                            <a:schemeClr val="tx1"/>
                          </a:solidFill>
                          <a:effectLst/>
                          <a:latin typeface="Arial" panose="020B0604020202020204" pitchFamily="34" charset="0"/>
                          <a:ea typeface="楷体" panose="02010609060101010101" charset="-122"/>
                        </a:rPr>
                        <a:t>被授权用户名</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400" b="1" i="0" u="none" strike="noStrike" cap="none" normalizeH="0" baseline="0">
                          <a:ln>
                            <a:noFill/>
                          </a:ln>
                          <a:solidFill>
                            <a:schemeClr val="tx1"/>
                          </a:solidFill>
                          <a:effectLst/>
                          <a:latin typeface="Arial" panose="020B0604020202020204" pitchFamily="34" charset="0"/>
                          <a:ea typeface="楷体" panose="02010609060101010101" charset="-122"/>
                        </a:rPr>
                        <a:t>数据库对象名</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400" b="1" i="0" u="none" strike="noStrike" cap="none" normalizeH="0" baseline="0">
                          <a:ln>
                            <a:noFill/>
                          </a:ln>
                          <a:solidFill>
                            <a:schemeClr val="tx1"/>
                          </a:solidFill>
                          <a:effectLst/>
                          <a:latin typeface="Arial" panose="020B0604020202020204" pitchFamily="34" charset="0"/>
                          <a:ea typeface="楷体" panose="02010609060101010101" charset="-122"/>
                        </a:rPr>
                        <a:t>允许的操作类型</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400" b="1" i="0" u="none" strike="noStrike" cap="none" normalizeH="0" baseline="0">
                          <a:ln>
                            <a:noFill/>
                          </a:ln>
                          <a:solidFill>
                            <a:schemeClr val="tx1"/>
                          </a:solidFill>
                          <a:effectLst/>
                          <a:latin typeface="Arial" panose="020B0604020202020204" pitchFamily="34" charset="0"/>
                          <a:ea typeface="楷体" panose="02010609060101010101" charset="-122"/>
                        </a:rPr>
                        <a:t>能否转授权</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0"/>
                  </a:ext>
                </a:extLst>
              </a:tr>
              <a:tr h="366395">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DBA</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U1</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关系</a:t>
                      </a: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Student</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SELECT</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400" b="1" i="0" u="none" strike="noStrike" cap="none" normalizeH="0" baseline="0">
                          <a:ln>
                            <a:noFill/>
                          </a:ln>
                          <a:solidFill>
                            <a:srgbClr val="0000C8"/>
                          </a:solidFill>
                          <a:effectLst/>
                          <a:latin typeface="Arial" panose="020B0604020202020204" pitchFamily="34" charset="0"/>
                          <a:ea typeface="楷体" panose="02010609060101010101" charset="-122"/>
                        </a:rPr>
                        <a:t>不能</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6395">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DBA</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U2</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关系</a:t>
                      </a: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Student</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ALL</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400" b="1" i="0" u="none" strike="noStrike" cap="none" normalizeH="0" baseline="0">
                          <a:ln>
                            <a:noFill/>
                          </a:ln>
                          <a:solidFill>
                            <a:srgbClr val="0000C8"/>
                          </a:solidFill>
                          <a:effectLst/>
                          <a:latin typeface="Arial" panose="020B0604020202020204" pitchFamily="34" charset="0"/>
                          <a:ea typeface="楷体" panose="02010609060101010101" charset="-122"/>
                        </a:rPr>
                        <a:t>不能</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extLst>
                  <a:ext uri="{0D108BD9-81ED-4DB2-BD59-A6C34878D82A}">
                    <a16:rowId xmlns:a16="http://schemas.microsoft.com/office/drawing/2014/main" val="10002"/>
                  </a:ext>
                </a:extLst>
              </a:tr>
              <a:tr h="366395">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DBA</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U2</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关系</a:t>
                      </a: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Course</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ALL</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400" b="1" i="0" u="none" strike="noStrike" cap="none" normalizeH="0" baseline="0">
                          <a:ln>
                            <a:noFill/>
                          </a:ln>
                          <a:solidFill>
                            <a:srgbClr val="0000C8"/>
                          </a:solidFill>
                          <a:effectLst/>
                          <a:latin typeface="Arial" panose="020B0604020202020204" pitchFamily="34" charset="0"/>
                          <a:ea typeface="楷体" panose="02010609060101010101" charset="-122"/>
                        </a:rPr>
                        <a:t>不能</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6395">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DBA</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U3</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关系</a:t>
                      </a: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Student</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ALL</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400" b="1" i="0" u="none" strike="noStrike" cap="none" normalizeH="0" baseline="0">
                          <a:ln>
                            <a:noFill/>
                          </a:ln>
                          <a:solidFill>
                            <a:srgbClr val="0000C8"/>
                          </a:solidFill>
                          <a:effectLst/>
                          <a:latin typeface="Arial" panose="020B0604020202020204" pitchFamily="34" charset="0"/>
                          <a:ea typeface="楷体" panose="02010609060101010101" charset="-122"/>
                        </a:rPr>
                        <a:t>不能</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extLst>
                  <a:ext uri="{0D108BD9-81ED-4DB2-BD59-A6C34878D82A}">
                    <a16:rowId xmlns:a16="http://schemas.microsoft.com/office/drawing/2014/main" val="10004"/>
                  </a:ext>
                </a:extLst>
              </a:tr>
              <a:tr h="366395">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DBA</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U3</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关系</a:t>
                      </a: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Course</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ALL</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400" b="1" i="0" u="none" strike="noStrike" cap="none" normalizeH="0" baseline="0" dirty="0">
                          <a:ln>
                            <a:noFill/>
                          </a:ln>
                          <a:solidFill>
                            <a:srgbClr val="0000C8"/>
                          </a:solidFill>
                          <a:effectLst/>
                          <a:latin typeface="Arial" panose="020B0604020202020204" pitchFamily="34" charset="0"/>
                          <a:ea typeface="楷体" panose="02010609060101010101" charset="-122"/>
                        </a:rPr>
                        <a:t>不能</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6395">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DBA</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PUBLIC</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关系</a:t>
                      </a: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SC</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SELECT</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400" b="1" i="0" u="none" strike="noStrike" cap="none" normalizeH="0" baseline="0" dirty="0">
                          <a:ln>
                            <a:noFill/>
                          </a:ln>
                          <a:solidFill>
                            <a:srgbClr val="0000C8"/>
                          </a:solidFill>
                          <a:effectLst/>
                          <a:latin typeface="Arial" panose="020B0604020202020204" pitchFamily="34" charset="0"/>
                          <a:ea typeface="楷体" panose="02010609060101010101" charset="-122"/>
                        </a:rPr>
                        <a:t>不能</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extLst>
                  <a:ext uri="{0D108BD9-81ED-4DB2-BD59-A6C34878D82A}">
                    <a16:rowId xmlns:a16="http://schemas.microsoft.com/office/drawing/2014/main" val="10006"/>
                  </a:ext>
                </a:extLst>
              </a:tr>
              <a:tr h="366395">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DBA</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U4</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关系</a:t>
                      </a: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Student</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SELECT</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400" b="1" i="0" u="none" strike="noStrike" cap="none" normalizeH="0" baseline="0" dirty="0">
                          <a:ln>
                            <a:noFill/>
                          </a:ln>
                          <a:solidFill>
                            <a:srgbClr val="0000C8"/>
                          </a:solidFill>
                          <a:effectLst/>
                          <a:latin typeface="Arial" panose="020B0604020202020204" pitchFamily="34" charset="0"/>
                          <a:ea typeface="楷体" panose="02010609060101010101" charset="-122"/>
                        </a:rPr>
                        <a:t>不能</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6395">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DBA</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U4</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属性列</a:t>
                      </a:r>
                      <a:r>
                        <a:rPr kumimoji="0" lang="en-US" sz="2400" b="1" i="0" u="none" strike="noStrike" cap="none" normalizeH="0" baseline="0" dirty="0" err="1">
                          <a:ln>
                            <a:noFill/>
                          </a:ln>
                          <a:solidFill>
                            <a:srgbClr val="0000C8"/>
                          </a:solidFill>
                          <a:effectLst/>
                          <a:latin typeface="Arial" panose="020B0604020202020204" pitchFamily="34" charset="0"/>
                          <a:ea typeface="楷体" panose="02010609060101010101" charset="-122"/>
                          <a:cs typeface="Arial" panose="020B0604020202020204" pitchFamily="34" charset="0"/>
                        </a:rPr>
                        <a:t>Student.Sno</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UPDATE</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400" b="1" i="0" u="none" strike="noStrike" cap="none" normalizeH="0" baseline="0" dirty="0">
                          <a:ln>
                            <a:noFill/>
                          </a:ln>
                          <a:solidFill>
                            <a:srgbClr val="0000C8"/>
                          </a:solidFill>
                          <a:effectLst/>
                          <a:latin typeface="Arial" panose="020B0604020202020204" pitchFamily="34" charset="0"/>
                          <a:ea typeface="楷体" panose="02010609060101010101" charset="-122"/>
                        </a:rPr>
                        <a:t>不能</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extLst>
                  <a:ext uri="{0D108BD9-81ED-4DB2-BD59-A6C34878D82A}">
                    <a16:rowId xmlns:a16="http://schemas.microsoft.com/office/drawing/2014/main" val="10008"/>
                  </a:ext>
                </a:extLst>
              </a:tr>
              <a:tr h="366395">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DBA</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U5</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关系</a:t>
                      </a: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SC</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INSERT</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400" b="1" i="0" u="none" strike="noStrike" cap="none" normalizeH="0" baseline="0" dirty="0">
                          <a:ln>
                            <a:noFill/>
                          </a:ln>
                          <a:solidFill>
                            <a:srgbClr val="0000C8"/>
                          </a:solidFill>
                          <a:effectLst/>
                          <a:latin typeface="Arial" panose="020B0604020202020204" pitchFamily="34" charset="0"/>
                          <a:ea typeface="楷体" panose="02010609060101010101" charset="-122"/>
                        </a:rPr>
                        <a:t>能</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66395">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U5</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U6</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关系</a:t>
                      </a: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SC</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INSERT</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400" b="1" i="0" u="none" strike="noStrike" cap="none" normalizeH="0" baseline="0" dirty="0">
                          <a:ln>
                            <a:noFill/>
                          </a:ln>
                          <a:solidFill>
                            <a:srgbClr val="0000C8"/>
                          </a:solidFill>
                          <a:effectLst/>
                          <a:latin typeface="Arial" panose="020B0604020202020204" pitchFamily="34" charset="0"/>
                          <a:ea typeface="楷体" panose="02010609060101010101" charset="-122"/>
                        </a:rPr>
                        <a:t>能</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extLst>
                  <a:ext uri="{0D108BD9-81ED-4DB2-BD59-A6C34878D82A}">
                    <a16:rowId xmlns:a16="http://schemas.microsoft.com/office/drawing/2014/main" val="10010"/>
                  </a:ext>
                </a:extLst>
              </a:tr>
              <a:tr h="366395">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U6</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U7</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关系</a:t>
                      </a: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SC</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INSERT</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400" b="1" i="0" u="none" strike="noStrike" cap="none" normalizeH="0" baseline="0" dirty="0">
                          <a:ln>
                            <a:noFill/>
                          </a:ln>
                          <a:solidFill>
                            <a:srgbClr val="0000C8"/>
                          </a:solidFill>
                          <a:effectLst/>
                          <a:latin typeface="Arial" panose="020B0604020202020204" pitchFamily="34" charset="0"/>
                          <a:ea typeface="楷体" panose="02010609060101010101" charset="-122"/>
                        </a:rPr>
                        <a:t>不能</a:t>
                      </a:r>
                    </a:p>
                  </a:txBody>
                  <a:tcPr marT="36195" marB="36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2" name="灯片编号占位符 1"/>
          <p:cNvSpPr>
            <a:spLocks noGrp="1"/>
          </p:cNvSpPr>
          <p:nvPr>
            <p:ph type="sldNum" sz="quarter" idx="12"/>
          </p:nvPr>
        </p:nvSpPr>
        <p:spPr/>
        <p:txBody>
          <a:bodyPr/>
          <a:lstStyle/>
          <a:p>
            <a:fld id="{565CE74E-AB26-4998-AD42-012C4C1AD076}" type="slidenum">
              <a:rPr lang="zh-CN" altLang="en-US" smtClean="0"/>
              <a:t>37</a:t>
            </a:fld>
            <a:endParaRPr lang="zh-CN" altLang="en-US"/>
          </a:p>
        </p:txBody>
      </p:sp>
      <p:sp>
        <p:nvSpPr>
          <p:cNvPr id="3" name="页脚占位符 2"/>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REVOKE 1</a:t>
            </a:r>
            <a:endParaRPr lang="zh-CN" altLang="en-US" dirty="0"/>
          </a:p>
        </p:txBody>
      </p:sp>
      <p:sp>
        <p:nvSpPr>
          <p:cNvPr id="3" name="内容占位符 2"/>
          <p:cNvSpPr>
            <a:spLocks noGrp="1"/>
          </p:cNvSpPr>
          <p:nvPr>
            <p:ph idx="1"/>
          </p:nvPr>
        </p:nvSpPr>
        <p:spPr>
          <a:xfrm>
            <a:off x="424180" y="687070"/>
            <a:ext cx="11343005" cy="2371090"/>
          </a:xfrm>
        </p:spPr>
        <p:txBody>
          <a:bodyPr>
            <a:noAutofit/>
          </a:bodyPr>
          <a:lstStyle/>
          <a:p>
            <a:pPr>
              <a:lnSpc>
                <a:spcPct val="110000"/>
              </a:lnSpc>
              <a:spcBef>
                <a:spcPts val="1000"/>
              </a:spcBef>
            </a:pPr>
            <a:r>
              <a:rPr lang="en-US" altLang="zh-CN" sz="2800" dirty="0">
                <a:latin typeface="Calibri" panose="020F0502020204030204" charset="0"/>
                <a:cs typeface="Calibri" panose="020F0502020204030204" charset="0"/>
              </a:rPr>
              <a:t>REVOKE</a:t>
            </a:r>
          </a:p>
          <a:p>
            <a:pPr lvl="1">
              <a:lnSpc>
                <a:spcPct val="110000"/>
              </a:lnSpc>
              <a:spcBef>
                <a:spcPts val="1000"/>
              </a:spcBef>
            </a:pPr>
            <a:r>
              <a:rPr lang="zh-CN" altLang="en-US" sz="2800" dirty="0">
                <a:latin typeface="Calibri" panose="020F0502020204030204" charset="0"/>
                <a:cs typeface="Calibri" panose="020F0502020204030204" charset="0"/>
              </a:rPr>
              <a:t>授予的权限可以由数据库管理员或其他授权者用</a:t>
            </a:r>
            <a:r>
              <a:rPr lang="en-US" altLang="zh-CN" sz="2800" dirty="0">
                <a:latin typeface="Calibri" panose="020F0502020204030204" charset="0"/>
                <a:cs typeface="Calibri" panose="020F0502020204030204" charset="0"/>
              </a:rPr>
              <a:t>REVOKE</a:t>
            </a:r>
            <a:r>
              <a:rPr lang="zh-CN" altLang="en-US" sz="2800" dirty="0">
                <a:latin typeface="Calibri" panose="020F0502020204030204" charset="0"/>
                <a:cs typeface="Calibri" panose="020F0502020204030204" charset="0"/>
              </a:rPr>
              <a:t>语句收回</a:t>
            </a:r>
          </a:p>
          <a:p>
            <a:pPr lvl="1">
              <a:lnSpc>
                <a:spcPct val="110000"/>
              </a:lnSpc>
              <a:spcBef>
                <a:spcPts val="1000"/>
              </a:spcBef>
            </a:pPr>
            <a:endParaRPr lang="zh-CN" altLang="en-US" sz="2800" dirty="0">
              <a:latin typeface="Calibri" panose="020F0502020204030204" charset="0"/>
              <a:cs typeface="Calibri" panose="020F0502020204030204" charset="0"/>
            </a:endParaRPr>
          </a:p>
          <a:p>
            <a:pPr>
              <a:lnSpc>
                <a:spcPct val="110000"/>
              </a:lnSpc>
              <a:spcBef>
                <a:spcPts val="1000"/>
              </a:spcBef>
            </a:pPr>
            <a:r>
              <a:rPr lang="en-US" altLang="zh-CN" sz="2800" dirty="0">
                <a:latin typeface="Calibri" panose="020F0502020204030204" charset="0"/>
                <a:cs typeface="Calibri" panose="020F0502020204030204" charset="0"/>
              </a:rPr>
              <a:t>REVOKE</a:t>
            </a:r>
            <a:r>
              <a:rPr lang="zh-CN" altLang="en-US" sz="2800" dirty="0">
                <a:latin typeface="Calibri" panose="020F0502020204030204" charset="0"/>
                <a:cs typeface="Calibri" panose="020F0502020204030204" charset="0"/>
              </a:rPr>
              <a:t>语句的一般格式为</a:t>
            </a:r>
            <a:endParaRPr lang="en-US" altLang="zh-CN" sz="2800" dirty="0">
              <a:solidFill>
                <a:srgbClr val="FF0000"/>
              </a:solidFill>
              <a:latin typeface="Calibri" panose="020F0502020204030204" charset="0"/>
              <a:cs typeface="Calibri" panose="020F0502020204030204" charset="0"/>
            </a:endParaRPr>
          </a:p>
        </p:txBody>
      </p:sp>
      <p:sp>
        <p:nvSpPr>
          <p:cNvPr id="5" name="灯片编号占位符 4"/>
          <p:cNvSpPr>
            <a:spLocks noGrp="1"/>
          </p:cNvSpPr>
          <p:nvPr>
            <p:ph type="sldNum" sz="quarter" idx="12"/>
          </p:nvPr>
        </p:nvSpPr>
        <p:spPr/>
        <p:txBody>
          <a:bodyPr/>
          <a:lstStyle/>
          <a:p>
            <a:fld id="{565CE74E-AB26-4998-AD42-012C4C1AD076}" type="slidenum">
              <a:rPr lang="zh-CN" altLang="en-US" smtClean="0"/>
              <a:t>38</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
        <p:nvSpPr>
          <p:cNvPr id="6" name="内容占位符 2"/>
          <p:cNvSpPr>
            <a:spLocks noGrp="1"/>
          </p:cNvSpPr>
          <p:nvPr/>
        </p:nvSpPr>
        <p:spPr>
          <a:xfrm>
            <a:off x="424180" y="3160395"/>
            <a:ext cx="11343005" cy="1769110"/>
          </a:xfrm>
          <a:prstGeom prst="rect">
            <a:avLst/>
          </a:prstGeom>
          <a:solidFill>
            <a:schemeClr val="accent3">
              <a:lumMod val="20000"/>
              <a:lumOff val="80000"/>
              <a:alpha val="50000"/>
            </a:schemeClr>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3855" lvl="1" indent="-8890">
              <a:lnSpc>
                <a:spcPct val="110000"/>
              </a:lnSpc>
              <a:spcBef>
                <a:spcPts val="1000"/>
              </a:spcBef>
              <a:buNone/>
            </a:pPr>
            <a:r>
              <a:rPr lang="en-US" altLang="zh-CN" sz="2800" dirty="0">
                <a:solidFill>
                  <a:srgbClr val="FF0000"/>
                </a:solidFill>
                <a:latin typeface="Calibri" panose="020F0502020204030204" charset="0"/>
                <a:cs typeface="Calibri" panose="020F0502020204030204" charset="0"/>
              </a:rPr>
              <a:t>REVOKE &lt;</a:t>
            </a:r>
            <a:r>
              <a:rPr lang="zh-CN" altLang="en-US" sz="2800" dirty="0">
                <a:solidFill>
                  <a:srgbClr val="FF0000"/>
                </a:solidFill>
                <a:latin typeface="Calibri" panose="020F0502020204030204" charset="0"/>
                <a:cs typeface="Calibri" panose="020F0502020204030204" charset="0"/>
              </a:rPr>
              <a:t>权限</a:t>
            </a:r>
            <a:r>
              <a:rPr lang="en-US" altLang="zh-CN" sz="2800" dirty="0">
                <a:solidFill>
                  <a:srgbClr val="FF0000"/>
                </a:solidFill>
                <a:latin typeface="Calibri" panose="020F0502020204030204" charset="0"/>
                <a:cs typeface="Calibri" panose="020F0502020204030204" charset="0"/>
              </a:rPr>
              <a:t>&gt; [ , &lt;</a:t>
            </a:r>
            <a:r>
              <a:rPr lang="zh-CN" altLang="en-US" sz="2800" dirty="0">
                <a:solidFill>
                  <a:srgbClr val="FF0000"/>
                </a:solidFill>
                <a:latin typeface="Calibri" panose="020F0502020204030204" charset="0"/>
                <a:cs typeface="Calibri" panose="020F0502020204030204" charset="0"/>
              </a:rPr>
              <a:t>权限</a:t>
            </a:r>
            <a:r>
              <a:rPr lang="en-US" altLang="zh-CN" sz="2800" dirty="0">
                <a:solidFill>
                  <a:srgbClr val="FF0000"/>
                </a:solidFill>
                <a:latin typeface="Calibri" panose="020F0502020204030204" charset="0"/>
                <a:cs typeface="Calibri" panose="020F0502020204030204" charset="0"/>
              </a:rPr>
              <a:t>&gt; ] ... </a:t>
            </a:r>
          </a:p>
          <a:p>
            <a:pPr marL="363855" lvl="1" indent="-8890">
              <a:lnSpc>
                <a:spcPct val="110000"/>
              </a:lnSpc>
              <a:spcBef>
                <a:spcPts val="1000"/>
              </a:spcBef>
              <a:buNone/>
            </a:pPr>
            <a:r>
              <a:rPr lang="en-US" altLang="zh-CN" sz="2800" dirty="0">
                <a:solidFill>
                  <a:srgbClr val="FF0000"/>
                </a:solidFill>
                <a:latin typeface="Calibri" panose="020F0502020204030204" charset="0"/>
                <a:cs typeface="Calibri" panose="020F0502020204030204" charset="0"/>
              </a:rPr>
              <a:t>ON &lt;</a:t>
            </a:r>
            <a:r>
              <a:rPr lang="zh-CN" altLang="en-US" sz="2800" dirty="0">
                <a:solidFill>
                  <a:srgbClr val="FF0000"/>
                </a:solidFill>
                <a:latin typeface="Calibri" panose="020F0502020204030204" charset="0"/>
                <a:cs typeface="Calibri" panose="020F0502020204030204" charset="0"/>
              </a:rPr>
              <a:t>对象类型</a:t>
            </a:r>
            <a:r>
              <a:rPr lang="en-US" altLang="zh-CN" sz="2800" dirty="0">
                <a:solidFill>
                  <a:srgbClr val="FF0000"/>
                </a:solidFill>
                <a:latin typeface="Calibri" panose="020F0502020204030204" charset="0"/>
                <a:cs typeface="Calibri" panose="020F0502020204030204" charset="0"/>
              </a:rPr>
              <a:t>&gt;  &lt;</a:t>
            </a:r>
            <a:r>
              <a:rPr lang="zh-CN" altLang="en-US" sz="2800" dirty="0">
                <a:solidFill>
                  <a:srgbClr val="FF0000"/>
                </a:solidFill>
                <a:latin typeface="Calibri" panose="020F0502020204030204" charset="0"/>
                <a:cs typeface="Calibri" panose="020F0502020204030204" charset="0"/>
              </a:rPr>
              <a:t>对象名</a:t>
            </a:r>
            <a:r>
              <a:rPr lang="en-US" altLang="zh-CN" sz="2800" dirty="0">
                <a:solidFill>
                  <a:srgbClr val="FF0000"/>
                </a:solidFill>
                <a:latin typeface="Calibri" panose="020F0502020204030204" charset="0"/>
                <a:cs typeface="Calibri" panose="020F0502020204030204" charset="0"/>
              </a:rPr>
              <a:t>&gt; [ , &lt;</a:t>
            </a:r>
            <a:r>
              <a:rPr lang="zh-CN" altLang="en-US" sz="2800" dirty="0">
                <a:solidFill>
                  <a:srgbClr val="FF0000"/>
                </a:solidFill>
                <a:latin typeface="Calibri" panose="020F0502020204030204" charset="0"/>
                <a:cs typeface="Calibri" panose="020F0502020204030204" charset="0"/>
              </a:rPr>
              <a:t>对象类型</a:t>
            </a:r>
            <a:r>
              <a:rPr lang="en-US" altLang="zh-CN" sz="2800" dirty="0">
                <a:solidFill>
                  <a:srgbClr val="FF0000"/>
                </a:solidFill>
                <a:latin typeface="Calibri" panose="020F0502020204030204" charset="0"/>
                <a:cs typeface="Calibri" panose="020F0502020204030204" charset="0"/>
              </a:rPr>
              <a:t>&gt;  &lt;</a:t>
            </a:r>
            <a:r>
              <a:rPr lang="zh-CN" altLang="en-US" sz="2800" dirty="0">
                <a:solidFill>
                  <a:srgbClr val="FF0000"/>
                </a:solidFill>
                <a:latin typeface="Calibri" panose="020F0502020204030204" charset="0"/>
                <a:cs typeface="Calibri" panose="020F0502020204030204" charset="0"/>
              </a:rPr>
              <a:t>对象名</a:t>
            </a:r>
            <a:r>
              <a:rPr lang="en-US" altLang="zh-CN" sz="2800" dirty="0">
                <a:solidFill>
                  <a:srgbClr val="FF0000"/>
                </a:solidFill>
                <a:latin typeface="Calibri" panose="020F0502020204030204" charset="0"/>
                <a:cs typeface="Calibri" panose="020F0502020204030204" charset="0"/>
              </a:rPr>
              <a:t>&gt; ]…</a:t>
            </a:r>
          </a:p>
          <a:p>
            <a:pPr marL="363855" lvl="1" indent="-8890">
              <a:lnSpc>
                <a:spcPct val="110000"/>
              </a:lnSpc>
              <a:spcBef>
                <a:spcPts val="1000"/>
              </a:spcBef>
              <a:buNone/>
            </a:pPr>
            <a:r>
              <a:rPr lang="en-US" altLang="zh-CN" sz="2800" dirty="0">
                <a:solidFill>
                  <a:srgbClr val="FF0000"/>
                </a:solidFill>
                <a:latin typeface="Calibri" panose="020F0502020204030204" charset="0"/>
                <a:cs typeface="Calibri" panose="020F0502020204030204" charset="0"/>
              </a:rPr>
              <a:t>FROM &lt;</a:t>
            </a:r>
            <a:r>
              <a:rPr lang="zh-CN" altLang="en-US" sz="2800" dirty="0">
                <a:solidFill>
                  <a:srgbClr val="FF0000"/>
                </a:solidFill>
                <a:latin typeface="Calibri" panose="020F0502020204030204" charset="0"/>
                <a:cs typeface="Calibri" panose="020F0502020204030204" charset="0"/>
              </a:rPr>
              <a:t>用户</a:t>
            </a:r>
            <a:r>
              <a:rPr lang="en-US" altLang="zh-CN" sz="2800" dirty="0">
                <a:solidFill>
                  <a:srgbClr val="FF0000"/>
                </a:solidFill>
                <a:latin typeface="Calibri" panose="020F0502020204030204" charset="0"/>
                <a:cs typeface="Calibri" panose="020F0502020204030204" charset="0"/>
              </a:rPr>
              <a:t>&gt; [ , &lt;</a:t>
            </a:r>
            <a:r>
              <a:rPr lang="zh-CN" altLang="en-US" sz="2800" dirty="0">
                <a:solidFill>
                  <a:srgbClr val="FF0000"/>
                </a:solidFill>
                <a:latin typeface="Calibri" panose="020F0502020204030204" charset="0"/>
                <a:cs typeface="Calibri" panose="020F0502020204030204" charset="0"/>
              </a:rPr>
              <a:t>用户</a:t>
            </a:r>
            <a:r>
              <a:rPr lang="en-US" altLang="zh-CN" sz="2800" dirty="0">
                <a:solidFill>
                  <a:srgbClr val="FF0000"/>
                </a:solidFill>
                <a:latin typeface="Calibri" panose="020F0502020204030204" charset="0"/>
                <a:cs typeface="Calibri" panose="020F0502020204030204" charset="0"/>
              </a:rPr>
              <a:t>&gt; ] ... [ CASCADE | RESTRICT ];</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ltLang="zh-CN" dirty="0"/>
              <a:t>REVOKE 2</a:t>
            </a:r>
            <a:endParaRPr lang="zh-CN" altLang="en-US" dirty="0"/>
          </a:p>
        </p:txBody>
      </p:sp>
      <p:sp>
        <p:nvSpPr>
          <p:cNvPr id="9" name="内容占位符 8"/>
          <p:cNvSpPr>
            <a:spLocks noGrp="1"/>
          </p:cNvSpPr>
          <p:nvPr>
            <p:ph idx="1"/>
          </p:nvPr>
        </p:nvSpPr>
        <p:spPr>
          <a:xfrm>
            <a:off x="424180" y="687070"/>
            <a:ext cx="11343005" cy="565150"/>
          </a:xfrm>
          <a:solidFill>
            <a:schemeClr val="accent3">
              <a:lumMod val="20000"/>
              <a:lumOff val="80000"/>
              <a:alpha val="50000"/>
            </a:schemeClr>
          </a:solidFill>
        </p:spPr>
        <p:txBody>
          <a:bodyPr>
            <a:spAutoFit/>
          </a:bodyPr>
          <a:lstStyle/>
          <a:p>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例4.</a:t>
            </a:r>
            <a:r>
              <a:rPr lang="en-US" altLang="zh-CN" sz="2800" dirty="0">
                <a:latin typeface="Calibri" panose="020F0502020204030204" charset="0"/>
                <a:cs typeface="Calibri" panose="020F0502020204030204" charset="0"/>
              </a:rPr>
              <a:t>8]</a:t>
            </a:r>
            <a:r>
              <a:rPr lang="zh-CN" altLang="en-US" sz="2800" dirty="0">
                <a:latin typeface="Calibri" panose="020F0502020204030204" charset="0"/>
                <a:cs typeface="Calibri" panose="020F0502020204030204" charset="0"/>
              </a:rPr>
              <a:t>把用户</a:t>
            </a:r>
            <a:r>
              <a:rPr lang="en-US" altLang="zh-CN" sz="2800" dirty="0">
                <a:latin typeface="Calibri" panose="020F0502020204030204" charset="0"/>
                <a:cs typeface="Calibri" panose="020F0502020204030204" charset="0"/>
              </a:rPr>
              <a:t>U4</a:t>
            </a:r>
            <a:r>
              <a:rPr lang="zh-CN" altLang="en-US" sz="2800" dirty="0">
                <a:latin typeface="Calibri" panose="020F0502020204030204" charset="0"/>
                <a:cs typeface="Calibri" panose="020F0502020204030204" charset="0"/>
              </a:rPr>
              <a:t>修改学生学号的权限收回。</a:t>
            </a:r>
            <a:endParaRPr lang="en-US" altLang="zh-CN" sz="2800" dirty="0">
              <a:solidFill>
                <a:srgbClr val="FF0000"/>
              </a:solidFill>
              <a:latin typeface="Calibri" panose="020F0502020204030204" charset="0"/>
              <a:cs typeface="Calibri" panose="020F0502020204030204" charset="0"/>
            </a:endParaRPr>
          </a:p>
        </p:txBody>
      </p:sp>
      <p:sp>
        <p:nvSpPr>
          <p:cNvPr id="2" name="灯片编号占位符 1"/>
          <p:cNvSpPr>
            <a:spLocks noGrp="1"/>
          </p:cNvSpPr>
          <p:nvPr>
            <p:ph type="sldNum" sz="quarter" idx="12"/>
          </p:nvPr>
        </p:nvSpPr>
        <p:spPr>
          <a:xfrm>
            <a:off x="11461115" y="6696000"/>
            <a:ext cx="730885" cy="153670"/>
          </a:xfrm>
        </p:spPr>
        <p:txBody>
          <a:bodyPr/>
          <a:lstStyle/>
          <a:p>
            <a:fld id="{565CE74E-AB26-4998-AD42-012C4C1AD076}" type="slidenum">
              <a:rPr lang="zh-CN" altLang="en-US" smtClean="0"/>
              <a:t>39</a:t>
            </a:fld>
            <a:endParaRPr lang="zh-CN" altLang="en-US"/>
          </a:p>
        </p:txBody>
      </p:sp>
      <p:sp>
        <p:nvSpPr>
          <p:cNvPr id="3" name="页脚占位符 2"/>
          <p:cNvSpPr>
            <a:spLocks noGrp="1"/>
          </p:cNvSpPr>
          <p:nvPr>
            <p:ph type="ftr" sz="quarter" idx="11"/>
          </p:nvPr>
        </p:nvSpPr>
        <p:spPr>
          <a:xfrm>
            <a:off x="0" y="6695365"/>
            <a:ext cx="4114800" cy="153670"/>
          </a:xfrm>
        </p:spPr>
        <p:txBody>
          <a:bodyPr/>
          <a:lstStyle/>
          <a:p>
            <a:r>
              <a:rPr lang="zh-CN" altLang="en-US"/>
              <a:t>ch04_数据库安全性</a:t>
            </a:r>
          </a:p>
        </p:txBody>
      </p:sp>
      <p:sp>
        <p:nvSpPr>
          <p:cNvPr id="5" name="内容占位符 8"/>
          <p:cNvSpPr>
            <a:spLocks noGrp="1"/>
          </p:cNvSpPr>
          <p:nvPr/>
        </p:nvSpPr>
        <p:spPr>
          <a:xfrm>
            <a:off x="1862455" y="1520190"/>
            <a:ext cx="5671185" cy="1512570"/>
          </a:xfrm>
          <a:prstGeom prst="rect">
            <a:avLst/>
          </a:prstGeom>
        </p:spPr>
        <p:txBody>
          <a:bodyPr vert="horz" wrap="square"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3855" lvl="1" indent="0">
              <a:buNone/>
            </a:pPr>
            <a:r>
              <a:rPr lang="en-US" altLang="zh-CN" sz="2800" dirty="0">
                <a:solidFill>
                  <a:srgbClr val="FF0000"/>
                </a:solidFill>
                <a:latin typeface="Calibri" panose="020F0502020204030204" charset="0"/>
                <a:cs typeface="Calibri" panose="020F0502020204030204" charset="0"/>
              </a:rPr>
              <a:t>REVOKE  UPDATE(</a:t>
            </a:r>
            <a:r>
              <a:rPr lang="en-US" altLang="zh-CN" sz="2800" dirty="0" err="1">
                <a:solidFill>
                  <a:srgbClr val="FF0000"/>
                </a:solidFill>
                <a:latin typeface="Calibri" panose="020F0502020204030204" charset="0"/>
                <a:cs typeface="Calibri" panose="020F0502020204030204" charset="0"/>
              </a:rPr>
              <a:t>Sno</a:t>
            </a:r>
            <a:r>
              <a:rPr lang="en-US" altLang="zh-CN" sz="2800" dirty="0">
                <a:solidFill>
                  <a:srgbClr val="FF0000"/>
                </a:solidFill>
                <a:latin typeface="Calibri" panose="020F0502020204030204" charset="0"/>
                <a:cs typeface="Calibri" panose="020F0502020204030204" charset="0"/>
              </a:rPr>
              <a:t>)</a:t>
            </a:r>
          </a:p>
          <a:p>
            <a:pPr marL="363855" lvl="1" indent="0">
              <a:buNone/>
            </a:pPr>
            <a:r>
              <a:rPr lang="en-US" altLang="zh-CN" sz="2800" dirty="0">
                <a:solidFill>
                  <a:srgbClr val="FF0000"/>
                </a:solidFill>
                <a:latin typeface="Calibri" panose="020F0502020204030204" charset="0"/>
                <a:cs typeface="Calibri" panose="020F0502020204030204" charset="0"/>
              </a:rPr>
              <a:t>ON  TABLE  Student </a:t>
            </a:r>
          </a:p>
          <a:p>
            <a:pPr marL="363855" lvl="1" indent="0">
              <a:buNone/>
            </a:pPr>
            <a:r>
              <a:rPr lang="en-US" altLang="zh-CN" sz="2800" dirty="0">
                <a:solidFill>
                  <a:srgbClr val="FF0000"/>
                </a:solidFill>
                <a:latin typeface="Calibri" panose="020F0502020204030204" charset="0"/>
                <a:cs typeface="Calibri" panose="020F0502020204030204" charset="0"/>
              </a:rPr>
              <a:t>FROM  U4;</a:t>
            </a:r>
          </a:p>
        </p:txBody>
      </p:sp>
      <p:sp>
        <p:nvSpPr>
          <p:cNvPr id="6" name="内容占位符 8"/>
          <p:cNvSpPr>
            <a:spLocks noGrp="1"/>
          </p:cNvSpPr>
          <p:nvPr/>
        </p:nvSpPr>
        <p:spPr>
          <a:xfrm>
            <a:off x="424180" y="3745865"/>
            <a:ext cx="11343005" cy="565150"/>
          </a:xfrm>
          <a:prstGeom prst="rect">
            <a:avLst/>
          </a:prstGeom>
          <a:solidFill>
            <a:schemeClr val="accent3">
              <a:lumMod val="20000"/>
              <a:lumOff val="80000"/>
              <a:alpha val="50000"/>
            </a:schemeClr>
          </a:solidFill>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例4.</a:t>
            </a:r>
            <a:r>
              <a:rPr lang="en-US" altLang="zh-CN" sz="2800" dirty="0">
                <a:latin typeface="Calibri" panose="020F0502020204030204" charset="0"/>
                <a:cs typeface="Calibri" panose="020F0502020204030204" charset="0"/>
              </a:rPr>
              <a:t>9]</a:t>
            </a:r>
            <a:r>
              <a:rPr lang="zh-CN" altLang="en-US" sz="2800" dirty="0">
                <a:latin typeface="Calibri" panose="020F0502020204030204" charset="0"/>
                <a:cs typeface="Calibri" panose="020F0502020204030204" charset="0"/>
              </a:rPr>
              <a:t>收回所有用户对表</a:t>
            </a:r>
            <a:r>
              <a:rPr lang="en-US" altLang="zh-CN" sz="2800" dirty="0">
                <a:latin typeface="Calibri" panose="020F0502020204030204" charset="0"/>
                <a:cs typeface="Calibri" panose="020F0502020204030204" charset="0"/>
              </a:rPr>
              <a:t>SC</a:t>
            </a:r>
            <a:r>
              <a:rPr lang="zh-CN" altLang="en-US" sz="2800" dirty="0">
                <a:latin typeface="Calibri" panose="020F0502020204030204" charset="0"/>
                <a:cs typeface="Calibri" panose="020F0502020204030204" charset="0"/>
              </a:rPr>
              <a:t>的查询权限。</a:t>
            </a:r>
            <a:endParaRPr lang="en-US" altLang="zh-CN" sz="2800" dirty="0">
              <a:solidFill>
                <a:srgbClr val="FF0000"/>
              </a:solidFill>
              <a:latin typeface="Calibri" panose="020F0502020204030204" charset="0"/>
              <a:cs typeface="Calibri" panose="020F0502020204030204" charset="0"/>
            </a:endParaRPr>
          </a:p>
        </p:txBody>
      </p:sp>
      <p:sp>
        <p:nvSpPr>
          <p:cNvPr id="7" name="内容占位符 8"/>
          <p:cNvSpPr>
            <a:spLocks noGrp="1"/>
          </p:cNvSpPr>
          <p:nvPr/>
        </p:nvSpPr>
        <p:spPr>
          <a:xfrm>
            <a:off x="1862455" y="4587240"/>
            <a:ext cx="5671185" cy="1512570"/>
          </a:xfrm>
          <a:prstGeom prst="rect">
            <a:avLst/>
          </a:prstGeom>
        </p:spPr>
        <p:txBody>
          <a:bodyPr vert="horz" wrap="square"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3855" lvl="1" indent="0">
              <a:buNone/>
            </a:pPr>
            <a:r>
              <a:rPr lang="en-US" altLang="zh-CN" sz="2800" dirty="0">
                <a:solidFill>
                  <a:srgbClr val="FF0000"/>
                </a:solidFill>
                <a:latin typeface="Calibri" panose="020F0502020204030204" charset="0"/>
                <a:cs typeface="Calibri" panose="020F0502020204030204" charset="0"/>
              </a:rPr>
              <a:t>REVOKE  SELECT </a:t>
            </a:r>
          </a:p>
          <a:p>
            <a:pPr marL="363855" lvl="1" indent="0">
              <a:buNone/>
            </a:pPr>
            <a:r>
              <a:rPr lang="en-US" altLang="zh-CN" sz="2800" dirty="0">
                <a:solidFill>
                  <a:srgbClr val="FF0000"/>
                </a:solidFill>
                <a:latin typeface="Calibri" panose="020F0502020204030204" charset="0"/>
                <a:cs typeface="Calibri" panose="020F0502020204030204" charset="0"/>
              </a:rPr>
              <a:t>ON  TABLE  SC </a:t>
            </a:r>
          </a:p>
          <a:p>
            <a:pPr marL="363855" lvl="1" indent="0">
              <a:buNone/>
            </a:pPr>
            <a:r>
              <a:rPr lang="en-US" altLang="zh-CN" sz="2800" dirty="0">
                <a:solidFill>
                  <a:srgbClr val="FF0000"/>
                </a:solidFill>
                <a:latin typeface="Calibri" panose="020F0502020204030204" charset="0"/>
                <a:cs typeface="Calibri" panose="020F0502020204030204" charset="0"/>
              </a:rPr>
              <a:t>FROM  PUBLIC;</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ltLang="zh-CN" dirty="0"/>
              <a:t>REVOKE 3</a:t>
            </a:r>
            <a:endParaRPr lang="zh-CN" altLang="en-US" dirty="0"/>
          </a:p>
        </p:txBody>
      </p:sp>
      <p:sp>
        <p:nvSpPr>
          <p:cNvPr id="13" name="内容占位符 12"/>
          <p:cNvSpPr>
            <a:spLocks noGrp="1"/>
          </p:cNvSpPr>
          <p:nvPr>
            <p:ph idx="1"/>
          </p:nvPr>
        </p:nvSpPr>
        <p:spPr>
          <a:xfrm>
            <a:off x="424180" y="687070"/>
            <a:ext cx="11343005" cy="565150"/>
          </a:xfrm>
          <a:solidFill>
            <a:schemeClr val="accent3">
              <a:lumMod val="20000"/>
              <a:lumOff val="80000"/>
              <a:alpha val="50000"/>
            </a:schemeClr>
          </a:solidFill>
        </p:spPr>
        <p:txBody>
          <a:bodyPr>
            <a:spAutoFit/>
          </a:bodyPr>
          <a:lstStyle/>
          <a:p>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例4.</a:t>
            </a:r>
            <a:r>
              <a:rPr lang="en-US" altLang="zh-CN" sz="2800" dirty="0">
                <a:latin typeface="Calibri" panose="020F0502020204030204" charset="0"/>
                <a:cs typeface="Calibri" panose="020F0502020204030204" charset="0"/>
              </a:rPr>
              <a:t>10]</a:t>
            </a:r>
            <a:r>
              <a:rPr lang="zh-CN" altLang="en-US" sz="2800" dirty="0">
                <a:latin typeface="Calibri" panose="020F0502020204030204" charset="0"/>
                <a:cs typeface="Calibri" panose="020F0502020204030204" charset="0"/>
              </a:rPr>
              <a:t>把用户</a:t>
            </a:r>
            <a:r>
              <a:rPr lang="en-US" altLang="zh-CN" sz="2800" dirty="0">
                <a:latin typeface="Calibri" panose="020F0502020204030204" charset="0"/>
                <a:cs typeface="Calibri" panose="020F0502020204030204" charset="0"/>
              </a:rPr>
              <a:t>U5</a:t>
            </a:r>
            <a:r>
              <a:rPr lang="zh-CN" altLang="en-US" sz="2800" dirty="0">
                <a:latin typeface="Calibri" panose="020F0502020204030204" charset="0"/>
                <a:cs typeface="Calibri" panose="020F0502020204030204" charset="0"/>
              </a:rPr>
              <a:t>对</a:t>
            </a:r>
            <a:r>
              <a:rPr lang="en-US" altLang="zh-CN" sz="2800" dirty="0">
                <a:latin typeface="Calibri" panose="020F0502020204030204" charset="0"/>
                <a:cs typeface="Calibri" panose="020F0502020204030204" charset="0"/>
              </a:rPr>
              <a:t>SC</a:t>
            </a:r>
            <a:r>
              <a:rPr lang="zh-CN" altLang="en-US" sz="2800" dirty="0">
                <a:latin typeface="Calibri" panose="020F0502020204030204" charset="0"/>
                <a:cs typeface="Calibri" panose="020F0502020204030204" charset="0"/>
              </a:rPr>
              <a:t>表的</a:t>
            </a:r>
            <a:r>
              <a:rPr lang="en-US" altLang="zh-CN" sz="2800" dirty="0">
                <a:latin typeface="Calibri" panose="020F0502020204030204" charset="0"/>
                <a:cs typeface="Calibri" panose="020F0502020204030204" charset="0"/>
              </a:rPr>
              <a:t>INSERT</a:t>
            </a:r>
            <a:r>
              <a:rPr lang="zh-CN" altLang="en-US" sz="2800" dirty="0">
                <a:latin typeface="Calibri" panose="020F0502020204030204" charset="0"/>
                <a:cs typeface="Calibri" panose="020F0502020204030204" charset="0"/>
              </a:rPr>
              <a:t>权限收回。</a:t>
            </a:r>
          </a:p>
        </p:txBody>
      </p:sp>
      <p:sp>
        <p:nvSpPr>
          <p:cNvPr id="2" name="灯片编号占位符 1"/>
          <p:cNvSpPr>
            <a:spLocks noGrp="1"/>
          </p:cNvSpPr>
          <p:nvPr>
            <p:ph type="sldNum" sz="quarter" idx="12"/>
          </p:nvPr>
        </p:nvSpPr>
        <p:spPr>
          <a:xfrm>
            <a:off x="11461115" y="6696000"/>
            <a:ext cx="730885" cy="153670"/>
          </a:xfrm>
        </p:spPr>
        <p:txBody>
          <a:bodyPr/>
          <a:lstStyle/>
          <a:p>
            <a:fld id="{565CE74E-AB26-4998-AD42-012C4C1AD076}" type="slidenum">
              <a:rPr lang="zh-CN" altLang="en-US" smtClean="0"/>
              <a:t>40</a:t>
            </a:fld>
            <a:endParaRPr lang="zh-CN" altLang="en-US"/>
          </a:p>
        </p:txBody>
      </p:sp>
      <p:sp>
        <p:nvSpPr>
          <p:cNvPr id="3" name="页脚占位符 2"/>
          <p:cNvSpPr>
            <a:spLocks noGrp="1"/>
          </p:cNvSpPr>
          <p:nvPr>
            <p:ph type="ftr" sz="quarter" idx="11"/>
          </p:nvPr>
        </p:nvSpPr>
        <p:spPr>
          <a:xfrm>
            <a:off x="0" y="6695365"/>
            <a:ext cx="4114800" cy="153670"/>
          </a:xfrm>
        </p:spPr>
        <p:txBody>
          <a:bodyPr/>
          <a:lstStyle/>
          <a:p>
            <a:r>
              <a:rPr lang="zh-CN" altLang="en-US"/>
              <a:t>ch04_数据库安全性</a:t>
            </a:r>
          </a:p>
        </p:txBody>
      </p:sp>
      <p:sp>
        <p:nvSpPr>
          <p:cNvPr id="5" name="内容占位符 12"/>
          <p:cNvSpPr>
            <a:spLocks noGrp="1"/>
          </p:cNvSpPr>
          <p:nvPr/>
        </p:nvSpPr>
        <p:spPr>
          <a:xfrm>
            <a:off x="2040255" y="1583055"/>
            <a:ext cx="5671185" cy="1512570"/>
          </a:xfrm>
          <a:prstGeom prst="rect">
            <a:avLst/>
          </a:prstGeom>
        </p:spPr>
        <p:txBody>
          <a:bodyPr vert="horz" wrap="square"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3855" lvl="1" indent="0">
              <a:buNone/>
            </a:pPr>
            <a:r>
              <a:rPr lang="en-US" altLang="zh-CN" sz="2800" dirty="0">
                <a:solidFill>
                  <a:srgbClr val="FF0000"/>
                </a:solidFill>
                <a:latin typeface="Calibri" panose="020F0502020204030204" charset="0"/>
                <a:cs typeface="Calibri" panose="020F0502020204030204" charset="0"/>
              </a:rPr>
              <a:t>REVOKE  INSERT </a:t>
            </a:r>
          </a:p>
          <a:p>
            <a:pPr marL="363855" lvl="1" indent="0">
              <a:buNone/>
            </a:pPr>
            <a:r>
              <a:rPr lang="en-US" altLang="zh-CN" sz="2800" dirty="0">
                <a:solidFill>
                  <a:srgbClr val="FF0000"/>
                </a:solidFill>
                <a:latin typeface="Calibri" panose="020F0502020204030204" charset="0"/>
                <a:cs typeface="Calibri" panose="020F0502020204030204" charset="0"/>
              </a:rPr>
              <a:t>ON  TABLE  SC </a:t>
            </a:r>
          </a:p>
          <a:p>
            <a:pPr marL="363855" lvl="1" indent="0">
              <a:buNone/>
            </a:pPr>
            <a:r>
              <a:rPr lang="en-US" altLang="zh-CN" sz="2800" dirty="0">
                <a:solidFill>
                  <a:srgbClr val="FF0000"/>
                </a:solidFill>
                <a:latin typeface="Calibri" panose="020F0502020204030204" charset="0"/>
                <a:cs typeface="Calibri" panose="020F0502020204030204" charset="0"/>
              </a:rPr>
              <a:t>FROM  U5  CASCADE ;</a:t>
            </a:r>
            <a:endParaRPr lang="zh-CN" altLang="en-US" sz="2800" dirty="0">
              <a:latin typeface="Calibri" panose="020F0502020204030204" charset="0"/>
              <a:cs typeface="Calibri" panose="020F0502020204030204" charset="0"/>
            </a:endParaRPr>
          </a:p>
        </p:txBody>
      </p:sp>
      <p:sp>
        <p:nvSpPr>
          <p:cNvPr id="6" name="内容占位符 12"/>
          <p:cNvSpPr>
            <a:spLocks noGrp="1"/>
          </p:cNvSpPr>
          <p:nvPr/>
        </p:nvSpPr>
        <p:spPr>
          <a:xfrm>
            <a:off x="424180" y="3554730"/>
            <a:ext cx="11343005" cy="2114550"/>
          </a:xfrm>
          <a:prstGeom prst="rect">
            <a:avLst/>
          </a:prstGeom>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10000"/>
              </a:lnSpc>
              <a:spcBef>
                <a:spcPts val="1000"/>
              </a:spcBef>
            </a:pPr>
            <a:r>
              <a:rPr lang="zh-CN" altLang="en-US" sz="2800" dirty="0">
                <a:latin typeface="Calibri" panose="020F0502020204030204" charset="0"/>
                <a:cs typeface="Calibri" panose="020F0502020204030204" charset="0"/>
              </a:rPr>
              <a:t>将用户</a:t>
            </a:r>
            <a:r>
              <a:rPr lang="en-US" altLang="zh-CN" sz="2800" dirty="0">
                <a:latin typeface="Calibri" panose="020F0502020204030204" charset="0"/>
                <a:cs typeface="Calibri" panose="020F0502020204030204" charset="0"/>
              </a:rPr>
              <a:t>U5</a:t>
            </a:r>
            <a:r>
              <a:rPr lang="zh-CN" altLang="en-US" sz="2800" dirty="0">
                <a:latin typeface="Calibri" panose="020F0502020204030204" charset="0"/>
                <a:cs typeface="Calibri" panose="020F0502020204030204" charset="0"/>
              </a:rPr>
              <a:t>的</a:t>
            </a:r>
            <a:r>
              <a:rPr lang="en-US" altLang="zh-CN" sz="2800" dirty="0">
                <a:latin typeface="Calibri" panose="020F0502020204030204" charset="0"/>
                <a:cs typeface="Calibri" panose="020F0502020204030204" charset="0"/>
              </a:rPr>
              <a:t>INSERT</a:t>
            </a:r>
            <a:r>
              <a:rPr lang="zh-CN" altLang="en-US" sz="2800" dirty="0">
                <a:latin typeface="Calibri" panose="020F0502020204030204" charset="0"/>
                <a:cs typeface="Calibri" panose="020F0502020204030204" charset="0"/>
              </a:rPr>
              <a:t>权限收回的时候使用</a:t>
            </a:r>
            <a:r>
              <a:rPr lang="en-US" altLang="zh-CN" sz="2800" dirty="0">
                <a:latin typeface="Calibri" panose="020F0502020204030204" charset="0"/>
                <a:cs typeface="Calibri" panose="020F0502020204030204" charset="0"/>
              </a:rPr>
              <a:t>CASCADE</a:t>
            </a:r>
            <a:r>
              <a:rPr lang="zh-CN" altLang="en-US" sz="2800" dirty="0">
                <a:latin typeface="Calibri" panose="020F0502020204030204" charset="0"/>
                <a:cs typeface="Calibri" panose="020F0502020204030204" charset="0"/>
              </a:rPr>
              <a:t>，则同时收回</a:t>
            </a:r>
            <a:r>
              <a:rPr lang="en-US" altLang="zh-CN" sz="2800" dirty="0">
                <a:latin typeface="Calibri" panose="020F0502020204030204" charset="0"/>
                <a:cs typeface="Calibri" panose="020F0502020204030204" charset="0"/>
              </a:rPr>
              <a:t>U6</a:t>
            </a:r>
            <a:r>
              <a:rPr lang="zh-CN" altLang="en-US" sz="2800" dirty="0">
                <a:latin typeface="Calibri" panose="020F0502020204030204" charset="0"/>
                <a:cs typeface="Calibri" panose="020F0502020204030204" charset="0"/>
              </a:rPr>
              <a:t>或</a:t>
            </a:r>
            <a:r>
              <a:rPr lang="en-US" altLang="zh-CN" sz="2800" dirty="0">
                <a:latin typeface="Calibri" panose="020F0502020204030204" charset="0"/>
                <a:cs typeface="Calibri" panose="020F0502020204030204" charset="0"/>
              </a:rPr>
              <a:t>U7</a:t>
            </a:r>
            <a:r>
              <a:rPr lang="zh-CN" altLang="en-US" sz="2800" dirty="0">
                <a:latin typeface="Calibri" panose="020F0502020204030204" charset="0"/>
                <a:cs typeface="Calibri" panose="020F0502020204030204" charset="0"/>
              </a:rPr>
              <a:t>的</a:t>
            </a:r>
            <a:r>
              <a:rPr lang="en-US" altLang="zh-CN" sz="2800" dirty="0">
                <a:latin typeface="Calibri" panose="020F0502020204030204" charset="0"/>
                <a:cs typeface="Calibri" panose="020F0502020204030204" charset="0"/>
              </a:rPr>
              <a:t>INSERT</a:t>
            </a:r>
            <a:r>
              <a:rPr lang="zh-CN" altLang="en-US" sz="2800" dirty="0">
                <a:latin typeface="Calibri" panose="020F0502020204030204" charset="0"/>
                <a:cs typeface="Calibri" panose="020F0502020204030204" charset="0"/>
              </a:rPr>
              <a:t>权限，否则拒绝执行该语句。</a:t>
            </a:r>
          </a:p>
          <a:p>
            <a:pPr lvl="1">
              <a:lnSpc>
                <a:spcPct val="110000"/>
              </a:lnSpc>
              <a:spcBef>
                <a:spcPts val="1000"/>
              </a:spcBef>
            </a:pPr>
            <a:r>
              <a:rPr lang="zh-CN" altLang="en-US" sz="2800" dirty="0">
                <a:latin typeface="Calibri" panose="020F0502020204030204" charset="0"/>
                <a:cs typeface="Calibri" panose="020F0502020204030204" charset="0"/>
              </a:rPr>
              <a:t>如果</a:t>
            </a:r>
            <a:r>
              <a:rPr lang="en-US" altLang="zh-CN" sz="2800" dirty="0">
                <a:latin typeface="Calibri" panose="020F0502020204030204" charset="0"/>
                <a:cs typeface="Calibri" panose="020F0502020204030204" charset="0"/>
              </a:rPr>
              <a:t>U6</a:t>
            </a:r>
            <a:r>
              <a:rPr lang="zh-CN" altLang="en-US" sz="2800" dirty="0">
                <a:latin typeface="Calibri" panose="020F0502020204030204" charset="0"/>
                <a:cs typeface="Calibri" panose="020F0502020204030204" charset="0"/>
              </a:rPr>
              <a:t>或</a:t>
            </a:r>
            <a:r>
              <a:rPr lang="en-US" altLang="zh-CN" sz="2800" dirty="0">
                <a:latin typeface="Calibri" panose="020F0502020204030204" charset="0"/>
                <a:cs typeface="Calibri" panose="020F0502020204030204" charset="0"/>
              </a:rPr>
              <a:t>U7</a:t>
            </a:r>
            <a:r>
              <a:rPr lang="zh-CN" altLang="en-US" sz="2800" dirty="0">
                <a:latin typeface="Calibri" panose="020F0502020204030204" charset="0"/>
                <a:cs typeface="Calibri" panose="020F0502020204030204" charset="0"/>
              </a:rPr>
              <a:t>还从其他用户处获得对</a:t>
            </a:r>
            <a:r>
              <a:rPr lang="en-US" altLang="zh-CN" sz="2800" dirty="0">
                <a:latin typeface="Calibri" panose="020F0502020204030204" charset="0"/>
                <a:cs typeface="Calibri" panose="020F0502020204030204" charset="0"/>
              </a:rPr>
              <a:t>SC</a:t>
            </a:r>
            <a:r>
              <a:rPr lang="zh-CN" altLang="en-US" sz="2800" dirty="0">
                <a:latin typeface="Calibri" panose="020F0502020204030204" charset="0"/>
                <a:cs typeface="Calibri" panose="020F0502020204030204" charset="0"/>
              </a:rPr>
              <a:t>表的</a:t>
            </a:r>
            <a:r>
              <a:rPr lang="en-US" altLang="zh-CN" sz="2800" dirty="0">
                <a:latin typeface="Calibri" panose="020F0502020204030204" charset="0"/>
                <a:cs typeface="Calibri" panose="020F0502020204030204" charset="0"/>
              </a:rPr>
              <a:t>INSERT</a:t>
            </a:r>
            <a:r>
              <a:rPr lang="zh-CN" altLang="en-US" sz="2800" dirty="0">
                <a:latin typeface="Calibri" panose="020F0502020204030204" charset="0"/>
                <a:cs typeface="Calibri" panose="020F0502020204030204" charset="0"/>
              </a:rPr>
              <a:t>权限，则他们仍具有此权限，系统只收回直接或间接从</a:t>
            </a:r>
            <a:r>
              <a:rPr lang="en-US" altLang="zh-CN" sz="2800" dirty="0">
                <a:latin typeface="Calibri" panose="020F0502020204030204" charset="0"/>
                <a:cs typeface="Calibri" panose="020F0502020204030204" charset="0"/>
              </a:rPr>
              <a:t>U5</a:t>
            </a:r>
            <a:r>
              <a:rPr lang="zh-CN" altLang="en-US" sz="2800" dirty="0">
                <a:latin typeface="Calibri" panose="020F0502020204030204" charset="0"/>
                <a:cs typeface="Calibri" panose="020F0502020204030204" charset="0"/>
              </a:rPr>
              <a:t>处获得的权限。</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REVOKE 4</a:t>
            </a:r>
            <a:endParaRPr lang="zh-CN" altLang="en-US" dirty="0"/>
          </a:p>
        </p:txBody>
      </p:sp>
      <p:sp>
        <p:nvSpPr>
          <p:cNvPr id="6" name="内容占位符 5"/>
          <p:cNvSpPr>
            <a:spLocks noGrp="1"/>
          </p:cNvSpPr>
          <p:nvPr>
            <p:ph idx="1"/>
          </p:nvPr>
        </p:nvSpPr>
        <p:spPr/>
        <p:txBody>
          <a:bodyPr>
            <a:normAutofit/>
          </a:bodyPr>
          <a:lstStyle/>
          <a:p>
            <a:r>
              <a:rPr lang="zh-CN" altLang="en-US" sz="3200" dirty="0"/>
              <a:t>执行例4.</a:t>
            </a:r>
            <a:r>
              <a:rPr lang="en-US" altLang="zh-CN" sz="3200" dirty="0"/>
              <a:t>8~</a:t>
            </a:r>
            <a:r>
              <a:rPr lang="zh-CN" altLang="en-US" sz="3200" dirty="0"/>
              <a:t>4.</a:t>
            </a:r>
            <a:r>
              <a:rPr lang="en-US" altLang="zh-CN" sz="3200" dirty="0"/>
              <a:t>10</a:t>
            </a:r>
            <a:r>
              <a:rPr lang="zh-CN" altLang="en-US" sz="3200" dirty="0"/>
              <a:t>语句后学生</a:t>
            </a:r>
            <a:r>
              <a:rPr lang="en-US" altLang="zh-CN" sz="3200" dirty="0"/>
              <a:t>-</a:t>
            </a:r>
            <a:r>
              <a:rPr lang="zh-CN" altLang="en-US" sz="3200" dirty="0"/>
              <a:t>课程数据库中的用户权限定义表</a:t>
            </a:r>
            <a:endParaRPr lang="zh-CN" altLang="en-US" dirty="0"/>
          </a:p>
        </p:txBody>
      </p:sp>
      <p:graphicFrame>
        <p:nvGraphicFramePr>
          <p:cNvPr id="7" name="Group 5"/>
          <p:cNvGraphicFramePr/>
          <p:nvPr>
            <p:custDataLst>
              <p:tags r:id="rId1"/>
            </p:custDataLst>
          </p:nvPr>
        </p:nvGraphicFramePr>
        <p:xfrm>
          <a:off x="424180" y="1652905"/>
          <a:ext cx="11342370" cy="3533775"/>
        </p:xfrm>
        <a:graphic>
          <a:graphicData uri="http://schemas.openxmlformats.org/drawingml/2006/table">
            <a:tbl>
              <a:tblPr/>
              <a:tblGrid>
                <a:gridCol w="1962785">
                  <a:extLst>
                    <a:ext uri="{9D8B030D-6E8A-4147-A177-3AD203B41FA5}">
                      <a16:colId xmlns:a16="http://schemas.microsoft.com/office/drawing/2014/main" val="20000"/>
                    </a:ext>
                  </a:extLst>
                </a:gridCol>
                <a:gridCol w="2321560">
                  <a:extLst>
                    <a:ext uri="{9D8B030D-6E8A-4147-A177-3AD203B41FA5}">
                      <a16:colId xmlns:a16="http://schemas.microsoft.com/office/drawing/2014/main" val="20001"/>
                    </a:ext>
                  </a:extLst>
                </a:gridCol>
                <a:gridCol w="2463800">
                  <a:extLst>
                    <a:ext uri="{9D8B030D-6E8A-4147-A177-3AD203B41FA5}">
                      <a16:colId xmlns:a16="http://schemas.microsoft.com/office/drawing/2014/main" val="20002"/>
                    </a:ext>
                  </a:extLst>
                </a:gridCol>
                <a:gridCol w="2691130">
                  <a:extLst>
                    <a:ext uri="{9D8B030D-6E8A-4147-A177-3AD203B41FA5}">
                      <a16:colId xmlns:a16="http://schemas.microsoft.com/office/drawing/2014/main" val="20003"/>
                    </a:ext>
                  </a:extLst>
                </a:gridCol>
                <a:gridCol w="1903095">
                  <a:extLst>
                    <a:ext uri="{9D8B030D-6E8A-4147-A177-3AD203B41FA5}">
                      <a16:colId xmlns:a16="http://schemas.microsoft.com/office/drawing/2014/main" val="20004"/>
                    </a:ext>
                  </a:extLst>
                </a:gridCol>
              </a:tblGrid>
              <a:tr h="504825">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400" b="1" i="0" u="none" strike="noStrike" cap="none" normalizeH="0" baseline="0" dirty="0">
                          <a:ln>
                            <a:noFill/>
                          </a:ln>
                          <a:solidFill>
                            <a:schemeClr val="tx1"/>
                          </a:solidFill>
                          <a:effectLst/>
                          <a:latin typeface="Arial" panose="020B0604020202020204" pitchFamily="34" charset="0"/>
                          <a:ea typeface="楷体" panose="02010609060101010101" charset="-122"/>
                        </a:rPr>
                        <a:t>授权用户名</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400" b="1" i="0" u="none" strike="noStrike" cap="none" normalizeH="0" baseline="0" dirty="0">
                          <a:ln>
                            <a:noFill/>
                          </a:ln>
                          <a:solidFill>
                            <a:schemeClr val="tx1"/>
                          </a:solidFill>
                          <a:effectLst/>
                          <a:latin typeface="Arial" panose="020B0604020202020204" pitchFamily="34" charset="0"/>
                          <a:ea typeface="楷体" panose="02010609060101010101" charset="-122"/>
                        </a:rPr>
                        <a:t>被授权用户名</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400" b="1" i="0" u="none" strike="noStrike" cap="none" normalizeH="0" baseline="0" dirty="0">
                          <a:ln>
                            <a:noFill/>
                          </a:ln>
                          <a:solidFill>
                            <a:schemeClr val="tx1"/>
                          </a:solidFill>
                          <a:effectLst/>
                          <a:latin typeface="Arial" panose="020B0604020202020204" pitchFamily="34" charset="0"/>
                          <a:ea typeface="楷体" panose="02010609060101010101" charset="-122"/>
                        </a:rPr>
                        <a:t>数据库对象名</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400" b="1" i="0" u="none" strike="noStrike" cap="none" normalizeH="0" baseline="0">
                          <a:ln>
                            <a:noFill/>
                          </a:ln>
                          <a:solidFill>
                            <a:schemeClr val="tx1"/>
                          </a:solidFill>
                          <a:effectLst/>
                          <a:latin typeface="Arial" panose="020B0604020202020204" pitchFamily="34" charset="0"/>
                          <a:ea typeface="楷体" panose="02010609060101010101" charset="-122"/>
                        </a:rPr>
                        <a:t>允许的操作类型</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400" b="1" i="0" u="none" strike="noStrike" cap="none" normalizeH="0" baseline="0">
                          <a:ln>
                            <a:noFill/>
                          </a:ln>
                          <a:solidFill>
                            <a:schemeClr val="tx1"/>
                          </a:solidFill>
                          <a:effectLst/>
                          <a:latin typeface="Arial" panose="020B0604020202020204" pitchFamily="34" charset="0"/>
                          <a:ea typeface="楷体" panose="02010609060101010101" charset="-122"/>
                        </a:rPr>
                        <a:t>能否转授权</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DBA</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U1</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关系</a:t>
                      </a: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Student</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SELECT</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400" b="1" i="0" u="none" strike="noStrike" cap="none" normalizeH="0" baseline="0">
                          <a:ln>
                            <a:noFill/>
                          </a:ln>
                          <a:solidFill>
                            <a:srgbClr val="0000C8"/>
                          </a:solidFill>
                          <a:effectLst/>
                          <a:latin typeface="Arial" panose="020B0604020202020204" pitchFamily="34" charset="0"/>
                          <a:ea typeface="楷体" panose="02010609060101010101" charset="-122"/>
                        </a:rPr>
                        <a:t>不能</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4825">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DBA</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U2</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关系</a:t>
                      </a: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Student</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ALL</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400" b="1" i="0" u="none" strike="noStrike" cap="none" normalizeH="0" baseline="0" dirty="0">
                          <a:ln>
                            <a:noFill/>
                          </a:ln>
                          <a:solidFill>
                            <a:srgbClr val="0000C8"/>
                          </a:solidFill>
                          <a:effectLst/>
                          <a:latin typeface="Arial" panose="020B0604020202020204" pitchFamily="34" charset="0"/>
                          <a:ea typeface="楷体" panose="02010609060101010101" charset="-122"/>
                        </a:rPr>
                        <a:t>不能</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extLst>
                  <a:ext uri="{0D108BD9-81ED-4DB2-BD59-A6C34878D82A}">
                    <a16:rowId xmlns:a16="http://schemas.microsoft.com/office/drawing/2014/main" val="10002"/>
                  </a:ext>
                </a:extLst>
              </a:tr>
              <a:tr h="504825">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DBA</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U2</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关系</a:t>
                      </a: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Course</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ALL</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400" b="1" i="0" u="none" strike="noStrike" cap="none" normalizeH="0" baseline="0" dirty="0">
                          <a:ln>
                            <a:noFill/>
                          </a:ln>
                          <a:solidFill>
                            <a:srgbClr val="0000C8"/>
                          </a:solidFill>
                          <a:effectLst/>
                          <a:latin typeface="Arial" panose="020B0604020202020204" pitchFamily="34" charset="0"/>
                          <a:ea typeface="楷体" panose="02010609060101010101" charset="-122"/>
                        </a:rPr>
                        <a:t>不能</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4825">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DBA</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U3</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关系</a:t>
                      </a: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Student</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ALL</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400" b="1" i="0" u="none" strike="noStrike" cap="none" normalizeH="0" baseline="0" dirty="0">
                          <a:ln>
                            <a:noFill/>
                          </a:ln>
                          <a:solidFill>
                            <a:srgbClr val="0000C8"/>
                          </a:solidFill>
                          <a:effectLst/>
                          <a:latin typeface="Arial" panose="020B0604020202020204" pitchFamily="34" charset="0"/>
                          <a:ea typeface="楷体" panose="02010609060101010101" charset="-122"/>
                        </a:rPr>
                        <a:t>不能</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extLst>
                  <a:ext uri="{0D108BD9-81ED-4DB2-BD59-A6C34878D82A}">
                    <a16:rowId xmlns:a16="http://schemas.microsoft.com/office/drawing/2014/main" val="10004"/>
                  </a:ext>
                </a:extLst>
              </a:tr>
              <a:tr h="504825">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DBA</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U3</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关系</a:t>
                      </a: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Course</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ALL</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400" b="1" i="0" u="none" strike="noStrike" cap="none" normalizeH="0" baseline="0" dirty="0">
                          <a:ln>
                            <a:noFill/>
                          </a:ln>
                          <a:solidFill>
                            <a:srgbClr val="0000C8"/>
                          </a:solidFill>
                          <a:effectLst/>
                          <a:latin typeface="Arial" panose="020B0604020202020204" pitchFamily="34" charset="0"/>
                          <a:ea typeface="楷体" panose="02010609060101010101" charset="-122"/>
                        </a:rPr>
                        <a:t>不能</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04825">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DBA</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U4</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关系</a:t>
                      </a: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Student</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4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SELECT</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400" b="1" i="0" u="none" strike="noStrike" cap="none" normalizeH="0" baseline="0" dirty="0">
                          <a:ln>
                            <a:noFill/>
                          </a:ln>
                          <a:solidFill>
                            <a:srgbClr val="0000C8"/>
                          </a:solidFill>
                          <a:effectLst/>
                          <a:latin typeface="Arial" panose="020B0604020202020204" pitchFamily="34" charset="0"/>
                          <a:ea typeface="楷体" panose="02010609060101010101" charset="-122"/>
                        </a:rPr>
                        <a:t>不能</a:t>
                      </a:r>
                    </a:p>
                  </a:txBody>
                  <a:tcPr marL="91435" marR="91435"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alpha val="50000"/>
                      </a:schemeClr>
                    </a:solidFill>
                  </a:tcPr>
                </a:tc>
                <a:extLst>
                  <a:ext uri="{0D108BD9-81ED-4DB2-BD59-A6C34878D82A}">
                    <a16:rowId xmlns:a16="http://schemas.microsoft.com/office/drawing/2014/main" val="10006"/>
                  </a:ext>
                </a:extLst>
              </a:tr>
            </a:tbl>
          </a:graphicData>
        </a:graphic>
      </p:graphicFrame>
      <p:sp>
        <p:nvSpPr>
          <p:cNvPr id="3" name="灯片编号占位符 2"/>
          <p:cNvSpPr>
            <a:spLocks noGrp="1"/>
          </p:cNvSpPr>
          <p:nvPr>
            <p:ph type="sldNum" sz="quarter" idx="12"/>
          </p:nvPr>
        </p:nvSpPr>
        <p:spPr/>
        <p:txBody>
          <a:bodyPr/>
          <a:lstStyle/>
          <a:p>
            <a:fld id="{565CE74E-AB26-4998-AD42-012C4C1AD076}" type="slidenum">
              <a:rPr lang="zh-CN" altLang="en-US" smtClean="0"/>
              <a:t>41</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创建数据库模式的权限 </a:t>
            </a:r>
            <a:r>
              <a:rPr lang="en-US" altLang="zh-CN" dirty="0"/>
              <a:t>1</a:t>
            </a:r>
            <a:r>
              <a:rPr lang="zh-CN" altLang="en-US" dirty="0"/>
              <a:t> </a:t>
            </a:r>
          </a:p>
        </p:txBody>
      </p:sp>
      <p:sp>
        <p:nvSpPr>
          <p:cNvPr id="3" name="内容占位符 2"/>
          <p:cNvSpPr>
            <a:spLocks noGrp="1"/>
          </p:cNvSpPr>
          <p:nvPr>
            <p:ph idx="1"/>
          </p:nvPr>
        </p:nvSpPr>
        <p:spPr>
          <a:xfrm>
            <a:off x="424180" y="687070"/>
            <a:ext cx="11343005" cy="1769110"/>
          </a:xfrm>
        </p:spPr>
        <p:txBody>
          <a:bodyPr>
            <a:noAutofit/>
          </a:bodyPr>
          <a:lstStyle/>
          <a:p>
            <a:pPr>
              <a:lnSpc>
                <a:spcPct val="110000"/>
              </a:lnSpc>
              <a:spcBef>
                <a:spcPts val="1000"/>
              </a:spcBef>
            </a:pPr>
            <a:r>
              <a:rPr lang="zh-CN" altLang="en-US" sz="2800" dirty="0">
                <a:latin typeface="Calibri" panose="020F0502020204030204" charset="0"/>
                <a:cs typeface="Calibri" panose="020F0502020204030204" charset="0"/>
              </a:rPr>
              <a:t>由数据库管理员在创建用户时，进行有关创建数据库模式的授权</a:t>
            </a:r>
          </a:p>
          <a:p>
            <a:pPr>
              <a:lnSpc>
                <a:spcPct val="110000"/>
              </a:lnSpc>
              <a:spcBef>
                <a:spcPts val="1000"/>
              </a:spcBef>
            </a:pPr>
            <a:endParaRPr lang="zh-CN" altLang="en-US" sz="2800" dirty="0">
              <a:latin typeface="Calibri" panose="020F0502020204030204" charset="0"/>
              <a:cs typeface="Calibri" panose="020F0502020204030204" charset="0"/>
            </a:endParaRPr>
          </a:p>
          <a:p>
            <a:pPr lvl="0">
              <a:lnSpc>
                <a:spcPct val="110000"/>
              </a:lnSpc>
              <a:spcBef>
                <a:spcPts val="1000"/>
              </a:spcBef>
            </a:pPr>
            <a:r>
              <a:rPr lang="en-US" altLang="zh-CN" sz="2800" dirty="0">
                <a:latin typeface="Calibri" panose="020F0502020204030204" charset="0"/>
                <a:cs typeface="Calibri" panose="020F0502020204030204" charset="0"/>
              </a:rPr>
              <a:t>CREATE USER</a:t>
            </a:r>
            <a:r>
              <a:rPr lang="zh-CN" altLang="en-US" sz="2800" dirty="0">
                <a:latin typeface="Calibri" panose="020F0502020204030204" charset="0"/>
                <a:cs typeface="Calibri" panose="020F0502020204030204" charset="0"/>
              </a:rPr>
              <a:t>语句格式</a:t>
            </a:r>
          </a:p>
        </p:txBody>
      </p:sp>
      <p:sp>
        <p:nvSpPr>
          <p:cNvPr id="5" name="灯片编号占位符 4"/>
          <p:cNvSpPr>
            <a:spLocks noGrp="1"/>
          </p:cNvSpPr>
          <p:nvPr>
            <p:ph type="sldNum" sz="quarter" idx="12"/>
          </p:nvPr>
        </p:nvSpPr>
        <p:spPr/>
        <p:txBody>
          <a:bodyPr/>
          <a:lstStyle/>
          <a:p>
            <a:fld id="{565CE74E-AB26-4998-AD42-012C4C1AD076}" type="slidenum">
              <a:rPr lang="zh-CN" altLang="en-US" smtClean="0"/>
              <a:t>42</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
        <p:nvSpPr>
          <p:cNvPr id="6" name="内容占位符 2"/>
          <p:cNvSpPr>
            <a:spLocks noGrp="1"/>
          </p:cNvSpPr>
          <p:nvPr/>
        </p:nvSpPr>
        <p:spPr>
          <a:xfrm>
            <a:off x="424180" y="2609215"/>
            <a:ext cx="11343005" cy="521970"/>
          </a:xfrm>
          <a:prstGeom prst="rect">
            <a:avLst/>
          </a:prstGeom>
          <a:solidFill>
            <a:schemeClr val="accent3">
              <a:lumMod val="20000"/>
              <a:lumOff val="80000"/>
              <a:alpha val="50000"/>
            </a:schemeClr>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fontAlgn="auto">
              <a:lnSpc>
                <a:spcPct val="100000"/>
              </a:lnSpc>
              <a:buNone/>
            </a:pPr>
            <a:r>
              <a:rPr lang="en-US" altLang="zh-CN" sz="2800" dirty="0">
                <a:solidFill>
                  <a:srgbClr val="FF0000"/>
                </a:solidFill>
                <a:latin typeface="Calibri" panose="020F0502020204030204" charset="0"/>
                <a:cs typeface="Calibri" panose="020F0502020204030204" charset="0"/>
              </a:rPr>
              <a:t>CREATE USER &lt;username&gt; [WITH] [DBA | RESOURCE | CONNECT];</a:t>
            </a:r>
            <a:endParaRPr lang="zh-CN" altLang="en-US" sz="2800" dirty="0">
              <a:latin typeface="Calibri" panose="020F0502020204030204" charset="0"/>
              <a:cs typeface="Calibri" panose="020F0502020204030204" charset="0"/>
            </a:endParaRPr>
          </a:p>
        </p:txBody>
      </p:sp>
      <p:sp>
        <p:nvSpPr>
          <p:cNvPr id="7" name="内容占位符 2"/>
          <p:cNvSpPr>
            <a:spLocks noGrp="1"/>
          </p:cNvSpPr>
          <p:nvPr/>
        </p:nvSpPr>
        <p:spPr>
          <a:xfrm>
            <a:off x="424180" y="3722370"/>
            <a:ext cx="11343005" cy="1769110"/>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1000"/>
              </a:spcBef>
            </a:pPr>
            <a:r>
              <a:rPr lang="zh-CN" altLang="en-US" sz="2800" dirty="0">
                <a:latin typeface="Calibri" panose="020F0502020204030204" charset="0"/>
                <a:cs typeface="Calibri" panose="020F0502020204030204" charset="0"/>
              </a:rPr>
              <a:t>注：</a:t>
            </a:r>
          </a:p>
          <a:p>
            <a:pPr lvl="1">
              <a:lnSpc>
                <a:spcPct val="110000"/>
              </a:lnSpc>
              <a:spcBef>
                <a:spcPts val="1000"/>
              </a:spcBef>
            </a:pPr>
            <a:r>
              <a:rPr lang="en-US" altLang="zh-CN" sz="2800" dirty="0">
                <a:latin typeface="Calibri" panose="020F0502020204030204" charset="0"/>
                <a:cs typeface="Calibri" panose="020F0502020204030204" charset="0"/>
              </a:rPr>
              <a:t>CREATE USER</a:t>
            </a:r>
            <a:r>
              <a:rPr lang="zh-CN" altLang="en-US" sz="2800" dirty="0">
                <a:latin typeface="Calibri" panose="020F0502020204030204" charset="0"/>
                <a:cs typeface="Calibri" panose="020F0502020204030204" charset="0"/>
              </a:rPr>
              <a:t>不是</a:t>
            </a:r>
            <a:r>
              <a:rPr lang="en-US" altLang="zh-CN" sz="2800" dirty="0">
                <a:latin typeface="Calibri" panose="020F0502020204030204" charset="0"/>
                <a:cs typeface="Calibri" panose="020F0502020204030204" charset="0"/>
              </a:rPr>
              <a:t>SQL</a:t>
            </a:r>
            <a:r>
              <a:rPr lang="zh-CN" altLang="en-US" sz="2800" dirty="0">
                <a:latin typeface="Calibri" panose="020F0502020204030204" charset="0"/>
                <a:cs typeface="Calibri" panose="020F0502020204030204" charset="0"/>
              </a:rPr>
              <a:t>标准，各个系统的实现相差甚远</a:t>
            </a:r>
            <a:endParaRPr lang="en-US" altLang="zh-CN" sz="2800" dirty="0">
              <a:latin typeface="Calibri" panose="020F0502020204030204" charset="0"/>
              <a:cs typeface="Calibri" panose="020F0502020204030204" charset="0"/>
            </a:endParaRPr>
          </a:p>
          <a:p>
            <a:pPr lvl="1">
              <a:lnSpc>
                <a:spcPct val="110000"/>
              </a:lnSpc>
              <a:spcBef>
                <a:spcPts val="1000"/>
              </a:spcBef>
            </a:pPr>
            <a:r>
              <a:rPr lang="zh-CN" altLang="en-US" sz="2800" dirty="0">
                <a:latin typeface="Calibri" panose="020F0502020204030204" charset="0"/>
                <a:cs typeface="Calibri" panose="020F0502020204030204" charset="0"/>
              </a:rPr>
              <a:t>只有系统的超级用户才有权创建一个新的数据库用户</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创建数据库模式的权限 </a:t>
            </a:r>
            <a:r>
              <a:rPr lang="en-US" altLang="zh-CN" dirty="0"/>
              <a:t>2</a:t>
            </a:r>
            <a:r>
              <a:rPr lang="zh-CN" altLang="en-US" dirty="0"/>
              <a:t> </a:t>
            </a:r>
          </a:p>
        </p:txBody>
      </p:sp>
      <p:sp>
        <p:nvSpPr>
          <p:cNvPr id="5" name="内容占位符 4"/>
          <p:cNvSpPr>
            <a:spLocks noGrp="1"/>
          </p:cNvSpPr>
          <p:nvPr>
            <p:ph idx="1"/>
          </p:nvPr>
        </p:nvSpPr>
        <p:spPr>
          <a:xfrm>
            <a:off x="424180" y="687070"/>
            <a:ext cx="11343005" cy="5586095"/>
          </a:xfrm>
        </p:spPr>
        <p:txBody>
          <a:bodyPr>
            <a:noAutofit/>
          </a:bodyPr>
          <a:lstStyle/>
          <a:p>
            <a:pPr>
              <a:lnSpc>
                <a:spcPct val="100000"/>
              </a:lnSpc>
              <a:spcBef>
                <a:spcPts val="0"/>
              </a:spcBef>
            </a:pPr>
            <a:r>
              <a:rPr lang="zh-CN" altLang="en-US" sz="2800" dirty="0">
                <a:latin typeface="Calibri" panose="020F0502020204030204" charset="0"/>
                <a:cs typeface="Calibri" panose="020F0502020204030204" charset="0"/>
              </a:rPr>
              <a:t>新创建的数据库用户，可以被授予以下三种权限之一</a:t>
            </a:r>
          </a:p>
          <a:p>
            <a:pPr lvl="1">
              <a:lnSpc>
                <a:spcPct val="100000"/>
              </a:lnSpc>
              <a:spcBef>
                <a:spcPts val="1000"/>
              </a:spcBef>
            </a:pPr>
            <a:r>
              <a:rPr lang="en-US" altLang="zh-CN" sz="2610" dirty="0">
                <a:solidFill>
                  <a:srgbClr val="FF0000"/>
                </a:solidFill>
                <a:latin typeface="Calibri" panose="020F0502020204030204" charset="0"/>
                <a:cs typeface="Calibri" panose="020F0502020204030204" charset="0"/>
              </a:rPr>
              <a:t>CONNECT</a:t>
            </a:r>
            <a:endParaRPr lang="en-US" altLang="zh-CN" sz="2610" dirty="0">
              <a:latin typeface="Calibri" panose="020F0502020204030204" charset="0"/>
              <a:cs typeface="Calibri" panose="020F0502020204030204" charset="0"/>
            </a:endParaRPr>
          </a:p>
          <a:p>
            <a:pPr lvl="2">
              <a:lnSpc>
                <a:spcPct val="100000"/>
              </a:lnSpc>
              <a:spcBef>
                <a:spcPts val="600"/>
              </a:spcBef>
            </a:pPr>
            <a:r>
              <a:rPr lang="zh-CN" altLang="en-US" sz="2400" dirty="0">
                <a:latin typeface="Calibri" panose="020F0502020204030204" charset="0"/>
                <a:cs typeface="Calibri" panose="020F0502020204030204" charset="0"/>
              </a:rPr>
              <a:t>如没有指定创建的新用户的权限，</a:t>
            </a:r>
            <a:r>
              <a:rPr lang="zh-CN" altLang="en-US" sz="2400" dirty="0">
                <a:solidFill>
                  <a:srgbClr val="C00000"/>
                </a:solidFill>
                <a:latin typeface="Calibri" panose="020F0502020204030204" charset="0"/>
                <a:cs typeface="Calibri" panose="020F0502020204030204" charset="0"/>
              </a:rPr>
              <a:t>默认</a:t>
            </a:r>
            <a:r>
              <a:rPr lang="zh-CN" altLang="en-US" sz="2400" dirty="0">
                <a:latin typeface="Calibri" panose="020F0502020204030204" charset="0"/>
                <a:cs typeface="Calibri" panose="020F0502020204030204" charset="0"/>
              </a:rPr>
              <a:t>该用户拥有</a:t>
            </a:r>
            <a:r>
              <a:rPr lang="en-US" altLang="zh-CN" sz="2400" dirty="0">
                <a:latin typeface="Calibri" panose="020F0502020204030204" charset="0"/>
                <a:cs typeface="Calibri" panose="020F0502020204030204" charset="0"/>
              </a:rPr>
              <a:t>CONNECT</a:t>
            </a:r>
            <a:r>
              <a:rPr lang="zh-CN" altLang="en-US" sz="2400" dirty="0">
                <a:latin typeface="Calibri" panose="020F0502020204030204" charset="0"/>
                <a:cs typeface="Calibri" panose="020F0502020204030204" charset="0"/>
              </a:rPr>
              <a:t>权限；</a:t>
            </a:r>
          </a:p>
          <a:p>
            <a:pPr lvl="2">
              <a:lnSpc>
                <a:spcPct val="100000"/>
              </a:lnSpc>
              <a:spcBef>
                <a:spcPts val="600"/>
              </a:spcBef>
            </a:pPr>
            <a:r>
              <a:rPr lang="zh-CN" altLang="en-US" sz="2400" dirty="0">
                <a:latin typeface="Calibri" panose="020F0502020204030204" charset="0"/>
                <a:cs typeface="Calibri" panose="020F0502020204030204" charset="0"/>
              </a:rPr>
              <a:t>拥有</a:t>
            </a:r>
            <a:r>
              <a:rPr lang="en-US" altLang="zh-CN" sz="2400" dirty="0">
                <a:latin typeface="Calibri" panose="020F0502020204030204" charset="0"/>
                <a:cs typeface="Calibri" panose="020F0502020204030204" charset="0"/>
              </a:rPr>
              <a:t>CONNECT</a:t>
            </a:r>
            <a:r>
              <a:rPr lang="zh-CN" altLang="en-US" sz="2400" dirty="0">
                <a:latin typeface="Calibri" panose="020F0502020204030204" charset="0"/>
                <a:cs typeface="Calibri" panose="020F0502020204030204" charset="0"/>
              </a:rPr>
              <a:t>权限的用户不能创建新用户，不能创建模式，也不能创建基本表，</a:t>
            </a:r>
            <a:r>
              <a:rPr lang="zh-CN" altLang="en-US" sz="2400" dirty="0">
                <a:solidFill>
                  <a:srgbClr val="C00000"/>
                </a:solidFill>
                <a:latin typeface="Calibri" panose="020F0502020204030204" charset="0"/>
                <a:cs typeface="Calibri" panose="020F0502020204030204" charset="0"/>
              </a:rPr>
              <a:t>只能登录数据库。</a:t>
            </a:r>
            <a:endParaRPr lang="zh-CN" altLang="en-US" sz="2400" dirty="0">
              <a:latin typeface="Calibri" panose="020F0502020204030204" charset="0"/>
              <a:cs typeface="Calibri" panose="020F0502020204030204" charset="0"/>
            </a:endParaRPr>
          </a:p>
          <a:p>
            <a:pPr lvl="1">
              <a:lnSpc>
                <a:spcPct val="100000"/>
              </a:lnSpc>
              <a:spcBef>
                <a:spcPts val="1000"/>
              </a:spcBef>
            </a:pPr>
            <a:r>
              <a:rPr lang="en-US" altLang="zh-CN" dirty="0">
                <a:solidFill>
                  <a:srgbClr val="FF0000"/>
                </a:solidFill>
                <a:latin typeface="Calibri" panose="020F0502020204030204" charset="0"/>
                <a:cs typeface="Calibri" panose="020F0502020204030204" charset="0"/>
                <a:sym typeface="+mn-ea"/>
              </a:rPr>
              <a:t>RESOURCE</a:t>
            </a:r>
            <a:endParaRPr lang="zh-CN" altLang="en-US" sz="2800" dirty="0">
              <a:latin typeface="Calibri" panose="020F0502020204030204" charset="0"/>
              <a:cs typeface="Calibri" panose="020F0502020204030204" charset="0"/>
            </a:endParaRPr>
          </a:p>
          <a:p>
            <a:pPr lvl="2">
              <a:lnSpc>
                <a:spcPct val="100000"/>
              </a:lnSpc>
              <a:spcBef>
                <a:spcPts val="600"/>
              </a:spcBef>
            </a:pPr>
            <a:r>
              <a:rPr lang="zh-CN" altLang="en-US" sz="2400" dirty="0">
                <a:latin typeface="Calibri" panose="020F0502020204030204" charset="0"/>
                <a:cs typeface="Calibri" panose="020F0502020204030204" charset="0"/>
              </a:rPr>
              <a:t>拥有</a:t>
            </a:r>
            <a:r>
              <a:rPr lang="en-US" altLang="zh-CN" sz="2400" dirty="0">
                <a:latin typeface="Calibri" panose="020F0502020204030204" charset="0"/>
                <a:cs typeface="Calibri" panose="020F0502020204030204" charset="0"/>
              </a:rPr>
              <a:t>RESOURCE</a:t>
            </a:r>
            <a:r>
              <a:rPr lang="zh-CN" altLang="en-US" sz="2400" dirty="0">
                <a:latin typeface="Calibri" panose="020F0502020204030204" charset="0"/>
                <a:cs typeface="Calibri" panose="020F0502020204030204" charset="0"/>
              </a:rPr>
              <a:t>权限的用户能创建基本表和视图，成为所创建对象的属主；</a:t>
            </a:r>
          </a:p>
          <a:p>
            <a:pPr lvl="2">
              <a:lnSpc>
                <a:spcPct val="100000"/>
              </a:lnSpc>
              <a:spcBef>
                <a:spcPts val="600"/>
              </a:spcBef>
            </a:pPr>
            <a:r>
              <a:rPr lang="zh-CN" altLang="en-US" sz="2400" dirty="0">
                <a:latin typeface="Calibri" panose="020F0502020204030204" charset="0"/>
                <a:cs typeface="Calibri" panose="020F0502020204030204" charset="0"/>
              </a:rPr>
              <a:t>但不能创建模式，不能创建新的用户。</a:t>
            </a:r>
          </a:p>
          <a:p>
            <a:pPr lvl="1">
              <a:lnSpc>
                <a:spcPct val="100000"/>
              </a:lnSpc>
              <a:spcBef>
                <a:spcPts val="1000"/>
              </a:spcBef>
            </a:pPr>
            <a:r>
              <a:rPr lang="en-US" altLang="zh-CN" dirty="0">
                <a:solidFill>
                  <a:srgbClr val="FF0000"/>
                </a:solidFill>
                <a:latin typeface="Calibri" panose="020F0502020204030204" charset="0"/>
                <a:cs typeface="Calibri" panose="020F0502020204030204" charset="0"/>
                <a:sym typeface="+mn-ea"/>
              </a:rPr>
              <a:t>DBA</a:t>
            </a:r>
            <a:endParaRPr lang="zh-CN" altLang="en-US" sz="2800" dirty="0">
              <a:latin typeface="Calibri" panose="020F0502020204030204" charset="0"/>
              <a:cs typeface="Calibri" panose="020F0502020204030204" charset="0"/>
            </a:endParaRPr>
          </a:p>
          <a:p>
            <a:pPr lvl="2">
              <a:lnSpc>
                <a:spcPct val="100000"/>
              </a:lnSpc>
              <a:spcBef>
                <a:spcPts val="600"/>
              </a:spcBef>
            </a:pPr>
            <a:r>
              <a:rPr lang="zh-CN" altLang="en-US" sz="2400" dirty="0">
                <a:latin typeface="Calibri" panose="020F0502020204030204" charset="0"/>
                <a:cs typeface="Calibri" panose="020F0502020204030204" charset="0"/>
              </a:rPr>
              <a:t>拥有</a:t>
            </a:r>
            <a:r>
              <a:rPr lang="en-US" altLang="zh-CN" sz="2400" dirty="0">
                <a:latin typeface="Calibri" panose="020F0502020204030204" charset="0"/>
                <a:cs typeface="Calibri" panose="020F0502020204030204" charset="0"/>
              </a:rPr>
              <a:t>DBA</a:t>
            </a:r>
            <a:r>
              <a:rPr lang="zh-CN" altLang="en-US" sz="2400" dirty="0">
                <a:latin typeface="Calibri" panose="020F0502020204030204" charset="0"/>
                <a:cs typeface="Calibri" panose="020F0502020204030204" charset="0"/>
              </a:rPr>
              <a:t>权限的用户是系统中的超级用户，可以创建新的用户、创建模式、创建基本表和视图等；</a:t>
            </a:r>
          </a:p>
          <a:p>
            <a:pPr lvl="2">
              <a:lnSpc>
                <a:spcPct val="100000"/>
              </a:lnSpc>
              <a:spcBef>
                <a:spcPts val="600"/>
              </a:spcBef>
            </a:pPr>
            <a:r>
              <a:rPr lang="en-US" altLang="zh-CN" sz="2400" dirty="0">
                <a:latin typeface="Calibri" panose="020F0502020204030204" charset="0"/>
                <a:cs typeface="Calibri" panose="020F0502020204030204" charset="0"/>
              </a:rPr>
              <a:t>DBA</a:t>
            </a:r>
            <a:r>
              <a:rPr lang="zh-CN" altLang="en-US" sz="2400" dirty="0">
                <a:latin typeface="Calibri" panose="020F0502020204030204" charset="0"/>
                <a:cs typeface="Calibri" panose="020F0502020204030204" charset="0"/>
              </a:rPr>
              <a:t>拥有对所有数据库对象的存取权限，还可以把这些权限授予一般用户。</a:t>
            </a:r>
          </a:p>
        </p:txBody>
      </p:sp>
      <p:sp>
        <p:nvSpPr>
          <p:cNvPr id="3" name="灯片编号占位符 2"/>
          <p:cNvSpPr>
            <a:spLocks noGrp="1"/>
          </p:cNvSpPr>
          <p:nvPr>
            <p:ph type="sldNum" sz="quarter" idx="12"/>
          </p:nvPr>
        </p:nvSpPr>
        <p:spPr/>
        <p:txBody>
          <a:bodyPr/>
          <a:lstStyle/>
          <a:p>
            <a:fld id="{565CE74E-AB26-4998-AD42-012C4C1AD076}" type="slidenum">
              <a:rPr lang="zh-CN" altLang="en-US" smtClean="0"/>
              <a:t>43</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表</a:t>
            </a:r>
            <a:r>
              <a:rPr lang="en-US" altLang="zh-CN" dirty="0"/>
              <a:t>4.6  </a:t>
            </a:r>
            <a:r>
              <a:rPr lang="zh-CN" altLang="en-US" dirty="0"/>
              <a:t>权限与可执行操作的对照表 </a:t>
            </a:r>
          </a:p>
        </p:txBody>
      </p:sp>
      <p:graphicFrame>
        <p:nvGraphicFramePr>
          <p:cNvPr id="7" name="Group 4"/>
          <p:cNvGraphicFramePr/>
          <p:nvPr>
            <p:custDataLst>
              <p:tags r:id="rId1"/>
            </p:custDataLst>
          </p:nvPr>
        </p:nvGraphicFramePr>
        <p:xfrm>
          <a:off x="593090" y="828675"/>
          <a:ext cx="11036935" cy="5180330"/>
        </p:xfrm>
        <a:graphic>
          <a:graphicData uri="http://schemas.openxmlformats.org/drawingml/2006/table">
            <a:tbl>
              <a:tblPr/>
              <a:tblGrid>
                <a:gridCol w="2249805">
                  <a:extLst>
                    <a:ext uri="{9D8B030D-6E8A-4147-A177-3AD203B41FA5}">
                      <a16:colId xmlns:a16="http://schemas.microsoft.com/office/drawing/2014/main" val="20000"/>
                    </a:ext>
                  </a:extLst>
                </a:gridCol>
                <a:gridCol w="1708785">
                  <a:extLst>
                    <a:ext uri="{9D8B030D-6E8A-4147-A177-3AD203B41FA5}">
                      <a16:colId xmlns:a16="http://schemas.microsoft.com/office/drawing/2014/main" val="20001"/>
                    </a:ext>
                  </a:extLst>
                </a:gridCol>
                <a:gridCol w="1889125">
                  <a:extLst>
                    <a:ext uri="{9D8B030D-6E8A-4147-A177-3AD203B41FA5}">
                      <a16:colId xmlns:a16="http://schemas.microsoft.com/office/drawing/2014/main" val="20002"/>
                    </a:ext>
                  </a:extLst>
                </a:gridCol>
                <a:gridCol w="1799590">
                  <a:extLst>
                    <a:ext uri="{9D8B030D-6E8A-4147-A177-3AD203B41FA5}">
                      <a16:colId xmlns:a16="http://schemas.microsoft.com/office/drawing/2014/main" val="20003"/>
                    </a:ext>
                  </a:extLst>
                </a:gridCol>
                <a:gridCol w="3389630">
                  <a:extLst>
                    <a:ext uri="{9D8B030D-6E8A-4147-A177-3AD203B41FA5}">
                      <a16:colId xmlns:a16="http://schemas.microsoft.com/office/drawing/2014/main" val="20004"/>
                    </a:ext>
                  </a:extLst>
                </a:gridCol>
              </a:tblGrid>
              <a:tr h="680720">
                <a:tc rowSpan="2">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dirty="0">
                          <a:ln>
                            <a:noFill/>
                          </a:ln>
                          <a:solidFill>
                            <a:schemeClr val="tx1"/>
                          </a:solidFill>
                          <a:effectLst/>
                          <a:latin typeface="Arial" panose="020B0604020202020204" pitchFamily="34" charset="0"/>
                          <a:ea typeface="楷体" panose="02010609060101010101" charset="-122"/>
                        </a:rPr>
                        <a:t>拥有的权限</a:t>
                      </a:r>
                    </a:p>
                  </a:txBody>
                  <a:tcPr marL="91447" marR="91447"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gridSpan="4">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dirty="0">
                          <a:ln>
                            <a:noFill/>
                          </a:ln>
                          <a:solidFill>
                            <a:schemeClr val="tx1"/>
                          </a:solidFill>
                          <a:effectLst/>
                          <a:latin typeface="Arial" panose="020B0604020202020204" pitchFamily="34" charset="0"/>
                          <a:ea typeface="楷体" panose="02010609060101010101" charset="-122"/>
                        </a:rPr>
                        <a:t>可否执行的操作</a:t>
                      </a:r>
                    </a:p>
                  </a:txBody>
                  <a:tcPr marL="91447" marR="91447"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1125220">
                <a:tc v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800" b="1" i="0" u="none" strike="noStrike" cap="none" normalizeH="0" baseline="0" dirty="0">
                          <a:ln>
                            <a:noFill/>
                          </a:ln>
                          <a:solidFill>
                            <a:schemeClr val="tx1"/>
                          </a:solidFill>
                          <a:effectLst/>
                          <a:latin typeface="Arial" panose="020B0604020202020204" pitchFamily="34" charset="0"/>
                          <a:ea typeface="楷体" panose="02010609060101010101" charset="-122"/>
                          <a:cs typeface="Arial" panose="020B0604020202020204" pitchFamily="34" charset="0"/>
                        </a:rPr>
                        <a:t>CREATE USER</a:t>
                      </a:r>
                    </a:p>
                  </a:txBody>
                  <a:tcPr marL="91447" marR="91447"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800" b="1" i="0" u="none" strike="noStrike" cap="none" normalizeH="0" baseline="0" dirty="0">
                          <a:ln>
                            <a:noFill/>
                          </a:ln>
                          <a:solidFill>
                            <a:schemeClr val="tx1"/>
                          </a:solidFill>
                          <a:effectLst/>
                          <a:latin typeface="Arial" panose="020B0604020202020204" pitchFamily="34" charset="0"/>
                          <a:ea typeface="楷体" panose="02010609060101010101" charset="-122"/>
                          <a:cs typeface="Arial" panose="020B0604020202020204" pitchFamily="34" charset="0"/>
                        </a:rPr>
                        <a:t>CREATE SCHEMA</a:t>
                      </a:r>
                    </a:p>
                  </a:txBody>
                  <a:tcPr marL="91447" marR="91447"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800" b="1" i="0" u="none" strike="noStrike" cap="none" normalizeH="0" baseline="0" dirty="0">
                          <a:ln>
                            <a:noFill/>
                          </a:ln>
                          <a:solidFill>
                            <a:schemeClr val="tx1"/>
                          </a:solidFill>
                          <a:effectLst/>
                          <a:latin typeface="Arial" panose="020B0604020202020204" pitchFamily="34" charset="0"/>
                          <a:ea typeface="楷体" panose="02010609060101010101" charset="-122"/>
                          <a:cs typeface="Arial" panose="020B0604020202020204" pitchFamily="34" charset="0"/>
                        </a:rPr>
                        <a:t>CREATE TABLE</a:t>
                      </a:r>
                    </a:p>
                  </a:txBody>
                  <a:tcPr marL="91447" marR="91447"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dirty="0">
                          <a:ln>
                            <a:noFill/>
                          </a:ln>
                          <a:solidFill>
                            <a:schemeClr val="tx1"/>
                          </a:solidFill>
                          <a:effectLst/>
                          <a:latin typeface="Arial" panose="020B0604020202020204" pitchFamily="34" charset="0"/>
                          <a:ea typeface="楷体" panose="02010609060101010101" charset="-122"/>
                          <a:cs typeface="Arial" panose="020B0604020202020204" pitchFamily="34" charset="0"/>
                        </a:rPr>
                        <a:t>登录数据库 </a:t>
                      </a:r>
                      <a:r>
                        <a:rPr kumimoji="0" lang="zh-CN" altLang="en-US" sz="2800" b="1" i="0" u="none" strike="noStrike" cap="none" normalizeH="0" baseline="0" dirty="0">
                          <a:ln>
                            <a:noFill/>
                          </a:ln>
                          <a:solidFill>
                            <a:schemeClr val="tx1"/>
                          </a:solidFill>
                          <a:effectLst/>
                          <a:latin typeface="Arial" panose="020B0604020202020204" pitchFamily="34" charset="0"/>
                          <a:ea typeface="楷体" panose="02010609060101010101" charset="-122"/>
                          <a:cs typeface="Arial" panose="020B0604020202020204" pitchFamily="34" charset="0"/>
                        </a:rPr>
                        <a:t>，</a:t>
                      </a:r>
                      <a:r>
                        <a:rPr kumimoji="0" lang="zh-CN" sz="2800" b="1" i="0" u="none" strike="noStrike" cap="none" normalizeH="0" baseline="0" dirty="0">
                          <a:ln>
                            <a:noFill/>
                          </a:ln>
                          <a:solidFill>
                            <a:schemeClr val="tx1"/>
                          </a:solidFill>
                          <a:effectLst/>
                          <a:latin typeface="Arial" panose="020B0604020202020204" pitchFamily="34" charset="0"/>
                          <a:ea typeface="楷体" panose="02010609060101010101" charset="-122"/>
                          <a:cs typeface="Arial" panose="020B0604020202020204" pitchFamily="34" charset="0"/>
                        </a:rPr>
                        <a:t>执行数据查询和操纵</a:t>
                      </a:r>
                    </a:p>
                  </a:txBody>
                  <a:tcPr marL="91447" marR="91447"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1"/>
                  </a:ext>
                </a:extLst>
              </a:tr>
              <a:tr h="1124585">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800" b="1" i="0" u="none" strike="noStrike" cap="none" normalizeH="0" baseline="0" dirty="0">
                          <a:ln>
                            <a:noFill/>
                          </a:ln>
                          <a:solidFill>
                            <a:srgbClr val="0000C8"/>
                          </a:solidFill>
                          <a:effectLst/>
                          <a:latin typeface="Arial" panose="020B0604020202020204" pitchFamily="34" charset="0"/>
                          <a:ea typeface="楷体" panose="02010609060101010101" charset="-122"/>
                          <a:cs typeface="Arial" panose="020B0604020202020204" pitchFamily="34" charset="0"/>
                        </a:rPr>
                        <a:t>DBA</a:t>
                      </a:r>
                    </a:p>
                  </a:txBody>
                  <a:tcPr marL="91447" marR="91447"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dirty="0">
                          <a:ln>
                            <a:noFill/>
                          </a:ln>
                          <a:solidFill>
                            <a:srgbClr val="0000C8"/>
                          </a:solidFill>
                          <a:effectLst/>
                          <a:latin typeface="Arial" panose="020B0604020202020204" pitchFamily="34" charset="0"/>
                          <a:ea typeface="楷体" panose="02010609060101010101" charset="-122"/>
                        </a:rPr>
                        <a:t>可以</a:t>
                      </a:r>
                    </a:p>
                  </a:txBody>
                  <a:tcPr marL="91447" marR="91447"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a:ln>
                            <a:noFill/>
                          </a:ln>
                          <a:solidFill>
                            <a:srgbClr val="0000C8"/>
                          </a:solidFill>
                          <a:effectLst/>
                          <a:latin typeface="Arial" panose="020B0604020202020204" pitchFamily="34" charset="0"/>
                          <a:ea typeface="楷体" panose="02010609060101010101" charset="-122"/>
                        </a:rPr>
                        <a:t>可以</a:t>
                      </a:r>
                    </a:p>
                  </a:txBody>
                  <a:tcPr marL="91447" marR="91447"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dirty="0">
                          <a:ln>
                            <a:noFill/>
                          </a:ln>
                          <a:solidFill>
                            <a:srgbClr val="0000C8"/>
                          </a:solidFill>
                          <a:effectLst/>
                          <a:latin typeface="Arial" panose="020B0604020202020204" pitchFamily="34" charset="0"/>
                          <a:ea typeface="楷体" panose="02010609060101010101" charset="-122"/>
                        </a:rPr>
                        <a:t>可以</a:t>
                      </a:r>
                    </a:p>
                  </a:txBody>
                  <a:tcPr marL="91447" marR="91447"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dirty="0">
                          <a:ln>
                            <a:noFill/>
                          </a:ln>
                          <a:solidFill>
                            <a:srgbClr val="0000C8"/>
                          </a:solidFill>
                          <a:effectLst/>
                          <a:latin typeface="Arial" panose="020B0604020202020204" pitchFamily="34" charset="0"/>
                          <a:ea typeface="楷体" panose="02010609060101010101" charset="-122"/>
                        </a:rPr>
                        <a:t>可以</a:t>
                      </a:r>
                    </a:p>
                  </a:txBody>
                  <a:tcPr marL="91447" marR="91447"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125220">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8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RESOURCE</a:t>
                      </a:r>
                    </a:p>
                  </a:txBody>
                  <a:tcPr marL="91447" marR="91447"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dirty="0">
                          <a:ln>
                            <a:noFill/>
                          </a:ln>
                          <a:solidFill>
                            <a:srgbClr val="C00000"/>
                          </a:solidFill>
                          <a:effectLst/>
                          <a:latin typeface="Arial" panose="020B0604020202020204" pitchFamily="34" charset="0"/>
                          <a:ea typeface="楷体" panose="02010609060101010101" charset="-122"/>
                        </a:rPr>
                        <a:t>不可以</a:t>
                      </a:r>
                    </a:p>
                  </a:txBody>
                  <a:tcPr marL="91447" marR="91447"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dirty="0">
                          <a:ln>
                            <a:noFill/>
                          </a:ln>
                          <a:solidFill>
                            <a:srgbClr val="C00000"/>
                          </a:solidFill>
                          <a:effectLst/>
                          <a:latin typeface="Arial" panose="020B0604020202020204" pitchFamily="34" charset="0"/>
                          <a:ea typeface="楷体" panose="02010609060101010101" charset="-122"/>
                        </a:rPr>
                        <a:t>不可以</a:t>
                      </a:r>
                    </a:p>
                  </a:txBody>
                  <a:tcPr marL="91447" marR="91447"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dirty="0">
                          <a:ln>
                            <a:noFill/>
                          </a:ln>
                          <a:solidFill>
                            <a:srgbClr val="0000C8"/>
                          </a:solidFill>
                          <a:effectLst/>
                          <a:latin typeface="Arial" panose="020B0604020202020204" pitchFamily="34" charset="0"/>
                          <a:ea typeface="楷体" panose="02010609060101010101" charset="-122"/>
                        </a:rPr>
                        <a:t>可以</a:t>
                      </a:r>
                    </a:p>
                  </a:txBody>
                  <a:tcPr marL="91447" marR="91447"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dirty="0">
                          <a:ln>
                            <a:noFill/>
                          </a:ln>
                          <a:solidFill>
                            <a:srgbClr val="0000C8"/>
                          </a:solidFill>
                          <a:effectLst/>
                          <a:latin typeface="Arial" panose="020B0604020202020204" pitchFamily="34" charset="0"/>
                          <a:ea typeface="楷体" panose="02010609060101010101" charset="-122"/>
                        </a:rPr>
                        <a:t>可以</a:t>
                      </a:r>
                    </a:p>
                  </a:txBody>
                  <a:tcPr marL="91447" marR="91447"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124585">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sz="2800" b="1" i="0" u="none" strike="noStrike" cap="none" normalizeH="0" baseline="0">
                          <a:ln>
                            <a:noFill/>
                          </a:ln>
                          <a:solidFill>
                            <a:srgbClr val="0000C8"/>
                          </a:solidFill>
                          <a:effectLst/>
                          <a:latin typeface="Arial" panose="020B0604020202020204" pitchFamily="34" charset="0"/>
                          <a:ea typeface="楷体" panose="02010609060101010101" charset="-122"/>
                          <a:cs typeface="Arial" panose="020B0604020202020204" pitchFamily="34" charset="0"/>
                        </a:rPr>
                        <a:t>CONNECT</a:t>
                      </a:r>
                    </a:p>
                  </a:txBody>
                  <a:tcPr marL="91447" marR="91447"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dirty="0">
                          <a:ln>
                            <a:noFill/>
                          </a:ln>
                          <a:solidFill>
                            <a:srgbClr val="C00000"/>
                          </a:solidFill>
                          <a:effectLst/>
                          <a:latin typeface="Arial" panose="020B0604020202020204" pitchFamily="34" charset="0"/>
                          <a:ea typeface="楷体" panose="02010609060101010101" charset="-122"/>
                        </a:rPr>
                        <a:t>不可以</a:t>
                      </a:r>
                    </a:p>
                  </a:txBody>
                  <a:tcPr marL="91447" marR="91447"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a:ln>
                            <a:noFill/>
                          </a:ln>
                          <a:solidFill>
                            <a:srgbClr val="C00000"/>
                          </a:solidFill>
                          <a:effectLst/>
                          <a:latin typeface="Arial" panose="020B0604020202020204" pitchFamily="34" charset="0"/>
                          <a:ea typeface="楷体" panose="02010609060101010101" charset="-122"/>
                        </a:rPr>
                        <a:t>不可以</a:t>
                      </a:r>
                    </a:p>
                  </a:txBody>
                  <a:tcPr marL="91447" marR="91447"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dirty="0">
                          <a:ln>
                            <a:noFill/>
                          </a:ln>
                          <a:solidFill>
                            <a:srgbClr val="C00000"/>
                          </a:solidFill>
                          <a:effectLst/>
                          <a:latin typeface="Arial" panose="020B0604020202020204" pitchFamily="34" charset="0"/>
                          <a:ea typeface="楷体" panose="02010609060101010101" charset="-122"/>
                        </a:rPr>
                        <a:t>不可以</a:t>
                      </a:r>
                    </a:p>
                  </a:txBody>
                  <a:tcPr marL="91447" marR="91447"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dirty="0">
                          <a:ln>
                            <a:noFill/>
                          </a:ln>
                          <a:solidFill>
                            <a:srgbClr val="0000C8"/>
                          </a:solidFill>
                          <a:effectLst/>
                          <a:latin typeface="Arial" panose="020B0604020202020204" pitchFamily="34" charset="0"/>
                          <a:ea typeface="楷体" panose="02010609060101010101" charset="-122"/>
                        </a:rPr>
                        <a:t>可以，但必须拥有相应权限</a:t>
                      </a:r>
                    </a:p>
                  </a:txBody>
                  <a:tcPr marL="91447" marR="91447"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 name="灯片编号占位符 2"/>
          <p:cNvSpPr>
            <a:spLocks noGrp="1"/>
          </p:cNvSpPr>
          <p:nvPr>
            <p:ph type="sldNum" sz="quarter" idx="12"/>
          </p:nvPr>
        </p:nvSpPr>
        <p:spPr/>
        <p:txBody>
          <a:bodyPr/>
          <a:lstStyle/>
          <a:p>
            <a:fld id="{565CE74E-AB26-4998-AD42-012C4C1AD076}" type="slidenum">
              <a:rPr lang="zh-CN" altLang="en-US" smtClean="0"/>
              <a:t>44</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p:cNvSpPr>
            <a:spLocks noGrp="1" noChangeArrowheads="1"/>
          </p:cNvSpPr>
          <p:nvPr>
            <p:ph type="title"/>
          </p:nvPr>
        </p:nvSpPr>
        <p:spPr/>
        <p:txBody>
          <a:bodyPr/>
          <a:lstStyle/>
          <a:p>
            <a:r>
              <a:rPr lang="en-US" altLang="zh-CN" dirty="0"/>
              <a:t>4.2.5  </a:t>
            </a:r>
            <a:r>
              <a:rPr lang="zh-CN" altLang="en-US" dirty="0"/>
              <a:t>数据库角色 </a:t>
            </a:r>
            <a:r>
              <a:rPr lang="en-US" altLang="zh-CN" dirty="0"/>
              <a:t>1</a:t>
            </a:r>
            <a:endParaRPr lang="zh-CN" altLang="en-US" dirty="0"/>
          </a:p>
        </p:txBody>
      </p:sp>
      <p:sp>
        <p:nvSpPr>
          <p:cNvPr id="69636" name="Rectangle 3"/>
          <p:cNvSpPr>
            <a:spLocks noGrp="1" noChangeArrowheads="1"/>
          </p:cNvSpPr>
          <p:nvPr>
            <p:ph idx="1"/>
          </p:nvPr>
        </p:nvSpPr>
        <p:spPr>
          <a:xfrm>
            <a:off x="424180" y="687070"/>
            <a:ext cx="11343005" cy="1568450"/>
          </a:xfrm>
        </p:spPr>
        <p:txBody>
          <a:bodyPr>
            <a:noAutofit/>
          </a:bodyPr>
          <a:lstStyle/>
          <a:p>
            <a:pPr fontAlgn="auto">
              <a:lnSpc>
                <a:spcPct val="100000"/>
              </a:lnSpc>
              <a:spcBef>
                <a:spcPts val="0"/>
              </a:spcBef>
            </a:pPr>
            <a:r>
              <a:rPr lang="zh-CN" altLang="en-US" sz="2400" dirty="0">
                <a:solidFill>
                  <a:srgbClr val="FF0000"/>
                </a:solidFill>
              </a:rPr>
              <a:t>数据库角色</a:t>
            </a:r>
            <a:r>
              <a:rPr lang="zh-CN" altLang="en-US" sz="2400" dirty="0"/>
              <a:t>：被命名的一组与数据库操作相关的权限</a:t>
            </a:r>
          </a:p>
          <a:p>
            <a:pPr lvl="1" fontAlgn="auto">
              <a:lnSpc>
                <a:spcPct val="100000"/>
              </a:lnSpc>
              <a:spcBef>
                <a:spcPts val="0"/>
              </a:spcBef>
            </a:pPr>
            <a:r>
              <a:rPr lang="zh-CN" altLang="en-US" sz="2400" dirty="0"/>
              <a:t>角色是权限的集合 </a:t>
            </a:r>
          </a:p>
          <a:p>
            <a:pPr lvl="1" fontAlgn="auto">
              <a:lnSpc>
                <a:spcPct val="100000"/>
              </a:lnSpc>
              <a:spcBef>
                <a:spcPts val="0"/>
              </a:spcBef>
            </a:pPr>
            <a:r>
              <a:rPr lang="zh-CN" altLang="en-US" sz="2400" dirty="0"/>
              <a:t>可以为一组具有相同权限的用户创建一个角色</a:t>
            </a:r>
          </a:p>
          <a:p>
            <a:pPr lvl="1" fontAlgn="auto">
              <a:lnSpc>
                <a:spcPct val="100000"/>
              </a:lnSpc>
              <a:spcBef>
                <a:spcPts val="0"/>
              </a:spcBef>
            </a:pPr>
            <a:r>
              <a:rPr lang="zh-CN" altLang="en-US" sz="2400" dirty="0"/>
              <a:t>简化授权的过程</a:t>
            </a:r>
          </a:p>
        </p:txBody>
      </p:sp>
      <p:sp>
        <p:nvSpPr>
          <p:cNvPr id="2" name="内容占位符 1"/>
          <p:cNvSpPr>
            <a:spLocks noGrp="1"/>
          </p:cNvSpPr>
          <p:nvPr>
            <p:ph idx="4294967295"/>
          </p:nvPr>
        </p:nvSpPr>
        <p:spPr>
          <a:xfrm>
            <a:off x="424180" y="2454275"/>
            <a:ext cx="11343640" cy="460375"/>
          </a:xfrm>
        </p:spPr>
        <p:txBody>
          <a:bodyPr>
            <a:noAutofit/>
          </a:bodyPr>
          <a:lstStyle/>
          <a:p>
            <a:pPr fontAlgn="auto">
              <a:lnSpc>
                <a:spcPct val="100000"/>
              </a:lnSpc>
              <a:spcBef>
                <a:spcPts val="0"/>
              </a:spcBef>
            </a:pPr>
            <a:r>
              <a:rPr lang="zh-CN" altLang="en-US" sz="2400" dirty="0"/>
              <a:t>角色的创建</a:t>
            </a:r>
            <a:endParaRPr lang="zh-CN" altLang="en-US" sz="2400" dirty="0">
              <a:solidFill>
                <a:srgbClr val="FF0000"/>
              </a:solidFill>
              <a:latin typeface="Arial" panose="020B0604020202020204" pitchFamily="34" charset="0"/>
              <a:cs typeface="Arial" panose="020B0604020202020204" pitchFamily="34" charset="0"/>
            </a:endParaRPr>
          </a:p>
        </p:txBody>
      </p:sp>
      <p:sp>
        <p:nvSpPr>
          <p:cNvPr id="3" name="灯片编号占位符 2"/>
          <p:cNvSpPr>
            <a:spLocks noGrp="1"/>
          </p:cNvSpPr>
          <p:nvPr>
            <p:ph type="sldNum" sz="quarter" idx="12"/>
          </p:nvPr>
        </p:nvSpPr>
        <p:spPr>
          <a:xfrm>
            <a:off x="11461115" y="6696000"/>
            <a:ext cx="730885" cy="153670"/>
          </a:xfrm>
        </p:spPr>
        <p:txBody>
          <a:bodyPr/>
          <a:lstStyle/>
          <a:p>
            <a:fld id="{565CE74E-AB26-4998-AD42-012C4C1AD076}" type="slidenum">
              <a:rPr lang="zh-CN" altLang="en-US" smtClean="0"/>
              <a:t>45</a:t>
            </a:fld>
            <a:endParaRPr lang="zh-CN" altLang="en-US"/>
          </a:p>
        </p:txBody>
      </p:sp>
      <p:sp>
        <p:nvSpPr>
          <p:cNvPr id="4" name="页脚占位符 3"/>
          <p:cNvSpPr>
            <a:spLocks noGrp="1"/>
          </p:cNvSpPr>
          <p:nvPr>
            <p:ph type="ftr" sz="quarter" idx="11"/>
          </p:nvPr>
        </p:nvSpPr>
        <p:spPr>
          <a:xfrm>
            <a:off x="0" y="6695365"/>
            <a:ext cx="4114800" cy="153670"/>
          </a:xfrm>
        </p:spPr>
        <p:txBody>
          <a:bodyPr/>
          <a:lstStyle/>
          <a:p>
            <a:r>
              <a:rPr lang="zh-CN" altLang="en-US"/>
              <a:t>ch04_数据库安全性</a:t>
            </a:r>
          </a:p>
        </p:txBody>
      </p:sp>
      <p:sp>
        <p:nvSpPr>
          <p:cNvPr id="5" name="内容占位符 1"/>
          <p:cNvSpPr>
            <a:spLocks noGrp="1"/>
          </p:cNvSpPr>
          <p:nvPr/>
        </p:nvSpPr>
        <p:spPr>
          <a:xfrm>
            <a:off x="424180" y="2913380"/>
            <a:ext cx="11343640" cy="460375"/>
          </a:xfrm>
          <a:prstGeom prst="rect">
            <a:avLst/>
          </a:prstGeom>
          <a:solidFill>
            <a:schemeClr val="accent3">
              <a:lumMod val="20000"/>
              <a:lumOff val="80000"/>
              <a:alpha val="50000"/>
            </a:schemeClr>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fontAlgn="auto">
              <a:lnSpc>
                <a:spcPct val="100000"/>
              </a:lnSpc>
              <a:spcBef>
                <a:spcPts val="0"/>
              </a:spcBef>
              <a:buNone/>
            </a:pPr>
            <a:r>
              <a:rPr lang="en-US" altLang="zh-CN" sz="2400" dirty="0">
                <a:solidFill>
                  <a:srgbClr val="FF0000"/>
                </a:solidFill>
                <a:latin typeface="Calibri" panose="020F0502020204030204" charset="0"/>
                <a:cs typeface="Calibri" panose="020F0502020204030204" charset="0"/>
              </a:rPr>
              <a:t>CREATE  ROLE  &lt;</a:t>
            </a:r>
            <a:r>
              <a:rPr lang="zh-CN" altLang="en-US" sz="2400" dirty="0">
                <a:solidFill>
                  <a:srgbClr val="FF0000"/>
                </a:solidFill>
                <a:latin typeface="Calibri" panose="020F0502020204030204" charset="0"/>
                <a:cs typeface="Calibri" panose="020F0502020204030204" charset="0"/>
              </a:rPr>
              <a:t>角色名</a:t>
            </a:r>
            <a:r>
              <a:rPr lang="en-US" altLang="zh-CN" sz="2400" dirty="0">
                <a:solidFill>
                  <a:srgbClr val="FF0000"/>
                </a:solidFill>
                <a:latin typeface="Calibri" panose="020F0502020204030204" charset="0"/>
                <a:cs typeface="Calibri" panose="020F0502020204030204" charset="0"/>
              </a:rPr>
              <a:t>&gt; ;</a:t>
            </a:r>
            <a:endParaRPr lang="zh-CN" altLang="en-US" sz="2400" dirty="0">
              <a:solidFill>
                <a:srgbClr val="FF0000"/>
              </a:solidFill>
              <a:latin typeface="Calibri" panose="020F0502020204030204" charset="0"/>
              <a:cs typeface="Calibri" panose="020F0502020204030204" charset="0"/>
            </a:endParaRPr>
          </a:p>
        </p:txBody>
      </p:sp>
      <p:grpSp>
        <p:nvGrpSpPr>
          <p:cNvPr id="12" name="组合 11"/>
          <p:cNvGrpSpPr/>
          <p:nvPr/>
        </p:nvGrpSpPr>
        <p:grpSpPr>
          <a:xfrm>
            <a:off x="424180" y="3550920"/>
            <a:ext cx="11343640" cy="1388110"/>
            <a:chOff x="668" y="6072"/>
            <a:chExt cx="17864" cy="2186"/>
          </a:xfrm>
        </p:grpSpPr>
        <p:sp>
          <p:nvSpPr>
            <p:cNvPr id="6" name="内容占位符 1"/>
            <p:cNvSpPr>
              <a:spLocks noGrp="1"/>
            </p:cNvSpPr>
            <p:nvPr/>
          </p:nvSpPr>
          <p:spPr>
            <a:xfrm>
              <a:off x="668" y="6072"/>
              <a:ext cx="17864" cy="725"/>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00000"/>
                </a:lnSpc>
                <a:spcBef>
                  <a:spcPts val="0"/>
                </a:spcBef>
              </a:pPr>
              <a:r>
                <a:rPr lang="zh-CN" altLang="en-US" sz="2400" dirty="0"/>
                <a:t>给角色授权</a:t>
              </a:r>
              <a:r>
                <a:rPr lang="en-US" altLang="zh-CN" sz="2400" dirty="0"/>
                <a:t> &amp; </a:t>
              </a:r>
              <a:r>
                <a:rPr lang="zh-CN" altLang="en-US" sz="2400" dirty="0"/>
                <a:t>角色权限的回收</a:t>
              </a:r>
            </a:p>
          </p:txBody>
        </p:sp>
        <p:sp>
          <p:nvSpPr>
            <p:cNvPr id="7" name="内容占位符 1"/>
            <p:cNvSpPr>
              <a:spLocks noGrp="1"/>
            </p:cNvSpPr>
            <p:nvPr/>
          </p:nvSpPr>
          <p:spPr>
            <a:xfrm>
              <a:off x="668" y="6797"/>
              <a:ext cx="17864" cy="725"/>
            </a:xfrm>
            <a:prstGeom prst="rect">
              <a:avLst/>
            </a:prstGeom>
            <a:solidFill>
              <a:schemeClr val="accent3">
                <a:lumMod val="20000"/>
                <a:lumOff val="80000"/>
                <a:alpha val="50000"/>
              </a:schemeClr>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fontAlgn="auto">
                <a:lnSpc>
                  <a:spcPct val="100000"/>
                </a:lnSpc>
                <a:spcBef>
                  <a:spcPts val="0"/>
                </a:spcBef>
                <a:buNone/>
              </a:pPr>
              <a:r>
                <a:rPr lang="en-US" altLang="zh-CN" sz="2400" dirty="0">
                  <a:solidFill>
                    <a:srgbClr val="FF0000"/>
                  </a:solidFill>
                  <a:latin typeface="Calibri" panose="020F0502020204030204" charset="0"/>
                  <a:cs typeface="Calibri" panose="020F0502020204030204" charset="0"/>
                </a:rPr>
                <a:t>GRANT  &lt;</a:t>
              </a:r>
              <a:r>
                <a:rPr lang="zh-CN" altLang="en-US" sz="2400" dirty="0">
                  <a:solidFill>
                    <a:srgbClr val="FF0000"/>
                  </a:solidFill>
                  <a:latin typeface="Calibri" panose="020F0502020204030204" charset="0"/>
                  <a:cs typeface="Calibri" panose="020F0502020204030204" charset="0"/>
                </a:rPr>
                <a:t>权限</a:t>
              </a:r>
              <a:r>
                <a:rPr lang="en-US" altLang="zh-CN" sz="2400" dirty="0">
                  <a:solidFill>
                    <a:srgbClr val="FF0000"/>
                  </a:solidFill>
                  <a:latin typeface="Calibri" panose="020F0502020204030204" charset="0"/>
                  <a:cs typeface="Calibri" panose="020F0502020204030204" charset="0"/>
                </a:rPr>
                <a:t>&gt; [, &lt;</a:t>
              </a:r>
              <a:r>
                <a:rPr lang="zh-CN" altLang="en-US" sz="2400" dirty="0">
                  <a:solidFill>
                    <a:srgbClr val="FF0000"/>
                  </a:solidFill>
                  <a:latin typeface="Calibri" panose="020F0502020204030204" charset="0"/>
                  <a:cs typeface="Calibri" panose="020F0502020204030204" charset="0"/>
                </a:rPr>
                <a:t>权限</a:t>
              </a:r>
              <a:r>
                <a:rPr lang="en-US" altLang="zh-CN" sz="2400" dirty="0">
                  <a:solidFill>
                    <a:srgbClr val="FF0000"/>
                  </a:solidFill>
                  <a:latin typeface="Calibri" panose="020F0502020204030204" charset="0"/>
                  <a:cs typeface="Calibri" panose="020F0502020204030204" charset="0"/>
                </a:rPr>
                <a:t>&gt;] … ON  &lt;</a:t>
              </a:r>
              <a:r>
                <a:rPr lang="zh-CN" altLang="en-US" sz="2400" dirty="0">
                  <a:solidFill>
                    <a:srgbClr val="FF0000"/>
                  </a:solidFill>
                  <a:latin typeface="Calibri" panose="020F0502020204030204" charset="0"/>
                  <a:cs typeface="Calibri" panose="020F0502020204030204" charset="0"/>
                </a:rPr>
                <a:t>对象类型</a:t>
              </a:r>
              <a:r>
                <a:rPr lang="en-US" altLang="zh-CN" sz="2400" dirty="0">
                  <a:solidFill>
                    <a:srgbClr val="FF0000"/>
                  </a:solidFill>
                  <a:latin typeface="Calibri" panose="020F0502020204030204" charset="0"/>
                  <a:cs typeface="Calibri" panose="020F0502020204030204" charset="0"/>
                </a:rPr>
                <a:t>&gt; &lt;</a:t>
              </a:r>
              <a:r>
                <a:rPr lang="zh-CN" altLang="en-US" sz="2400" dirty="0">
                  <a:solidFill>
                    <a:srgbClr val="FF0000"/>
                  </a:solidFill>
                  <a:latin typeface="Calibri" panose="020F0502020204030204" charset="0"/>
                  <a:cs typeface="Calibri" panose="020F0502020204030204" charset="0"/>
                </a:rPr>
                <a:t>对象名</a:t>
              </a:r>
              <a:r>
                <a:rPr lang="en-US" altLang="zh-CN" sz="2400" dirty="0">
                  <a:solidFill>
                    <a:srgbClr val="FF0000"/>
                  </a:solidFill>
                  <a:latin typeface="Calibri" panose="020F0502020204030204" charset="0"/>
                  <a:cs typeface="Calibri" panose="020F0502020204030204" charset="0"/>
                </a:rPr>
                <a:t>&gt; TO  &lt;</a:t>
              </a:r>
              <a:r>
                <a:rPr lang="zh-CN" altLang="en-US" sz="2400" dirty="0">
                  <a:solidFill>
                    <a:srgbClr val="FF0000"/>
                  </a:solidFill>
                  <a:latin typeface="Calibri" panose="020F0502020204030204" charset="0"/>
                  <a:cs typeface="Calibri" panose="020F0502020204030204" charset="0"/>
                </a:rPr>
                <a:t>角色</a:t>
              </a:r>
              <a:r>
                <a:rPr lang="en-US" altLang="zh-CN" sz="2400" dirty="0">
                  <a:solidFill>
                    <a:srgbClr val="FF0000"/>
                  </a:solidFill>
                  <a:latin typeface="Calibri" panose="020F0502020204030204" charset="0"/>
                  <a:cs typeface="Calibri" panose="020F0502020204030204" charset="0"/>
                </a:rPr>
                <a:t>&gt; [, &lt;</a:t>
              </a:r>
              <a:r>
                <a:rPr lang="zh-CN" altLang="en-US" sz="2400" dirty="0">
                  <a:solidFill>
                    <a:srgbClr val="FF0000"/>
                  </a:solidFill>
                  <a:latin typeface="Calibri" panose="020F0502020204030204" charset="0"/>
                  <a:cs typeface="Calibri" panose="020F0502020204030204" charset="0"/>
                </a:rPr>
                <a:t>角色</a:t>
              </a:r>
              <a:r>
                <a:rPr lang="en-US" altLang="zh-CN" sz="2400" dirty="0">
                  <a:solidFill>
                    <a:srgbClr val="FF0000"/>
                  </a:solidFill>
                  <a:latin typeface="Calibri" panose="020F0502020204030204" charset="0"/>
                  <a:cs typeface="Calibri" panose="020F0502020204030204" charset="0"/>
                </a:rPr>
                <a:t>&gt;] … ;</a:t>
              </a:r>
              <a:endParaRPr lang="zh-CN" altLang="en-US" sz="2400" dirty="0">
                <a:solidFill>
                  <a:srgbClr val="FF0000"/>
                </a:solidFill>
                <a:latin typeface="Calibri" panose="020F0502020204030204" charset="0"/>
                <a:cs typeface="Calibri" panose="020F0502020204030204" charset="0"/>
              </a:endParaRPr>
            </a:p>
          </p:txBody>
        </p:sp>
        <p:sp>
          <p:nvSpPr>
            <p:cNvPr id="8" name="内容占位符 8"/>
            <p:cNvSpPr>
              <a:spLocks noGrp="1"/>
            </p:cNvSpPr>
            <p:nvPr/>
          </p:nvSpPr>
          <p:spPr>
            <a:xfrm>
              <a:off x="668" y="7533"/>
              <a:ext cx="17863" cy="725"/>
            </a:xfrm>
            <a:prstGeom prst="rect">
              <a:avLst/>
            </a:prstGeom>
            <a:solidFill>
              <a:schemeClr val="accent3">
                <a:lumMod val="20000"/>
                <a:lumOff val="80000"/>
                <a:alpha val="50000"/>
              </a:schemeClr>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fontAlgn="auto">
                <a:lnSpc>
                  <a:spcPct val="100000"/>
                </a:lnSpc>
                <a:spcBef>
                  <a:spcPts val="0"/>
                </a:spcBef>
                <a:buNone/>
              </a:pPr>
              <a:r>
                <a:rPr lang="en-US" altLang="zh-CN" sz="2400" dirty="0">
                  <a:solidFill>
                    <a:srgbClr val="FF0000"/>
                  </a:solidFill>
                  <a:latin typeface="Calibri" panose="020F0502020204030204" charset="0"/>
                  <a:cs typeface="Calibri" panose="020F0502020204030204" charset="0"/>
                </a:rPr>
                <a:t>REVOKE  &lt;</a:t>
              </a:r>
              <a:r>
                <a:rPr lang="zh-CN" altLang="en-US" sz="2400" dirty="0">
                  <a:solidFill>
                    <a:srgbClr val="FF0000"/>
                  </a:solidFill>
                  <a:latin typeface="Calibri" panose="020F0502020204030204" charset="0"/>
                  <a:cs typeface="Calibri" panose="020F0502020204030204" charset="0"/>
                </a:rPr>
                <a:t>权限</a:t>
              </a:r>
              <a:r>
                <a:rPr lang="en-US" altLang="zh-CN" sz="2400" dirty="0">
                  <a:solidFill>
                    <a:srgbClr val="FF0000"/>
                  </a:solidFill>
                  <a:latin typeface="Calibri" panose="020F0502020204030204" charset="0"/>
                  <a:cs typeface="Calibri" panose="020F0502020204030204" charset="0"/>
                </a:rPr>
                <a:t>&gt; [, &lt;</a:t>
              </a:r>
              <a:r>
                <a:rPr lang="zh-CN" altLang="en-US" sz="2400" dirty="0">
                  <a:solidFill>
                    <a:srgbClr val="FF0000"/>
                  </a:solidFill>
                  <a:latin typeface="Calibri" panose="020F0502020204030204" charset="0"/>
                  <a:cs typeface="Calibri" panose="020F0502020204030204" charset="0"/>
                </a:rPr>
                <a:t>权限</a:t>
              </a:r>
              <a:r>
                <a:rPr lang="en-US" altLang="zh-CN" sz="2400" dirty="0">
                  <a:solidFill>
                    <a:srgbClr val="FF0000"/>
                  </a:solidFill>
                  <a:latin typeface="Calibri" panose="020F0502020204030204" charset="0"/>
                  <a:cs typeface="Calibri" panose="020F0502020204030204" charset="0"/>
                </a:rPr>
                <a:t>&gt;] … ON  &lt;</a:t>
              </a:r>
              <a:r>
                <a:rPr lang="zh-CN" altLang="en-US" sz="2400" dirty="0">
                  <a:solidFill>
                    <a:srgbClr val="FF0000"/>
                  </a:solidFill>
                  <a:latin typeface="Calibri" panose="020F0502020204030204" charset="0"/>
                  <a:cs typeface="Calibri" panose="020F0502020204030204" charset="0"/>
                </a:rPr>
                <a:t>对象类型</a:t>
              </a:r>
              <a:r>
                <a:rPr lang="en-US" altLang="zh-CN" sz="2400" dirty="0">
                  <a:solidFill>
                    <a:srgbClr val="FF0000"/>
                  </a:solidFill>
                  <a:latin typeface="Calibri" panose="020F0502020204030204" charset="0"/>
                  <a:cs typeface="Calibri" panose="020F0502020204030204" charset="0"/>
                </a:rPr>
                <a:t>&gt; &lt;</a:t>
              </a:r>
              <a:r>
                <a:rPr lang="zh-CN" altLang="en-US" sz="2400" dirty="0">
                  <a:solidFill>
                    <a:srgbClr val="FF0000"/>
                  </a:solidFill>
                  <a:latin typeface="Calibri" panose="020F0502020204030204" charset="0"/>
                  <a:cs typeface="Calibri" panose="020F0502020204030204" charset="0"/>
                </a:rPr>
                <a:t>对象名</a:t>
              </a:r>
              <a:r>
                <a:rPr lang="en-US" altLang="zh-CN" sz="2400" dirty="0">
                  <a:solidFill>
                    <a:srgbClr val="FF0000"/>
                  </a:solidFill>
                  <a:latin typeface="Calibri" panose="020F0502020204030204" charset="0"/>
                  <a:cs typeface="Calibri" panose="020F0502020204030204" charset="0"/>
                </a:rPr>
                <a:t>&gt; FROM  &lt;</a:t>
              </a:r>
              <a:r>
                <a:rPr lang="zh-CN" altLang="en-US" sz="2400" dirty="0">
                  <a:solidFill>
                    <a:srgbClr val="FF0000"/>
                  </a:solidFill>
                  <a:latin typeface="Calibri" panose="020F0502020204030204" charset="0"/>
                  <a:cs typeface="Calibri" panose="020F0502020204030204" charset="0"/>
                </a:rPr>
                <a:t>角色</a:t>
              </a:r>
              <a:r>
                <a:rPr lang="en-US" altLang="zh-CN" sz="2400" dirty="0">
                  <a:solidFill>
                    <a:srgbClr val="FF0000"/>
                  </a:solidFill>
                  <a:latin typeface="Calibri" panose="020F0502020204030204" charset="0"/>
                  <a:cs typeface="Calibri" panose="020F0502020204030204" charset="0"/>
                </a:rPr>
                <a:t>&gt; [, &lt;</a:t>
              </a:r>
              <a:r>
                <a:rPr lang="zh-CN" altLang="en-US" sz="2400" dirty="0">
                  <a:solidFill>
                    <a:srgbClr val="FF0000"/>
                  </a:solidFill>
                  <a:latin typeface="Calibri" panose="020F0502020204030204" charset="0"/>
                  <a:cs typeface="Calibri" panose="020F0502020204030204" charset="0"/>
                </a:rPr>
                <a:t>角色</a:t>
              </a:r>
              <a:r>
                <a:rPr lang="en-US" altLang="zh-CN" sz="2400" dirty="0">
                  <a:solidFill>
                    <a:srgbClr val="FF0000"/>
                  </a:solidFill>
                  <a:latin typeface="Calibri" panose="020F0502020204030204" charset="0"/>
                  <a:cs typeface="Calibri" panose="020F0502020204030204" charset="0"/>
                </a:rPr>
                <a:t>&gt;] …;</a:t>
              </a:r>
              <a:endParaRPr lang="zh-CN" altLang="en-US" sz="2400" dirty="0">
                <a:latin typeface="Calibri" panose="020F0502020204030204" charset="0"/>
                <a:cs typeface="Calibri" panose="020F0502020204030204" charset="0"/>
              </a:endParaRPr>
            </a:p>
          </p:txBody>
        </p:sp>
      </p:grpSp>
      <p:grpSp>
        <p:nvGrpSpPr>
          <p:cNvPr id="13" name="组合 12"/>
          <p:cNvGrpSpPr/>
          <p:nvPr/>
        </p:nvGrpSpPr>
        <p:grpSpPr>
          <a:xfrm>
            <a:off x="424180" y="5151755"/>
            <a:ext cx="11343640" cy="1368425"/>
            <a:chOff x="668" y="8449"/>
            <a:chExt cx="17864" cy="2155"/>
          </a:xfrm>
        </p:grpSpPr>
        <p:sp>
          <p:nvSpPr>
            <p:cNvPr id="9" name="内容占位符 1"/>
            <p:cNvSpPr>
              <a:spLocks noGrp="1"/>
            </p:cNvSpPr>
            <p:nvPr/>
          </p:nvSpPr>
          <p:spPr>
            <a:xfrm>
              <a:off x="668" y="8449"/>
              <a:ext cx="17864" cy="725"/>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00000"/>
                </a:lnSpc>
                <a:spcBef>
                  <a:spcPts val="0"/>
                </a:spcBef>
              </a:pPr>
              <a:r>
                <a:rPr lang="zh-CN" altLang="en-US" sz="2400" dirty="0">
                  <a:solidFill>
                    <a:srgbClr val="1F2DA8"/>
                  </a:solidFill>
                  <a:latin typeface="Calibri" panose="020F0502020204030204" charset="0"/>
                  <a:cs typeface="Calibri" panose="020F0502020204030204" charset="0"/>
                </a:rPr>
                <a:t>将角色授予</a:t>
              </a:r>
              <a:r>
                <a:rPr lang="en-US" altLang="zh-CN" sz="2400" dirty="0">
                  <a:solidFill>
                    <a:srgbClr val="1F2DA8"/>
                  </a:solidFill>
                  <a:latin typeface="Calibri" panose="020F0502020204030204" charset="0"/>
                  <a:cs typeface="Calibri" panose="020F0502020204030204" charset="0"/>
                </a:rPr>
                <a:t>&lt;</a:t>
              </a:r>
              <a:r>
                <a:rPr lang="zh-CN" altLang="en-US" sz="2400" dirty="0">
                  <a:solidFill>
                    <a:srgbClr val="1F2DA8"/>
                  </a:solidFill>
                  <a:latin typeface="Calibri" panose="020F0502020204030204" charset="0"/>
                  <a:cs typeface="Calibri" panose="020F0502020204030204" charset="0"/>
                  <a:sym typeface="+mn-ea"/>
                </a:rPr>
                <a:t>角色</a:t>
              </a:r>
              <a:r>
                <a:rPr lang="en-US" altLang="zh-CN" sz="2400" dirty="0">
                  <a:solidFill>
                    <a:srgbClr val="1F2DA8"/>
                  </a:solidFill>
                  <a:latin typeface="Calibri" panose="020F0502020204030204" charset="0"/>
                  <a:cs typeface="Calibri" panose="020F0502020204030204" charset="0"/>
                  <a:sym typeface="+mn-ea"/>
                </a:rPr>
                <a:t>_or_</a:t>
              </a:r>
              <a:r>
                <a:rPr lang="zh-CN" altLang="en-US" sz="2400" dirty="0">
                  <a:solidFill>
                    <a:srgbClr val="1F2DA8"/>
                  </a:solidFill>
                  <a:latin typeface="Calibri" panose="020F0502020204030204" charset="0"/>
                  <a:cs typeface="Calibri" panose="020F0502020204030204" charset="0"/>
                  <a:sym typeface="+mn-ea"/>
                </a:rPr>
                <a:t>用户</a:t>
              </a:r>
              <a:r>
                <a:rPr lang="en-US" altLang="zh-CN" sz="2400" dirty="0">
                  <a:solidFill>
                    <a:srgbClr val="1F2DA8"/>
                  </a:solidFill>
                  <a:latin typeface="Calibri" panose="020F0502020204030204" charset="0"/>
                  <a:cs typeface="Calibri" panose="020F0502020204030204" charset="0"/>
                  <a:sym typeface="+mn-ea"/>
                </a:rPr>
                <a:t>&gt;</a:t>
              </a:r>
              <a:r>
                <a:rPr lang="en-US" altLang="zh-CN" sz="2400" dirty="0">
                  <a:solidFill>
                    <a:srgbClr val="1F2DA8"/>
                  </a:solidFill>
                  <a:latin typeface="Calibri" panose="020F0502020204030204" charset="0"/>
                  <a:cs typeface="Calibri" panose="020F0502020204030204" charset="0"/>
                </a:rPr>
                <a:t> &amp; </a:t>
              </a:r>
              <a:r>
                <a:rPr lang="zh-CN" altLang="en-US" sz="2400" dirty="0">
                  <a:solidFill>
                    <a:srgbClr val="1F2DA8"/>
                  </a:solidFill>
                  <a:latin typeface="Calibri" panose="020F0502020204030204" charset="0"/>
                  <a:cs typeface="Calibri" panose="020F0502020204030204" charset="0"/>
                </a:rPr>
                <a:t>从</a:t>
              </a:r>
              <a:r>
                <a:rPr lang="en-US" altLang="zh-CN" sz="2400" dirty="0">
                  <a:solidFill>
                    <a:srgbClr val="1F2DA8"/>
                  </a:solidFill>
                  <a:latin typeface="Calibri" panose="020F0502020204030204" charset="0"/>
                  <a:cs typeface="Calibri" panose="020F0502020204030204" charset="0"/>
                  <a:sym typeface="+mn-ea"/>
                </a:rPr>
                <a:t>&lt;</a:t>
              </a:r>
              <a:r>
                <a:rPr lang="zh-CN" altLang="en-US" sz="2400" dirty="0">
                  <a:solidFill>
                    <a:srgbClr val="1F2DA8"/>
                  </a:solidFill>
                  <a:latin typeface="Calibri" panose="020F0502020204030204" charset="0"/>
                  <a:cs typeface="Calibri" panose="020F0502020204030204" charset="0"/>
                  <a:sym typeface="+mn-ea"/>
                </a:rPr>
                <a:t>角色</a:t>
              </a:r>
              <a:r>
                <a:rPr lang="en-US" altLang="zh-CN" sz="2400" dirty="0">
                  <a:solidFill>
                    <a:srgbClr val="1F2DA8"/>
                  </a:solidFill>
                  <a:latin typeface="Calibri" panose="020F0502020204030204" charset="0"/>
                  <a:cs typeface="Calibri" panose="020F0502020204030204" charset="0"/>
                  <a:sym typeface="+mn-ea"/>
                </a:rPr>
                <a:t>_or_</a:t>
              </a:r>
              <a:r>
                <a:rPr lang="zh-CN" altLang="en-US" sz="2400" dirty="0">
                  <a:solidFill>
                    <a:srgbClr val="1F2DA8"/>
                  </a:solidFill>
                  <a:latin typeface="Calibri" panose="020F0502020204030204" charset="0"/>
                  <a:cs typeface="Calibri" panose="020F0502020204030204" charset="0"/>
                  <a:sym typeface="+mn-ea"/>
                </a:rPr>
                <a:t>用户</a:t>
              </a:r>
              <a:r>
                <a:rPr lang="en-US" altLang="zh-CN" sz="2400" dirty="0">
                  <a:solidFill>
                    <a:srgbClr val="1F2DA8"/>
                  </a:solidFill>
                  <a:latin typeface="Calibri" panose="020F0502020204030204" charset="0"/>
                  <a:cs typeface="Calibri" panose="020F0502020204030204" charset="0"/>
                  <a:sym typeface="+mn-ea"/>
                </a:rPr>
                <a:t>&gt;</a:t>
              </a:r>
              <a:r>
                <a:rPr lang="zh-CN" altLang="en-US" sz="2400" dirty="0">
                  <a:solidFill>
                    <a:srgbClr val="1F2DA8"/>
                  </a:solidFill>
                  <a:latin typeface="Calibri" panose="020F0502020204030204" charset="0"/>
                  <a:cs typeface="Calibri" panose="020F0502020204030204" charset="0"/>
                </a:rPr>
                <a:t>那里回收角色</a:t>
              </a:r>
            </a:p>
          </p:txBody>
        </p:sp>
        <p:sp>
          <p:nvSpPr>
            <p:cNvPr id="10" name="内容占位符 1"/>
            <p:cNvSpPr>
              <a:spLocks noGrp="1"/>
            </p:cNvSpPr>
            <p:nvPr/>
          </p:nvSpPr>
          <p:spPr>
            <a:xfrm>
              <a:off x="668" y="9155"/>
              <a:ext cx="17864" cy="725"/>
            </a:xfrm>
            <a:prstGeom prst="rect">
              <a:avLst/>
            </a:prstGeom>
            <a:solidFill>
              <a:schemeClr val="accent3">
                <a:lumMod val="20000"/>
                <a:lumOff val="80000"/>
                <a:alpha val="50000"/>
              </a:schemeClr>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fontAlgn="auto">
                <a:lnSpc>
                  <a:spcPct val="100000"/>
                </a:lnSpc>
                <a:spcBef>
                  <a:spcPts val="0"/>
                </a:spcBef>
                <a:buNone/>
              </a:pPr>
              <a:r>
                <a:rPr lang="en-US" altLang="zh-CN" sz="2400" dirty="0">
                  <a:solidFill>
                    <a:srgbClr val="FF0000"/>
                  </a:solidFill>
                  <a:latin typeface="Calibri" panose="020F0502020204030204" charset="0"/>
                  <a:cs typeface="Calibri" panose="020F0502020204030204" charset="0"/>
                </a:rPr>
                <a:t>GRANT  &lt;</a:t>
              </a:r>
              <a:r>
                <a:rPr lang="zh-CN" altLang="en-US" sz="2400" dirty="0">
                  <a:solidFill>
                    <a:srgbClr val="FF0000"/>
                  </a:solidFill>
                  <a:latin typeface="Calibri" panose="020F0502020204030204" charset="0"/>
                  <a:cs typeface="Calibri" panose="020F0502020204030204" charset="0"/>
                </a:rPr>
                <a:t>角色</a:t>
              </a:r>
              <a:r>
                <a:rPr lang="en-US" altLang="zh-CN" sz="2400" dirty="0">
                  <a:solidFill>
                    <a:srgbClr val="FF0000"/>
                  </a:solidFill>
                  <a:latin typeface="Calibri" panose="020F0502020204030204" charset="0"/>
                  <a:cs typeface="Calibri" panose="020F0502020204030204" charset="0"/>
                </a:rPr>
                <a:t>&gt; [, &lt;</a:t>
              </a:r>
              <a:r>
                <a:rPr lang="zh-CN" altLang="en-US" sz="2400" dirty="0">
                  <a:solidFill>
                    <a:srgbClr val="FF0000"/>
                  </a:solidFill>
                  <a:latin typeface="Calibri" panose="020F0502020204030204" charset="0"/>
                  <a:cs typeface="Calibri" panose="020F0502020204030204" charset="0"/>
                  <a:sym typeface="+mn-ea"/>
                </a:rPr>
                <a:t>角色</a:t>
              </a:r>
              <a:r>
                <a:rPr lang="en-US" altLang="zh-CN" sz="2400" dirty="0">
                  <a:solidFill>
                    <a:srgbClr val="FF0000"/>
                  </a:solidFill>
                  <a:latin typeface="Calibri" panose="020F0502020204030204" charset="0"/>
                  <a:cs typeface="Calibri" panose="020F0502020204030204" charset="0"/>
                </a:rPr>
                <a:t>&gt;] … TO  &lt;</a:t>
              </a:r>
              <a:r>
                <a:rPr lang="zh-CN" altLang="en-US" sz="2400" dirty="0">
                  <a:solidFill>
                    <a:srgbClr val="FF0000"/>
                  </a:solidFill>
                  <a:latin typeface="Calibri" panose="020F0502020204030204" charset="0"/>
                  <a:cs typeface="Calibri" panose="020F0502020204030204" charset="0"/>
                </a:rPr>
                <a:t>角色</a:t>
              </a:r>
              <a:r>
                <a:rPr lang="en-US" altLang="zh-CN" sz="2400" dirty="0">
                  <a:solidFill>
                    <a:srgbClr val="FF0000"/>
                  </a:solidFill>
                  <a:latin typeface="Calibri" panose="020F0502020204030204" charset="0"/>
                  <a:cs typeface="Calibri" panose="020F0502020204030204" charset="0"/>
                </a:rPr>
                <a:t>_or_</a:t>
              </a:r>
              <a:r>
                <a:rPr lang="zh-CN" altLang="en-US" sz="2400" dirty="0">
                  <a:solidFill>
                    <a:srgbClr val="FF0000"/>
                  </a:solidFill>
                  <a:latin typeface="Calibri" panose="020F0502020204030204" charset="0"/>
                  <a:cs typeface="Calibri" panose="020F0502020204030204" charset="0"/>
                </a:rPr>
                <a:t>用户</a:t>
              </a:r>
              <a:r>
                <a:rPr lang="en-US" altLang="zh-CN" sz="2400" dirty="0">
                  <a:solidFill>
                    <a:srgbClr val="FF0000"/>
                  </a:solidFill>
                  <a:latin typeface="Calibri" panose="020F0502020204030204" charset="0"/>
                  <a:cs typeface="Calibri" panose="020F0502020204030204" charset="0"/>
                </a:rPr>
                <a:t>&gt; [, &lt;</a:t>
              </a:r>
              <a:r>
                <a:rPr lang="zh-CN" altLang="en-US" sz="2400" dirty="0">
                  <a:solidFill>
                    <a:srgbClr val="FF0000"/>
                  </a:solidFill>
                  <a:latin typeface="Calibri" panose="020F0502020204030204" charset="0"/>
                  <a:cs typeface="Calibri" panose="020F0502020204030204" charset="0"/>
                  <a:sym typeface="+mn-ea"/>
                </a:rPr>
                <a:t>角色</a:t>
              </a:r>
              <a:r>
                <a:rPr lang="en-US" altLang="zh-CN" sz="2400" dirty="0">
                  <a:solidFill>
                    <a:srgbClr val="FF0000"/>
                  </a:solidFill>
                  <a:latin typeface="Calibri" panose="020F0502020204030204" charset="0"/>
                  <a:cs typeface="Calibri" panose="020F0502020204030204" charset="0"/>
                  <a:sym typeface="+mn-ea"/>
                </a:rPr>
                <a:t>_or_</a:t>
              </a:r>
              <a:r>
                <a:rPr lang="zh-CN" altLang="en-US" sz="2400" dirty="0">
                  <a:solidFill>
                    <a:srgbClr val="FF0000"/>
                  </a:solidFill>
                  <a:latin typeface="Calibri" panose="020F0502020204030204" charset="0"/>
                  <a:cs typeface="Calibri" panose="020F0502020204030204" charset="0"/>
                  <a:sym typeface="+mn-ea"/>
                </a:rPr>
                <a:t>用户</a:t>
              </a:r>
              <a:r>
                <a:rPr lang="en-US" altLang="zh-CN" sz="2400" dirty="0">
                  <a:solidFill>
                    <a:srgbClr val="FF0000"/>
                  </a:solidFill>
                  <a:latin typeface="Calibri" panose="020F0502020204030204" charset="0"/>
                  <a:cs typeface="Calibri" panose="020F0502020204030204" charset="0"/>
                </a:rPr>
                <a:t>&gt;] … ;</a:t>
              </a:r>
              <a:endParaRPr lang="zh-CN" altLang="en-US" sz="2400" dirty="0">
                <a:solidFill>
                  <a:srgbClr val="FF0000"/>
                </a:solidFill>
                <a:latin typeface="Calibri" panose="020F0502020204030204" charset="0"/>
                <a:cs typeface="Calibri" panose="020F0502020204030204" charset="0"/>
              </a:endParaRPr>
            </a:p>
          </p:txBody>
        </p:sp>
        <p:sp>
          <p:nvSpPr>
            <p:cNvPr id="11" name="内容占位符 8"/>
            <p:cNvSpPr>
              <a:spLocks noGrp="1"/>
            </p:cNvSpPr>
            <p:nvPr/>
          </p:nvSpPr>
          <p:spPr>
            <a:xfrm>
              <a:off x="669" y="9880"/>
              <a:ext cx="17863" cy="725"/>
            </a:xfrm>
            <a:prstGeom prst="rect">
              <a:avLst/>
            </a:prstGeom>
            <a:solidFill>
              <a:schemeClr val="accent3">
                <a:lumMod val="20000"/>
                <a:lumOff val="80000"/>
                <a:alpha val="50000"/>
              </a:schemeClr>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fontAlgn="auto">
                <a:lnSpc>
                  <a:spcPct val="100000"/>
                </a:lnSpc>
                <a:spcBef>
                  <a:spcPts val="0"/>
                </a:spcBef>
                <a:buNone/>
              </a:pPr>
              <a:r>
                <a:rPr lang="en-US" altLang="zh-CN" sz="2400" dirty="0">
                  <a:solidFill>
                    <a:srgbClr val="FF0000"/>
                  </a:solidFill>
                  <a:latin typeface="Calibri" panose="020F0502020204030204" charset="0"/>
                  <a:cs typeface="Calibri" panose="020F0502020204030204" charset="0"/>
                </a:rPr>
                <a:t>REVOKE  &lt;</a:t>
              </a:r>
              <a:r>
                <a:rPr lang="zh-CN" altLang="en-US" sz="2400" dirty="0">
                  <a:solidFill>
                    <a:srgbClr val="FF0000"/>
                  </a:solidFill>
                  <a:latin typeface="Calibri" panose="020F0502020204030204" charset="0"/>
                  <a:cs typeface="Calibri" panose="020F0502020204030204" charset="0"/>
                  <a:sym typeface="+mn-ea"/>
                </a:rPr>
                <a:t>角色</a:t>
              </a:r>
              <a:r>
                <a:rPr lang="en-US" altLang="zh-CN" sz="2400" dirty="0">
                  <a:solidFill>
                    <a:srgbClr val="FF0000"/>
                  </a:solidFill>
                  <a:latin typeface="Calibri" panose="020F0502020204030204" charset="0"/>
                  <a:cs typeface="Calibri" panose="020F0502020204030204" charset="0"/>
                </a:rPr>
                <a:t>&gt; [, &lt;</a:t>
              </a:r>
              <a:r>
                <a:rPr lang="zh-CN" altLang="en-US" sz="2400" dirty="0">
                  <a:solidFill>
                    <a:srgbClr val="FF0000"/>
                  </a:solidFill>
                  <a:latin typeface="Calibri" panose="020F0502020204030204" charset="0"/>
                  <a:cs typeface="Calibri" panose="020F0502020204030204" charset="0"/>
                  <a:sym typeface="+mn-ea"/>
                </a:rPr>
                <a:t>角色</a:t>
              </a:r>
              <a:r>
                <a:rPr lang="en-US" altLang="zh-CN" sz="2400" dirty="0">
                  <a:solidFill>
                    <a:srgbClr val="FF0000"/>
                  </a:solidFill>
                  <a:latin typeface="Calibri" panose="020F0502020204030204" charset="0"/>
                  <a:cs typeface="Calibri" panose="020F0502020204030204" charset="0"/>
                </a:rPr>
                <a:t>&gt;] … FROM  &lt;</a:t>
              </a:r>
              <a:r>
                <a:rPr lang="zh-CN" altLang="en-US" sz="2400" dirty="0">
                  <a:solidFill>
                    <a:srgbClr val="FF0000"/>
                  </a:solidFill>
                  <a:latin typeface="Calibri" panose="020F0502020204030204" charset="0"/>
                  <a:cs typeface="Calibri" panose="020F0502020204030204" charset="0"/>
                  <a:sym typeface="+mn-ea"/>
                </a:rPr>
                <a:t>角色</a:t>
              </a:r>
              <a:r>
                <a:rPr lang="en-US" altLang="zh-CN" sz="2400" dirty="0">
                  <a:solidFill>
                    <a:srgbClr val="FF0000"/>
                  </a:solidFill>
                  <a:latin typeface="Calibri" panose="020F0502020204030204" charset="0"/>
                  <a:cs typeface="Calibri" panose="020F0502020204030204" charset="0"/>
                  <a:sym typeface="+mn-ea"/>
                </a:rPr>
                <a:t>_or_</a:t>
              </a:r>
              <a:r>
                <a:rPr lang="zh-CN" altLang="en-US" sz="2400" dirty="0">
                  <a:solidFill>
                    <a:srgbClr val="FF0000"/>
                  </a:solidFill>
                  <a:latin typeface="Calibri" panose="020F0502020204030204" charset="0"/>
                  <a:cs typeface="Calibri" panose="020F0502020204030204" charset="0"/>
                  <a:sym typeface="+mn-ea"/>
                </a:rPr>
                <a:t>用户</a:t>
              </a:r>
              <a:r>
                <a:rPr lang="en-US" altLang="zh-CN" sz="2400" dirty="0">
                  <a:solidFill>
                    <a:srgbClr val="FF0000"/>
                  </a:solidFill>
                  <a:latin typeface="Calibri" panose="020F0502020204030204" charset="0"/>
                  <a:cs typeface="Calibri" panose="020F0502020204030204" charset="0"/>
                </a:rPr>
                <a:t>&gt; [, &lt;</a:t>
              </a:r>
              <a:r>
                <a:rPr lang="zh-CN" altLang="en-US" sz="2400" dirty="0">
                  <a:solidFill>
                    <a:srgbClr val="FF0000"/>
                  </a:solidFill>
                  <a:latin typeface="Calibri" panose="020F0502020204030204" charset="0"/>
                  <a:cs typeface="Calibri" panose="020F0502020204030204" charset="0"/>
                  <a:sym typeface="+mn-ea"/>
                </a:rPr>
                <a:t>角色</a:t>
              </a:r>
              <a:r>
                <a:rPr lang="en-US" altLang="zh-CN" sz="2400" dirty="0">
                  <a:solidFill>
                    <a:srgbClr val="FF0000"/>
                  </a:solidFill>
                  <a:latin typeface="Calibri" panose="020F0502020204030204" charset="0"/>
                  <a:cs typeface="Calibri" panose="020F0502020204030204" charset="0"/>
                  <a:sym typeface="+mn-ea"/>
                </a:rPr>
                <a:t>_or_</a:t>
              </a:r>
              <a:r>
                <a:rPr lang="zh-CN" altLang="en-US" sz="2400" dirty="0">
                  <a:solidFill>
                    <a:srgbClr val="FF0000"/>
                  </a:solidFill>
                  <a:latin typeface="Calibri" panose="020F0502020204030204" charset="0"/>
                  <a:cs typeface="Calibri" panose="020F0502020204030204" charset="0"/>
                  <a:sym typeface="+mn-ea"/>
                </a:rPr>
                <a:t>用户</a:t>
              </a:r>
              <a:r>
                <a:rPr lang="en-US" altLang="zh-CN" sz="2400" dirty="0">
                  <a:solidFill>
                    <a:srgbClr val="FF0000"/>
                  </a:solidFill>
                  <a:latin typeface="Calibri" panose="020F0502020204030204" charset="0"/>
                  <a:cs typeface="Calibri" panose="020F0502020204030204" charset="0"/>
                </a:rPr>
                <a:t>&gt;] …;</a:t>
              </a:r>
              <a:endParaRPr lang="zh-CN" altLang="en-US" sz="2400" dirty="0">
                <a:latin typeface="Calibri" panose="020F0502020204030204" charset="0"/>
                <a:cs typeface="Calibri" panose="020F0502020204030204" charset="0"/>
              </a:endParaRP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blinds(horizontal)">
                                      <p:cBhvr>
                                        <p:cTn id="10" dur="500"/>
                                        <p:tgtEl>
                                          <p:spTgt spid="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blinds(horizontal)">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4.2.5  </a:t>
            </a:r>
            <a:r>
              <a:rPr lang="zh-CN" altLang="en-US" dirty="0"/>
              <a:t>数据库角色 </a:t>
            </a:r>
            <a:r>
              <a:rPr lang="en-US" altLang="zh-CN" dirty="0"/>
              <a:t>2</a:t>
            </a:r>
            <a:endParaRPr lang="zh-CN" altLang="en-US" dirty="0"/>
          </a:p>
        </p:txBody>
      </p:sp>
      <p:sp>
        <p:nvSpPr>
          <p:cNvPr id="3" name="内容占位符 2"/>
          <p:cNvSpPr>
            <a:spLocks noGrp="1"/>
          </p:cNvSpPr>
          <p:nvPr>
            <p:ph idx="1"/>
          </p:nvPr>
        </p:nvSpPr>
        <p:spPr>
          <a:xfrm>
            <a:off x="424180" y="687070"/>
            <a:ext cx="11343005" cy="565150"/>
          </a:xfrm>
        </p:spPr>
        <p:txBody>
          <a:bodyPr>
            <a:spAutoFit/>
          </a:bodyPr>
          <a:lstStyle/>
          <a:p>
            <a:pPr>
              <a:lnSpc>
                <a:spcPct val="110000"/>
              </a:lnSpc>
              <a:spcBef>
                <a:spcPts val="0"/>
              </a:spcBef>
            </a:pPr>
            <a:r>
              <a:rPr lang="zh-CN" altLang="en-US" sz="2800" dirty="0">
                <a:latin typeface="Calibri" panose="020F0502020204030204" charset="0"/>
                <a:cs typeface="Calibri" panose="020F0502020204030204" charset="0"/>
              </a:rPr>
              <a:t>将一个角色授予其他的角色或用户</a:t>
            </a:r>
          </a:p>
        </p:txBody>
      </p:sp>
      <p:sp>
        <p:nvSpPr>
          <p:cNvPr id="5" name="灯片编号占位符 4"/>
          <p:cNvSpPr>
            <a:spLocks noGrp="1"/>
          </p:cNvSpPr>
          <p:nvPr>
            <p:ph type="sldNum" sz="quarter" idx="12"/>
          </p:nvPr>
        </p:nvSpPr>
        <p:spPr>
          <a:xfrm>
            <a:off x="11461115" y="6696000"/>
            <a:ext cx="730885" cy="153670"/>
          </a:xfrm>
        </p:spPr>
        <p:txBody>
          <a:bodyPr/>
          <a:lstStyle/>
          <a:p>
            <a:fld id="{565CE74E-AB26-4998-AD42-012C4C1AD076}" type="slidenum">
              <a:rPr lang="zh-CN" altLang="en-US" smtClean="0"/>
              <a:t>46</a:t>
            </a:fld>
            <a:endParaRPr lang="zh-CN" altLang="en-US"/>
          </a:p>
        </p:txBody>
      </p:sp>
      <p:sp>
        <p:nvSpPr>
          <p:cNvPr id="4" name="页脚占位符 3"/>
          <p:cNvSpPr>
            <a:spLocks noGrp="1"/>
          </p:cNvSpPr>
          <p:nvPr>
            <p:ph type="ftr" sz="quarter" idx="11"/>
          </p:nvPr>
        </p:nvSpPr>
        <p:spPr>
          <a:xfrm>
            <a:off x="0" y="6695365"/>
            <a:ext cx="4114800" cy="153670"/>
          </a:xfrm>
        </p:spPr>
        <p:txBody>
          <a:bodyPr/>
          <a:lstStyle/>
          <a:p>
            <a:r>
              <a:rPr lang="zh-CN" altLang="en-US"/>
              <a:t>ch04_数据库安全性</a:t>
            </a:r>
          </a:p>
        </p:txBody>
      </p:sp>
      <p:sp>
        <p:nvSpPr>
          <p:cNvPr id="6" name="内容占位符 2"/>
          <p:cNvSpPr>
            <a:spLocks noGrp="1"/>
          </p:cNvSpPr>
          <p:nvPr/>
        </p:nvSpPr>
        <p:spPr>
          <a:xfrm>
            <a:off x="424180" y="1285875"/>
            <a:ext cx="11343005" cy="1512570"/>
          </a:xfrm>
          <a:prstGeom prst="rect">
            <a:avLst/>
          </a:prstGeom>
          <a:solidFill>
            <a:schemeClr val="accent3">
              <a:lumMod val="20000"/>
              <a:lumOff val="80000"/>
              <a:alpha val="50000"/>
            </a:schemeClr>
          </a:solidFill>
          <a:ln>
            <a:solidFill>
              <a:schemeClr val="tx1"/>
            </a:solidFill>
          </a:ln>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21055" lvl="2" indent="0">
              <a:lnSpc>
                <a:spcPct val="110000"/>
              </a:lnSpc>
              <a:spcBef>
                <a:spcPts val="0"/>
              </a:spcBef>
              <a:buNone/>
            </a:pPr>
            <a:r>
              <a:rPr lang="en-US" altLang="zh-CN" sz="2800" dirty="0">
                <a:solidFill>
                  <a:srgbClr val="FF0000"/>
                </a:solidFill>
                <a:latin typeface="Calibri" panose="020F0502020204030204" charset="0"/>
                <a:cs typeface="Calibri" panose="020F0502020204030204" charset="0"/>
              </a:rPr>
              <a:t>GRANT  &lt;</a:t>
            </a:r>
            <a:r>
              <a:rPr lang="zh-CN" altLang="en-US" sz="2800" dirty="0">
                <a:solidFill>
                  <a:srgbClr val="FF0000"/>
                </a:solidFill>
                <a:latin typeface="Calibri" panose="020F0502020204030204" charset="0"/>
                <a:cs typeface="Calibri" panose="020F0502020204030204" charset="0"/>
              </a:rPr>
              <a:t>角色</a:t>
            </a:r>
            <a:r>
              <a:rPr lang="en-US" altLang="zh-CN" sz="2800" dirty="0">
                <a:solidFill>
                  <a:srgbClr val="FF0000"/>
                </a:solidFill>
                <a:latin typeface="Calibri" panose="020F0502020204030204" charset="0"/>
                <a:cs typeface="Calibri" panose="020F0502020204030204" charset="0"/>
              </a:rPr>
              <a:t>1&gt; [, &lt;</a:t>
            </a:r>
            <a:r>
              <a:rPr lang="zh-CN" altLang="en-US" sz="2800" dirty="0">
                <a:solidFill>
                  <a:srgbClr val="FF0000"/>
                </a:solidFill>
                <a:latin typeface="Calibri" panose="020F0502020204030204" charset="0"/>
                <a:cs typeface="Calibri" panose="020F0502020204030204" charset="0"/>
              </a:rPr>
              <a:t>角色</a:t>
            </a:r>
            <a:r>
              <a:rPr lang="en-US" altLang="zh-CN" sz="2800" dirty="0">
                <a:solidFill>
                  <a:srgbClr val="FF0000"/>
                </a:solidFill>
                <a:latin typeface="Calibri" panose="020F0502020204030204" charset="0"/>
                <a:cs typeface="Calibri" panose="020F0502020204030204" charset="0"/>
              </a:rPr>
              <a:t>2&gt;] …</a:t>
            </a:r>
          </a:p>
          <a:p>
            <a:pPr marL="1735455" lvl="4" indent="0">
              <a:lnSpc>
                <a:spcPct val="110000"/>
              </a:lnSpc>
              <a:spcBef>
                <a:spcPts val="0"/>
              </a:spcBef>
              <a:buNone/>
            </a:pPr>
            <a:r>
              <a:rPr lang="en-US" altLang="zh-CN" sz="2800" dirty="0">
                <a:solidFill>
                  <a:srgbClr val="FF0000"/>
                </a:solidFill>
                <a:latin typeface="Calibri" panose="020F0502020204030204" charset="0"/>
                <a:cs typeface="Calibri" panose="020F0502020204030204" charset="0"/>
              </a:rPr>
              <a:t>TO  &lt;</a:t>
            </a:r>
            <a:r>
              <a:rPr lang="zh-CN" altLang="en-US" sz="2800" dirty="0">
                <a:solidFill>
                  <a:srgbClr val="FF0000"/>
                </a:solidFill>
                <a:latin typeface="Calibri" panose="020F0502020204030204" charset="0"/>
                <a:cs typeface="Calibri" panose="020F0502020204030204" charset="0"/>
              </a:rPr>
              <a:t>角色</a:t>
            </a:r>
            <a:r>
              <a:rPr lang="en-US" altLang="zh-CN" sz="2800" dirty="0">
                <a:solidFill>
                  <a:srgbClr val="FF0000"/>
                </a:solidFill>
                <a:latin typeface="Calibri" panose="020F0502020204030204" charset="0"/>
                <a:cs typeface="Calibri" panose="020F0502020204030204" charset="0"/>
              </a:rPr>
              <a:t>3&gt; [, &lt;</a:t>
            </a:r>
            <a:r>
              <a:rPr lang="zh-CN" altLang="en-US" sz="2800" dirty="0">
                <a:solidFill>
                  <a:srgbClr val="FF0000"/>
                </a:solidFill>
                <a:latin typeface="Calibri" panose="020F0502020204030204" charset="0"/>
                <a:cs typeface="Calibri" panose="020F0502020204030204" charset="0"/>
              </a:rPr>
              <a:t>用户</a:t>
            </a:r>
            <a:r>
              <a:rPr lang="en-US" altLang="zh-CN" sz="2800" dirty="0">
                <a:solidFill>
                  <a:srgbClr val="FF0000"/>
                </a:solidFill>
                <a:latin typeface="Calibri" panose="020F0502020204030204" charset="0"/>
                <a:cs typeface="Calibri" panose="020F0502020204030204" charset="0"/>
              </a:rPr>
              <a:t>1&gt;] … </a:t>
            </a:r>
          </a:p>
          <a:p>
            <a:pPr marL="1735455" lvl="4" indent="0">
              <a:lnSpc>
                <a:spcPct val="110000"/>
              </a:lnSpc>
              <a:spcBef>
                <a:spcPts val="0"/>
              </a:spcBef>
              <a:buNone/>
            </a:pPr>
            <a:r>
              <a:rPr lang="en-US" altLang="zh-CN" sz="2800" dirty="0">
                <a:solidFill>
                  <a:srgbClr val="FF0000"/>
                </a:solidFill>
                <a:latin typeface="Calibri" panose="020F0502020204030204" charset="0"/>
                <a:cs typeface="Calibri" panose="020F0502020204030204" charset="0"/>
              </a:rPr>
              <a:t>[ WITH  ADMIN  OPTION ] ;</a:t>
            </a:r>
            <a:endParaRPr lang="zh-CN" altLang="en-US" sz="2800" dirty="0">
              <a:latin typeface="Calibri" panose="020F0502020204030204" charset="0"/>
              <a:cs typeface="Calibri" panose="020F0502020204030204" charset="0"/>
            </a:endParaRPr>
          </a:p>
        </p:txBody>
      </p:sp>
      <p:sp>
        <p:nvSpPr>
          <p:cNvPr id="7" name="内容占位符 2"/>
          <p:cNvSpPr>
            <a:spLocks noGrp="1"/>
          </p:cNvSpPr>
          <p:nvPr/>
        </p:nvSpPr>
        <p:spPr>
          <a:xfrm>
            <a:off x="424180" y="2853690"/>
            <a:ext cx="11343005" cy="3792855"/>
          </a:xfrm>
          <a:prstGeom prst="rect">
            <a:avLst/>
          </a:prstGeom>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10000"/>
              </a:lnSpc>
              <a:spcAft>
                <a:spcPts val="1000"/>
              </a:spcAft>
            </a:pPr>
            <a:r>
              <a:rPr lang="zh-CN" altLang="en-US" sz="2800" dirty="0">
                <a:latin typeface="Calibri" panose="020F0502020204030204" charset="0"/>
                <a:cs typeface="Calibri" panose="020F0502020204030204" charset="0"/>
              </a:rPr>
              <a:t>该语句把角色授予某用户，或授予另一个角色</a:t>
            </a:r>
          </a:p>
          <a:p>
            <a:pPr lvl="1">
              <a:lnSpc>
                <a:spcPct val="110000"/>
              </a:lnSpc>
              <a:spcAft>
                <a:spcPts val="1000"/>
              </a:spcAft>
            </a:pPr>
            <a:r>
              <a:rPr lang="zh-CN" altLang="en-US" sz="2800" dirty="0">
                <a:latin typeface="Calibri" panose="020F0502020204030204" charset="0"/>
                <a:cs typeface="Calibri" panose="020F0502020204030204" charset="0"/>
              </a:rPr>
              <a:t>授予者是角色的创建者或拥有在这个角色上的</a:t>
            </a:r>
            <a:r>
              <a:rPr lang="en-US" altLang="zh-CN" sz="2800" dirty="0">
                <a:latin typeface="Calibri" panose="020F0502020204030204" charset="0"/>
                <a:cs typeface="Calibri" panose="020F0502020204030204" charset="0"/>
              </a:rPr>
              <a:t>ADMIN OPTION</a:t>
            </a:r>
          </a:p>
          <a:p>
            <a:pPr lvl="1">
              <a:lnSpc>
                <a:spcPct val="110000"/>
              </a:lnSpc>
              <a:spcAft>
                <a:spcPts val="1000"/>
              </a:spcAft>
            </a:pPr>
            <a:r>
              <a:rPr lang="zh-CN" altLang="en-US" sz="2800" dirty="0">
                <a:latin typeface="Calibri" panose="020F0502020204030204" charset="0"/>
                <a:cs typeface="Calibri" panose="020F0502020204030204" charset="0"/>
              </a:rPr>
              <a:t>指定了</a:t>
            </a:r>
            <a:r>
              <a:rPr lang="en-US" altLang="zh-CN" sz="2800" dirty="0">
                <a:latin typeface="Calibri" panose="020F0502020204030204" charset="0"/>
                <a:cs typeface="Calibri" panose="020F0502020204030204" charset="0"/>
              </a:rPr>
              <a:t>WITH ADMIN OPTION</a:t>
            </a:r>
            <a:r>
              <a:rPr lang="zh-CN" altLang="en-US" sz="2800" dirty="0">
                <a:latin typeface="Calibri" panose="020F0502020204030204" charset="0"/>
                <a:cs typeface="Calibri" panose="020F0502020204030204" charset="0"/>
              </a:rPr>
              <a:t>则获得某种权限的角色或用户还可以把这种权限授予其他角色或用户（即</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继续授权</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许可）</a:t>
            </a:r>
          </a:p>
          <a:p>
            <a:pPr>
              <a:lnSpc>
                <a:spcPct val="110000"/>
              </a:lnSpc>
              <a:spcBef>
                <a:spcPts val="0"/>
              </a:spcBef>
            </a:pPr>
            <a:r>
              <a:rPr lang="zh-CN" altLang="en-US" sz="2800" dirty="0">
                <a:solidFill>
                  <a:srgbClr val="FF0000"/>
                </a:solidFill>
                <a:latin typeface="Calibri" panose="020F0502020204030204" charset="0"/>
                <a:cs typeface="Calibri" panose="020F0502020204030204" charset="0"/>
              </a:rPr>
              <a:t>一个角色的权限</a:t>
            </a:r>
          </a:p>
          <a:p>
            <a:pPr lvl="1">
              <a:lnSpc>
                <a:spcPct val="110000"/>
              </a:lnSpc>
              <a:spcBef>
                <a:spcPts val="0"/>
              </a:spcBef>
            </a:pPr>
            <a:r>
              <a:rPr lang="zh-CN" altLang="en-US" dirty="0">
                <a:latin typeface="Calibri" panose="020F0502020204030204" charset="0"/>
                <a:cs typeface="Calibri" panose="020F0502020204030204" charset="0"/>
              </a:rPr>
              <a:t>被直接授予这个角色的全部权限，加上通过其他角色授予这个角色的全部权限</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anim calcmode="lin" valueType="num">
                                      <p:cBhvr additive="base">
                                        <p:cTn id="11"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4.2.5  </a:t>
            </a:r>
            <a:r>
              <a:rPr lang="zh-CN" altLang="en-US" dirty="0"/>
              <a:t>数据库角色 </a:t>
            </a:r>
            <a:r>
              <a:rPr lang="en-US" altLang="zh-CN" dirty="0"/>
              <a:t>3</a:t>
            </a:r>
            <a:endParaRPr lang="zh-CN" altLang="en-US" dirty="0"/>
          </a:p>
        </p:txBody>
      </p:sp>
      <p:sp>
        <p:nvSpPr>
          <p:cNvPr id="3" name="内容占位符 2"/>
          <p:cNvSpPr>
            <a:spLocks noGrp="1"/>
          </p:cNvSpPr>
          <p:nvPr>
            <p:ph idx="1"/>
          </p:nvPr>
        </p:nvSpPr>
        <p:spPr>
          <a:xfrm>
            <a:off x="424180" y="687070"/>
            <a:ext cx="11343005" cy="1198880"/>
          </a:xfrm>
          <a:solidFill>
            <a:schemeClr val="accent3">
              <a:lumMod val="20000"/>
              <a:lumOff val="80000"/>
              <a:alpha val="50000"/>
            </a:schemeClr>
          </a:solidFill>
          <a:ln>
            <a:solidFill>
              <a:schemeClr val="tx1"/>
            </a:solidFill>
          </a:ln>
        </p:spPr>
        <p:txBody>
          <a:bodyPr lIns="450215">
            <a:spAutoFit/>
          </a:bodyPr>
          <a:lstStyle/>
          <a:p>
            <a:pPr marL="0" lvl="0" indent="0">
              <a:lnSpc>
                <a:spcPct val="100000"/>
              </a:lnSpc>
              <a:spcBef>
                <a:spcPts val="0"/>
              </a:spcBef>
              <a:buNone/>
            </a:pPr>
            <a:r>
              <a:rPr lang="en-US" altLang="zh-CN" sz="2400" dirty="0">
                <a:solidFill>
                  <a:srgbClr val="0000C8"/>
                </a:solidFill>
                <a:latin typeface="Calibri" panose="020F0502020204030204" charset="0"/>
                <a:cs typeface="Calibri" panose="020F0502020204030204" charset="0"/>
              </a:rPr>
              <a:t>GRANT  &lt;</a:t>
            </a:r>
            <a:r>
              <a:rPr lang="zh-CN" altLang="en-US" sz="2400" dirty="0">
                <a:solidFill>
                  <a:srgbClr val="0000C8"/>
                </a:solidFill>
                <a:latin typeface="Calibri" panose="020F0502020204030204" charset="0"/>
                <a:cs typeface="Calibri" panose="020F0502020204030204" charset="0"/>
              </a:rPr>
              <a:t>角色</a:t>
            </a:r>
            <a:r>
              <a:rPr lang="en-US" altLang="zh-CN" sz="2400" dirty="0">
                <a:solidFill>
                  <a:srgbClr val="0000C8"/>
                </a:solidFill>
                <a:latin typeface="Calibri" panose="020F0502020204030204" charset="0"/>
                <a:cs typeface="Calibri" panose="020F0502020204030204" charset="0"/>
              </a:rPr>
              <a:t>1&gt; [, &lt;</a:t>
            </a:r>
            <a:r>
              <a:rPr lang="zh-CN" altLang="en-US" sz="2400" dirty="0">
                <a:solidFill>
                  <a:srgbClr val="0000C8"/>
                </a:solidFill>
                <a:latin typeface="Calibri" panose="020F0502020204030204" charset="0"/>
                <a:cs typeface="Calibri" panose="020F0502020204030204" charset="0"/>
              </a:rPr>
              <a:t>角色</a:t>
            </a:r>
            <a:r>
              <a:rPr lang="en-US" altLang="zh-CN" sz="2400" dirty="0">
                <a:solidFill>
                  <a:srgbClr val="0000C8"/>
                </a:solidFill>
                <a:latin typeface="Calibri" panose="020F0502020204030204" charset="0"/>
                <a:cs typeface="Calibri" panose="020F0502020204030204" charset="0"/>
              </a:rPr>
              <a:t>2&gt;] … </a:t>
            </a:r>
          </a:p>
          <a:p>
            <a:pPr marL="914400" lvl="2" indent="0">
              <a:lnSpc>
                <a:spcPct val="100000"/>
              </a:lnSpc>
              <a:spcBef>
                <a:spcPts val="0"/>
              </a:spcBef>
              <a:buNone/>
            </a:pPr>
            <a:r>
              <a:rPr lang="en-US" altLang="zh-CN" sz="2400" dirty="0">
                <a:solidFill>
                  <a:srgbClr val="0000C8"/>
                </a:solidFill>
                <a:latin typeface="Calibri" panose="020F0502020204030204" charset="0"/>
                <a:cs typeface="Calibri" panose="020F0502020204030204" charset="0"/>
              </a:rPr>
              <a:t>TO  &lt;</a:t>
            </a:r>
            <a:r>
              <a:rPr lang="zh-CN" altLang="en-US" sz="2400" dirty="0">
                <a:solidFill>
                  <a:srgbClr val="0000C8"/>
                </a:solidFill>
                <a:latin typeface="Calibri" panose="020F0502020204030204" charset="0"/>
                <a:cs typeface="Calibri" panose="020F0502020204030204" charset="0"/>
              </a:rPr>
              <a:t>角色</a:t>
            </a:r>
            <a:r>
              <a:rPr lang="en-US" altLang="zh-CN" sz="2400" dirty="0">
                <a:solidFill>
                  <a:srgbClr val="0000C8"/>
                </a:solidFill>
                <a:latin typeface="Calibri" panose="020F0502020204030204" charset="0"/>
                <a:cs typeface="Calibri" panose="020F0502020204030204" charset="0"/>
              </a:rPr>
              <a:t>3&gt; [, &lt;</a:t>
            </a:r>
            <a:r>
              <a:rPr lang="zh-CN" altLang="en-US" sz="2400" dirty="0">
                <a:solidFill>
                  <a:srgbClr val="0000C8"/>
                </a:solidFill>
                <a:latin typeface="Calibri" panose="020F0502020204030204" charset="0"/>
                <a:cs typeface="Calibri" panose="020F0502020204030204" charset="0"/>
              </a:rPr>
              <a:t>用户</a:t>
            </a:r>
            <a:r>
              <a:rPr lang="en-US" altLang="zh-CN" sz="2400" dirty="0">
                <a:solidFill>
                  <a:srgbClr val="0000C8"/>
                </a:solidFill>
                <a:latin typeface="Calibri" panose="020F0502020204030204" charset="0"/>
                <a:cs typeface="Calibri" panose="020F0502020204030204" charset="0"/>
              </a:rPr>
              <a:t>1&gt;] … </a:t>
            </a:r>
          </a:p>
          <a:p>
            <a:pPr marL="914400" lvl="2" indent="0">
              <a:lnSpc>
                <a:spcPct val="100000"/>
              </a:lnSpc>
              <a:spcBef>
                <a:spcPts val="0"/>
              </a:spcBef>
              <a:buNone/>
            </a:pPr>
            <a:r>
              <a:rPr lang="en-US" altLang="zh-CN" sz="2400" dirty="0">
                <a:solidFill>
                  <a:srgbClr val="0000C8"/>
                </a:solidFill>
                <a:latin typeface="Calibri" panose="020F0502020204030204" charset="0"/>
                <a:cs typeface="Calibri" panose="020F0502020204030204" charset="0"/>
              </a:rPr>
              <a:t>[ </a:t>
            </a:r>
            <a:r>
              <a:rPr lang="en-US" altLang="zh-CN" sz="2400" dirty="0">
                <a:solidFill>
                  <a:srgbClr val="C00000"/>
                </a:solidFill>
                <a:latin typeface="Calibri" panose="020F0502020204030204" charset="0"/>
                <a:cs typeface="Calibri" panose="020F0502020204030204" charset="0"/>
              </a:rPr>
              <a:t>WITH  ADMIN  OPTION</a:t>
            </a:r>
            <a:r>
              <a:rPr lang="en-US" altLang="zh-CN" sz="2400" dirty="0">
                <a:solidFill>
                  <a:srgbClr val="0000C8"/>
                </a:solidFill>
                <a:latin typeface="Calibri" panose="020F0502020204030204" charset="0"/>
                <a:cs typeface="Calibri" panose="020F0502020204030204" charset="0"/>
              </a:rPr>
              <a:t> ] ;</a:t>
            </a:r>
          </a:p>
        </p:txBody>
      </p:sp>
      <p:sp>
        <p:nvSpPr>
          <p:cNvPr id="5" name="灯片编号占位符 4"/>
          <p:cNvSpPr>
            <a:spLocks noGrp="1"/>
          </p:cNvSpPr>
          <p:nvPr>
            <p:ph type="sldNum" sz="quarter" idx="12"/>
          </p:nvPr>
        </p:nvSpPr>
        <p:spPr/>
        <p:txBody>
          <a:bodyPr/>
          <a:lstStyle/>
          <a:p>
            <a:fld id="{565CE74E-AB26-4998-AD42-012C4C1AD076}" type="slidenum">
              <a:rPr lang="zh-CN" altLang="en-US" smtClean="0"/>
              <a:t>47</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
        <p:nvSpPr>
          <p:cNvPr id="6" name="内容占位符 2"/>
          <p:cNvSpPr>
            <a:spLocks noGrp="1"/>
          </p:cNvSpPr>
          <p:nvPr/>
        </p:nvSpPr>
        <p:spPr>
          <a:xfrm>
            <a:off x="424180" y="3869055"/>
            <a:ext cx="11343005" cy="2376805"/>
          </a:xfrm>
          <a:prstGeom prst="rect">
            <a:avLst/>
          </a:prstGeom>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nSpc>
                <a:spcPct val="110000"/>
              </a:lnSpc>
              <a:spcBef>
                <a:spcPts val="0"/>
              </a:spcBef>
            </a:pPr>
            <a:r>
              <a:rPr lang="en-US" altLang="zh-CN" sz="2400" dirty="0">
                <a:solidFill>
                  <a:srgbClr val="C00000"/>
                </a:solidFill>
                <a:latin typeface="Calibri" panose="020F0502020204030204" charset="0"/>
                <a:cs typeface="Calibri" panose="020F0502020204030204" charset="0"/>
              </a:rPr>
              <a:t>WITH GRANT OPTION</a:t>
            </a:r>
            <a:r>
              <a:rPr lang="en-US" altLang="zh-CN" sz="2400" dirty="0">
                <a:latin typeface="Calibri" panose="020F0502020204030204" charset="0"/>
                <a:cs typeface="Calibri" panose="020F0502020204030204" charset="0"/>
              </a:rPr>
              <a:t> </a:t>
            </a:r>
            <a:r>
              <a:rPr lang="zh-CN" altLang="en-US" sz="2400" dirty="0">
                <a:latin typeface="Calibri" panose="020F0502020204030204" charset="0"/>
                <a:cs typeface="Calibri" panose="020F0502020204030204" charset="0"/>
              </a:rPr>
              <a:t>与</a:t>
            </a:r>
            <a:r>
              <a:rPr lang="en-US" altLang="zh-CN" sz="2400" dirty="0">
                <a:latin typeface="Calibri" panose="020F0502020204030204" charset="0"/>
                <a:cs typeface="Calibri" panose="020F0502020204030204" charset="0"/>
              </a:rPr>
              <a:t> </a:t>
            </a:r>
            <a:r>
              <a:rPr lang="en-US" altLang="zh-CN" sz="2400" dirty="0">
                <a:solidFill>
                  <a:srgbClr val="C00000"/>
                </a:solidFill>
                <a:latin typeface="Calibri" panose="020F0502020204030204" charset="0"/>
                <a:cs typeface="Calibri" panose="020F0502020204030204" charset="0"/>
              </a:rPr>
              <a:t>WITH ADMIN OPTION</a:t>
            </a:r>
            <a:r>
              <a:rPr lang="en-US" altLang="zh-CN" sz="2400" dirty="0">
                <a:latin typeface="Calibri" panose="020F0502020204030204" charset="0"/>
                <a:cs typeface="Calibri" panose="020F0502020204030204" charset="0"/>
              </a:rPr>
              <a:t> </a:t>
            </a:r>
            <a:r>
              <a:rPr lang="zh-CN" altLang="en-US" sz="2400" dirty="0">
                <a:latin typeface="Calibri" panose="020F0502020204030204" charset="0"/>
                <a:cs typeface="Calibri" panose="020F0502020204030204" charset="0"/>
              </a:rPr>
              <a:t>的区别</a:t>
            </a:r>
          </a:p>
          <a:p>
            <a:pPr lvl="1">
              <a:lnSpc>
                <a:spcPct val="110000"/>
              </a:lnSpc>
              <a:spcBef>
                <a:spcPts val="1000"/>
              </a:spcBef>
            </a:pPr>
            <a:r>
              <a:rPr lang="en-US" altLang="zh-CN" sz="2400" dirty="0">
                <a:latin typeface="Calibri" panose="020F0502020204030204" charset="0"/>
                <a:cs typeface="Calibri" panose="020F0502020204030204" charset="0"/>
              </a:rPr>
              <a:t>ADMIN OPTION</a:t>
            </a:r>
            <a:r>
              <a:rPr lang="zh-CN" altLang="en-US" sz="2400" dirty="0">
                <a:latin typeface="Calibri" panose="020F0502020204030204" charset="0"/>
                <a:cs typeface="Calibri" panose="020F0502020204030204" charset="0"/>
              </a:rPr>
              <a:t>是关于</a:t>
            </a:r>
            <a:r>
              <a:rPr lang="zh-CN" altLang="en-US" sz="2400" dirty="0">
                <a:solidFill>
                  <a:srgbClr val="C00000"/>
                </a:solidFill>
                <a:latin typeface="Calibri" panose="020F0502020204030204" charset="0"/>
                <a:cs typeface="Calibri" panose="020F0502020204030204" charset="0"/>
              </a:rPr>
              <a:t>系统权限</a:t>
            </a:r>
            <a:r>
              <a:rPr lang="zh-CN" altLang="en-US" sz="2400" dirty="0">
                <a:latin typeface="Calibri" panose="020F0502020204030204" charset="0"/>
                <a:cs typeface="Calibri" panose="020F0502020204030204" charset="0"/>
              </a:rPr>
              <a:t>的授予权（</a:t>
            </a:r>
            <a:r>
              <a:rPr lang="zh-CN" altLang="en-US" sz="2400" dirty="0">
                <a:solidFill>
                  <a:srgbClr val="C00000"/>
                </a:solidFill>
                <a:latin typeface="Calibri" panose="020F0502020204030204" charset="0"/>
                <a:cs typeface="Calibri" panose="020F0502020204030204" charset="0"/>
              </a:rPr>
              <a:t>系统权限</a:t>
            </a:r>
            <a:r>
              <a:rPr lang="zh-CN" altLang="en-US" sz="2400" dirty="0">
                <a:latin typeface="Calibri" panose="020F0502020204030204" charset="0"/>
                <a:cs typeface="Calibri" panose="020F0502020204030204" charset="0"/>
              </a:rPr>
              <a:t>：特定的数据库访问操作，通常是数据定义或数据控制命令，如数据库对象的创建等）</a:t>
            </a:r>
          </a:p>
          <a:p>
            <a:pPr lvl="1">
              <a:lnSpc>
                <a:spcPct val="110000"/>
              </a:lnSpc>
              <a:spcBef>
                <a:spcPts val="1000"/>
              </a:spcBef>
            </a:pPr>
            <a:r>
              <a:rPr lang="en-US" altLang="zh-CN" sz="2400" dirty="0">
                <a:latin typeface="Calibri" panose="020F0502020204030204" charset="0"/>
                <a:cs typeface="Calibri" panose="020F0502020204030204" charset="0"/>
              </a:rPr>
              <a:t>GRANT OPTION</a:t>
            </a:r>
            <a:r>
              <a:rPr lang="zh-CN" altLang="en-US" sz="2400" dirty="0">
                <a:latin typeface="Calibri" panose="020F0502020204030204" charset="0"/>
                <a:cs typeface="Calibri" panose="020F0502020204030204" charset="0"/>
              </a:rPr>
              <a:t>是关于</a:t>
            </a:r>
            <a:r>
              <a:rPr lang="zh-CN" altLang="en-US" sz="2400" dirty="0">
                <a:solidFill>
                  <a:srgbClr val="C00000"/>
                </a:solidFill>
                <a:latin typeface="Calibri" panose="020F0502020204030204" charset="0"/>
                <a:cs typeface="Calibri" panose="020F0502020204030204" charset="0"/>
              </a:rPr>
              <a:t>对象权限</a:t>
            </a:r>
            <a:r>
              <a:rPr lang="zh-CN" altLang="en-US" sz="2400" dirty="0">
                <a:latin typeface="Calibri" panose="020F0502020204030204" charset="0"/>
                <a:cs typeface="Calibri" panose="020F0502020204030204" charset="0"/>
              </a:rPr>
              <a:t>的授予权（</a:t>
            </a:r>
            <a:r>
              <a:rPr lang="zh-CN" altLang="en-US" sz="2400" dirty="0">
                <a:solidFill>
                  <a:srgbClr val="C00000"/>
                </a:solidFill>
                <a:latin typeface="Calibri" panose="020F0502020204030204" charset="0"/>
                <a:cs typeface="Calibri" panose="020F0502020204030204" charset="0"/>
              </a:rPr>
              <a:t>对象权限</a:t>
            </a:r>
            <a:r>
              <a:rPr lang="zh-CN" altLang="en-US" sz="2400" dirty="0">
                <a:latin typeface="Calibri" panose="020F0502020204030204" charset="0"/>
                <a:cs typeface="Calibri" panose="020F0502020204030204" charset="0"/>
              </a:rPr>
              <a:t>：指数据库对象的访问权限，如表中的数据访问、存储过程的调用等）</a:t>
            </a:r>
          </a:p>
        </p:txBody>
      </p:sp>
      <p:sp>
        <p:nvSpPr>
          <p:cNvPr id="7" name="内容占位符 2"/>
          <p:cNvSpPr>
            <a:spLocks noGrp="1"/>
          </p:cNvSpPr>
          <p:nvPr/>
        </p:nvSpPr>
        <p:spPr>
          <a:xfrm>
            <a:off x="424180" y="2021840"/>
            <a:ext cx="11343005" cy="1568450"/>
          </a:xfrm>
          <a:prstGeom prst="rect">
            <a:avLst/>
          </a:prstGeom>
          <a:solidFill>
            <a:schemeClr val="accent3">
              <a:lumMod val="20000"/>
              <a:lumOff val="80000"/>
              <a:alpha val="50000"/>
            </a:schemeClr>
          </a:solidFill>
          <a:ln>
            <a:solidFill>
              <a:schemeClr val="tx1"/>
            </a:solidFill>
          </a:ln>
        </p:spPr>
        <p:txBody>
          <a:bodyPr vert="horz" lIns="450215"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fontAlgn="auto">
              <a:lnSpc>
                <a:spcPct val="100000"/>
              </a:lnSpc>
              <a:spcBef>
                <a:spcPts val="0"/>
              </a:spcBef>
              <a:buNone/>
            </a:pPr>
            <a:r>
              <a:rPr lang="en-US" altLang="zh-CN" sz="2400" dirty="0">
                <a:solidFill>
                  <a:srgbClr val="0000C8"/>
                </a:solidFill>
                <a:latin typeface="Calibri" panose="020F0502020204030204" charset="0"/>
                <a:cs typeface="Calibri" panose="020F0502020204030204" charset="0"/>
              </a:rPr>
              <a:t>GRANT  &lt;</a:t>
            </a:r>
            <a:r>
              <a:rPr lang="zh-CN" altLang="en-US" sz="2400" dirty="0">
                <a:solidFill>
                  <a:srgbClr val="0000C8"/>
                </a:solidFill>
                <a:latin typeface="Calibri" panose="020F0502020204030204" charset="0"/>
                <a:cs typeface="Calibri" panose="020F0502020204030204" charset="0"/>
              </a:rPr>
              <a:t>权限</a:t>
            </a:r>
            <a:r>
              <a:rPr lang="en-US" altLang="zh-CN" sz="2400" dirty="0">
                <a:solidFill>
                  <a:srgbClr val="0000C8"/>
                </a:solidFill>
                <a:latin typeface="Calibri" panose="020F0502020204030204" charset="0"/>
                <a:cs typeface="Calibri" panose="020F0502020204030204" charset="0"/>
              </a:rPr>
              <a:t>&gt; [ , &lt;</a:t>
            </a:r>
            <a:r>
              <a:rPr lang="zh-CN" altLang="en-US" sz="2400" dirty="0">
                <a:solidFill>
                  <a:srgbClr val="0000C8"/>
                </a:solidFill>
                <a:latin typeface="Calibri" panose="020F0502020204030204" charset="0"/>
                <a:cs typeface="Calibri" panose="020F0502020204030204" charset="0"/>
              </a:rPr>
              <a:t>权限</a:t>
            </a:r>
            <a:r>
              <a:rPr lang="en-US" altLang="zh-CN" sz="2400" dirty="0">
                <a:solidFill>
                  <a:srgbClr val="0000C8"/>
                </a:solidFill>
                <a:latin typeface="Calibri" panose="020F0502020204030204" charset="0"/>
                <a:cs typeface="Calibri" panose="020F0502020204030204" charset="0"/>
              </a:rPr>
              <a:t>&gt; ] ... </a:t>
            </a:r>
          </a:p>
          <a:p>
            <a:pPr marL="914400" lvl="2" indent="0" fontAlgn="auto">
              <a:lnSpc>
                <a:spcPct val="100000"/>
              </a:lnSpc>
              <a:spcBef>
                <a:spcPts val="0"/>
              </a:spcBef>
              <a:buNone/>
            </a:pPr>
            <a:r>
              <a:rPr lang="en-US" altLang="zh-CN" sz="2400" dirty="0">
                <a:solidFill>
                  <a:srgbClr val="0000C8"/>
                </a:solidFill>
                <a:latin typeface="Calibri" panose="020F0502020204030204" charset="0"/>
                <a:cs typeface="Calibri" panose="020F0502020204030204" charset="0"/>
              </a:rPr>
              <a:t>ON  &lt;</a:t>
            </a:r>
            <a:r>
              <a:rPr lang="zh-CN" altLang="en-US" sz="2400" dirty="0">
                <a:solidFill>
                  <a:srgbClr val="0000C8"/>
                </a:solidFill>
                <a:latin typeface="Calibri" panose="020F0502020204030204" charset="0"/>
                <a:cs typeface="Calibri" panose="020F0502020204030204" charset="0"/>
              </a:rPr>
              <a:t>对象类型</a:t>
            </a:r>
            <a:r>
              <a:rPr lang="en-US" altLang="zh-CN" sz="2400" dirty="0">
                <a:solidFill>
                  <a:srgbClr val="0000C8"/>
                </a:solidFill>
                <a:latin typeface="Calibri" panose="020F0502020204030204" charset="0"/>
                <a:cs typeface="Calibri" panose="020F0502020204030204" charset="0"/>
              </a:rPr>
              <a:t>&gt;  &lt;</a:t>
            </a:r>
            <a:r>
              <a:rPr lang="zh-CN" altLang="en-US" sz="2400" dirty="0">
                <a:solidFill>
                  <a:srgbClr val="0000C8"/>
                </a:solidFill>
                <a:latin typeface="Calibri" panose="020F0502020204030204" charset="0"/>
                <a:cs typeface="Calibri" panose="020F0502020204030204" charset="0"/>
              </a:rPr>
              <a:t>对象名</a:t>
            </a:r>
            <a:r>
              <a:rPr lang="en-US" altLang="zh-CN" sz="2400" dirty="0">
                <a:solidFill>
                  <a:srgbClr val="0000C8"/>
                </a:solidFill>
                <a:latin typeface="Calibri" panose="020F0502020204030204" charset="0"/>
                <a:cs typeface="Calibri" panose="020F0502020204030204" charset="0"/>
              </a:rPr>
              <a:t>&gt; [ , &lt;</a:t>
            </a:r>
            <a:r>
              <a:rPr lang="zh-CN" altLang="en-US" sz="2400" dirty="0">
                <a:solidFill>
                  <a:srgbClr val="0000C8"/>
                </a:solidFill>
                <a:latin typeface="Calibri" panose="020F0502020204030204" charset="0"/>
                <a:cs typeface="Calibri" panose="020F0502020204030204" charset="0"/>
              </a:rPr>
              <a:t>对象类型</a:t>
            </a:r>
            <a:r>
              <a:rPr lang="en-US" altLang="zh-CN" sz="2400" dirty="0">
                <a:solidFill>
                  <a:srgbClr val="0000C8"/>
                </a:solidFill>
                <a:latin typeface="Calibri" panose="020F0502020204030204" charset="0"/>
                <a:cs typeface="Calibri" panose="020F0502020204030204" charset="0"/>
              </a:rPr>
              <a:t>&gt;  &lt;</a:t>
            </a:r>
            <a:r>
              <a:rPr lang="zh-CN" altLang="en-US" sz="2400" dirty="0">
                <a:solidFill>
                  <a:srgbClr val="0000C8"/>
                </a:solidFill>
                <a:latin typeface="Calibri" panose="020F0502020204030204" charset="0"/>
                <a:cs typeface="Calibri" panose="020F0502020204030204" charset="0"/>
              </a:rPr>
              <a:t>对象名</a:t>
            </a:r>
            <a:r>
              <a:rPr lang="en-US" altLang="zh-CN" sz="2400" dirty="0">
                <a:solidFill>
                  <a:srgbClr val="0000C8"/>
                </a:solidFill>
                <a:latin typeface="Calibri" panose="020F0502020204030204" charset="0"/>
                <a:cs typeface="Calibri" panose="020F0502020204030204" charset="0"/>
              </a:rPr>
              <a:t>&gt; ]…</a:t>
            </a:r>
          </a:p>
          <a:p>
            <a:pPr marL="914400" lvl="2" indent="0" fontAlgn="auto">
              <a:lnSpc>
                <a:spcPct val="100000"/>
              </a:lnSpc>
              <a:spcBef>
                <a:spcPts val="0"/>
              </a:spcBef>
              <a:buNone/>
            </a:pPr>
            <a:r>
              <a:rPr lang="en-US" altLang="zh-CN" sz="2400" dirty="0">
                <a:solidFill>
                  <a:srgbClr val="0000C8"/>
                </a:solidFill>
                <a:latin typeface="Calibri" panose="020F0502020204030204" charset="0"/>
                <a:cs typeface="Calibri" panose="020F0502020204030204" charset="0"/>
              </a:rPr>
              <a:t>TO  &lt;</a:t>
            </a:r>
            <a:r>
              <a:rPr lang="zh-CN" altLang="en-US" sz="2400" dirty="0">
                <a:solidFill>
                  <a:srgbClr val="0000C8"/>
                </a:solidFill>
                <a:latin typeface="Calibri" panose="020F0502020204030204" charset="0"/>
                <a:cs typeface="Calibri" panose="020F0502020204030204" charset="0"/>
              </a:rPr>
              <a:t>用户</a:t>
            </a:r>
            <a:r>
              <a:rPr lang="en-US" altLang="zh-CN" sz="2400" dirty="0">
                <a:solidFill>
                  <a:srgbClr val="0000C8"/>
                </a:solidFill>
                <a:latin typeface="Calibri" panose="020F0502020204030204" charset="0"/>
                <a:cs typeface="Calibri" panose="020F0502020204030204" charset="0"/>
              </a:rPr>
              <a:t>&gt; [ , &lt;</a:t>
            </a:r>
            <a:r>
              <a:rPr lang="zh-CN" altLang="en-US" sz="2400" dirty="0">
                <a:solidFill>
                  <a:srgbClr val="0000C8"/>
                </a:solidFill>
                <a:latin typeface="Calibri" panose="020F0502020204030204" charset="0"/>
                <a:cs typeface="Calibri" panose="020F0502020204030204" charset="0"/>
              </a:rPr>
              <a:t>用户</a:t>
            </a:r>
            <a:r>
              <a:rPr lang="en-US" altLang="zh-CN" sz="2400" dirty="0">
                <a:solidFill>
                  <a:srgbClr val="0000C8"/>
                </a:solidFill>
                <a:latin typeface="Calibri" panose="020F0502020204030204" charset="0"/>
                <a:cs typeface="Calibri" panose="020F0502020204030204" charset="0"/>
              </a:rPr>
              <a:t>&gt; ] ...</a:t>
            </a:r>
          </a:p>
          <a:p>
            <a:pPr marL="914400" lvl="2" indent="0" fontAlgn="auto">
              <a:lnSpc>
                <a:spcPct val="100000"/>
              </a:lnSpc>
              <a:spcBef>
                <a:spcPts val="0"/>
              </a:spcBef>
              <a:buNone/>
            </a:pPr>
            <a:r>
              <a:rPr lang="en-US" altLang="zh-CN" sz="2400" dirty="0">
                <a:solidFill>
                  <a:srgbClr val="0000C8"/>
                </a:solidFill>
                <a:latin typeface="Calibri" panose="020F0502020204030204" charset="0"/>
                <a:cs typeface="Calibri" panose="020F0502020204030204" charset="0"/>
              </a:rPr>
              <a:t>[ </a:t>
            </a:r>
            <a:r>
              <a:rPr lang="en-US" altLang="zh-CN" sz="2400" dirty="0">
                <a:solidFill>
                  <a:srgbClr val="C00000"/>
                </a:solidFill>
                <a:latin typeface="Calibri" panose="020F0502020204030204" charset="0"/>
                <a:cs typeface="Calibri" panose="020F0502020204030204" charset="0"/>
              </a:rPr>
              <a:t>WITH GRANT OPTION</a:t>
            </a:r>
            <a:r>
              <a:rPr lang="en-US" altLang="zh-CN" sz="2400" dirty="0">
                <a:solidFill>
                  <a:srgbClr val="0000C8"/>
                </a:solidFill>
                <a:latin typeface="Calibri" panose="020F0502020204030204" charset="0"/>
                <a:cs typeface="Calibri" panose="020F0502020204030204" charset="0"/>
              </a:rPr>
              <a:t> ];</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4.2.5  </a:t>
            </a:r>
            <a:r>
              <a:rPr lang="zh-CN" altLang="en-US" dirty="0"/>
              <a:t>数据库角色 </a:t>
            </a:r>
            <a:r>
              <a:rPr lang="en-US" altLang="zh-CN" dirty="0"/>
              <a:t>4</a:t>
            </a:r>
            <a:endParaRPr lang="zh-CN" altLang="en-US" dirty="0"/>
          </a:p>
        </p:txBody>
      </p:sp>
      <p:sp>
        <p:nvSpPr>
          <p:cNvPr id="9" name="内容占位符 8"/>
          <p:cNvSpPr>
            <a:spLocks noGrp="1"/>
          </p:cNvSpPr>
          <p:nvPr>
            <p:ph idx="1"/>
          </p:nvPr>
        </p:nvSpPr>
        <p:spPr>
          <a:xfrm>
            <a:off x="424180" y="687070"/>
            <a:ext cx="11343005" cy="565150"/>
          </a:xfrm>
        </p:spPr>
        <p:txBody>
          <a:bodyPr>
            <a:spAutoFit/>
          </a:bodyPr>
          <a:lstStyle/>
          <a:p>
            <a:r>
              <a:rPr lang="zh-CN" altLang="en-US" sz="2800" dirty="0">
                <a:latin typeface="Calibri" panose="020F0502020204030204" charset="0"/>
                <a:cs typeface="Calibri" panose="020F0502020204030204" charset="0"/>
              </a:rPr>
              <a:t>角色权限的回收</a:t>
            </a:r>
          </a:p>
        </p:txBody>
      </p:sp>
      <p:sp>
        <p:nvSpPr>
          <p:cNvPr id="3" name="灯片编号占位符 2"/>
          <p:cNvSpPr>
            <a:spLocks noGrp="1"/>
          </p:cNvSpPr>
          <p:nvPr>
            <p:ph type="sldNum" sz="quarter" idx="12"/>
          </p:nvPr>
        </p:nvSpPr>
        <p:spPr/>
        <p:txBody>
          <a:bodyPr/>
          <a:lstStyle/>
          <a:p>
            <a:fld id="{565CE74E-AB26-4998-AD42-012C4C1AD076}" type="slidenum">
              <a:rPr lang="zh-CN" altLang="en-US" smtClean="0"/>
              <a:t>48</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
        <p:nvSpPr>
          <p:cNvPr id="5" name="内容占位符 8"/>
          <p:cNvSpPr>
            <a:spLocks noGrp="1"/>
          </p:cNvSpPr>
          <p:nvPr/>
        </p:nvSpPr>
        <p:spPr>
          <a:xfrm>
            <a:off x="424180" y="1343660"/>
            <a:ext cx="11343005" cy="1512570"/>
          </a:xfrm>
          <a:prstGeom prst="rect">
            <a:avLst/>
          </a:prstGeom>
          <a:solidFill>
            <a:schemeClr val="accent3">
              <a:lumMod val="20000"/>
              <a:lumOff val="80000"/>
              <a:alpha val="50000"/>
            </a:schemeClr>
          </a:solidFill>
          <a:ln>
            <a:solidFill>
              <a:schemeClr val="tx1"/>
            </a:solidFill>
          </a:ln>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21055" lvl="2" indent="0">
              <a:buNone/>
            </a:pPr>
            <a:r>
              <a:rPr lang="en-US" altLang="zh-CN" sz="2800" dirty="0">
                <a:solidFill>
                  <a:srgbClr val="FF0000"/>
                </a:solidFill>
                <a:latin typeface="Calibri" panose="020F0502020204030204" charset="0"/>
                <a:cs typeface="Calibri" panose="020F0502020204030204" charset="0"/>
              </a:rPr>
              <a:t>REVOKE  &lt;</a:t>
            </a:r>
            <a:r>
              <a:rPr lang="zh-CN" altLang="en-US" sz="2800" dirty="0">
                <a:solidFill>
                  <a:srgbClr val="FF0000"/>
                </a:solidFill>
                <a:latin typeface="Calibri" panose="020F0502020204030204" charset="0"/>
                <a:cs typeface="Calibri" panose="020F0502020204030204" charset="0"/>
              </a:rPr>
              <a:t>权限</a:t>
            </a:r>
            <a:r>
              <a:rPr lang="en-US" altLang="zh-CN" sz="2800" dirty="0">
                <a:solidFill>
                  <a:srgbClr val="FF0000"/>
                </a:solidFill>
                <a:latin typeface="Calibri" panose="020F0502020204030204" charset="0"/>
                <a:cs typeface="Calibri" panose="020F0502020204030204" charset="0"/>
              </a:rPr>
              <a:t>&gt; [, &lt;</a:t>
            </a:r>
            <a:r>
              <a:rPr lang="zh-CN" altLang="en-US" sz="2800" dirty="0">
                <a:solidFill>
                  <a:srgbClr val="FF0000"/>
                </a:solidFill>
                <a:latin typeface="Calibri" panose="020F0502020204030204" charset="0"/>
                <a:cs typeface="Calibri" panose="020F0502020204030204" charset="0"/>
              </a:rPr>
              <a:t>权限</a:t>
            </a:r>
            <a:r>
              <a:rPr lang="en-US" altLang="zh-CN" sz="2800" dirty="0">
                <a:solidFill>
                  <a:srgbClr val="FF0000"/>
                </a:solidFill>
                <a:latin typeface="Calibri" panose="020F0502020204030204" charset="0"/>
                <a:cs typeface="Calibri" panose="020F0502020204030204" charset="0"/>
              </a:rPr>
              <a:t>&gt;]…</a:t>
            </a:r>
          </a:p>
          <a:p>
            <a:pPr marL="1735455" lvl="4" indent="0">
              <a:buNone/>
            </a:pPr>
            <a:r>
              <a:rPr lang="en-US" altLang="zh-CN" sz="2800" dirty="0">
                <a:solidFill>
                  <a:srgbClr val="FF0000"/>
                </a:solidFill>
                <a:latin typeface="Calibri" panose="020F0502020204030204" charset="0"/>
                <a:cs typeface="Calibri" panose="020F0502020204030204" charset="0"/>
              </a:rPr>
              <a:t>ON  &lt;</a:t>
            </a:r>
            <a:r>
              <a:rPr lang="zh-CN" altLang="en-US" sz="2800" dirty="0">
                <a:solidFill>
                  <a:srgbClr val="FF0000"/>
                </a:solidFill>
                <a:latin typeface="Calibri" panose="020F0502020204030204" charset="0"/>
                <a:cs typeface="Calibri" panose="020F0502020204030204" charset="0"/>
              </a:rPr>
              <a:t>对象类型</a:t>
            </a:r>
            <a:r>
              <a:rPr lang="en-US" altLang="zh-CN" sz="2800" dirty="0">
                <a:solidFill>
                  <a:srgbClr val="FF0000"/>
                </a:solidFill>
                <a:latin typeface="Calibri" panose="020F0502020204030204" charset="0"/>
                <a:cs typeface="Calibri" panose="020F0502020204030204" charset="0"/>
              </a:rPr>
              <a:t>&gt; &lt;</a:t>
            </a:r>
            <a:r>
              <a:rPr lang="zh-CN" altLang="en-US" sz="2800" dirty="0">
                <a:solidFill>
                  <a:srgbClr val="FF0000"/>
                </a:solidFill>
                <a:latin typeface="Calibri" panose="020F0502020204030204" charset="0"/>
                <a:cs typeface="Calibri" panose="020F0502020204030204" charset="0"/>
              </a:rPr>
              <a:t>对象名</a:t>
            </a:r>
            <a:r>
              <a:rPr lang="en-US" altLang="zh-CN" sz="2800" dirty="0">
                <a:solidFill>
                  <a:srgbClr val="FF0000"/>
                </a:solidFill>
                <a:latin typeface="Calibri" panose="020F0502020204030204" charset="0"/>
                <a:cs typeface="Calibri" panose="020F0502020204030204" charset="0"/>
              </a:rPr>
              <a:t>&gt;</a:t>
            </a:r>
          </a:p>
          <a:p>
            <a:pPr marL="1735455" lvl="4" indent="0">
              <a:buNone/>
            </a:pPr>
            <a:r>
              <a:rPr lang="en-US" altLang="zh-CN" sz="2800" dirty="0">
                <a:solidFill>
                  <a:srgbClr val="FF0000"/>
                </a:solidFill>
                <a:latin typeface="Calibri" panose="020F0502020204030204" charset="0"/>
                <a:cs typeface="Calibri" panose="020F0502020204030204" charset="0"/>
              </a:rPr>
              <a:t>FROM  &lt;</a:t>
            </a:r>
            <a:r>
              <a:rPr lang="zh-CN" altLang="en-US" sz="2800" dirty="0">
                <a:solidFill>
                  <a:srgbClr val="FF0000"/>
                </a:solidFill>
                <a:latin typeface="Calibri" panose="020F0502020204030204" charset="0"/>
                <a:cs typeface="Calibri" panose="020F0502020204030204" charset="0"/>
              </a:rPr>
              <a:t>角色</a:t>
            </a:r>
            <a:r>
              <a:rPr lang="en-US" altLang="zh-CN" sz="2800" dirty="0">
                <a:solidFill>
                  <a:srgbClr val="FF0000"/>
                </a:solidFill>
                <a:latin typeface="Calibri" panose="020F0502020204030204" charset="0"/>
                <a:cs typeface="Calibri" panose="020F0502020204030204" charset="0"/>
              </a:rPr>
              <a:t>&gt; [, &lt;</a:t>
            </a:r>
            <a:r>
              <a:rPr lang="zh-CN" altLang="en-US" sz="2800" dirty="0">
                <a:solidFill>
                  <a:srgbClr val="FF0000"/>
                </a:solidFill>
                <a:latin typeface="Calibri" panose="020F0502020204030204" charset="0"/>
                <a:cs typeface="Calibri" panose="020F0502020204030204" charset="0"/>
              </a:rPr>
              <a:t>角色</a:t>
            </a:r>
            <a:r>
              <a:rPr lang="en-US" altLang="zh-CN" sz="2800" dirty="0">
                <a:solidFill>
                  <a:srgbClr val="FF0000"/>
                </a:solidFill>
                <a:latin typeface="Calibri" panose="020F0502020204030204" charset="0"/>
                <a:cs typeface="Calibri" panose="020F0502020204030204" charset="0"/>
              </a:rPr>
              <a:t>&gt;]…;</a:t>
            </a:r>
            <a:endParaRPr lang="zh-CN" altLang="en-US" sz="2800" dirty="0">
              <a:latin typeface="Calibri" panose="020F0502020204030204" charset="0"/>
              <a:cs typeface="Calibri" panose="020F0502020204030204" charset="0"/>
            </a:endParaRPr>
          </a:p>
        </p:txBody>
      </p:sp>
      <p:sp>
        <p:nvSpPr>
          <p:cNvPr id="6" name="内容占位符 8"/>
          <p:cNvSpPr>
            <a:spLocks noGrp="1"/>
          </p:cNvSpPr>
          <p:nvPr/>
        </p:nvSpPr>
        <p:spPr>
          <a:xfrm>
            <a:off x="424180" y="3020060"/>
            <a:ext cx="11343005" cy="3190875"/>
          </a:xfrm>
          <a:prstGeom prst="rect">
            <a:avLst/>
          </a:prstGeom>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dirty="0">
                <a:latin typeface="Calibri" panose="020F0502020204030204" charset="0"/>
                <a:cs typeface="Calibri" panose="020F0502020204030204" charset="0"/>
              </a:rPr>
              <a:t>用户可以回收角色的权限，从而修改角色拥有的权限</a:t>
            </a:r>
          </a:p>
          <a:p>
            <a:r>
              <a:rPr lang="en-US" altLang="zh-CN" sz="2800" dirty="0">
                <a:latin typeface="Calibri" panose="020F0502020204030204" charset="0"/>
                <a:cs typeface="Calibri" panose="020F0502020204030204" charset="0"/>
              </a:rPr>
              <a:t>REVOKE</a:t>
            </a:r>
            <a:r>
              <a:rPr lang="zh-CN" altLang="en-US" sz="2800" dirty="0">
                <a:latin typeface="Calibri" panose="020F0502020204030204" charset="0"/>
                <a:cs typeface="Calibri" panose="020F0502020204030204" charset="0"/>
              </a:rPr>
              <a:t>命令的执行者是</a:t>
            </a:r>
          </a:p>
          <a:p>
            <a:pPr lvl="1"/>
            <a:r>
              <a:rPr lang="zh-CN" altLang="en-US" sz="2800" dirty="0">
                <a:latin typeface="Calibri" panose="020F0502020204030204" charset="0"/>
                <a:cs typeface="Calibri" panose="020F0502020204030204" charset="0"/>
              </a:rPr>
              <a:t>角色的创建者，或者是</a:t>
            </a:r>
          </a:p>
          <a:p>
            <a:pPr lvl="1"/>
            <a:r>
              <a:rPr lang="zh-CN" altLang="en-US" sz="2800" dirty="0">
                <a:latin typeface="Calibri" panose="020F0502020204030204" charset="0"/>
                <a:cs typeface="Calibri" panose="020F0502020204030204" charset="0"/>
              </a:rPr>
              <a:t>拥有在这个（些）角色上的</a:t>
            </a:r>
            <a:r>
              <a:rPr lang="en-US" altLang="zh-CN" sz="2800" dirty="0">
                <a:latin typeface="Calibri" panose="020F0502020204030204" charset="0"/>
                <a:cs typeface="Calibri" panose="020F0502020204030204" charset="0"/>
              </a:rPr>
              <a:t> ADMIN OPTION </a:t>
            </a:r>
            <a:r>
              <a:rPr lang="zh-CN" altLang="en-US" sz="2800" dirty="0">
                <a:latin typeface="Calibri" panose="020F0502020204030204" charset="0"/>
                <a:cs typeface="Calibri" panose="020F0502020204030204" charset="0"/>
              </a:rPr>
              <a:t>许可</a:t>
            </a:r>
            <a:endParaRPr lang="en-US" altLang="zh-CN" sz="2800" dirty="0">
              <a:latin typeface="Calibri" panose="020F0502020204030204" charset="0"/>
              <a:cs typeface="Calibri" panose="020F0502020204030204" charset="0"/>
            </a:endParaRPr>
          </a:p>
          <a:p>
            <a:pPr lvl="0"/>
            <a:r>
              <a:rPr lang="zh-CN" altLang="en-US" sz="2800" dirty="0">
                <a:latin typeface="Calibri" panose="020F0502020204030204" charset="0"/>
                <a:cs typeface="Calibri" panose="020F0502020204030204" charset="0"/>
              </a:rPr>
              <a:t>如果使用</a:t>
            </a:r>
            <a:r>
              <a:rPr lang="en-US" altLang="zh-CN" sz="2800" dirty="0">
                <a:latin typeface="Calibri" panose="020F0502020204030204" charset="0"/>
                <a:cs typeface="Calibri" panose="020F0502020204030204" charset="0"/>
              </a:rPr>
              <a:t>CASCADE</a:t>
            </a:r>
            <a:r>
              <a:rPr lang="zh-CN" altLang="en-US" sz="2800" dirty="0">
                <a:latin typeface="Calibri" panose="020F0502020204030204" charset="0"/>
                <a:cs typeface="Calibri" panose="020F0502020204030204" charset="0"/>
              </a:rPr>
              <a:t>执行权限的回收操作时，系统权限不会被级联回收，而对象权限则需要级联回收。</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anim calcmode="lin" valueType="num">
                                      <p:cBhvr additive="base">
                                        <p:cTn id="11"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anim calcmode="lin" valueType="num">
                                      <p:cBhvr additive="base">
                                        <p:cTn id="15"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anim calcmode="lin" valueType="num">
                                      <p:cBhvr additive="base">
                                        <p:cTn id="21"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73731" name="Rectangle 2"/>
          <p:cNvSpPr>
            <a:spLocks noGrp="1" noChangeArrowheads="1"/>
          </p:cNvSpPr>
          <p:nvPr>
            <p:ph type="title"/>
          </p:nvPr>
        </p:nvSpPr>
        <p:spPr/>
        <p:txBody>
          <a:bodyPr/>
          <a:lstStyle/>
          <a:p>
            <a:r>
              <a:rPr lang="en-US" altLang="zh-CN" dirty="0">
                <a:sym typeface="+mn-ea"/>
              </a:rPr>
              <a:t>4.2.5  </a:t>
            </a:r>
            <a:r>
              <a:rPr lang="zh-CN" altLang="zh-CN" dirty="0"/>
              <a:t>数据库角色</a:t>
            </a:r>
            <a:r>
              <a:rPr lang="en-US" altLang="zh-CN" dirty="0"/>
              <a:t> 5</a:t>
            </a:r>
            <a:endParaRPr lang="zh-CN" altLang="zh-CN" dirty="0"/>
          </a:p>
        </p:txBody>
      </p:sp>
      <p:sp>
        <p:nvSpPr>
          <p:cNvPr id="73732" name="Rectangle 3"/>
          <p:cNvSpPr>
            <a:spLocks noGrp="1" noChangeArrowheads="1"/>
          </p:cNvSpPr>
          <p:nvPr>
            <p:ph idx="1"/>
          </p:nvPr>
        </p:nvSpPr>
        <p:spPr>
          <a:xfrm>
            <a:off x="424180" y="687070"/>
            <a:ext cx="11343005" cy="5708015"/>
          </a:xfrm>
        </p:spPr>
        <p:txBody>
          <a:bodyPr>
            <a:noAutofit/>
          </a:bodyPr>
          <a:lstStyle/>
          <a:p>
            <a:pPr>
              <a:lnSpc>
                <a:spcPct val="100000"/>
              </a:lnSpc>
              <a:spcBef>
                <a:spcPct val="0"/>
              </a:spcBef>
            </a:pPr>
            <a:r>
              <a:rPr lang="en-US" altLang="zh-CN" dirty="0">
                <a:latin typeface="Calibri" panose="020F0502020204030204" charset="0"/>
                <a:cs typeface="Calibri" panose="020F0502020204030204" charset="0"/>
              </a:rPr>
              <a:t>[</a:t>
            </a:r>
            <a:r>
              <a:rPr lang="zh-CN" altLang="en-US" dirty="0">
                <a:latin typeface="Calibri" panose="020F0502020204030204" charset="0"/>
                <a:cs typeface="Calibri" panose="020F0502020204030204" charset="0"/>
              </a:rPr>
              <a:t>例4.</a:t>
            </a:r>
            <a:r>
              <a:rPr lang="en-US" altLang="zh-CN" dirty="0">
                <a:latin typeface="Calibri" panose="020F0502020204030204" charset="0"/>
                <a:cs typeface="Calibri" panose="020F0502020204030204" charset="0"/>
              </a:rPr>
              <a:t>11] </a:t>
            </a:r>
            <a:r>
              <a:rPr lang="zh-CN" altLang="en-US" dirty="0">
                <a:latin typeface="Calibri" panose="020F0502020204030204" charset="0"/>
                <a:cs typeface="Calibri" panose="020F0502020204030204" charset="0"/>
              </a:rPr>
              <a:t>通过角色来实现将一组权限授予一个用户。步骤如下：</a:t>
            </a:r>
          </a:p>
          <a:p>
            <a:pPr lvl="1">
              <a:lnSpc>
                <a:spcPct val="100000"/>
              </a:lnSpc>
              <a:spcBef>
                <a:spcPts val="600"/>
              </a:spcBef>
            </a:pPr>
            <a:r>
              <a:rPr lang="zh-CN" altLang="en-US" dirty="0">
                <a:latin typeface="Calibri" panose="020F0502020204030204" charset="0"/>
                <a:cs typeface="Calibri" panose="020F0502020204030204" charset="0"/>
              </a:rPr>
              <a:t>首先创建一个角色 </a:t>
            </a:r>
            <a:r>
              <a:rPr lang="en-US" altLang="zh-CN" dirty="0">
                <a:latin typeface="Calibri" panose="020F0502020204030204" charset="0"/>
                <a:cs typeface="Calibri" panose="020F0502020204030204" charset="0"/>
              </a:rPr>
              <a:t>R1</a:t>
            </a:r>
            <a:r>
              <a:rPr lang="zh-CN" altLang="en-US" dirty="0">
                <a:latin typeface="Calibri" panose="020F0502020204030204" charset="0"/>
                <a:cs typeface="Calibri" panose="020F0502020204030204" charset="0"/>
              </a:rPr>
              <a:t>：</a:t>
            </a:r>
            <a:endParaRPr lang="en-US" altLang="zh-CN" dirty="0">
              <a:latin typeface="Calibri" panose="020F0502020204030204" charset="0"/>
              <a:cs typeface="Calibri" panose="020F0502020204030204" charset="0"/>
            </a:endParaRPr>
          </a:p>
          <a:p>
            <a:pPr marL="363855" lvl="1" indent="1084580">
              <a:lnSpc>
                <a:spcPct val="100000"/>
              </a:lnSpc>
              <a:spcBef>
                <a:spcPct val="0"/>
              </a:spcBef>
              <a:buNone/>
            </a:pPr>
            <a:r>
              <a:rPr lang="en-US" altLang="zh-CN" dirty="0">
                <a:solidFill>
                  <a:srgbClr val="FF0000"/>
                </a:solidFill>
                <a:latin typeface="Calibri" panose="020F0502020204030204" charset="0"/>
                <a:cs typeface="Calibri" panose="020F0502020204030204" charset="0"/>
              </a:rPr>
              <a:t>CREATE  ROLE  R1;</a:t>
            </a:r>
            <a:endParaRPr lang="zh-CN" altLang="en-US" dirty="0">
              <a:solidFill>
                <a:srgbClr val="FF0000"/>
              </a:solidFill>
              <a:latin typeface="Calibri" panose="020F0502020204030204" charset="0"/>
              <a:cs typeface="Calibri" panose="020F0502020204030204" charset="0"/>
            </a:endParaRPr>
          </a:p>
          <a:p>
            <a:pPr lvl="1">
              <a:lnSpc>
                <a:spcPct val="100000"/>
              </a:lnSpc>
              <a:spcBef>
                <a:spcPts val="2000"/>
              </a:spcBef>
            </a:pPr>
            <a:r>
              <a:rPr lang="zh-CN" altLang="en-US" dirty="0">
                <a:latin typeface="Calibri" panose="020F0502020204030204" charset="0"/>
                <a:cs typeface="Calibri" panose="020F0502020204030204" charset="0"/>
              </a:rPr>
              <a:t>然后使用</a:t>
            </a:r>
            <a:r>
              <a:rPr lang="en-US" altLang="zh-CN" dirty="0">
                <a:latin typeface="Calibri" panose="020F0502020204030204" charset="0"/>
                <a:cs typeface="Calibri" panose="020F0502020204030204" charset="0"/>
              </a:rPr>
              <a:t>GRANT</a:t>
            </a:r>
            <a:r>
              <a:rPr lang="zh-CN" altLang="en-US" dirty="0">
                <a:latin typeface="Calibri" panose="020F0502020204030204" charset="0"/>
                <a:cs typeface="Calibri" panose="020F0502020204030204" charset="0"/>
              </a:rPr>
              <a:t>语句，使角色</a:t>
            </a:r>
            <a:r>
              <a:rPr lang="en-US" altLang="zh-CN" dirty="0">
                <a:latin typeface="Calibri" panose="020F0502020204030204" charset="0"/>
                <a:cs typeface="Calibri" panose="020F0502020204030204" charset="0"/>
              </a:rPr>
              <a:t>R1</a:t>
            </a:r>
            <a:r>
              <a:rPr lang="zh-CN" altLang="en-US" dirty="0">
                <a:latin typeface="Calibri" panose="020F0502020204030204" charset="0"/>
                <a:cs typeface="Calibri" panose="020F0502020204030204" charset="0"/>
              </a:rPr>
              <a:t>拥有</a:t>
            </a:r>
            <a:r>
              <a:rPr lang="en-US" altLang="zh-CN" dirty="0">
                <a:latin typeface="Calibri" panose="020F0502020204030204" charset="0"/>
                <a:cs typeface="Calibri" panose="020F0502020204030204" charset="0"/>
              </a:rPr>
              <a:t>Student</a:t>
            </a:r>
            <a:r>
              <a:rPr lang="zh-CN" altLang="en-US" dirty="0">
                <a:latin typeface="Calibri" panose="020F0502020204030204" charset="0"/>
                <a:cs typeface="Calibri" panose="020F0502020204030204" charset="0"/>
              </a:rPr>
              <a:t>表的</a:t>
            </a:r>
            <a:r>
              <a:rPr lang="en-US" altLang="zh-CN" dirty="0">
                <a:latin typeface="Calibri" panose="020F0502020204030204" charset="0"/>
                <a:cs typeface="Calibri" panose="020F0502020204030204" charset="0"/>
              </a:rPr>
              <a:t>SELECT</a:t>
            </a:r>
            <a:r>
              <a:rPr lang="zh-CN" altLang="en-US" dirty="0">
                <a:latin typeface="Calibri" panose="020F0502020204030204" charset="0"/>
                <a:cs typeface="Calibri" panose="020F0502020204030204" charset="0"/>
              </a:rPr>
              <a:t>、</a:t>
            </a:r>
            <a:r>
              <a:rPr lang="en-US" altLang="zh-CN" dirty="0">
                <a:latin typeface="Calibri" panose="020F0502020204030204" charset="0"/>
                <a:cs typeface="Calibri" panose="020F0502020204030204" charset="0"/>
              </a:rPr>
              <a:t>UPDATE</a:t>
            </a:r>
            <a:r>
              <a:rPr lang="zh-CN" altLang="en-US" dirty="0">
                <a:latin typeface="Calibri" panose="020F0502020204030204" charset="0"/>
                <a:cs typeface="Calibri" panose="020F0502020204030204" charset="0"/>
              </a:rPr>
              <a:t>、</a:t>
            </a:r>
            <a:r>
              <a:rPr lang="en-US" altLang="zh-CN" dirty="0">
                <a:latin typeface="Calibri" panose="020F0502020204030204" charset="0"/>
                <a:cs typeface="Calibri" panose="020F0502020204030204" charset="0"/>
              </a:rPr>
              <a:t>INSERT</a:t>
            </a:r>
            <a:r>
              <a:rPr lang="zh-CN" altLang="en-US" dirty="0">
                <a:latin typeface="Calibri" panose="020F0502020204030204" charset="0"/>
                <a:cs typeface="Calibri" panose="020F0502020204030204" charset="0"/>
              </a:rPr>
              <a:t>权限：</a:t>
            </a:r>
          </a:p>
          <a:p>
            <a:pPr marL="363855" lvl="1" indent="1095375">
              <a:lnSpc>
                <a:spcPct val="100000"/>
              </a:lnSpc>
              <a:spcBef>
                <a:spcPct val="0"/>
              </a:spcBef>
              <a:buNone/>
            </a:pPr>
            <a:r>
              <a:rPr lang="en-US" altLang="zh-CN" dirty="0">
                <a:solidFill>
                  <a:srgbClr val="FF0000"/>
                </a:solidFill>
                <a:latin typeface="Calibri" panose="020F0502020204030204" charset="0"/>
                <a:cs typeface="Calibri" panose="020F0502020204030204" charset="0"/>
              </a:rPr>
              <a:t>GRANT  SELECT, UPDATE, INSERT ON  TABLE  Student TO  R1;</a:t>
            </a:r>
          </a:p>
          <a:p>
            <a:pPr lvl="1">
              <a:lnSpc>
                <a:spcPct val="100000"/>
              </a:lnSpc>
              <a:spcBef>
                <a:spcPts val="2000"/>
              </a:spcBef>
            </a:pPr>
            <a:r>
              <a:rPr lang="zh-CN" altLang="en-US" dirty="0">
                <a:latin typeface="Calibri" panose="020F0502020204030204" charset="0"/>
                <a:cs typeface="Calibri" panose="020F0502020204030204" charset="0"/>
              </a:rPr>
              <a:t>将这个角色授予王平，张明，赵玲。使他们具有角色</a:t>
            </a:r>
            <a:r>
              <a:rPr lang="en-US" altLang="zh-CN" dirty="0">
                <a:latin typeface="Calibri" panose="020F0502020204030204" charset="0"/>
                <a:cs typeface="Calibri" panose="020F0502020204030204" charset="0"/>
              </a:rPr>
              <a:t>R1</a:t>
            </a:r>
            <a:r>
              <a:rPr lang="zh-CN" altLang="en-US" dirty="0">
                <a:latin typeface="Calibri" panose="020F0502020204030204" charset="0"/>
                <a:cs typeface="Calibri" panose="020F0502020204030204" charset="0"/>
              </a:rPr>
              <a:t>所包含的全部权限：</a:t>
            </a:r>
          </a:p>
          <a:p>
            <a:pPr marL="363855" lvl="1" indent="1084580">
              <a:lnSpc>
                <a:spcPct val="100000"/>
              </a:lnSpc>
              <a:spcBef>
                <a:spcPct val="0"/>
              </a:spcBef>
              <a:buNone/>
            </a:pPr>
            <a:r>
              <a:rPr lang="en-US" altLang="zh-CN" dirty="0">
                <a:solidFill>
                  <a:srgbClr val="FF0000"/>
                </a:solidFill>
                <a:latin typeface="Calibri" panose="020F0502020204030204" charset="0"/>
                <a:cs typeface="Calibri" panose="020F0502020204030204" charset="0"/>
              </a:rPr>
              <a:t>GRANT  R1  TO  </a:t>
            </a:r>
            <a:r>
              <a:rPr lang="zh-CN" altLang="en-US" dirty="0">
                <a:solidFill>
                  <a:srgbClr val="FF0000"/>
                </a:solidFill>
                <a:latin typeface="Calibri" panose="020F0502020204030204" charset="0"/>
                <a:cs typeface="Calibri" panose="020F0502020204030204" charset="0"/>
              </a:rPr>
              <a:t>王平</a:t>
            </a:r>
            <a:r>
              <a:rPr lang="en-US" altLang="zh-CN" dirty="0">
                <a:solidFill>
                  <a:srgbClr val="FF0000"/>
                </a:solidFill>
                <a:latin typeface="Calibri" panose="020F0502020204030204" charset="0"/>
                <a:cs typeface="Calibri" panose="020F0502020204030204" charset="0"/>
              </a:rPr>
              <a:t>, </a:t>
            </a:r>
            <a:r>
              <a:rPr lang="zh-CN" altLang="en-US" dirty="0">
                <a:solidFill>
                  <a:srgbClr val="FF0000"/>
                </a:solidFill>
                <a:latin typeface="Calibri" panose="020F0502020204030204" charset="0"/>
                <a:cs typeface="Calibri" panose="020F0502020204030204" charset="0"/>
              </a:rPr>
              <a:t>张明</a:t>
            </a:r>
            <a:r>
              <a:rPr lang="en-US" altLang="zh-CN" dirty="0">
                <a:solidFill>
                  <a:srgbClr val="FF0000"/>
                </a:solidFill>
                <a:latin typeface="Calibri" panose="020F0502020204030204" charset="0"/>
                <a:cs typeface="Calibri" panose="020F0502020204030204" charset="0"/>
              </a:rPr>
              <a:t>, </a:t>
            </a:r>
            <a:r>
              <a:rPr lang="zh-CN" altLang="en-US" dirty="0">
                <a:solidFill>
                  <a:srgbClr val="FF0000"/>
                </a:solidFill>
                <a:latin typeface="Calibri" panose="020F0502020204030204" charset="0"/>
                <a:cs typeface="Calibri" panose="020F0502020204030204" charset="0"/>
              </a:rPr>
              <a:t>赵玲</a:t>
            </a:r>
            <a:r>
              <a:rPr lang="en-US" altLang="zh-CN" dirty="0">
                <a:solidFill>
                  <a:srgbClr val="FF0000"/>
                </a:solidFill>
                <a:latin typeface="Calibri" panose="020F0502020204030204" charset="0"/>
                <a:cs typeface="Calibri" panose="020F0502020204030204" charset="0"/>
              </a:rPr>
              <a:t>;</a:t>
            </a:r>
            <a:endParaRPr lang="zh-CN" altLang="en-US" dirty="0">
              <a:solidFill>
                <a:srgbClr val="FF0000"/>
              </a:solidFill>
              <a:latin typeface="Calibri" panose="020F0502020204030204" charset="0"/>
              <a:cs typeface="Calibri" panose="020F0502020204030204" charset="0"/>
            </a:endParaRPr>
          </a:p>
          <a:p>
            <a:pPr lvl="1">
              <a:lnSpc>
                <a:spcPct val="100000"/>
              </a:lnSpc>
              <a:spcBef>
                <a:spcPts val="2000"/>
              </a:spcBef>
            </a:pPr>
            <a:r>
              <a:rPr lang="zh-CN" altLang="en-US" dirty="0">
                <a:latin typeface="Calibri" panose="020F0502020204030204" charset="0"/>
                <a:cs typeface="Calibri" panose="020F0502020204030204" charset="0"/>
              </a:rPr>
              <a:t>可以一次性通过</a:t>
            </a:r>
            <a:r>
              <a:rPr lang="en-US" altLang="zh-CN" dirty="0">
                <a:latin typeface="Calibri" panose="020F0502020204030204" charset="0"/>
                <a:cs typeface="Calibri" panose="020F0502020204030204" charset="0"/>
              </a:rPr>
              <a:t>R1</a:t>
            </a:r>
            <a:r>
              <a:rPr lang="zh-CN" altLang="en-US" dirty="0">
                <a:latin typeface="Calibri" panose="020F0502020204030204" charset="0"/>
                <a:cs typeface="Calibri" panose="020F0502020204030204" charset="0"/>
              </a:rPr>
              <a:t>来回收王平的这</a:t>
            </a:r>
            <a:r>
              <a:rPr lang="en-US" altLang="zh-CN" dirty="0">
                <a:latin typeface="Calibri" panose="020F0502020204030204" charset="0"/>
                <a:cs typeface="Calibri" panose="020F0502020204030204" charset="0"/>
              </a:rPr>
              <a:t>3</a:t>
            </a:r>
            <a:r>
              <a:rPr lang="zh-CN" altLang="en-US" dirty="0">
                <a:latin typeface="Calibri" panose="020F0502020204030204" charset="0"/>
                <a:cs typeface="Calibri" panose="020F0502020204030204" charset="0"/>
              </a:rPr>
              <a:t>个权限</a:t>
            </a:r>
          </a:p>
          <a:p>
            <a:pPr marL="363855" lvl="1" indent="1073785">
              <a:lnSpc>
                <a:spcPct val="100000"/>
              </a:lnSpc>
              <a:spcBef>
                <a:spcPct val="0"/>
              </a:spcBef>
              <a:buNone/>
            </a:pPr>
            <a:r>
              <a:rPr lang="en-US" altLang="zh-CN" dirty="0">
                <a:solidFill>
                  <a:srgbClr val="FF0000"/>
                </a:solidFill>
                <a:latin typeface="Calibri" panose="020F0502020204030204" charset="0"/>
                <a:cs typeface="Calibri" panose="020F0502020204030204" charset="0"/>
              </a:rPr>
              <a:t>REVOKE  R1  FROM  </a:t>
            </a:r>
            <a:r>
              <a:rPr lang="zh-CN" altLang="en-US" dirty="0">
                <a:solidFill>
                  <a:srgbClr val="FF0000"/>
                </a:solidFill>
                <a:latin typeface="Calibri" panose="020F0502020204030204" charset="0"/>
                <a:cs typeface="Calibri" panose="020F0502020204030204" charset="0"/>
              </a:rPr>
              <a:t>王平</a:t>
            </a:r>
            <a:r>
              <a:rPr lang="en-US" altLang="zh-CN" dirty="0">
                <a:solidFill>
                  <a:srgbClr val="FF0000"/>
                </a:solidFill>
                <a:latin typeface="Calibri" panose="020F0502020204030204" charset="0"/>
                <a:cs typeface="Calibri" panose="020F0502020204030204" charset="0"/>
              </a:rPr>
              <a:t>;</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49</a:t>
            </a:fld>
            <a:endParaRPr lang="zh-CN" altLang="en-US"/>
          </a:p>
        </p:txBody>
      </p:sp>
      <p:sp>
        <p:nvSpPr>
          <p:cNvPr id="3" name="页脚占位符 2"/>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3732">
                                            <p:txEl>
                                              <p:pRg st="1" end="1"/>
                                            </p:txEl>
                                          </p:spTgt>
                                        </p:tgtEl>
                                        <p:attrNameLst>
                                          <p:attrName>style.visibility</p:attrName>
                                        </p:attrNameLst>
                                      </p:cBhvr>
                                      <p:to>
                                        <p:strVal val="visible"/>
                                      </p:to>
                                    </p:set>
                                    <p:animEffect transition="in" filter="blinds(horizontal)">
                                      <p:cBhvr>
                                        <p:cTn id="7" dur="500"/>
                                        <p:tgtEl>
                                          <p:spTgt spid="73732">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3732">
                                            <p:txEl>
                                              <p:pRg st="2" end="2"/>
                                            </p:txEl>
                                          </p:spTgt>
                                        </p:tgtEl>
                                        <p:attrNameLst>
                                          <p:attrName>style.visibility</p:attrName>
                                        </p:attrNameLst>
                                      </p:cBhvr>
                                      <p:to>
                                        <p:strVal val="visible"/>
                                      </p:to>
                                    </p:set>
                                    <p:animEffect transition="in" filter="blinds(horizontal)">
                                      <p:cBhvr>
                                        <p:cTn id="10" dur="500"/>
                                        <p:tgtEl>
                                          <p:spTgt spid="73732">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73732">
                                            <p:txEl>
                                              <p:pRg st="3" end="3"/>
                                            </p:txEl>
                                          </p:spTgt>
                                        </p:tgtEl>
                                        <p:attrNameLst>
                                          <p:attrName>style.visibility</p:attrName>
                                        </p:attrNameLst>
                                      </p:cBhvr>
                                      <p:to>
                                        <p:strVal val="visible"/>
                                      </p:to>
                                    </p:set>
                                    <p:animEffect transition="in" filter="blinds(horizontal)">
                                      <p:cBhvr>
                                        <p:cTn id="15" dur="500"/>
                                        <p:tgtEl>
                                          <p:spTgt spid="73732">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73732">
                                            <p:txEl>
                                              <p:pRg st="4" end="4"/>
                                            </p:txEl>
                                          </p:spTgt>
                                        </p:tgtEl>
                                        <p:attrNameLst>
                                          <p:attrName>style.visibility</p:attrName>
                                        </p:attrNameLst>
                                      </p:cBhvr>
                                      <p:to>
                                        <p:strVal val="visible"/>
                                      </p:to>
                                    </p:set>
                                    <p:animEffect transition="in" filter="blinds(horizontal)">
                                      <p:cBhvr>
                                        <p:cTn id="18" dur="500"/>
                                        <p:tgtEl>
                                          <p:spTgt spid="73732">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73732">
                                            <p:txEl>
                                              <p:pRg st="5" end="5"/>
                                            </p:txEl>
                                          </p:spTgt>
                                        </p:tgtEl>
                                        <p:attrNameLst>
                                          <p:attrName>style.visibility</p:attrName>
                                        </p:attrNameLst>
                                      </p:cBhvr>
                                      <p:to>
                                        <p:strVal val="visible"/>
                                      </p:to>
                                    </p:set>
                                    <p:animEffect transition="in" filter="blinds(horizontal)">
                                      <p:cBhvr>
                                        <p:cTn id="23" dur="500"/>
                                        <p:tgtEl>
                                          <p:spTgt spid="73732">
                                            <p:txEl>
                                              <p:pRg st="5" end="5"/>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73732">
                                            <p:txEl>
                                              <p:pRg st="6" end="6"/>
                                            </p:txEl>
                                          </p:spTgt>
                                        </p:tgtEl>
                                        <p:attrNameLst>
                                          <p:attrName>style.visibility</p:attrName>
                                        </p:attrNameLst>
                                      </p:cBhvr>
                                      <p:to>
                                        <p:strVal val="visible"/>
                                      </p:to>
                                    </p:set>
                                    <p:animEffect transition="in" filter="blinds(horizontal)">
                                      <p:cBhvr>
                                        <p:cTn id="26" dur="500"/>
                                        <p:tgtEl>
                                          <p:spTgt spid="73732">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73732">
                                            <p:txEl>
                                              <p:pRg st="7" end="7"/>
                                            </p:txEl>
                                          </p:spTgt>
                                        </p:tgtEl>
                                        <p:attrNameLst>
                                          <p:attrName>style.visibility</p:attrName>
                                        </p:attrNameLst>
                                      </p:cBhvr>
                                      <p:to>
                                        <p:strVal val="visible"/>
                                      </p:to>
                                    </p:set>
                                    <p:animEffect transition="in" filter="blinds(horizontal)">
                                      <p:cBhvr>
                                        <p:cTn id="31" dur="500"/>
                                        <p:tgtEl>
                                          <p:spTgt spid="73732">
                                            <p:txEl>
                                              <p:pRg st="7" end="7"/>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73732">
                                            <p:txEl>
                                              <p:pRg st="8" end="8"/>
                                            </p:txEl>
                                          </p:spTgt>
                                        </p:tgtEl>
                                        <p:attrNameLst>
                                          <p:attrName>style.visibility</p:attrName>
                                        </p:attrNameLst>
                                      </p:cBhvr>
                                      <p:to>
                                        <p:strVal val="visible"/>
                                      </p:to>
                                    </p:set>
                                    <p:animEffect transition="in" filter="blinds(horizontal)">
                                      <p:cBhvr>
                                        <p:cTn id="34" dur="500"/>
                                        <p:tgtEl>
                                          <p:spTgt spid="7373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75779" name="Rectangle 2"/>
          <p:cNvSpPr>
            <a:spLocks noGrp="1" noChangeArrowheads="1"/>
          </p:cNvSpPr>
          <p:nvPr>
            <p:ph type="title"/>
          </p:nvPr>
        </p:nvSpPr>
        <p:spPr/>
        <p:txBody>
          <a:bodyPr/>
          <a:lstStyle/>
          <a:p>
            <a:r>
              <a:rPr lang="en-US" altLang="zh-CN" dirty="0">
                <a:sym typeface="+mn-ea"/>
              </a:rPr>
              <a:t>4.2.5  </a:t>
            </a:r>
            <a:r>
              <a:rPr lang="zh-CN" altLang="zh-CN" dirty="0"/>
              <a:t>数据库角色</a:t>
            </a:r>
            <a:r>
              <a:rPr lang="en-US" altLang="zh-CN" dirty="0"/>
              <a:t> 6</a:t>
            </a:r>
            <a:endParaRPr lang="zh-CN" altLang="zh-CN" dirty="0"/>
          </a:p>
        </p:txBody>
      </p:sp>
      <p:sp>
        <p:nvSpPr>
          <p:cNvPr id="75780" name="Rectangle 3"/>
          <p:cNvSpPr>
            <a:spLocks noGrp="1" noChangeArrowheads="1"/>
          </p:cNvSpPr>
          <p:nvPr>
            <p:ph idx="1"/>
          </p:nvPr>
        </p:nvSpPr>
        <p:spPr>
          <a:xfrm>
            <a:off x="424180" y="687070"/>
            <a:ext cx="11343005" cy="521970"/>
          </a:xfrm>
        </p:spPr>
        <p:txBody>
          <a:bodyPr>
            <a:noAutofit/>
          </a:bodyPr>
          <a:lstStyle/>
          <a:p>
            <a:pPr>
              <a:lnSpc>
                <a:spcPct val="100000"/>
              </a:lnSpc>
              <a:spcBef>
                <a:spcPct val="0"/>
              </a:spcBef>
            </a:pPr>
            <a:r>
              <a:rPr lang="zh-CN" altLang="en-US" sz="2800" dirty="0">
                <a:latin typeface="Calibri" panose="020F0502020204030204" charset="0"/>
                <a:cs typeface="Calibri" panose="020F0502020204030204" charset="0"/>
                <a:sym typeface="+mn-ea"/>
              </a:rPr>
              <a:t>角色的权限修改</a:t>
            </a:r>
            <a:endParaRPr lang="zh-CN" altLang="en-US" sz="2800" dirty="0">
              <a:solidFill>
                <a:srgbClr val="FF0000"/>
              </a:solidFill>
              <a:latin typeface="Calibri" panose="020F0502020204030204" charset="0"/>
              <a:cs typeface="Calibri" panose="020F0502020204030204" charset="0"/>
            </a:endParaRPr>
          </a:p>
        </p:txBody>
      </p:sp>
      <p:sp>
        <p:nvSpPr>
          <p:cNvPr id="2" name="灯片编号占位符 1"/>
          <p:cNvSpPr>
            <a:spLocks noGrp="1"/>
          </p:cNvSpPr>
          <p:nvPr>
            <p:ph type="sldNum" sz="quarter" idx="12"/>
          </p:nvPr>
        </p:nvSpPr>
        <p:spPr/>
        <p:txBody>
          <a:bodyPr/>
          <a:lstStyle/>
          <a:p>
            <a:fld id="{565CE74E-AB26-4998-AD42-012C4C1AD076}" type="slidenum">
              <a:rPr lang="zh-CN" altLang="en-US" smtClean="0"/>
              <a:t>50</a:t>
            </a:fld>
            <a:endParaRPr lang="zh-CN" altLang="en-US"/>
          </a:p>
        </p:txBody>
      </p:sp>
      <p:sp>
        <p:nvSpPr>
          <p:cNvPr id="3" name="页脚占位符 2"/>
          <p:cNvSpPr>
            <a:spLocks noGrp="1"/>
          </p:cNvSpPr>
          <p:nvPr>
            <p:ph type="ftr" sz="quarter" idx="11"/>
          </p:nvPr>
        </p:nvSpPr>
        <p:spPr/>
        <p:txBody>
          <a:bodyPr/>
          <a:lstStyle/>
          <a:p>
            <a:r>
              <a:rPr lang="zh-CN" altLang="en-US"/>
              <a:t>ch04_数据库安全性</a:t>
            </a:r>
          </a:p>
        </p:txBody>
      </p:sp>
      <p:sp>
        <p:nvSpPr>
          <p:cNvPr id="4" name="Rectangle 3"/>
          <p:cNvSpPr>
            <a:spLocks noGrp="1" noChangeArrowheads="1"/>
          </p:cNvSpPr>
          <p:nvPr/>
        </p:nvSpPr>
        <p:spPr>
          <a:xfrm>
            <a:off x="424180" y="1300480"/>
            <a:ext cx="11343005" cy="521970"/>
          </a:xfrm>
          <a:prstGeom prst="rect">
            <a:avLst/>
          </a:prstGeom>
          <a:solidFill>
            <a:schemeClr val="accent3">
              <a:lumMod val="20000"/>
              <a:lumOff val="80000"/>
              <a:alpha val="50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ct val="0"/>
              </a:spcBef>
              <a:buNone/>
            </a:pP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例4.</a:t>
            </a:r>
            <a:r>
              <a:rPr lang="en-US" altLang="zh-CN" sz="2800" dirty="0">
                <a:latin typeface="Calibri" panose="020F0502020204030204" charset="0"/>
                <a:cs typeface="Calibri" panose="020F0502020204030204" charset="0"/>
              </a:rPr>
              <a:t>12]</a:t>
            </a:r>
            <a:r>
              <a:rPr lang="zh-CN" altLang="en-US" sz="2800" dirty="0">
                <a:latin typeface="Calibri" panose="020F0502020204030204" charset="0"/>
                <a:cs typeface="Calibri" panose="020F0502020204030204" charset="0"/>
              </a:rPr>
              <a:t> </a:t>
            </a:r>
            <a:r>
              <a:rPr lang="zh-CN" altLang="zh-CN" sz="2800" dirty="0">
                <a:latin typeface="Calibri" panose="020F0502020204030204" charset="0"/>
                <a:cs typeface="Calibri" panose="020F0502020204030204" charset="0"/>
                <a:sym typeface="+mn-ea"/>
              </a:rPr>
              <a:t>使角色</a:t>
            </a:r>
            <a:r>
              <a:rPr lang="en-US" altLang="zh-CN" sz="2800" dirty="0">
                <a:latin typeface="Calibri" panose="020F0502020204030204" charset="0"/>
                <a:cs typeface="Calibri" panose="020F0502020204030204" charset="0"/>
                <a:sym typeface="+mn-ea"/>
              </a:rPr>
              <a:t>R1</a:t>
            </a:r>
            <a:r>
              <a:rPr lang="zh-CN" altLang="zh-CN" sz="2800" dirty="0">
                <a:latin typeface="Calibri" panose="020F0502020204030204" charset="0"/>
                <a:cs typeface="Calibri" panose="020F0502020204030204" charset="0"/>
                <a:sym typeface="+mn-ea"/>
              </a:rPr>
              <a:t>在原来的基础上增加</a:t>
            </a:r>
            <a:r>
              <a:rPr lang="en-US" altLang="zh-CN" sz="2800" dirty="0">
                <a:latin typeface="Calibri" panose="020F0502020204030204" charset="0"/>
                <a:cs typeface="Calibri" panose="020F0502020204030204" charset="0"/>
                <a:sym typeface="+mn-ea"/>
              </a:rPr>
              <a:t>Student</a:t>
            </a:r>
            <a:r>
              <a:rPr lang="zh-CN" altLang="zh-CN" sz="2800" dirty="0">
                <a:latin typeface="Calibri" panose="020F0502020204030204" charset="0"/>
                <a:cs typeface="Calibri" panose="020F0502020204030204" charset="0"/>
                <a:sym typeface="+mn-ea"/>
              </a:rPr>
              <a:t>表的</a:t>
            </a:r>
            <a:r>
              <a:rPr lang="en-US" altLang="zh-CN" sz="2800" dirty="0">
                <a:latin typeface="Calibri" panose="020F0502020204030204" charset="0"/>
                <a:cs typeface="Calibri" panose="020F0502020204030204" charset="0"/>
                <a:sym typeface="+mn-ea"/>
              </a:rPr>
              <a:t>DELETE </a:t>
            </a:r>
            <a:r>
              <a:rPr lang="zh-CN" altLang="zh-CN" sz="2800" dirty="0">
                <a:latin typeface="Calibri" panose="020F0502020204030204" charset="0"/>
                <a:cs typeface="Calibri" panose="020F0502020204030204" charset="0"/>
                <a:sym typeface="+mn-ea"/>
              </a:rPr>
              <a:t>权限；</a:t>
            </a:r>
            <a:endParaRPr lang="zh-CN" altLang="en-US" sz="2800" dirty="0">
              <a:solidFill>
                <a:srgbClr val="FF0000"/>
              </a:solidFill>
              <a:latin typeface="Calibri" panose="020F0502020204030204" charset="0"/>
              <a:cs typeface="Calibri" panose="020F0502020204030204" charset="0"/>
            </a:endParaRPr>
          </a:p>
        </p:txBody>
      </p:sp>
      <p:sp>
        <p:nvSpPr>
          <p:cNvPr id="5" name="Rectangle 3"/>
          <p:cNvSpPr>
            <a:spLocks noGrp="1" noChangeArrowheads="1"/>
          </p:cNvSpPr>
          <p:nvPr/>
        </p:nvSpPr>
        <p:spPr>
          <a:xfrm>
            <a:off x="424180" y="1926590"/>
            <a:ext cx="11343005" cy="1640205"/>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3855" lvl="1" indent="893445" fontAlgn="auto">
              <a:lnSpc>
                <a:spcPct val="100000"/>
              </a:lnSpc>
              <a:spcBef>
                <a:spcPct val="0"/>
              </a:spcBef>
              <a:buNone/>
            </a:pPr>
            <a:r>
              <a:rPr lang="en-US" altLang="zh-CN" sz="2800" dirty="0">
                <a:solidFill>
                  <a:srgbClr val="FF0000"/>
                </a:solidFill>
                <a:latin typeface="Calibri" panose="020F0502020204030204" charset="0"/>
                <a:cs typeface="Calibri" panose="020F0502020204030204" charset="0"/>
              </a:rPr>
              <a:t>GRANT  DELETE  ON  TABLE  Student  TO  R1;</a:t>
            </a:r>
          </a:p>
          <a:p>
            <a:pPr lvl="1" indent="-331470" fontAlgn="auto">
              <a:lnSpc>
                <a:spcPct val="100000"/>
              </a:lnSpc>
              <a:spcBef>
                <a:spcPts val="2000"/>
              </a:spcBef>
            </a:pPr>
            <a:r>
              <a:rPr lang="zh-CN" altLang="zh-CN" sz="2800" dirty="0">
                <a:latin typeface="Calibri" panose="020F0502020204030204" charset="0"/>
                <a:cs typeface="Calibri" panose="020F0502020204030204" charset="0"/>
              </a:rPr>
              <a:t>具有角色</a:t>
            </a:r>
            <a:r>
              <a:rPr lang="en-US" altLang="zh-CN" sz="2800" dirty="0">
                <a:latin typeface="Calibri" panose="020F0502020204030204" charset="0"/>
                <a:cs typeface="Calibri" panose="020F0502020204030204" charset="0"/>
              </a:rPr>
              <a:t>R1</a:t>
            </a:r>
            <a:r>
              <a:rPr lang="zh-CN" altLang="en-US" sz="2800" dirty="0">
                <a:latin typeface="Calibri" panose="020F0502020204030204" charset="0"/>
                <a:cs typeface="Calibri" panose="020F0502020204030204" charset="0"/>
              </a:rPr>
              <a:t>的用户张明和赵玲</a:t>
            </a:r>
            <a:r>
              <a:rPr lang="zh-CN" altLang="zh-CN" sz="2800" dirty="0">
                <a:latin typeface="Calibri" panose="020F0502020204030204" charset="0"/>
                <a:cs typeface="Calibri" panose="020F0502020204030204" charset="0"/>
              </a:rPr>
              <a:t>也自然增加了</a:t>
            </a:r>
            <a:r>
              <a:rPr lang="en-US" altLang="zh-CN" sz="2800" dirty="0">
                <a:latin typeface="Calibri" panose="020F0502020204030204" charset="0"/>
                <a:cs typeface="Calibri" panose="020F0502020204030204" charset="0"/>
              </a:rPr>
              <a:t>Student</a:t>
            </a:r>
            <a:r>
              <a:rPr lang="zh-CN" altLang="zh-CN" sz="2800" dirty="0">
                <a:latin typeface="Calibri" panose="020F0502020204030204" charset="0"/>
                <a:cs typeface="Calibri" panose="020F0502020204030204" charset="0"/>
              </a:rPr>
              <a:t>表的</a:t>
            </a:r>
            <a:r>
              <a:rPr lang="en-US" altLang="zh-CN" sz="2800" dirty="0">
                <a:latin typeface="Calibri" panose="020F0502020204030204" charset="0"/>
                <a:cs typeface="Calibri" panose="020F0502020204030204" charset="0"/>
              </a:rPr>
              <a:t>DELETE </a:t>
            </a:r>
            <a:r>
              <a:rPr lang="zh-CN" altLang="zh-CN" sz="2800" dirty="0">
                <a:latin typeface="Calibri" panose="020F0502020204030204" charset="0"/>
                <a:cs typeface="Calibri" panose="020F0502020204030204" charset="0"/>
              </a:rPr>
              <a:t>权限（拥有</a:t>
            </a:r>
            <a:r>
              <a:rPr lang="en-US" altLang="zh-CN" sz="2800" dirty="0">
                <a:latin typeface="Calibri" panose="020F0502020204030204" charset="0"/>
                <a:cs typeface="Calibri" panose="020F0502020204030204" charset="0"/>
                <a:sym typeface="+mn-ea"/>
              </a:rPr>
              <a:t>Student</a:t>
            </a:r>
            <a:r>
              <a:rPr lang="zh-CN" altLang="zh-CN" sz="2800" dirty="0">
                <a:latin typeface="Calibri" panose="020F0502020204030204" charset="0"/>
                <a:cs typeface="Calibri" panose="020F0502020204030204" charset="0"/>
                <a:sym typeface="+mn-ea"/>
              </a:rPr>
              <a:t>表的</a:t>
            </a:r>
            <a:r>
              <a:rPr lang="en-US" altLang="zh-CN" sz="2800" dirty="0">
                <a:latin typeface="Calibri" panose="020F0502020204030204" charset="0"/>
                <a:cs typeface="Calibri" panose="020F0502020204030204" charset="0"/>
                <a:sym typeface="+mn-ea"/>
              </a:rPr>
              <a:t>SELECT</a:t>
            </a:r>
            <a:r>
              <a:rPr lang="zh-CN" altLang="en-US" sz="2800" dirty="0">
                <a:latin typeface="Calibri" panose="020F0502020204030204" charset="0"/>
                <a:cs typeface="Calibri" panose="020F0502020204030204" charset="0"/>
                <a:sym typeface="+mn-ea"/>
              </a:rPr>
              <a:t>、</a:t>
            </a:r>
            <a:r>
              <a:rPr lang="en-US" altLang="zh-CN" sz="2800" dirty="0">
                <a:latin typeface="Calibri" panose="020F0502020204030204" charset="0"/>
                <a:cs typeface="Calibri" panose="020F0502020204030204" charset="0"/>
                <a:sym typeface="+mn-ea"/>
              </a:rPr>
              <a:t>UPDATE</a:t>
            </a:r>
            <a:r>
              <a:rPr lang="zh-CN" altLang="en-US" sz="2800" dirty="0">
                <a:latin typeface="Calibri" panose="020F0502020204030204" charset="0"/>
                <a:cs typeface="Calibri" panose="020F0502020204030204" charset="0"/>
                <a:sym typeface="+mn-ea"/>
              </a:rPr>
              <a:t>、</a:t>
            </a:r>
            <a:r>
              <a:rPr lang="en-US" altLang="zh-CN" sz="2800" dirty="0">
                <a:latin typeface="Calibri" panose="020F0502020204030204" charset="0"/>
                <a:cs typeface="Calibri" panose="020F0502020204030204" charset="0"/>
                <a:sym typeface="+mn-ea"/>
              </a:rPr>
              <a:t>INSERT</a:t>
            </a:r>
            <a:r>
              <a:rPr lang="zh-CN" altLang="en-US" sz="2800" dirty="0">
                <a:latin typeface="Calibri" panose="020F0502020204030204" charset="0"/>
                <a:cs typeface="Calibri" panose="020F0502020204030204" charset="0"/>
                <a:sym typeface="+mn-ea"/>
              </a:rPr>
              <a:t>及</a:t>
            </a:r>
            <a:r>
              <a:rPr lang="en-US" altLang="zh-CN" sz="2800" dirty="0">
                <a:latin typeface="Calibri" panose="020F0502020204030204" charset="0"/>
                <a:cs typeface="Calibri" panose="020F0502020204030204" charset="0"/>
                <a:sym typeface="+mn-ea"/>
              </a:rPr>
              <a:t>DELETE </a:t>
            </a:r>
            <a:r>
              <a:rPr lang="zh-CN" altLang="zh-CN" sz="2800" dirty="0">
                <a:latin typeface="Calibri" panose="020F0502020204030204" charset="0"/>
                <a:cs typeface="Calibri" panose="020F0502020204030204" charset="0"/>
                <a:sym typeface="+mn-ea"/>
              </a:rPr>
              <a:t>权限）</a:t>
            </a:r>
            <a:endParaRPr lang="zh-CN" altLang="en-US" sz="2800" dirty="0">
              <a:solidFill>
                <a:srgbClr val="FF0000"/>
              </a:solidFill>
              <a:latin typeface="Calibri" panose="020F0502020204030204" charset="0"/>
              <a:cs typeface="Calibri" panose="020F0502020204030204" charset="0"/>
            </a:endParaRPr>
          </a:p>
        </p:txBody>
      </p:sp>
      <p:sp>
        <p:nvSpPr>
          <p:cNvPr id="6" name="Rectangle 3"/>
          <p:cNvSpPr>
            <a:spLocks noGrp="1" noChangeArrowheads="1"/>
          </p:cNvSpPr>
          <p:nvPr/>
        </p:nvSpPr>
        <p:spPr>
          <a:xfrm>
            <a:off x="424180" y="4062095"/>
            <a:ext cx="11343005" cy="521970"/>
          </a:xfrm>
          <a:prstGeom prst="rect">
            <a:avLst/>
          </a:prstGeom>
          <a:solidFill>
            <a:schemeClr val="accent3">
              <a:lumMod val="20000"/>
              <a:lumOff val="80000"/>
              <a:alpha val="50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ct val="0"/>
              </a:spcBef>
              <a:buNone/>
            </a:pP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例4.</a:t>
            </a:r>
            <a:r>
              <a:rPr lang="en-US" altLang="zh-CN" sz="2800" dirty="0">
                <a:latin typeface="Calibri" panose="020F0502020204030204" charset="0"/>
                <a:cs typeface="Calibri" panose="020F0502020204030204" charset="0"/>
              </a:rPr>
              <a:t>13] </a:t>
            </a:r>
            <a:r>
              <a:rPr lang="zh-CN" altLang="zh-CN" sz="2800" dirty="0">
                <a:latin typeface="Calibri" panose="020F0502020204030204" charset="0"/>
                <a:cs typeface="Calibri" panose="020F0502020204030204" charset="0"/>
              </a:rPr>
              <a:t>使角色</a:t>
            </a:r>
            <a:r>
              <a:rPr lang="en-US" altLang="zh-CN" sz="2800" dirty="0">
                <a:latin typeface="Calibri" panose="020F0502020204030204" charset="0"/>
                <a:cs typeface="Calibri" panose="020F0502020204030204" charset="0"/>
              </a:rPr>
              <a:t>R1</a:t>
            </a:r>
            <a:r>
              <a:rPr lang="zh-CN" altLang="zh-CN" sz="2800" dirty="0">
                <a:latin typeface="Calibri" panose="020F0502020204030204" charset="0"/>
                <a:cs typeface="Calibri" panose="020F0502020204030204" charset="0"/>
              </a:rPr>
              <a:t>减少</a:t>
            </a:r>
            <a:r>
              <a:rPr lang="en-US" altLang="zh-CN" sz="2800" dirty="0">
                <a:latin typeface="Calibri" panose="020F0502020204030204" charset="0"/>
                <a:cs typeface="Calibri" panose="020F0502020204030204" charset="0"/>
                <a:sym typeface="+mn-ea"/>
              </a:rPr>
              <a:t>Student</a:t>
            </a:r>
            <a:r>
              <a:rPr lang="zh-CN" altLang="zh-CN" sz="2800" dirty="0">
                <a:latin typeface="Calibri" panose="020F0502020204030204" charset="0"/>
                <a:cs typeface="Calibri" panose="020F0502020204030204" charset="0"/>
                <a:sym typeface="+mn-ea"/>
              </a:rPr>
              <a:t>表的</a:t>
            </a:r>
            <a:r>
              <a:rPr lang="en-US" altLang="zh-CN" sz="2800" dirty="0">
                <a:latin typeface="Calibri" panose="020F0502020204030204" charset="0"/>
                <a:cs typeface="Calibri" panose="020F0502020204030204" charset="0"/>
              </a:rPr>
              <a:t>SELECT</a:t>
            </a:r>
            <a:r>
              <a:rPr lang="zh-CN" altLang="zh-CN" sz="2800" dirty="0">
                <a:latin typeface="Calibri" panose="020F0502020204030204" charset="0"/>
                <a:cs typeface="Calibri" panose="020F0502020204030204" charset="0"/>
              </a:rPr>
              <a:t>权限；</a:t>
            </a:r>
            <a:endParaRPr lang="zh-CN" altLang="en-US" sz="2800" dirty="0">
              <a:solidFill>
                <a:srgbClr val="FF0000"/>
              </a:solidFill>
              <a:latin typeface="Calibri" panose="020F0502020204030204" charset="0"/>
              <a:cs typeface="Calibri" panose="020F0502020204030204" charset="0"/>
            </a:endParaRPr>
          </a:p>
        </p:txBody>
      </p:sp>
      <p:sp>
        <p:nvSpPr>
          <p:cNvPr id="7" name="Rectangle 3"/>
          <p:cNvSpPr>
            <a:spLocks noGrp="1" noChangeArrowheads="1"/>
          </p:cNvSpPr>
          <p:nvPr/>
        </p:nvSpPr>
        <p:spPr>
          <a:xfrm>
            <a:off x="424180" y="4644390"/>
            <a:ext cx="11343005" cy="1640205"/>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3855" lvl="1" indent="882650" fontAlgn="auto">
              <a:lnSpc>
                <a:spcPct val="100000"/>
              </a:lnSpc>
              <a:spcBef>
                <a:spcPct val="0"/>
              </a:spcBef>
              <a:buNone/>
            </a:pPr>
            <a:r>
              <a:rPr lang="en-US" altLang="zh-CN" sz="2800" dirty="0">
                <a:solidFill>
                  <a:srgbClr val="FF0000"/>
                </a:solidFill>
                <a:latin typeface="Calibri" panose="020F0502020204030204" charset="0"/>
                <a:cs typeface="Calibri" panose="020F0502020204030204" charset="0"/>
              </a:rPr>
              <a:t>REVOKE  SELECT  ON  TABLE  Student  FROM  R1;</a:t>
            </a:r>
          </a:p>
          <a:p>
            <a:pPr marL="704850" lvl="1" indent="-340360" fontAlgn="auto">
              <a:lnSpc>
                <a:spcPct val="100000"/>
              </a:lnSpc>
              <a:spcBef>
                <a:spcPts val="2000"/>
              </a:spcBef>
            </a:pPr>
            <a:r>
              <a:rPr lang="zh-CN" altLang="zh-CN" sz="2800" dirty="0">
                <a:latin typeface="Calibri" panose="020F0502020204030204" charset="0"/>
                <a:cs typeface="Calibri" panose="020F0502020204030204" charset="0"/>
                <a:sym typeface="+mn-ea"/>
              </a:rPr>
              <a:t>具有角色</a:t>
            </a:r>
            <a:r>
              <a:rPr lang="en-US" altLang="zh-CN" sz="2800" dirty="0">
                <a:latin typeface="Calibri" panose="020F0502020204030204" charset="0"/>
                <a:cs typeface="Calibri" panose="020F0502020204030204" charset="0"/>
                <a:sym typeface="+mn-ea"/>
              </a:rPr>
              <a:t>R1</a:t>
            </a:r>
            <a:r>
              <a:rPr lang="zh-CN" altLang="en-US" sz="2800" dirty="0">
                <a:latin typeface="Calibri" panose="020F0502020204030204" charset="0"/>
                <a:cs typeface="Calibri" panose="020F0502020204030204" charset="0"/>
                <a:sym typeface="+mn-ea"/>
              </a:rPr>
              <a:t>的用户张明和赵玲</a:t>
            </a:r>
            <a:r>
              <a:rPr lang="zh-CN" altLang="zh-CN" sz="2800" dirty="0">
                <a:latin typeface="Calibri" panose="020F0502020204030204" charset="0"/>
                <a:cs typeface="Calibri" panose="020F0502020204030204" charset="0"/>
                <a:sym typeface="+mn-ea"/>
              </a:rPr>
              <a:t>只有</a:t>
            </a:r>
            <a:r>
              <a:rPr lang="en-US" altLang="zh-CN" sz="2800" dirty="0">
                <a:latin typeface="Calibri" panose="020F0502020204030204" charset="0"/>
                <a:cs typeface="Calibri" panose="020F0502020204030204" charset="0"/>
                <a:sym typeface="+mn-ea"/>
              </a:rPr>
              <a:t>Student</a:t>
            </a:r>
            <a:r>
              <a:rPr lang="zh-CN" altLang="zh-CN" sz="2800" dirty="0">
                <a:latin typeface="Calibri" panose="020F0502020204030204" charset="0"/>
                <a:cs typeface="Calibri" panose="020F0502020204030204" charset="0"/>
                <a:sym typeface="+mn-ea"/>
              </a:rPr>
              <a:t>表的</a:t>
            </a:r>
            <a:r>
              <a:rPr lang="en-US" altLang="zh-CN" sz="2800" dirty="0">
                <a:latin typeface="Calibri" panose="020F0502020204030204" charset="0"/>
                <a:cs typeface="Calibri" panose="020F0502020204030204" charset="0"/>
                <a:sym typeface="+mn-ea"/>
              </a:rPr>
              <a:t>UPDATE</a:t>
            </a:r>
            <a:r>
              <a:rPr lang="zh-CN" altLang="en-US" sz="2800" dirty="0">
                <a:latin typeface="Calibri" panose="020F0502020204030204" charset="0"/>
                <a:cs typeface="Calibri" panose="020F0502020204030204" charset="0"/>
                <a:sym typeface="+mn-ea"/>
              </a:rPr>
              <a:t>、</a:t>
            </a:r>
            <a:r>
              <a:rPr lang="en-US" altLang="zh-CN" sz="2800" dirty="0">
                <a:latin typeface="Calibri" panose="020F0502020204030204" charset="0"/>
                <a:cs typeface="Calibri" panose="020F0502020204030204" charset="0"/>
                <a:sym typeface="+mn-ea"/>
              </a:rPr>
              <a:t>INSERT</a:t>
            </a:r>
            <a:r>
              <a:rPr lang="zh-CN" altLang="en-US" sz="2800" dirty="0">
                <a:latin typeface="Calibri" panose="020F0502020204030204" charset="0"/>
                <a:cs typeface="Calibri" panose="020F0502020204030204" charset="0"/>
                <a:sym typeface="+mn-ea"/>
              </a:rPr>
              <a:t>及</a:t>
            </a:r>
            <a:r>
              <a:rPr lang="en-US" altLang="zh-CN" sz="2800" dirty="0">
                <a:latin typeface="Calibri" panose="020F0502020204030204" charset="0"/>
                <a:cs typeface="Calibri" panose="020F0502020204030204" charset="0"/>
                <a:sym typeface="+mn-ea"/>
              </a:rPr>
              <a:t>DELETE </a:t>
            </a:r>
            <a:r>
              <a:rPr lang="zh-CN" altLang="zh-CN" sz="2800" dirty="0">
                <a:latin typeface="Calibri" panose="020F0502020204030204" charset="0"/>
                <a:cs typeface="Calibri" panose="020F0502020204030204" charset="0"/>
                <a:sym typeface="+mn-ea"/>
              </a:rPr>
              <a:t>权限</a:t>
            </a:r>
            <a:endParaRPr lang="zh-CN" altLang="en-US" sz="2800" dirty="0">
              <a:solidFill>
                <a:srgbClr val="FF0000"/>
              </a:solidFill>
              <a:latin typeface="Calibri" panose="020F0502020204030204" charset="0"/>
              <a:cs typeface="Calibri" panose="020F0502020204030204"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blinds(horizontal)">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blinds(horizontal)">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blinds(horizontal)">
                                      <p:cBhvr>
                                        <p:cTn id="27" dur="500"/>
                                        <p:tgtEl>
                                          <p:spTgt spid="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
                                            <p:txEl>
                                              <p:pRg st="1" end="1"/>
                                            </p:txEl>
                                          </p:spTgt>
                                        </p:tgtEl>
                                        <p:attrNameLst>
                                          <p:attrName>style.visibility</p:attrName>
                                        </p:attrNameLst>
                                      </p:cBhvr>
                                      <p:to>
                                        <p:strVal val="visible"/>
                                      </p:to>
                                    </p:set>
                                    <p:animEffect transition="in" filter="blinds(horizontal)">
                                      <p:cBhvr>
                                        <p:cTn id="3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uild="p" bldLvl="2"/>
      <p:bldP spid="6" grpId="0" bldLvl="0" animBg="1"/>
      <p:bldP spid="7" grpId="0" build="p" bldLvl="2"/>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78851" name="Rectangle 2"/>
          <p:cNvSpPr>
            <a:spLocks noGrp="1" noChangeArrowheads="1"/>
          </p:cNvSpPr>
          <p:nvPr>
            <p:ph type="title"/>
          </p:nvPr>
        </p:nvSpPr>
        <p:spPr/>
        <p:txBody>
          <a:bodyPr/>
          <a:lstStyle/>
          <a:p>
            <a:pPr eaLnBrk="1" hangingPunct="1"/>
            <a:r>
              <a:rPr lang="zh-CN" altLang="zh-CN"/>
              <a:t>自主存取控制缺点</a:t>
            </a:r>
          </a:p>
        </p:txBody>
      </p:sp>
      <p:sp>
        <p:nvSpPr>
          <p:cNvPr id="78852" name="Rectangle 3"/>
          <p:cNvSpPr>
            <a:spLocks noGrp="1" noChangeArrowheads="1"/>
          </p:cNvSpPr>
          <p:nvPr>
            <p:ph idx="1"/>
          </p:nvPr>
        </p:nvSpPr>
        <p:spPr/>
        <p:txBody>
          <a:bodyPr/>
          <a:lstStyle/>
          <a:p>
            <a:pPr eaLnBrk="1" hangingPunct="1">
              <a:lnSpc>
                <a:spcPct val="160000"/>
              </a:lnSpc>
            </a:pPr>
            <a:r>
              <a:rPr lang="zh-CN" altLang="en-US" dirty="0"/>
              <a:t>可能存在数据的“无意泄露”</a:t>
            </a:r>
          </a:p>
          <a:p>
            <a:pPr lvl="1">
              <a:lnSpc>
                <a:spcPct val="160000"/>
              </a:lnSpc>
            </a:pPr>
            <a:r>
              <a:rPr lang="zh-CN" altLang="en-US" dirty="0">
                <a:solidFill>
                  <a:srgbClr val="C00000"/>
                </a:solidFill>
              </a:rPr>
              <a:t>原因</a:t>
            </a:r>
            <a:r>
              <a:rPr lang="zh-CN" altLang="en-US" dirty="0"/>
              <a:t>：这种机制仅仅通过对数据的存取权限来进行安全控制，而数据本身并无安全性标记</a:t>
            </a:r>
          </a:p>
          <a:p>
            <a:pPr lvl="1">
              <a:lnSpc>
                <a:spcPct val="160000"/>
              </a:lnSpc>
            </a:pPr>
            <a:endParaRPr lang="zh-CN" altLang="en-US" dirty="0"/>
          </a:p>
          <a:p>
            <a:pPr lvl="1">
              <a:lnSpc>
                <a:spcPct val="160000"/>
              </a:lnSpc>
            </a:pPr>
            <a:r>
              <a:rPr lang="zh-CN" altLang="en-US" dirty="0">
                <a:solidFill>
                  <a:srgbClr val="C00000"/>
                </a:solidFill>
              </a:rPr>
              <a:t>解决</a:t>
            </a:r>
            <a:r>
              <a:rPr lang="zh-CN" altLang="en-US" dirty="0"/>
              <a:t>：对系统控制下的所有主客体实施强制存取控制策略</a:t>
            </a:r>
          </a:p>
        </p:txBody>
      </p:sp>
      <p:sp>
        <p:nvSpPr>
          <p:cNvPr id="2" name="灯片编号占位符 1"/>
          <p:cNvSpPr>
            <a:spLocks noGrp="1"/>
          </p:cNvSpPr>
          <p:nvPr>
            <p:ph type="sldNum" sz="quarter" idx="12"/>
          </p:nvPr>
        </p:nvSpPr>
        <p:spPr>
          <a:xfrm>
            <a:off x="11461115" y="6696000"/>
            <a:ext cx="730885" cy="153670"/>
          </a:xfrm>
        </p:spPr>
        <p:txBody>
          <a:bodyPr/>
          <a:lstStyle/>
          <a:p>
            <a:fld id="{565CE74E-AB26-4998-AD42-012C4C1AD076}" type="slidenum">
              <a:rPr lang="zh-CN" altLang="en-US" smtClean="0"/>
              <a:t>51</a:t>
            </a:fld>
            <a:endParaRPr lang="zh-CN" altLang="en-US"/>
          </a:p>
        </p:txBody>
      </p:sp>
      <p:sp>
        <p:nvSpPr>
          <p:cNvPr id="3" name="页脚占位符 2"/>
          <p:cNvSpPr>
            <a:spLocks noGrp="1"/>
          </p:cNvSpPr>
          <p:nvPr>
            <p:ph type="ftr" sz="quarter" idx="11"/>
          </p:nvPr>
        </p:nvSpPr>
        <p:spPr>
          <a:xfrm>
            <a:off x="0" y="6695365"/>
            <a:ext cx="4114800" cy="153670"/>
          </a:xfrm>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4.2.6  </a:t>
            </a:r>
            <a:r>
              <a:rPr lang="zh-CN" altLang="en-US" dirty="0"/>
              <a:t>强制存取控制</a:t>
            </a:r>
          </a:p>
        </p:txBody>
      </p:sp>
      <p:sp>
        <p:nvSpPr>
          <p:cNvPr id="3" name="内容占位符 2"/>
          <p:cNvSpPr>
            <a:spLocks noGrp="1"/>
          </p:cNvSpPr>
          <p:nvPr>
            <p:ph idx="1"/>
          </p:nvPr>
        </p:nvSpPr>
        <p:spPr/>
        <p:txBody>
          <a:bodyPr>
            <a:noAutofit/>
          </a:bodyPr>
          <a:lstStyle/>
          <a:p>
            <a:pPr>
              <a:lnSpc>
                <a:spcPct val="110000"/>
              </a:lnSpc>
              <a:spcBef>
                <a:spcPts val="1000"/>
              </a:spcBef>
            </a:pPr>
            <a:r>
              <a:rPr lang="zh-CN" altLang="en-US" dirty="0">
                <a:solidFill>
                  <a:srgbClr val="C00000"/>
                </a:solidFill>
              </a:rPr>
              <a:t>强制存取控制</a:t>
            </a:r>
            <a:r>
              <a:rPr lang="zh-CN" altLang="en-US" dirty="0"/>
              <a:t>（</a:t>
            </a:r>
            <a:r>
              <a:rPr lang="en-US" altLang="zh-CN" dirty="0"/>
              <a:t>Mandatory Access Control</a:t>
            </a:r>
            <a:r>
              <a:rPr lang="zh-CN" altLang="en-US" dirty="0"/>
              <a:t>，简称 </a:t>
            </a:r>
            <a:r>
              <a:rPr lang="en-US" altLang="zh-CN" dirty="0"/>
              <a:t>MAC</a:t>
            </a:r>
            <a:r>
              <a:rPr lang="zh-CN" altLang="en-US" dirty="0"/>
              <a:t>）</a:t>
            </a:r>
          </a:p>
          <a:p>
            <a:pPr lvl="1">
              <a:lnSpc>
                <a:spcPct val="110000"/>
              </a:lnSpc>
              <a:spcBef>
                <a:spcPts val="1000"/>
              </a:spcBef>
            </a:pPr>
            <a:r>
              <a:rPr lang="en-US" altLang="zh-CN" dirty="0"/>
              <a:t>B1</a:t>
            </a:r>
            <a:r>
              <a:rPr lang="zh-CN" altLang="en-US" dirty="0"/>
              <a:t>级，保证更高程度的安全性</a:t>
            </a:r>
          </a:p>
          <a:p>
            <a:pPr lvl="1">
              <a:lnSpc>
                <a:spcPct val="110000"/>
              </a:lnSpc>
              <a:spcBef>
                <a:spcPts val="1000"/>
              </a:spcBef>
            </a:pPr>
            <a:r>
              <a:rPr lang="zh-CN" altLang="en-US" dirty="0"/>
              <a:t>每一个数据对象被标以一定的密级</a:t>
            </a:r>
          </a:p>
          <a:p>
            <a:pPr lvl="1">
              <a:lnSpc>
                <a:spcPct val="110000"/>
              </a:lnSpc>
              <a:spcBef>
                <a:spcPts val="1000"/>
              </a:spcBef>
            </a:pPr>
            <a:r>
              <a:rPr lang="zh-CN" altLang="en-US" dirty="0"/>
              <a:t>每一个用户也被授予某一个级别的许可证</a:t>
            </a:r>
          </a:p>
          <a:p>
            <a:pPr lvl="1">
              <a:lnSpc>
                <a:spcPct val="110000"/>
              </a:lnSpc>
              <a:spcBef>
                <a:spcPts val="1000"/>
              </a:spcBef>
            </a:pPr>
            <a:r>
              <a:rPr lang="zh-CN" altLang="en-US" dirty="0"/>
              <a:t>对于任意一个对象，只有具有合法许可证的用户才可以存取</a:t>
            </a:r>
            <a:endParaRPr lang="en-US" altLang="zh-CN" dirty="0"/>
          </a:p>
          <a:p>
            <a:pPr lvl="1">
              <a:lnSpc>
                <a:spcPct val="110000"/>
              </a:lnSpc>
              <a:spcBef>
                <a:spcPts val="1000"/>
              </a:spcBef>
            </a:pPr>
            <a:r>
              <a:rPr lang="zh-CN" altLang="en-US" dirty="0"/>
              <a:t>用户不能直接感知或进行控制</a:t>
            </a:r>
          </a:p>
          <a:p>
            <a:pPr lvl="1">
              <a:lnSpc>
                <a:spcPct val="110000"/>
              </a:lnSpc>
              <a:spcBef>
                <a:spcPts val="1000"/>
              </a:spcBef>
            </a:pPr>
            <a:r>
              <a:rPr lang="zh-CN" altLang="en-US" dirty="0"/>
              <a:t>适用于对数据有严格而固定密级分类的部门，如：</a:t>
            </a:r>
          </a:p>
          <a:p>
            <a:pPr lvl="2">
              <a:lnSpc>
                <a:spcPct val="110000"/>
              </a:lnSpc>
              <a:spcBef>
                <a:spcPts val="1000"/>
              </a:spcBef>
            </a:pPr>
            <a:r>
              <a:rPr lang="zh-CN" altLang="en-US" dirty="0"/>
              <a:t> 军事部门</a:t>
            </a:r>
          </a:p>
          <a:p>
            <a:pPr lvl="2">
              <a:lnSpc>
                <a:spcPct val="110000"/>
              </a:lnSpc>
              <a:spcBef>
                <a:spcPts val="1000"/>
              </a:spcBef>
            </a:pPr>
            <a:r>
              <a:rPr lang="zh-CN" altLang="en-US" dirty="0"/>
              <a:t> 政府部门</a:t>
            </a:r>
          </a:p>
        </p:txBody>
      </p:sp>
      <p:sp>
        <p:nvSpPr>
          <p:cNvPr id="5" name="灯片编号占位符 4"/>
          <p:cNvSpPr>
            <a:spLocks noGrp="1"/>
          </p:cNvSpPr>
          <p:nvPr>
            <p:ph type="sldNum" sz="quarter" idx="12"/>
          </p:nvPr>
        </p:nvSpPr>
        <p:spPr/>
        <p:txBody>
          <a:bodyPr/>
          <a:lstStyle/>
          <a:p>
            <a:fld id="{565CE74E-AB26-4998-AD42-012C4C1AD076}" type="slidenum">
              <a:rPr lang="zh-CN" altLang="en-US" smtClean="0"/>
              <a:t>52</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80899" name="Rectangle 2"/>
          <p:cNvSpPr>
            <a:spLocks noGrp="1" noChangeArrowheads="1"/>
          </p:cNvSpPr>
          <p:nvPr>
            <p:ph type="title"/>
          </p:nvPr>
        </p:nvSpPr>
        <p:spPr/>
        <p:txBody>
          <a:bodyPr/>
          <a:lstStyle/>
          <a:p>
            <a:r>
              <a:rPr lang="zh-CN" altLang="zh-CN" dirty="0"/>
              <a:t>强制存取控制方法</a:t>
            </a:r>
            <a:r>
              <a:rPr lang="en-US" altLang="zh-CN" dirty="0"/>
              <a:t> - </a:t>
            </a:r>
            <a:r>
              <a:rPr lang="zh-CN" altLang="en-US" dirty="0"/>
              <a:t>实体</a:t>
            </a:r>
            <a:endParaRPr lang="zh-CN" altLang="zh-CN" dirty="0"/>
          </a:p>
        </p:txBody>
      </p:sp>
      <p:sp>
        <p:nvSpPr>
          <p:cNvPr id="74756" name="Rectangle 3"/>
          <p:cNvSpPr>
            <a:spLocks noGrp="1" noChangeArrowheads="1"/>
          </p:cNvSpPr>
          <p:nvPr>
            <p:ph idx="1"/>
          </p:nvPr>
        </p:nvSpPr>
        <p:spPr/>
        <p:txBody>
          <a:bodyPr>
            <a:normAutofit/>
          </a:bodyPr>
          <a:lstStyle/>
          <a:p>
            <a:pPr>
              <a:lnSpc>
                <a:spcPct val="110000"/>
              </a:lnSpc>
              <a:spcBef>
                <a:spcPts val="1000"/>
              </a:spcBef>
            </a:pPr>
            <a:r>
              <a:rPr lang="zh-CN" altLang="en-US" dirty="0"/>
              <a:t>在强制存取控制中，数据库管理系统所管理的全部实体被分为</a:t>
            </a:r>
            <a:r>
              <a:rPr lang="zh-CN" altLang="en-US" dirty="0">
                <a:solidFill>
                  <a:srgbClr val="C00000"/>
                </a:solidFill>
              </a:rPr>
              <a:t>主体</a:t>
            </a:r>
            <a:r>
              <a:rPr lang="zh-CN" altLang="en-US" dirty="0"/>
              <a:t>和</a:t>
            </a:r>
            <a:r>
              <a:rPr lang="zh-CN" altLang="en-US" dirty="0">
                <a:solidFill>
                  <a:srgbClr val="C00000"/>
                </a:solidFill>
              </a:rPr>
              <a:t>客体</a:t>
            </a:r>
            <a:r>
              <a:rPr lang="zh-CN" altLang="en-US" dirty="0"/>
              <a:t>两大类</a:t>
            </a:r>
            <a:endParaRPr lang="en-US" altLang="zh-CN" dirty="0"/>
          </a:p>
          <a:p>
            <a:pPr lvl="1">
              <a:lnSpc>
                <a:spcPct val="110000"/>
              </a:lnSpc>
              <a:spcBef>
                <a:spcPts val="1000"/>
              </a:spcBef>
            </a:pPr>
            <a:r>
              <a:rPr lang="zh-CN" altLang="en-US" dirty="0">
                <a:solidFill>
                  <a:srgbClr val="C00000"/>
                </a:solidFill>
              </a:rPr>
              <a:t>主体</a:t>
            </a:r>
            <a:r>
              <a:rPr lang="zh-CN" altLang="en-US" dirty="0"/>
              <a:t>是系统中的活动实体</a:t>
            </a:r>
          </a:p>
          <a:p>
            <a:pPr lvl="2">
              <a:lnSpc>
                <a:spcPct val="110000"/>
              </a:lnSpc>
              <a:spcBef>
                <a:spcPts val="1000"/>
              </a:spcBef>
            </a:pPr>
            <a:r>
              <a:rPr lang="zh-CN" altLang="en-US" dirty="0"/>
              <a:t> 数据库管理系统所管理的实际用户</a:t>
            </a:r>
          </a:p>
          <a:p>
            <a:pPr lvl="2">
              <a:lnSpc>
                <a:spcPct val="110000"/>
              </a:lnSpc>
              <a:spcBef>
                <a:spcPts val="1000"/>
              </a:spcBef>
            </a:pPr>
            <a:r>
              <a:rPr lang="zh-CN" altLang="en-US" dirty="0"/>
              <a:t> 代表用户的各进程</a:t>
            </a:r>
          </a:p>
          <a:p>
            <a:pPr lvl="2">
              <a:lnSpc>
                <a:spcPct val="110000"/>
              </a:lnSpc>
              <a:spcBef>
                <a:spcPts val="1000"/>
              </a:spcBef>
            </a:pPr>
            <a:endParaRPr lang="zh-CN" altLang="en-US" dirty="0"/>
          </a:p>
          <a:p>
            <a:pPr lvl="1">
              <a:lnSpc>
                <a:spcPct val="110000"/>
              </a:lnSpc>
              <a:spcBef>
                <a:spcPts val="1000"/>
              </a:spcBef>
            </a:pPr>
            <a:r>
              <a:rPr lang="zh-CN" altLang="en-US" dirty="0">
                <a:solidFill>
                  <a:srgbClr val="C00000"/>
                </a:solidFill>
              </a:rPr>
              <a:t>客体</a:t>
            </a:r>
            <a:r>
              <a:rPr lang="zh-CN" altLang="en-US" dirty="0"/>
              <a:t>是系统中的被动实体，受主体操纵</a:t>
            </a:r>
          </a:p>
          <a:p>
            <a:pPr lvl="2">
              <a:lnSpc>
                <a:spcPct val="110000"/>
              </a:lnSpc>
              <a:spcBef>
                <a:spcPts val="1000"/>
              </a:spcBef>
            </a:pPr>
            <a:r>
              <a:rPr lang="zh-CN" altLang="en-US" dirty="0"/>
              <a:t> 文件、基本表、索引、视图、存储过程</a:t>
            </a:r>
            <a:r>
              <a:rPr lang="en-US" altLang="zh-CN" dirty="0"/>
              <a:t> ......</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53</a:t>
            </a:fld>
            <a:endParaRPr lang="zh-CN" altLang="en-US"/>
          </a:p>
        </p:txBody>
      </p:sp>
      <p:sp>
        <p:nvSpPr>
          <p:cNvPr id="3" name="页脚占位符 2"/>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81923" name="Rectangle 2"/>
          <p:cNvSpPr>
            <a:spLocks noGrp="1" noChangeArrowheads="1"/>
          </p:cNvSpPr>
          <p:nvPr>
            <p:ph type="title"/>
          </p:nvPr>
        </p:nvSpPr>
        <p:spPr/>
        <p:txBody>
          <a:bodyPr/>
          <a:lstStyle/>
          <a:p>
            <a:r>
              <a:rPr lang="zh-CN" altLang="zh-CN" dirty="0"/>
              <a:t>强制存取控制方法</a:t>
            </a:r>
            <a:r>
              <a:rPr lang="en-US" altLang="zh-CN" dirty="0"/>
              <a:t> - </a:t>
            </a:r>
            <a:r>
              <a:rPr lang="zh-CN" altLang="en-US" dirty="0"/>
              <a:t>敏感度标记</a:t>
            </a:r>
            <a:endParaRPr lang="zh-CN" altLang="zh-CN" dirty="0"/>
          </a:p>
        </p:txBody>
      </p:sp>
      <mc:AlternateContent xmlns:mc="http://schemas.openxmlformats.org/markup-compatibility/2006" xmlns:a14="http://schemas.microsoft.com/office/drawing/2010/main">
        <mc:Choice Requires="a14">
          <p:sp>
            <p:nvSpPr>
              <p:cNvPr id="81924" name="Rectangle 3"/>
              <p:cNvSpPr>
                <a:spLocks noGrp="1" noChangeArrowheads="1"/>
              </p:cNvSpPr>
              <p:nvPr>
                <p:ph idx="1"/>
              </p:nvPr>
            </p:nvSpPr>
            <p:spPr/>
            <p:txBody>
              <a:bodyPr>
                <a:noAutofit/>
              </a:bodyPr>
              <a:lstStyle/>
              <a:p>
                <a:r>
                  <a:rPr lang="zh-CN" altLang="en-US" sz="2800" dirty="0">
                    <a:solidFill>
                      <a:srgbClr val="C00000"/>
                    </a:solidFill>
                    <a:latin typeface="Calibri" panose="020F0502020204030204" charset="0"/>
                    <a:cs typeface="Calibri" panose="020F0502020204030204" charset="0"/>
                  </a:rPr>
                  <a:t>敏感度标记</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Label</a:t>
                </a:r>
                <a:r>
                  <a:rPr lang="zh-CN" altLang="en-US" sz="2800" dirty="0">
                    <a:latin typeface="Calibri" panose="020F0502020204030204" charset="0"/>
                    <a:cs typeface="Calibri" panose="020F0502020204030204" charset="0"/>
                  </a:rPr>
                  <a:t>）</a:t>
                </a:r>
              </a:p>
              <a:p>
                <a:pPr lvl="1">
                  <a:lnSpc>
                    <a:spcPct val="110000"/>
                  </a:lnSpc>
                  <a:spcBef>
                    <a:spcPts val="800"/>
                  </a:spcBef>
                </a:pPr>
                <a:r>
                  <a:rPr lang="zh-CN" altLang="en-US" sz="2800" dirty="0">
                    <a:latin typeface="Calibri" panose="020F0502020204030204" charset="0"/>
                    <a:cs typeface="Calibri" panose="020F0502020204030204" charset="0"/>
                  </a:rPr>
                  <a:t>对于主体和客体，</a:t>
                </a:r>
                <a:r>
                  <a:rPr lang="en-US" altLang="zh-CN" sz="2800" dirty="0">
                    <a:latin typeface="Calibri" panose="020F0502020204030204" charset="0"/>
                    <a:cs typeface="Calibri" panose="020F0502020204030204" charset="0"/>
                  </a:rPr>
                  <a:t>DBMS</a:t>
                </a:r>
                <a:r>
                  <a:rPr lang="zh-CN" altLang="en-US" sz="2800" dirty="0">
                    <a:latin typeface="Calibri" panose="020F0502020204030204" charset="0"/>
                    <a:cs typeface="Calibri" panose="020F0502020204030204" charset="0"/>
                  </a:rPr>
                  <a:t>为它们每个实例</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值</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指派一个</a:t>
                </a:r>
                <a:r>
                  <a:rPr lang="zh-CN" altLang="en-US" sz="2800" dirty="0">
                    <a:solidFill>
                      <a:srgbClr val="C00000"/>
                    </a:solidFill>
                    <a:latin typeface="Calibri" panose="020F0502020204030204" charset="0"/>
                    <a:cs typeface="Calibri" panose="020F0502020204030204" charset="0"/>
                  </a:rPr>
                  <a:t>敏感度标记</a:t>
                </a:r>
                <a:endParaRPr lang="zh-CN" altLang="en-US" sz="2800" dirty="0">
                  <a:latin typeface="Calibri" panose="020F0502020204030204" charset="0"/>
                  <a:cs typeface="Calibri" panose="020F0502020204030204" charset="0"/>
                </a:endParaRPr>
              </a:p>
              <a:p>
                <a:pPr lvl="1">
                  <a:lnSpc>
                    <a:spcPct val="110000"/>
                  </a:lnSpc>
                  <a:spcBef>
                    <a:spcPts val="1000"/>
                  </a:spcBef>
                </a:pPr>
                <a:r>
                  <a:rPr lang="zh-CN" altLang="en-US" sz="2800" dirty="0">
                    <a:latin typeface="Calibri" panose="020F0502020204030204" charset="0"/>
                    <a:cs typeface="Calibri" panose="020F0502020204030204" charset="0"/>
                  </a:rPr>
                  <a:t>敏感度标记分成若干级别</a:t>
                </a:r>
              </a:p>
              <a:p>
                <a:pPr lvl="2"/>
                <a:r>
                  <a:rPr lang="zh-CN" altLang="en-US" sz="2800" dirty="0">
                    <a:latin typeface="Calibri" panose="020F0502020204030204" charset="0"/>
                    <a:cs typeface="Calibri" panose="020F0502020204030204" charset="0"/>
                  </a:rPr>
                  <a:t>绝密（</a:t>
                </a:r>
                <a:r>
                  <a:rPr lang="en-US" altLang="zh-CN" sz="2800" dirty="0">
                    <a:latin typeface="Calibri" panose="020F0502020204030204" charset="0"/>
                    <a:cs typeface="Calibri" panose="020F0502020204030204" charset="0"/>
                  </a:rPr>
                  <a:t>Top Secret</a:t>
                </a:r>
                <a:r>
                  <a:rPr lang="zh-CN" altLang="en-US" sz="2800" dirty="0">
                    <a:latin typeface="Calibri" panose="020F0502020204030204" charset="0"/>
                    <a:cs typeface="Calibri" panose="020F0502020204030204" charset="0"/>
                  </a:rPr>
                  <a:t>，</a:t>
                </a:r>
                <a:r>
                  <a:rPr lang="en-US" altLang="zh-CN" sz="2800" dirty="0">
                    <a:solidFill>
                      <a:srgbClr val="C00000"/>
                    </a:solidFill>
                    <a:latin typeface="Calibri" panose="020F0502020204030204" charset="0"/>
                    <a:cs typeface="Calibri" panose="020F0502020204030204" charset="0"/>
                  </a:rPr>
                  <a:t>TS</a:t>
                </a:r>
                <a:r>
                  <a:rPr lang="zh-CN" altLang="en-US" sz="2800" dirty="0">
                    <a:latin typeface="Calibri" panose="020F0502020204030204" charset="0"/>
                    <a:cs typeface="Calibri" panose="020F0502020204030204" charset="0"/>
                  </a:rPr>
                  <a:t>）</a:t>
                </a:r>
              </a:p>
              <a:p>
                <a:pPr lvl="2"/>
                <a:r>
                  <a:rPr lang="zh-CN" altLang="en-US" sz="2800" dirty="0">
                    <a:latin typeface="Calibri" panose="020F0502020204030204" charset="0"/>
                    <a:cs typeface="Calibri" panose="020F0502020204030204" charset="0"/>
                  </a:rPr>
                  <a:t>机密（</a:t>
                </a:r>
                <a:r>
                  <a:rPr lang="en-US" altLang="zh-CN" sz="2800" dirty="0">
                    <a:latin typeface="Calibri" panose="020F0502020204030204" charset="0"/>
                    <a:cs typeface="Calibri" panose="020F0502020204030204" charset="0"/>
                  </a:rPr>
                  <a:t>Secret</a:t>
                </a:r>
                <a:r>
                  <a:rPr lang="zh-CN" altLang="en-US" sz="2800" dirty="0">
                    <a:latin typeface="Calibri" panose="020F0502020204030204" charset="0"/>
                    <a:cs typeface="Calibri" panose="020F0502020204030204" charset="0"/>
                  </a:rPr>
                  <a:t>，</a:t>
                </a:r>
                <a:r>
                  <a:rPr lang="en-US" altLang="zh-CN" sz="2800" dirty="0">
                    <a:solidFill>
                      <a:srgbClr val="C00000"/>
                    </a:solidFill>
                    <a:latin typeface="Calibri" panose="020F0502020204030204" charset="0"/>
                    <a:cs typeface="Calibri" panose="020F0502020204030204" charset="0"/>
                  </a:rPr>
                  <a:t>S</a:t>
                </a:r>
                <a:r>
                  <a:rPr lang="zh-CN" altLang="en-US" sz="2800" dirty="0">
                    <a:latin typeface="Calibri" panose="020F0502020204030204" charset="0"/>
                    <a:cs typeface="Calibri" panose="020F0502020204030204" charset="0"/>
                  </a:rPr>
                  <a:t>）</a:t>
                </a:r>
              </a:p>
              <a:p>
                <a:pPr lvl="2"/>
                <a:r>
                  <a:rPr lang="zh-CN" altLang="en-US" sz="2800" dirty="0">
                    <a:latin typeface="Calibri" panose="020F0502020204030204" charset="0"/>
                    <a:cs typeface="Calibri" panose="020F0502020204030204" charset="0"/>
                  </a:rPr>
                  <a:t>可信（</a:t>
                </a:r>
                <a:r>
                  <a:rPr lang="en-US" altLang="zh-CN" sz="2800" dirty="0">
                    <a:latin typeface="Calibri" panose="020F0502020204030204" charset="0"/>
                    <a:cs typeface="Calibri" panose="020F0502020204030204" charset="0"/>
                  </a:rPr>
                  <a:t>Confidential</a:t>
                </a:r>
                <a:r>
                  <a:rPr lang="zh-CN" altLang="en-US" sz="2800" dirty="0">
                    <a:latin typeface="Calibri" panose="020F0502020204030204" charset="0"/>
                    <a:cs typeface="Calibri" panose="020F0502020204030204" charset="0"/>
                  </a:rPr>
                  <a:t>，</a:t>
                </a:r>
                <a:r>
                  <a:rPr lang="en-US" altLang="zh-CN" sz="2800" dirty="0">
                    <a:solidFill>
                      <a:srgbClr val="C00000"/>
                    </a:solidFill>
                    <a:latin typeface="Calibri" panose="020F0502020204030204" charset="0"/>
                    <a:cs typeface="Calibri" panose="020F0502020204030204" charset="0"/>
                  </a:rPr>
                  <a:t>C</a:t>
                </a:r>
                <a:r>
                  <a:rPr lang="zh-CN" altLang="en-US" sz="2800" dirty="0">
                    <a:latin typeface="Calibri" panose="020F0502020204030204" charset="0"/>
                    <a:cs typeface="Calibri" panose="020F0502020204030204" charset="0"/>
                  </a:rPr>
                  <a:t>）</a:t>
                </a:r>
              </a:p>
              <a:p>
                <a:pPr lvl="2"/>
                <a:r>
                  <a:rPr lang="zh-CN" altLang="en-US" sz="2800" dirty="0">
                    <a:latin typeface="Calibri" panose="020F0502020204030204" charset="0"/>
                    <a:cs typeface="Calibri" panose="020F0502020204030204" charset="0"/>
                  </a:rPr>
                  <a:t>公开（</a:t>
                </a:r>
                <a:r>
                  <a:rPr lang="en-US" altLang="zh-CN" sz="2800" dirty="0">
                    <a:latin typeface="Calibri" panose="020F0502020204030204" charset="0"/>
                    <a:cs typeface="Calibri" panose="020F0502020204030204" charset="0"/>
                  </a:rPr>
                  <a:t>Public</a:t>
                </a:r>
                <a:r>
                  <a:rPr lang="zh-CN" altLang="en-US" sz="2800" dirty="0">
                    <a:latin typeface="Calibri" panose="020F0502020204030204" charset="0"/>
                    <a:cs typeface="Calibri" panose="020F0502020204030204" charset="0"/>
                  </a:rPr>
                  <a:t>，</a:t>
                </a:r>
                <a:r>
                  <a:rPr lang="en-US" altLang="zh-CN" sz="2800" dirty="0">
                    <a:solidFill>
                      <a:srgbClr val="C00000"/>
                    </a:solidFill>
                    <a:latin typeface="Calibri" panose="020F0502020204030204" charset="0"/>
                    <a:cs typeface="Calibri" panose="020F0502020204030204" charset="0"/>
                  </a:rPr>
                  <a:t>P</a:t>
                </a:r>
                <a:r>
                  <a:rPr lang="zh-CN" altLang="en-US" sz="2800" dirty="0">
                    <a:latin typeface="Calibri" panose="020F0502020204030204" charset="0"/>
                    <a:cs typeface="Calibri" panose="020F0502020204030204" charset="0"/>
                  </a:rPr>
                  <a:t>）</a:t>
                </a:r>
                <a:endParaRPr lang="en-US" altLang="zh-CN" sz="2800" dirty="0">
                  <a:latin typeface="Calibri" panose="020F0502020204030204" charset="0"/>
                  <a:cs typeface="Calibri" panose="020F0502020204030204" charset="0"/>
                </a:endParaRPr>
              </a:p>
              <a:p>
                <a:pPr lvl="1">
                  <a:lnSpc>
                    <a:spcPct val="110000"/>
                  </a:lnSpc>
                  <a:spcBef>
                    <a:spcPts val="1000"/>
                  </a:spcBef>
                </a:pPr>
                <a:r>
                  <a:rPr lang="zh-CN" altLang="en-US" sz="2800" dirty="0">
                    <a:latin typeface="Calibri" panose="020F0502020204030204" charset="0"/>
                    <a:cs typeface="Calibri" panose="020F0502020204030204" charset="0"/>
                  </a:rPr>
                  <a:t>敏感度标记的支配次序为</a:t>
                </a:r>
                <a:r>
                  <a:rPr lang="en-US" altLang="zh-CN" sz="2800" dirty="0">
                    <a:latin typeface="Calibri" panose="020F0502020204030204" charset="0"/>
                    <a:cs typeface="Calibri" panose="020F0502020204030204" charset="0"/>
                  </a:rPr>
                  <a:t>  </a:t>
                </a:r>
                <a14:m>
                  <m:oMath xmlns:m="http://schemas.openxmlformats.org/officeDocument/2006/math">
                    <m:r>
                      <m:rPr>
                        <m:sty m:val="p"/>
                      </m:rPr>
                      <a:rPr lang="en-US" altLang="zh-CN" sz="2800" dirty="0">
                        <a:solidFill>
                          <a:srgbClr val="C00000"/>
                        </a:solidFill>
                        <a:latin typeface="Cambria Math" panose="02040503050406030204" charset="0"/>
                        <a:cs typeface="Cambria Math" panose="02040503050406030204" charset="0"/>
                      </a:rPr>
                      <m:t>TS</m:t>
                    </m:r>
                    <m:r>
                      <a:rPr lang="en-US" altLang="zh-CN" sz="2800" b="1" dirty="0">
                        <a:latin typeface="Cambria Math" panose="02040503050406030204" charset="0"/>
                        <a:ea typeface="MS Mincho" charset="0"/>
                        <a:cs typeface="Cambria Math" panose="02040503050406030204" charset="0"/>
                      </a:rPr>
                      <m:t>≥</m:t>
                    </m:r>
                    <m:r>
                      <m:rPr>
                        <m:sty m:val="p"/>
                      </m:rPr>
                      <a:rPr lang="en-US" altLang="zh-CN" sz="2800" dirty="0">
                        <a:solidFill>
                          <a:srgbClr val="C00000"/>
                        </a:solidFill>
                        <a:latin typeface="Cambria Math" panose="02040503050406030204" charset="0"/>
                        <a:cs typeface="Cambria Math" panose="02040503050406030204" charset="0"/>
                      </a:rPr>
                      <m:t>S</m:t>
                    </m:r>
                    <m:r>
                      <a:rPr lang="en-US" altLang="zh-CN" sz="2800" b="1" dirty="0">
                        <a:latin typeface="Cambria Math" panose="02040503050406030204" charset="0"/>
                        <a:ea typeface="MS Mincho" charset="0"/>
                        <a:cs typeface="Cambria Math" panose="02040503050406030204" charset="0"/>
                      </a:rPr>
                      <m:t>≥</m:t>
                    </m:r>
                    <m:r>
                      <m:rPr>
                        <m:sty m:val="p"/>
                      </m:rPr>
                      <a:rPr lang="en-US" altLang="zh-CN" sz="2800" dirty="0">
                        <a:solidFill>
                          <a:srgbClr val="C00000"/>
                        </a:solidFill>
                        <a:latin typeface="Cambria Math" panose="02040503050406030204" charset="0"/>
                        <a:cs typeface="Cambria Math" panose="02040503050406030204" charset="0"/>
                      </a:rPr>
                      <m:t>C</m:t>
                    </m:r>
                    <m:r>
                      <a:rPr lang="en-US" altLang="zh-CN" sz="2800" b="1" dirty="0">
                        <a:latin typeface="Cambria Math" panose="02040503050406030204" charset="0"/>
                        <a:ea typeface="MS Mincho" charset="0"/>
                        <a:cs typeface="Cambria Math" panose="02040503050406030204" charset="0"/>
                      </a:rPr>
                      <m:t>≥</m:t>
                    </m:r>
                    <m:r>
                      <m:rPr>
                        <m:sty m:val="p"/>
                      </m:rPr>
                      <a:rPr lang="en-US" altLang="zh-CN" sz="2800" dirty="0">
                        <a:solidFill>
                          <a:srgbClr val="C00000"/>
                        </a:solidFill>
                        <a:latin typeface="Cambria Math" panose="02040503050406030204" charset="0"/>
                        <a:cs typeface="Cambria Math" panose="02040503050406030204" charset="0"/>
                      </a:rPr>
                      <m:t>P</m:t>
                    </m:r>
                  </m:oMath>
                </a14:m>
                <a:endParaRPr lang="zh-CN" altLang="en-US" sz="2800" dirty="0">
                  <a:latin typeface="Calibri" panose="020F0502020204030204" charset="0"/>
                  <a:cs typeface="Calibri" panose="020F0502020204030204" charset="0"/>
                </a:endParaRPr>
              </a:p>
              <a:p>
                <a:pPr>
                  <a:lnSpc>
                    <a:spcPct val="110000"/>
                  </a:lnSpc>
                  <a:spcBef>
                    <a:spcPts val="2000"/>
                  </a:spcBef>
                </a:pPr>
                <a:r>
                  <a:rPr lang="zh-CN" altLang="en-US" sz="2800" dirty="0">
                    <a:latin typeface="Calibri" panose="020F0502020204030204" charset="0"/>
                    <a:cs typeface="Calibri" panose="020F0502020204030204" charset="0"/>
                  </a:rPr>
                  <a:t>主体的敏感度标记称为</a:t>
                </a:r>
                <a:r>
                  <a:rPr lang="zh-CN" altLang="en-US" sz="2800" dirty="0">
                    <a:solidFill>
                      <a:srgbClr val="C00000"/>
                    </a:solidFill>
                    <a:latin typeface="Calibri" panose="020F0502020204030204" charset="0"/>
                    <a:cs typeface="Calibri" panose="020F0502020204030204" charset="0"/>
                  </a:rPr>
                  <a:t>许可证级别</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Clearance Level</a:t>
                </a:r>
                <a:r>
                  <a:rPr lang="zh-CN" altLang="en-US" sz="2800" dirty="0">
                    <a:latin typeface="Calibri" panose="020F0502020204030204" charset="0"/>
                    <a:cs typeface="Calibri" panose="020F0502020204030204" charset="0"/>
                  </a:rPr>
                  <a:t>）</a:t>
                </a:r>
              </a:p>
              <a:p>
                <a:r>
                  <a:rPr lang="zh-CN" altLang="en-US" sz="2800" dirty="0">
                    <a:latin typeface="Calibri" panose="020F0502020204030204" charset="0"/>
                    <a:cs typeface="Calibri" panose="020F0502020204030204" charset="0"/>
                  </a:rPr>
                  <a:t>客体的敏感度标记称为</a:t>
                </a:r>
                <a:r>
                  <a:rPr lang="zh-CN" altLang="en-US" sz="2800" dirty="0">
                    <a:solidFill>
                      <a:srgbClr val="C00000"/>
                    </a:solidFill>
                    <a:latin typeface="Calibri" panose="020F0502020204030204" charset="0"/>
                    <a:cs typeface="Calibri" panose="020F0502020204030204" charset="0"/>
                  </a:rPr>
                  <a:t>密级</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Classification Level</a:t>
                </a:r>
                <a:r>
                  <a:rPr lang="zh-CN" altLang="en-US" sz="2800" dirty="0">
                    <a:latin typeface="Calibri" panose="020F0502020204030204" charset="0"/>
                    <a:cs typeface="Calibri" panose="020F0502020204030204" charset="0"/>
                  </a:rPr>
                  <a:t>）</a:t>
                </a:r>
                <a:endParaRPr lang="en-US" altLang="zh-CN" sz="2800" dirty="0">
                  <a:latin typeface="Calibri" panose="020F0502020204030204" charset="0"/>
                  <a:cs typeface="Calibri" panose="020F0502020204030204" charset="0"/>
                </a:endParaRPr>
              </a:p>
            </p:txBody>
          </p:sp>
        </mc:Choice>
        <mc:Fallback xmlns="">
          <p:sp>
            <p:nvSpPr>
              <p:cNvPr id="81924" name="Rectangle 3"/>
              <p:cNvSpPr>
                <a:spLocks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zh-CN" altLang="en-US">
                    <a:noFill/>
                  </a:rPr>
                  <a:t> </a:t>
                </a:r>
              </a:p>
            </p:txBody>
          </p:sp>
        </mc:Fallback>
      </mc:AlternateContent>
      <p:sp>
        <p:nvSpPr>
          <p:cNvPr id="2" name="灯片编号占位符 1"/>
          <p:cNvSpPr>
            <a:spLocks noGrp="1"/>
          </p:cNvSpPr>
          <p:nvPr>
            <p:ph type="sldNum" sz="quarter" idx="12"/>
          </p:nvPr>
        </p:nvSpPr>
        <p:spPr/>
        <p:txBody>
          <a:bodyPr/>
          <a:lstStyle/>
          <a:p>
            <a:fld id="{565CE74E-AB26-4998-AD42-012C4C1AD076}" type="slidenum">
              <a:rPr lang="zh-CN" altLang="en-US" smtClean="0"/>
              <a:t>54</a:t>
            </a:fld>
            <a:endParaRPr lang="zh-CN" altLang="en-US"/>
          </a:p>
        </p:txBody>
      </p:sp>
      <p:sp>
        <p:nvSpPr>
          <p:cNvPr id="3" name="页脚占位符 2"/>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1924">
                                            <p:txEl>
                                              <p:pRg st="8" end="8"/>
                                            </p:txEl>
                                          </p:spTgt>
                                        </p:tgtEl>
                                        <p:attrNameLst>
                                          <p:attrName>style.visibility</p:attrName>
                                        </p:attrNameLst>
                                      </p:cBhvr>
                                      <p:to>
                                        <p:strVal val="visible"/>
                                      </p:to>
                                    </p:set>
                                    <p:anim calcmode="lin" valueType="num">
                                      <p:cBhvr additive="base">
                                        <p:cTn id="7" dur="500" fill="hold"/>
                                        <p:tgtEl>
                                          <p:spTgt spid="81924">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24">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1924">
                                            <p:txEl>
                                              <p:pRg st="9" end="9"/>
                                            </p:txEl>
                                          </p:spTgt>
                                        </p:tgtEl>
                                        <p:attrNameLst>
                                          <p:attrName>style.visibility</p:attrName>
                                        </p:attrNameLst>
                                      </p:cBhvr>
                                      <p:to>
                                        <p:strVal val="visible"/>
                                      </p:to>
                                    </p:set>
                                    <p:anim calcmode="lin" valueType="num">
                                      <p:cBhvr additive="base">
                                        <p:cTn id="11" dur="500" fill="hold"/>
                                        <p:tgtEl>
                                          <p:spTgt spid="81924">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192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82947" name="Rectangle 2"/>
          <p:cNvSpPr>
            <a:spLocks noGrp="1" noChangeArrowheads="1"/>
          </p:cNvSpPr>
          <p:nvPr>
            <p:ph type="title"/>
          </p:nvPr>
        </p:nvSpPr>
        <p:spPr/>
        <p:txBody>
          <a:bodyPr/>
          <a:lstStyle/>
          <a:p>
            <a:r>
              <a:rPr lang="zh-CN" altLang="zh-CN" dirty="0"/>
              <a:t>强制存取控制方法</a:t>
            </a:r>
            <a:r>
              <a:rPr lang="en-US" altLang="zh-CN" dirty="0"/>
              <a:t> - </a:t>
            </a:r>
            <a:r>
              <a:rPr lang="zh-CN" altLang="en-US" dirty="0"/>
              <a:t>强制存取控制规则</a:t>
            </a:r>
            <a:endParaRPr lang="zh-CN" altLang="zh-CN" dirty="0"/>
          </a:p>
        </p:txBody>
      </p:sp>
      <p:sp>
        <p:nvSpPr>
          <p:cNvPr id="82948" name="Rectangle 3"/>
          <p:cNvSpPr>
            <a:spLocks noGrp="1" noChangeArrowheads="1"/>
          </p:cNvSpPr>
          <p:nvPr>
            <p:ph idx="1"/>
          </p:nvPr>
        </p:nvSpPr>
        <p:spPr/>
        <p:txBody>
          <a:bodyPr>
            <a:normAutofit/>
          </a:bodyPr>
          <a:lstStyle/>
          <a:p>
            <a:r>
              <a:rPr lang="zh-CN" altLang="en-US" dirty="0">
                <a:solidFill>
                  <a:srgbClr val="1F2DA8"/>
                </a:solidFill>
              </a:rPr>
              <a:t>强制存取控制规则</a:t>
            </a:r>
          </a:p>
          <a:p>
            <a:pPr marL="971550" lvl="1" indent="-514350">
              <a:buFont typeface="+mj-ea"/>
              <a:buAutoNum type="circleNumDbPlain"/>
            </a:pPr>
            <a:r>
              <a:rPr lang="zh-CN" altLang="en-US" dirty="0">
                <a:solidFill>
                  <a:srgbClr val="C00000"/>
                </a:solidFill>
              </a:rPr>
              <a:t>（下读）</a:t>
            </a:r>
            <a:r>
              <a:rPr lang="zh-CN" altLang="en-US" dirty="0"/>
              <a:t>仅当主体的许可证级别大于或等于客体的密级时，该主体才能读取相应的客体</a:t>
            </a:r>
          </a:p>
          <a:p>
            <a:pPr marL="971550" lvl="1" indent="-514350">
              <a:buFont typeface="+mj-ea"/>
              <a:buAutoNum type="circleNumDbPlain"/>
            </a:pPr>
            <a:r>
              <a:rPr lang="en-US" altLang="zh-CN" dirty="0">
                <a:solidFill>
                  <a:srgbClr val="C00000"/>
                </a:solidFill>
              </a:rPr>
              <a:t>（上写）</a:t>
            </a:r>
            <a:r>
              <a:rPr lang="zh-CN" altLang="en-US" dirty="0"/>
              <a:t>仅当主体的许可证级别小于或等于客体的密级时，该主体才能写相应的客体</a:t>
            </a:r>
          </a:p>
          <a:p>
            <a:pPr lvl="1"/>
            <a:endParaRPr lang="en-US" altLang="zh-CN" dirty="0"/>
          </a:p>
          <a:p>
            <a:r>
              <a:rPr lang="zh-CN" altLang="zh-CN" sz="2800" dirty="0"/>
              <a:t>强制存取控制（</a:t>
            </a:r>
            <a:r>
              <a:rPr lang="en-US" altLang="zh-CN" sz="2800" dirty="0"/>
              <a:t>MAC</a:t>
            </a:r>
            <a:r>
              <a:rPr lang="zh-CN" altLang="zh-CN" sz="2800" dirty="0"/>
              <a:t>）是对数据本身进行密级标记，无论数据如何复制，标记与数据是一个不可分的整体，只有符合密级标记要求的用户才可以操纵数据。</a:t>
            </a:r>
            <a:endParaRPr lang="zh-CN" altLang="en-US" sz="2800" dirty="0"/>
          </a:p>
        </p:txBody>
      </p:sp>
      <p:sp>
        <p:nvSpPr>
          <p:cNvPr id="2" name="灯片编号占位符 1"/>
          <p:cNvSpPr>
            <a:spLocks noGrp="1"/>
          </p:cNvSpPr>
          <p:nvPr>
            <p:ph type="sldNum" sz="quarter" idx="12"/>
          </p:nvPr>
        </p:nvSpPr>
        <p:spPr/>
        <p:txBody>
          <a:bodyPr/>
          <a:lstStyle/>
          <a:p>
            <a:fld id="{565CE74E-AB26-4998-AD42-012C4C1AD076}" type="slidenum">
              <a:rPr lang="zh-CN" altLang="en-US" smtClean="0"/>
              <a:t>55</a:t>
            </a:fld>
            <a:endParaRPr lang="zh-CN" altLang="en-US"/>
          </a:p>
        </p:txBody>
      </p:sp>
      <p:sp>
        <p:nvSpPr>
          <p:cNvPr id="3" name="页脚占位符 2"/>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2948">
                                            <p:txEl>
                                              <p:pRg st="4" end="4"/>
                                            </p:txEl>
                                          </p:spTgt>
                                        </p:tgtEl>
                                        <p:attrNameLst>
                                          <p:attrName>style.visibility</p:attrName>
                                        </p:attrNameLst>
                                      </p:cBhvr>
                                      <p:to>
                                        <p:strVal val="visible"/>
                                      </p:to>
                                    </p:set>
                                    <p:animEffect transition="in" filter="blinds(horizontal)">
                                      <p:cBhvr>
                                        <p:cTn id="7" dur="500"/>
                                        <p:tgtEl>
                                          <p:spTgt spid="8294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83971" name="Rectangle 2"/>
          <p:cNvSpPr>
            <a:spLocks noGrp="1" noChangeArrowheads="1"/>
          </p:cNvSpPr>
          <p:nvPr>
            <p:ph type="title"/>
          </p:nvPr>
        </p:nvSpPr>
        <p:spPr/>
        <p:txBody>
          <a:bodyPr/>
          <a:lstStyle/>
          <a:p>
            <a:r>
              <a:rPr lang="en-US" altLang="zh-CN" noProof="1">
                <a:sym typeface="+mn-ea"/>
              </a:rPr>
              <a:t>DAC + MAC</a:t>
            </a:r>
            <a:endParaRPr lang="en-US" altLang="zh-CN" dirty="0"/>
          </a:p>
        </p:txBody>
      </p:sp>
      <p:sp>
        <p:nvSpPr>
          <p:cNvPr id="83972" name="Rectangle 3"/>
          <p:cNvSpPr>
            <a:spLocks noGrp="1" noChangeArrowheads="1"/>
          </p:cNvSpPr>
          <p:nvPr>
            <p:ph idx="1"/>
          </p:nvPr>
        </p:nvSpPr>
        <p:spPr/>
        <p:txBody>
          <a:bodyPr>
            <a:normAutofit/>
          </a:bodyPr>
          <a:lstStyle/>
          <a:p>
            <a:pPr>
              <a:lnSpc>
                <a:spcPct val="100000"/>
              </a:lnSpc>
              <a:spcBef>
                <a:spcPts val="1000"/>
              </a:spcBef>
            </a:pPr>
            <a:r>
              <a:rPr lang="zh-CN" altLang="en-US" dirty="0"/>
              <a:t>实现强制存取控制时要首先实现自主存取控制</a:t>
            </a:r>
            <a:endParaRPr lang="en-US" altLang="zh-CN" dirty="0"/>
          </a:p>
          <a:p>
            <a:pPr lvl="1">
              <a:lnSpc>
                <a:spcPct val="100000"/>
              </a:lnSpc>
              <a:spcBef>
                <a:spcPts val="1000"/>
              </a:spcBef>
            </a:pPr>
            <a:r>
              <a:rPr lang="zh-CN" altLang="en-US" dirty="0"/>
              <a:t>原因：较高安全性级别提供的安全保护要包含较低级别的所有保护</a:t>
            </a:r>
          </a:p>
          <a:p>
            <a:pPr>
              <a:lnSpc>
                <a:spcPct val="100000"/>
              </a:lnSpc>
              <a:spcBef>
                <a:spcPts val="2000"/>
              </a:spcBef>
            </a:pPr>
            <a:r>
              <a:rPr lang="zh-CN" altLang="en-US" dirty="0"/>
              <a:t>自主存取控制与强制存取控制共同构成数据库管理系统的安全机制，先进行自主存取控制检查，通过自主存取控制检查的数据对象再由系统进行强制存取控制检查，只有通过强制存取控制检查的数据对象方可存取。</a:t>
            </a:r>
          </a:p>
        </p:txBody>
      </p:sp>
      <p:pic>
        <p:nvPicPr>
          <p:cNvPr id="5"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7600" y="3615690"/>
            <a:ext cx="4265930" cy="3044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p:txBody>
          <a:bodyPr/>
          <a:lstStyle/>
          <a:p>
            <a:fld id="{565CE74E-AB26-4998-AD42-012C4C1AD076}" type="slidenum">
              <a:rPr lang="zh-CN" altLang="en-US" smtClean="0"/>
              <a:t>56</a:t>
            </a:fld>
            <a:endParaRPr lang="zh-CN" altLang="en-US"/>
          </a:p>
        </p:txBody>
      </p:sp>
      <p:sp>
        <p:nvSpPr>
          <p:cNvPr id="3" name="页脚占位符 2"/>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3972">
                                            <p:txEl>
                                              <p:pRg st="2" end="2"/>
                                            </p:txEl>
                                          </p:spTgt>
                                        </p:tgtEl>
                                        <p:attrNameLst>
                                          <p:attrName>style.visibility</p:attrName>
                                        </p:attrNameLst>
                                      </p:cBhvr>
                                      <p:to>
                                        <p:strVal val="visible"/>
                                      </p:to>
                                    </p:set>
                                    <p:animEffect transition="in" filter="blinds(horizontal)">
                                      <p:cBhvr>
                                        <p:cTn id="7" dur="500"/>
                                        <p:tgtEl>
                                          <p:spTgt spid="83972">
                                            <p:txEl>
                                              <p:pRg st="2" end="2"/>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linds(horizontal)">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第</a:t>
            </a:r>
            <a:r>
              <a:rPr lang="en-US" altLang="zh-CN"/>
              <a:t>4</a:t>
            </a:r>
            <a:r>
              <a:rPr lang="zh-CN" altLang="en-US"/>
              <a:t>章</a:t>
            </a:r>
            <a:r>
              <a:rPr lang="en-US" altLang="zh-CN"/>
              <a:t> </a:t>
            </a:r>
            <a:r>
              <a:rPr lang="zh-CN" altLang="en-US"/>
              <a:t> 数据库安全性</a:t>
            </a:r>
          </a:p>
        </p:txBody>
      </p:sp>
      <p:sp>
        <p:nvSpPr>
          <p:cNvPr id="3" name="内容占位符 2"/>
          <p:cNvSpPr>
            <a:spLocks noGrp="1"/>
          </p:cNvSpPr>
          <p:nvPr>
            <p:ph idx="1"/>
          </p:nvPr>
        </p:nvSpPr>
        <p:spPr/>
        <p:txBody>
          <a:bodyPr/>
          <a:lstStyle/>
          <a:p>
            <a:r>
              <a:rPr lang="zh-CN" altLang="en-US">
                <a:solidFill>
                  <a:srgbClr val="1F2DA8"/>
                </a:solidFill>
              </a:rPr>
              <a:t>4.1 数据库安全性概述</a:t>
            </a:r>
          </a:p>
          <a:p>
            <a:r>
              <a:rPr lang="zh-CN" altLang="en-US"/>
              <a:t>4.2 数据库安全性控制</a:t>
            </a:r>
          </a:p>
          <a:p>
            <a:r>
              <a:rPr lang="zh-CN" altLang="en-US">
                <a:solidFill>
                  <a:srgbClr val="FF0000"/>
                </a:solidFill>
              </a:rPr>
              <a:t>4.3 视图机制</a:t>
            </a:r>
          </a:p>
          <a:p>
            <a:r>
              <a:rPr lang="zh-CN" altLang="en-US">
                <a:solidFill>
                  <a:srgbClr val="FF0000"/>
                </a:solidFill>
              </a:rPr>
              <a:t>4.4 审计（Audit）</a:t>
            </a:r>
          </a:p>
          <a:p>
            <a:r>
              <a:rPr lang="zh-CN" altLang="en-US">
                <a:solidFill>
                  <a:srgbClr val="FF0000"/>
                </a:solidFill>
              </a:rPr>
              <a:t>4.5 数据加密</a:t>
            </a:r>
          </a:p>
          <a:p>
            <a:r>
              <a:rPr lang="zh-CN" altLang="en-US">
                <a:solidFill>
                  <a:srgbClr val="FF0000"/>
                </a:solidFill>
              </a:rPr>
              <a:t>4.6 其他安全性保护</a:t>
            </a:r>
          </a:p>
          <a:p>
            <a:r>
              <a:rPr lang="zh-CN" altLang="en-US"/>
              <a:t>4.7 小结</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57</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87043" name="Rectangle 2"/>
          <p:cNvSpPr>
            <a:spLocks noGrp="1" noChangeArrowheads="1"/>
          </p:cNvSpPr>
          <p:nvPr>
            <p:ph type="title"/>
          </p:nvPr>
        </p:nvSpPr>
        <p:spPr/>
        <p:txBody>
          <a:bodyPr>
            <a:normAutofit fontScale="90000"/>
          </a:bodyPr>
          <a:lstStyle/>
          <a:p>
            <a:pPr eaLnBrk="1" hangingPunct="1"/>
            <a:r>
              <a:rPr lang="en-US" altLang="zh-CN" sz="3110" dirty="0"/>
              <a:t>4.3  </a:t>
            </a:r>
            <a:r>
              <a:rPr lang="zh-CN" altLang="en-US" sz="3110" dirty="0"/>
              <a:t>视图机制 </a:t>
            </a:r>
            <a:r>
              <a:rPr lang="en-US" altLang="zh-CN" sz="3110" dirty="0"/>
              <a:t>1</a:t>
            </a:r>
            <a:endParaRPr lang="zh-CN" altLang="en-US" sz="3110" dirty="0"/>
          </a:p>
        </p:txBody>
      </p:sp>
      <p:sp>
        <p:nvSpPr>
          <p:cNvPr id="87044" name="Rectangle 3"/>
          <p:cNvSpPr>
            <a:spLocks noGrp="1" noChangeArrowheads="1"/>
          </p:cNvSpPr>
          <p:nvPr>
            <p:ph idx="1"/>
          </p:nvPr>
        </p:nvSpPr>
        <p:spPr/>
        <p:txBody>
          <a:bodyPr/>
          <a:lstStyle/>
          <a:p>
            <a:pPr eaLnBrk="1" hangingPunct="1">
              <a:lnSpc>
                <a:spcPct val="150000"/>
              </a:lnSpc>
            </a:pPr>
            <a:r>
              <a:rPr lang="zh-CN" altLang="en-US" dirty="0"/>
              <a:t>把要保密的数据对无权存取这些数据的用户隐藏起来，对数据提供一定程度的安全保护</a:t>
            </a:r>
            <a:r>
              <a:rPr lang="zh-CN" altLang="en-US" sz="3200" dirty="0"/>
              <a:t> </a:t>
            </a:r>
            <a:endParaRPr lang="zh-CN" altLang="en-US" dirty="0"/>
          </a:p>
          <a:p>
            <a:pPr eaLnBrk="1" hangingPunct="1">
              <a:lnSpc>
                <a:spcPct val="200000"/>
              </a:lnSpc>
            </a:pPr>
            <a:r>
              <a:rPr lang="zh-CN" altLang="en-US" dirty="0"/>
              <a:t>间接地实现支持存取谓词的用户权限定义</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58</a:t>
            </a:fld>
            <a:endParaRPr lang="zh-CN" altLang="en-US"/>
          </a:p>
        </p:txBody>
      </p:sp>
      <p:sp>
        <p:nvSpPr>
          <p:cNvPr id="3" name="页脚占位符 2"/>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4.3  </a:t>
            </a:r>
            <a:r>
              <a:rPr lang="zh-CN" altLang="en-US" dirty="0">
                <a:sym typeface="+mn-ea"/>
              </a:rPr>
              <a:t>视图机制 </a:t>
            </a:r>
            <a:r>
              <a:rPr lang="en-US" altLang="zh-CN" dirty="0">
                <a:sym typeface="+mn-ea"/>
              </a:rPr>
              <a:t>2</a:t>
            </a:r>
            <a:endParaRPr lang="zh-CN" altLang="en-US"/>
          </a:p>
        </p:txBody>
      </p:sp>
      <p:sp>
        <p:nvSpPr>
          <p:cNvPr id="3" name="内容占位符 2"/>
          <p:cNvSpPr>
            <a:spLocks noGrp="1"/>
          </p:cNvSpPr>
          <p:nvPr>
            <p:ph idx="1"/>
          </p:nvPr>
        </p:nvSpPr>
        <p:spPr>
          <a:xfrm>
            <a:off x="424180" y="687070"/>
            <a:ext cx="11343005" cy="1106805"/>
          </a:xfrm>
        </p:spPr>
        <p:txBody>
          <a:bodyPr>
            <a:noAutofit/>
          </a:bodyPr>
          <a:lstStyle/>
          <a:p>
            <a:r>
              <a:rPr lang="en-US" altLang="zh-CN" sz="2800" dirty="0">
                <a:sym typeface="+mn-ea"/>
              </a:rPr>
              <a:t>[</a:t>
            </a:r>
            <a:r>
              <a:rPr lang="zh-CN" altLang="en-US" sz="2800" dirty="0">
                <a:sym typeface="+mn-ea"/>
              </a:rPr>
              <a:t>例4.</a:t>
            </a:r>
            <a:r>
              <a:rPr lang="en-US" altLang="zh-CN" sz="2800" dirty="0">
                <a:sym typeface="+mn-ea"/>
              </a:rPr>
              <a:t>14]</a:t>
            </a:r>
            <a:r>
              <a:rPr lang="zh-CN" altLang="en-US" sz="2800" dirty="0">
                <a:sym typeface="+mn-ea"/>
              </a:rPr>
              <a:t>建立计算机系学生的视图，把对该视图的</a:t>
            </a:r>
            <a:r>
              <a:rPr lang="en-US" altLang="zh-CN" sz="2800" dirty="0">
                <a:sym typeface="+mn-ea"/>
              </a:rPr>
              <a:t>SELECT</a:t>
            </a:r>
            <a:r>
              <a:rPr lang="zh-CN" altLang="en-US" sz="2800" dirty="0">
                <a:sym typeface="+mn-ea"/>
              </a:rPr>
              <a:t>权限授于王平，把该视图上的所有存取权限授于张明。</a:t>
            </a:r>
            <a:endParaRPr lang="en-US" altLang="zh-CN" sz="2800" dirty="0">
              <a:sym typeface="+mn-ea"/>
            </a:endParaRPr>
          </a:p>
        </p:txBody>
      </p:sp>
      <p:sp>
        <p:nvSpPr>
          <p:cNvPr id="6" name="内容占位符 5"/>
          <p:cNvSpPr>
            <a:spLocks noGrp="1"/>
          </p:cNvSpPr>
          <p:nvPr/>
        </p:nvSpPr>
        <p:spPr>
          <a:xfrm>
            <a:off x="424180" y="2060575"/>
            <a:ext cx="5580000" cy="4138295"/>
          </a:xfrm>
          <a:prstGeom prst="rect">
            <a:avLst/>
          </a:prstGeom>
          <a:solidFill>
            <a:schemeClr val="accent3">
              <a:lumMod val="20000"/>
              <a:lumOff val="80000"/>
              <a:alpha val="50000"/>
            </a:schemeClr>
          </a:solidFill>
          <a:ln>
            <a:solidFill>
              <a:schemeClr val="tx2">
                <a:lumMod val="20000"/>
                <a:lumOff val="80000"/>
              </a:schemeClr>
            </a:solidFill>
          </a:ln>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Bef>
                <a:spcPts val="0"/>
              </a:spcBef>
            </a:pPr>
            <a:r>
              <a:rPr lang="zh-CN" altLang="en-US" sz="2800" dirty="0">
                <a:latin typeface="Calibri" panose="020F0502020204030204" charset="0"/>
                <a:cs typeface="Calibri" panose="020F0502020204030204" charset="0"/>
              </a:rPr>
              <a:t>先建立计算机系学生的视图</a:t>
            </a:r>
            <a:r>
              <a:rPr lang="en-US" altLang="zh-CN" sz="2800" dirty="0" err="1">
                <a:latin typeface="Calibri" panose="020F0502020204030204" charset="0"/>
                <a:cs typeface="Calibri" panose="020F0502020204030204" charset="0"/>
              </a:rPr>
              <a:t>CS_Student</a:t>
            </a:r>
            <a:endParaRPr lang="en-US" altLang="zh-CN" sz="2800" dirty="0">
              <a:latin typeface="Calibri" panose="020F0502020204030204" charset="0"/>
              <a:cs typeface="Calibri" panose="020F0502020204030204" charset="0"/>
            </a:endParaRPr>
          </a:p>
          <a:p>
            <a:pPr marL="363855" lvl="1" indent="0" fontAlgn="auto">
              <a:spcBef>
                <a:spcPts val="2000"/>
              </a:spcBef>
              <a:buNone/>
            </a:pPr>
            <a:r>
              <a:rPr lang="en-US" altLang="zh-CN" sz="2800" dirty="0">
                <a:solidFill>
                  <a:srgbClr val="FF0000"/>
                </a:solidFill>
                <a:latin typeface="Calibri" panose="020F0502020204030204" charset="0"/>
                <a:cs typeface="Calibri" panose="020F0502020204030204" charset="0"/>
              </a:rPr>
              <a:t>CREATE  VIEW  </a:t>
            </a:r>
            <a:r>
              <a:rPr lang="en-US" altLang="zh-CN" sz="2800" dirty="0" err="1">
                <a:solidFill>
                  <a:srgbClr val="FF0000"/>
                </a:solidFill>
                <a:latin typeface="Calibri" panose="020F0502020204030204" charset="0"/>
                <a:cs typeface="Calibri" panose="020F0502020204030204" charset="0"/>
              </a:rPr>
              <a:t>CS_Student</a:t>
            </a:r>
            <a:endParaRPr lang="en-US" altLang="zh-CN" sz="2800" dirty="0">
              <a:solidFill>
                <a:srgbClr val="FF0000"/>
              </a:solidFill>
              <a:latin typeface="Calibri" panose="020F0502020204030204" charset="0"/>
              <a:cs typeface="Calibri" panose="020F0502020204030204" charset="0"/>
            </a:endParaRPr>
          </a:p>
          <a:p>
            <a:pPr marL="363855" lvl="1" indent="0" fontAlgn="auto">
              <a:spcBef>
                <a:spcPts val="0"/>
              </a:spcBef>
              <a:buNone/>
            </a:pPr>
            <a:r>
              <a:rPr lang="en-US" altLang="zh-CN" sz="2800" dirty="0">
                <a:solidFill>
                  <a:srgbClr val="FF0000"/>
                </a:solidFill>
                <a:latin typeface="Calibri" panose="020F0502020204030204" charset="0"/>
                <a:cs typeface="Calibri" panose="020F0502020204030204" charset="0"/>
              </a:rPr>
              <a:t>AS </a:t>
            </a:r>
          </a:p>
          <a:p>
            <a:pPr marL="363855" lvl="1" indent="0" fontAlgn="auto">
              <a:spcBef>
                <a:spcPts val="0"/>
              </a:spcBef>
              <a:buNone/>
            </a:pPr>
            <a:r>
              <a:rPr lang="en-US" altLang="zh-CN" sz="2800" dirty="0">
                <a:solidFill>
                  <a:srgbClr val="FF0000"/>
                </a:solidFill>
                <a:latin typeface="Calibri" panose="020F0502020204030204" charset="0"/>
                <a:cs typeface="Calibri" panose="020F0502020204030204" charset="0"/>
              </a:rPr>
              <a:t>SELECT  *</a:t>
            </a:r>
          </a:p>
          <a:p>
            <a:pPr marL="363855" lvl="1" indent="0" fontAlgn="auto">
              <a:spcBef>
                <a:spcPts val="0"/>
              </a:spcBef>
              <a:buNone/>
            </a:pPr>
            <a:r>
              <a:rPr lang="en-US" altLang="zh-CN" sz="2800" dirty="0">
                <a:solidFill>
                  <a:srgbClr val="FF0000"/>
                </a:solidFill>
                <a:latin typeface="Calibri" panose="020F0502020204030204" charset="0"/>
                <a:cs typeface="Calibri" panose="020F0502020204030204" charset="0"/>
              </a:rPr>
              <a:t>FROM   Student</a:t>
            </a:r>
          </a:p>
          <a:p>
            <a:pPr marL="363855" lvl="1" indent="0" fontAlgn="auto">
              <a:spcBef>
                <a:spcPts val="0"/>
              </a:spcBef>
              <a:buNone/>
            </a:pPr>
            <a:r>
              <a:rPr lang="en-US" altLang="zh-CN" sz="2800" dirty="0">
                <a:solidFill>
                  <a:srgbClr val="FF0000"/>
                </a:solidFill>
                <a:latin typeface="Calibri" panose="020F0502020204030204" charset="0"/>
                <a:cs typeface="Calibri" panose="020F0502020204030204" charset="0"/>
              </a:rPr>
              <a:t>WHERE  </a:t>
            </a:r>
            <a:r>
              <a:rPr lang="en-US" altLang="zh-CN" sz="2800" dirty="0" err="1">
                <a:solidFill>
                  <a:srgbClr val="FF0000"/>
                </a:solidFill>
                <a:latin typeface="Calibri" panose="020F0502020204030204" charset="0"/>
                <a:cs typeface="Calibri" panose="020F0502020204030204" charset="0"/>
              </a:rPr>
              <a:t>Sdept </a:t>
            </a:r>
            <a:r>
              <a:rPr lang="en-US" altLang="zh-CN" sz="2800" dirty="0">
                <a:solidFill>
                  <a:srgbClr val="FF0000"/>
                </a:solidFill>
                <a:latin typeface="Calibri" panose="020F0502020204030204" charset="0"/>
                <a:cs typeface="Calibri" panose="020F0502020204030204" charset="0"/>
              </a:rPr>
              <a:t>= 'CS';</a:t>
            </a:r>
          </a:p>
          <a:p>
            <a:pPr marL="363855" lvl="1" indent="0" fontAlgn="auto">
              <a:spcBef>
                <a:spcPts val="0"/>
              </a:spcBef>
              <a:buNone/>
            </a:pPr>
            <a:endParaRPr lang="en-US" altLang="zh-CN" sz="2800" dirty="0">
              <a:solidFill>
                <a:srgbClr val="FF0000"/>
              </a:solidFill>
              <a:latin typeface="Calibri" panose="020F0502020204030204" charset="0"/>
              <a:cs typeface="Calibri" panose="020F0502020204030204" charset="0"/>
            </a:endParaRPr>
          </a:p>
        </p:txBody>
      </p:sp>
      <p:sp>
        <p:nvSpPr>
          <p:cNvPr id="13" name="内容占位符 12"/>
          <p:cNvSpPr>
            <a:spLocks noGrp="1"/>
          </p:cNvSpPr>
          <p:nvPr>
            <p:ph idx="4294967295"/>
          </p:nvPr>
        </p:nvSpPr>
        <p:spPr>
          <a:xfrm>
            <a:off x="6187440" y="2060575"/>
            <a:ext cx="5580000" cy="4138295"/>
          </a:xfrm>
          <a:solidFill>
            <a:schemeClr val="accent3">
              <a:lumMod val="20000"/>
              <a:lumOff val="80000"/>
              <a:alpha val="50000"/>
            </a:schemeClr>
          </a:solidFill>
          <a:ln>
            <a:solidFill>
              <a:schemeClr val="tx2">
                <a:lumMod val="20000"/>
                <a:lumOff val="80000"/>
              </a:schemeClr>
            </a:solidFill>
          </a:ln>
        </p:spPr>
        <p:txBody>
          <a:bodyPr>
            <a:noAutofit/>
          </a:bodyPr>
          <a:lstStyle/>
          <a:p>
            <a:pPr fontAlgn="auto">
              <a:spcBef>
                <a:spcPts val="0"/>
              </a:spcBef>
            </a:pPr>
            <a:r>
              <a:rPr lang="zh-CN" altLang="en-US" sz="2800" dirty="0">
                <a:latin typeface="Calibri" panose="020F0502020204030204" charset="0"/>
                <a:cs typeface="Calibri" panose="020F0502020204030204" charset="0"/>
              </a:rPr>
              <a:t>在视图上进一步定义存取权限</a:t>
            </a:r>
          </a:p>
          <a:p>
            <a:pPr marL="363855" lvl="1" indent="0" fontAlgn="auto">
              <a:spcBef>
                <a:spcPts val="2000"/>
              </a:spcBef>
              <a:buNone/>
            </a:pPr>
            <a:r>
              <a:rPr lang="en-US" altLang="zh-CN" sz="2800" dirty="0">
                <a:solidFill>
                  <a:srgbClr val="FF0000"/>
                </a:solidFill>
                <a:latin typeface="Calibri" panose="020F0502020204030204" charset="0"/>
                <a:cs typeface="Calibri" panose="020F0502020204030204" charset="0"/>
              </a:rPr>
              <a:t>GRANT  SELECT</a:t>
            </a:r>
          </a:p>
          <a:p>
            <a:pPr marL="363855" lvl="1" indent="0" fontAlgn="auto">
              <a:spcBef>
                <a:spcPts val="0"/>
              </a:spcBef>
              <a:buNone/>
            </a:pPr>
            <a:r>
              <a:rPr lang="en-US" altLang="zh-CN" sz="2800" dirty="0">
                <a:solidFill>
                  <a:srgbClr val="FF0000"/>
                </a:solidFill>
                <a:latin typeface="Calibri" panose="020F0502020204030204" charset="0"/>
                <a:cs typeface="Calibri" panose="020F0502020204030204" charset="0"/>
              </a:rPr>
              <a:t>ON  </a:t>
            </a:r>
            <a:r>
              <a:rPr lang="en-US" altLang="zh-CN" sz="2800" dirty="0" err="1">
                <a:solidFill>
                  <a:srgbClr val="FF0000"/>
                </a:solidFill>
                <a:latin typeface="Calibri" panose="020F0502020204030204" charset="0"/>
                <a:cs typeface="Calibri" panose="020F0502020204030204" charset="0"/>
              </a:rPr>
              <a:t>CS_Student</a:t>
            </a:r>
            <a:r>
              <a:rPr lang="en-US" altLang="zh-CN" sz="2800" dirty="0">
                <a:solidFill>
                  <a:srgbClr val="FF0000"/>
                </a:solidFill>
                <a:latin typeface="Calibri" panose="020F0502020204030204" charset="0"/>
                <a:cs typeface="Calibri" panose="020F0502020204030204" charset="0"/>
              </a:rPr>
              <a:t>  </a:t>
            </a:r>
          </a:p>
          <a:p>
            <a:pPr marL="363855" lvl="1" indent="0" fontAlgn="auto">
              <a:spcBef>
                <a:spcPts val="0"/>
              </a:spcBef>
              <a:buNone/>
            </a:pPr>
            <a:r>
              <a:rPr lang="en-US" altLang="zh-CN" sz="2800" dirty="0">
                <a:solidFill>
                  <a:srgbClr val="FF0000"/>
                </a:solidFill>
                <a:latin typeface="Calibri" panose="020F0502020204030204" charset="0"/>
                <a:cs typeface="Calibri" panose="020F0502020204030204" charset="0"/>
              </a:rPr>
              <a:t>TO </a:t>
            </a:r>
            <a:r>
              <a:rPr lang="zh-CN" altLang="en-US" sz="2800" dirty="0">
                <a:solidFill>
                  <a:srgbClr val="FF0000"/>
                </a:solidFill>
                <a:latin typeface="Calibri" panose="020F0502020204030204" charset="0"/>
                <a:cs typeface="Calibri" panose="020F0502020204030204" charset="0"/>
              </a:rPr>
              <a:t>王平</a:t>
            </a:r>
            <a:r>
              <a:rPr lang="en-US" altLang="zh-CN" sz="2800" dirty="0">
                <a:solidFill>
                  <a:srgbClr val="FF0000"/>
                </a:solidFill>
                <a:latin typeface="Calibri" panose="020F0502020204030204" charset="0"/>
                <a:cs typeface="Calibri" panose="020F0502020204030204" charset="0"/>
              </a:rPr>
              <a:t>;</a:t>
            </a:r>
          </a:p>
          <a:p>
            <a:pPr marL="363855" lvl="1" indent="0" fontAlgn="auto">
              <a:spcBef>
                <a:spcPts val="0"/>
              </a:spcBef>
              <a:buNone/>
            </a:pPr>
            <a:endParaRPr lang="en-US" altLang="zh-CN" sz="2800" dirty="0">
              <a:solidFill>
                <a:srgbClr val="FF0000"/>
              </a:solidFill>
              <a:latin typeface="Calibri" panose="020F0502020204030204" charset="0"/>
              <a:cs typeface="Calibri" panose="020F0502020204030204" charset="0"/>
            </a:endParaRPr>
          </a:p>
          <a:p>
            <a:pPr marL="363855" lvl="1" indent="0" fontAlgn="auto">
              <a:spcBef>
                <a:spcPts val="0"/>
              </a:spcBef>
              <a:buNone/>
            </a:pPr>
            <a:r>
              <a:rPr lang="en-US" altLang="zh-CN" sz="2800" dirty="0">
                <a:solidFill>
                  <a:srgbClr val="FF0000"/>
                </a:solidFill>
                <a:latin typeface="Calibri" panose="020F0502020204030204" charset="0"/>
                <a:cs typeface="Calibri" panose="020F0502020204030204" charset="0"/>
              </a:rPr>
              <a:t>GRANT  ALL  PRIVILIGES</a:t>
            </a:r>
          </a:p>
          <a:p>
            <a:pPr marL="363855" lvl="1" indent="0" fontAlgn="auto">
              <a:spcBef>
                <a:spcPts val="0"/>
              </a:spcBef>
              <a:buNone/>
            </a:pPr>
            <a:r>
              <a:rPr lang="en-US" altLang="zh-CN" sz="2800" dirty="0">
                <a:solidFill>
                  <a:srgbClr val="FF0000"/>
                </a:solidFill>
                <a:latin typeface="Calibri" panose="020F0502020204030204" charset="0"/>
                <a:cs typeface="Calibri" panose="020F0502020204030204" charset="0"/>
              </a:rPr>
              <a:t>ON  </a:t>
            </a:r>
            <a:r>
              <a:rPr lang="en-US" altLang="zh-CN" sz="2800" dirty="0" err="1">
                <a:solidFill>
                  <a:srgbClr val="FF0000"/>
                </a:solidFill>
                <a:latin typeface="Calibri" panose="020F0502020204030204" charset="0"/>
                <a:cs typeface="Calibri" panose="020F0502020204030204" charset="0"/>
              </a:rPr>
              <a:t>CS_Student</a:t>
            </a:r>
            <a:r>
              <a:rPr lang="en-US" altLang="zh-CN" sz="2800" dirty="0">
                <a:solidFill>
                  <a:srgbClr val="FF0000"/>
                </a:solidFill>
                <a:latin typeface="Calibri" panose="020F0502020204030204" charset="0"/>
                <a:cs typeface="Calibri" panose="020F0502020204030204" charset="0"/>
              </a:rPr>
              <a:t>  </a:t>
            </a:r>
          </a:p>
          <a:p>
            <a:pPr marL="363855" lvl="1" indent="0" fontAlgn="auto">
              <a:spcBef>
                <a:spcPts val="0"/>
              </a:spcBef>
              <a:buNone/>
            </a:pPr>
            <a:r>
              <a:rPr lang="en-US" altLang="zh-CN" sz="2800" dirty="0">
                <a:solidFill>
                  <a:srgbClr val="FF0000"/>
                </a:solidFill>
                <a:latin typeface="Calibri" panose="020F0502020204030204" charset="0"/>
                <a:cs typeface="Calibri" panose="020F0502020204030204" charset="0"/>
              </a:rPr>
              <a:t>TO  </a:t>
            </a:r>
            <a:r>
              <a:rPr lang="zh-CN" altLang="en-US" sz="2800" dirty="0">
                <a:solidFill>
                  <a:srgbClr val="FF0000"/>
                </a:solidFill>
                <a:latin typeface="Calibri" panose="020F0502020204030204" charset="0"/>
                <a:cs typeface="Calibri" panose="020F0502020204030204" charset="0"/>
              </a:rPr>
              <a:t>张明</a:t>
            </a:r>
            <a:r>
              <a:rPr lang="en-US" altLang="zh-CN" sz="2800" dirty="0">
                <a:solidFill>
                  <a:srgbClr val="FF0000"/>
                </a:solidFill>
                <a:latin typeface="Calibri" panose="020F0502020204030204" charset="0"/>
                <a:cs typeface="Calibri" panose="020F0502020204030204" charset="0"/>
              </a:rPr>
              <a:t>;</a:t>
            </a:r>
          </a:p>
        </p:txBody>
      </p:sp>
      <p:sp>
        <p:nvSpPr>
          <p:cNvPr id="7" name="灯片编号占位符 6"/>
          <p:cNvSpPr>
            <a:spLocks noGrp="1"/>
          </p:cNvSpPr>
          <p:nvPr>
            <p:ph type="sldNum" sz="quarter" idx="12"/>
          </p:nvPr>
        </p:nvSpPr>
        <p:spPr/>
        <p:txBody>
          <a:bodyPr/>
          <a:lstStyle/>
          <a:p>
            <a:fld id="{565CE74E-AB26-4998-AD42-012C4C1AD076}" type="slidenum">
              <a:rPr lang="zh-CN" altLang="en-US" smtClean="0"/>
              <a:t>59</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13">
                                            <p:txEl>
                                              <p:pRg st="0" end="0"/>
                                            </p:txEl>
                                          </p:spTgt>
                                        </p:tgtEl>
                                        <p:attrNameLst>
                                          <p:attrName>style.visibility</p:attrName>
                                        </p:attrNameLst>
                                      </p:cBhvr>
                                      <p:to>
                                        <p:strVal val="visible"/>
                                      </p:to>
                                    </p:set>
                                    <p:anim calcmode="lin" valueType="num">
                                      <p:cBhvr additive="base">
                                        <p:cTn id="12" dur="500" fill="hold"/>
                                        <p:tgtEl>
                                          <p:spTgt spid="13">
                                            <p:txEl>
                                              <p:pRg st="0" end="0"/>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13">
                                            <p:txEl>
                                              <p:pRg st="0" end="0"/>
                                            </p:txEl>
                                          </p:spTgt>
                                        </p:tgtEl>
                                        <p:attrNameLst>
                                          <p:attrName>ppt_y</p:attrName>
                                        </p:attrNameLst>
                                      </p:cBhvr>
                                      <p:tavLst>
                                        <p:tav tm="0">
                                          <p:val>
                                            <p:strVal val="#ppt_y"/>
                                          </p:val>
                                        </p:tav>
                                        <p:tav tm="100000">
                                          <p:val>
                                            <p:strVal val="#ppt_y"/>
                                          </p:val>
                                        </p:tav>
                                      </p:tavLst>
                                    </p:anim>
                                  </p:childTnLst>
                                </p:cTn>
                              </p:par>
                              <p:par>
                                <p:cTn id="14" presetID="2" presetClass="entr" presetSubtype="2" fill="hold" grpId="0" nodeType="withEffect">
                                  <p:stCondLst>
                                    <p:cond delay="0"/>
                                  </p:stCondLst>
                                  <p:childTnLst>
                                    <p:set>
                                      <p:cBhvr>
                                        <p:cTn id="15" dur="1" fill="hold">
                                          <p:stCondLst>
                                            <p:cond delay="0"/>
                                          </p:stCondLst>
                                        </p:cTn>
                                        <p:tgtEl>
                                          <p:spTgt spid="13">
                                            <p:txEl>
                                              <p:pRg st="1" end="1"/>
                                            </p:txEl>
                                          </p:spTgt>
                                        </p:tgtEl>
                                        <p:attrNameLst>
                                          <p:attrName>style.visibility</p:attrName>
                                        </p:attrNameLst>
                                      </p:cBhvr>
                                      <p:to>
                                        <p:strVal val="visible"/>
                                      </p:to>
                                    </p:set>
                                    <p:anim calcmode="lin" valueType="num">
                                      <p:cBhvr additive="base">
                                        <p:cTn id="16" dur="500" fill="hold"/>
                                        <p:tgtEl>
                                          <p:spTgt spid="13">
                                            <p:txEl>
                                              <p:pRg st="1" end="1"/>
                                            </p:txEl>
                                          </p:spTgt>
                                        </p:tgtEl>
                                        <p:attrNameLst>
                                          <p:attrName>ppt_x</p:attrName>
                                        </p:attrNameLst>
                                      </p:cBhvr>
                                      <p:tavLst>
                                        <p:tav tm="0">
                                          <p:val>
                                            <p:strVal val="1+#ppt_w/2"/>
                                          </p:val>
                                        </p:tav>
                                        <p:tav tm="100000">
                                          <p:val>
                                            <p:strVal val="#ppt_x"/>
                                          </p:val>
                                        </p:tav>
                                      </p:tavLst>
                                    </p:anim>
                                    <p:anim calcmode="lin" valueType="num">
                                      <p:cBhvr additive="base">
                                        <p:cTn id="17" dur="500" fill="hold"/>
                                        <p:tgtEl>
                                          <p:spTgt spid="13">
                                            <p:txEl>
                                              <p:pRg st="1" end="1"/>
                                            </p:txEl>
                                          </p:spTgt>
                                        </p:tgtEl>
                                        <p:attrNameLst>
                                          <p:attrName>ppt_y</p:attrName>
                                        </p:attrNameLst>
                                      </p:cBhvr>
                                      <p:tavLst>
                                        <p:tav tm="0">
                                          <p:val>
                                            <p:strVal val="#ppt_y"/>
                                          </p:val>
                                        </p:tav>
                                        <p:tav tm="100000">
                                          <p:val>
                                            <p:strVal val="#ppt_y"/>
                                          </p:val>
                                        </p:tav>
                                      </p:tavLst>
                                    </p:anim>
                                  </p:childTnLst>
                                </p:cTn>
                              </p:par>
                              <p:par>
                                <p:cTn id="18" presetID="2" presetClass="entr" presetSubtype="2" fill="hold" grpId="0" nodeType="withEffect">
                                  <p:stCondLst>
                                    <p:cond delay="0"/>
                                  </p:stCondLst>
                                  <p:childTnLst>
                                    <p:set>
                                      <p:cBhvr>
                                        <p:cTn id="19" dur="1" fill="hold">
                                          <p:stCondLst>
                                            <p:cond delay="0"/>
                                          </p:stCondLst>
                                        </p:cTn>
                                        <p:tgtEl>
                                          <p:spTgt spid="13">
                                            <p:txEl>
                                              <p:pRg st="2" end="2"/>
                                            </p:txEl>
                                          </p:spTgt>
                                        </p:tgtEl>
                                        <p:attrNameLst>
                                          <p:attrName>style.visibility</p:attrName>
                                        </p:attrNameLst>
                                      </p:cBhvr>
                                      <p:to>
                                        <p:strVal val="visible"/>
                                      </p:to>
                                    </p:set>
                                    <p:anim calcmode="lin" valueType="num">
                                      <p:cBhvr additive="base">
                                        <p:cTn id="20" dur="500" fill="hold"/>
                                        <p:tgtEl>
                                          <p:spTgt spid="13">
                                            <p:txEl>
                                              <p:pRg st="2" end="2"/>
                                            </p:txEl>
                                          </p:spTgt>
                                        </p:tgtEl>
                                        <p:attrNameLst>
                                          <p:attrName>ppt_x</p:attrName>
                                        </p:attrNameLst>
                                      </p:cBhvr>
                                      <p:tavLst>
                                        <p:tav tm="0">
                                          <p:val>
                                            <p:strVal val="1+#ppt_w/2"/>
                                          </p:val>
                                        </p:tav>
                                        <p:tav tm="100000">
                                          <p:val>
                                            <p:strVal val="#ppt_x"/>
                                          </p:val>
                                        </p:tav>
                                      </p:tavLst>
                                    </p:anim>
                                    <p:anim calcmode="lin" valueType="num">
                                      <p:cBhvr additive="base">
                                        <p:cTn id="21" dur="500" fill="hold"/>
                                        <p:tgtEl>
                                          <p:spTgt spid="13">
                                            <p:txEl>
                                              <p:pRg st="2" end="2"/>
                                            </p:txEl>
                                          </p:spTgt>
                                        </p:tgtEl>
                                        <p:attrNameLst>
                                          <p:attrName>ppt_y</p:attrName>
                                        </p:attrNameLst>
                                      </p:cBhvr>
                                      <p:tavLst>
                                        <p:tav tm="0">
                                          <p:val>
                                            <p:strVal val="#ppt_y"/>
                                          </p:val>
                                        </p:tav>
                                        <p:tav tm="100000">
                                          <p:val>
                                            <p:strVal val="#ppt_y"/>
                                          </p:val>
                                        </p:tav>
                                      </p:tavLst>
                                    </p:anim>
                                  </p:childTnLst>
                                </p:cTn>
                              </p:par>
                              <p:par>
                                <p:cTn id="22" presetID="2" presetClass="entr" presetSubtype="2" fill="hold" grpId="0" nodeType="withEffect">
                                  <p:stCondLst>
                                    <p:cond delay="0"/>
                                  </p:stCondLst>
                                  <p:childTnLst>
                                    <p:set>
                                      <p:cBhvr>
                                        <p:cTn id="23" dur="1" fill="hold">
                                          <p:stCondLst>
                                            <p:cond delay="0"/>
                                          </p:stCondLst>
                                        </p:cTn>
                                        <p:tgtEl>
                                          <p:spTgt spid="13">
                                            <p:txEl>
                                              <p:pRg st="3" end="3"/>
                                            </p:txEl>
                                          </p:spTgt>
                                        </p:tgtEl>
                                        <p:attrNameLst>
                                          <p:attrName>style.visibility</p:attrName>
                                        </p:attrNameLst>
                                      </p:cBhvr>
                                      <p:to>
                                        <p:strVal val="visible"/>
                                      </p:to>
                                    </p:set>
                                    <p:anim calcmode="lin" valueType="num">
                                      <p:cBhvr additive="base">
                                        <p:cTn id="24" dur="500" fill="hold"/>
                                        <p:tgtEl>
                                          <p:spTgt spid="13">
                                            <p:txEl>
                                              <p:pRg st="3" end="3"/>
                                            </p:txEl>
                                          </p:spTgt>
                                        </p:tgtEl>
                                        <p:attrNameLst>
                                          <p:attrName>ppt_x</p:attrName>
                                        </p:attrNameLst>
                                      </p:cBhvr>
                                      <p:tavLst>
                                        <p:tav tm="0">
                                          <p:val>
                                            <p:strVal val="1+#ppt_w/2"/>
                                          </p:val>
                                        </p:tav>
                                        <p:tav tm="100000">
                                          <p:val>
                                            <p:strVal val="#ppt_x"/>
                                          </p:val>
                                        </p:tav>
                                      </p:tavLst>
                                    </p:anim>
                                    <p:anim calcmode="lin" valueType="num">
                                      <p:cBhvr additive="base">
                                        <p:cTn id="25" dur="500" fill="hold"/>
                                        <p:tgtEl>
                                          <p:spTgt spid="13">
                                            <p:txEl>
                                              <p:pRg st="3" end="3"/>
                                            </p:txEl>
                                          </p:spTgt>
                                        </p:tgtEl>
                                        <p:attrNameLst>
                                          <p:attrName>ppt_y</p:attrName>
                                        </p:attrNameLst>
                                      </p:cBhvr>
                                      <p:tavLst>
                                        <p:tav tm="0">
                                          <p:val>
                                            <p:strVal val="#ppt_y"/>
                                          </p:val>
                                        </p:tav>
                                        <p:tav tm="100000">
                                          <p:val>
                                            <p:strVal val="#ppt_y"/>
                                          </p:val>
                                        </p:tav>
                                      </p:tavLst>
                                    </p:anim>
                                  </p:childTnLst>
                                </p:cTn>
                              </p:par>
                              <p:par>
                                <p:cTn id="26" presetID="2" presetClass="entr" presetSubtype="2" fill="hold" grpId="0" nodeType="withEffect">
                                  <p:stCondLst>
                                    <p:cond delay="0"/>
                                  </p:stCondLst>
                                  <p:childTnLst>
                                    <p:set>
                                      <p:cBhvr>
                                        <p:cTn id="27" dur="1" fill="hold">
                                          <p:stCondLst>
                                            <p:cond delay="0"/>
                                          </p:stCondLst>
                                        </p:cTn>
                                        <p:tgtEl>
                                          <p:spTgt spid="13">
                                            <p:txEl>
                                              <p:pRg st="5" end="5"/>
                                            </p:txEl>
                                          </p:spTgt>
                                        </p:tgtEl>
                                        <p:attrNameLst>
                                          <p:attrName>style.visibility</p:attrName>
                                        </p:attrNameLst>
                                      </p:cBhvr>
                                      <p:to>
                                        <p:strVal val="visible"/>
                                      </p:to>
                                    </p:set>
                                    <p:anim calcmode="lin" valueType="num">
                                      <p:cBhvr additive="base">
                                        <p:cTn id="28" dur="500" fill="hold"/>
                                        <p:tgtEl>
                                          <p:spTgt spid="13">
                                            <p:txEl>
                                              <p:pRg st="5" end="5"/>
                                            </p:txEl>
                                          </p:spTgt>
                                        </p:tgtEl>
                                        <p:attrNameLst>
                                          <p:attrName>ppt_x</p:attrName>
                                        </p:attrNameLst>
                                      </p:cBhvr>
                                      <p:tavLst>
                                        <p:tav tm="0">
                                          <p:val>
                                            <p:strVal val="1+#ppt_w/2"/>
                                          </p:val>
                                        </p:tav>
                                        <p:tav tm="100000">
                                          <p:val>
                                            <p:strVal val="#ppt_x"/>
                                          </p:val>
                                        </p:tav>
                                      </p:tavLst>
                                    </p:anim>
                                    <p:anim calcmode="lin" valueType="num">
                                      <p:cBhvr additive="base">
                                        <p:cTn id="29" dur="500" fill="hold"/>
                                        <p:tgtEl>
                                          <p:spTgt spid="13">
                                            <p:txEl>
                                              <p:pRg st="5" end="5"/>
                                            </p:txEl>
                                          </p:spTgt>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0"/>
                                  </p:stCondLst>
                                  <p:childTnLst>
                                    <p:set>
                                      <p:cBhvr>
                                        <p:cTn id="31" dur="1" fill="hold">
                                          <p:stCondLst>
                                            <p:cond delay="0"/>
                                          </p:stCondLst>
                                        </p:cTn>
                                        <p:tgtEl>
                                          <p:spTgt spid="13">
                                            <p:txEl>
                                              <p:pRg st="6" end="6"/>
                                            </p:txEl>
                                          </p:spTgt>
                                        </p:tgtEl>
                                        <p:attrNameLst>
                                          <p:attrName>style.visibility</p:attrName>
                                        </p:attrNameLst>
                                      </p:cBhvr>
                                      <p:to>
                                        <p:strVal val="visible"/>
                                      </p:to>
                                    </p:set>
                                    <p:anim calcmode="lin" valueType="num">
                                      <p:cBhvr additive="base">
                                        <p:cTn id="32" dur="500" fill="hold"/>
                                        <p:tgtEl>
                                          <p:spTgt spid="13">
                                            <p:txEl>
                                              <p:pRg st="6" end="6"/>
                                            </p:txEl>
                                          </p:spTgt>
                                        </p:tgtEl>
                                        <p:attrNameLst>
                                          <p:attrName>ppt_x</p:attrName>
                                        </p:attrNameLst>
                                      </p:cBhvr>
                                      <p:tavLst>
                                        <p:tav tm="0">
                                          <p:val>
                                            <p:strVal val="1+#ppt_w/2"/>
                                          </p:val>
                                        </p:tav>
                                        <p:tav tm="100000">
                                          <p:val>
                                            <p:strVal val="#ppt_x"/>
                                          </p:val>
                                        </p:tav>
                                      </p:tavLst>
                                    </p:anim>
                                    <p:anim calcmode="lin" valueType="num">
                                      <p:cBhvr additive="base">
                                        <p:cTn id="33" dur="500" fill="hold"/>
                                        <p:tgtEl>
                                          <p:spTgt spid="13">
                                            <p:txEl>
                                              <p:pRg st="6" end="6"/>
                                            </p:txEl>
                                          </p:spTgt>
                                        </p:tgtEl>
                                        <p:attrNameLst>
                                          <p:attrName>ppt_y</p:attrName>
                                        </p:attrNameLst>
                                      </p:cBhvr>
                                      <p:tavLst>
                                        <p:tav tm="0">
                                          <p:val>
                                            <p:strVal val="#ppt_y"/>
                                          </p:val>
                                        </p:tav>
                                        <p:tav tm="100000">
                                          <p:val>
                                            <p:strVal val="#ppt_y"/>
                                          </p:val>
                                        </p:tav>
                                      </p:tavLst>
                                    </p:anim>
                                  </p:childTnLst>
                                </p:cTn>
                              </p:par>
                              <p:par>
                                <p:cTn id="34" presetID="2" presetClass="entr" presetSubtype="2" fill="hold" grpId="0" nodeType="withEffect">
                                  <p:stCondLst>
                                    <p:cond delay="0"/>
                                  </p:stCondLst>
                                  <p:childTnLst>
                                    <p:set>
                                      <p:cBhvr>
                                        <p:cTn id="35" dur="1" fill="hold">
                                          <p:stCondLst>
                                            <p:cond delay="0"/>
                                          </p:stCondLst>
                                        </p:cTn>
                                        <p:tgtEl>
                                          <p:spTgt spid="13">
                                            <p:txEl>
                                              <p:pRg st="7" end="7"/>
                                            </p:txEl>
                                          </p:spTgt>
                                        </p:tgtEl>
                                        <p:attrNameLst>
                                          <p:attrName>style.visibility</p:attrName>
                                        </p:attrNameLst>
                                      </p:cBhvr>
                                      <p:to>
                                        <p:strVal val="visible"/>
                                      </p:to>
                                    </p:set>
                                    <p:anim calcmode="lin" valueType="num">
                                      <p:cBhvr additive="base">
                                        <p:cTn id="36" dur="500" fill="hold"/>
                                        <p:tgtEl>
                                          <p:spTgt spid="13">
                                            <p:txEl>
                                              <p:pRg st="7" end="7"/>
                                            </p:txEl>
                                          </p:spTgt>
                                        </p:tgtEl>
                                        <p:attrNameLst>
                                          <p:attrName>ppt_x</p:attrName>
                                        </p:attrNameLst>
                                      </p:cBhvr>
                                      <p:tavLst>
                                        <p:tav tm="0">
                                          <p:val>
                                            <p:strVal val="1+#ppt_w/2"/>
                                          </p:val>
                                        </p:tav>
                                        <p:tav tm="100000">
                                          <p:val>
                                            <p:strVal val="#ppt_x"/>
                                          </p:val>
                                        </p:tav>
                                      </p:tavLst>
                                    </p:anim>
                                    <p:anim calcmode="lin" valueType="num">
                                      <p:cBhvr additive="base">
                                        <p:cTn id="37" dur="500" fill="hold"/>
                                        <p:tgtEl>
                                          <p:spTgt spid="13">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1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91139" name="Rectangle 2"/>
          <p:cNvSpPr>
            <a:spLocks noGrp="1" noChangeArrowheads="1"/>
          </p:cNvSpPr>
          <p:nvPr>
            <p:ph type="title"/>
          </p:nvPr>
        </p:nvSpPr>
        <p:spPr/>
        <p:txBody>
          <a:bodyPr/>
          <a:lstStyle/>
          <a:p>
            <a:pPr eaLnBrk="1" hangingPunct="1"/>
            <a:r>
              <a:rPr lang="en-US" altLang="zh-CN" dirty="0"/>
              <a:t>4.4  </a:t>
            </a:r>
            <a:r>
              <a:rPr lang="zh-CN" altLang="en-US" dirty="0"/>
              <a:t>审计</a:t>
            </a:r>
          </a:p>
        </p:txBody>
      </p:sp>
      <p:sp>
        <p:nvSpPr>
          <p:cNvPr id="91140" name="Rectangle 3"/>
          <p:cNvSpPr>
            <a:spLocks noGrp="1" noChangeArrowheads="1"/>
          </p:cNvSpPr>
          <p:nvPr>
            <p:ph idx="1"/>
          </p:nvPr>
        </p:nvSpPr>
        <p:spPr/>
        <p:txBody>
          <a:bodyPr>
            <a:noAutofit/>
          </a:bodyPr>
          <a:lstStyle/>
          <a:p>
            <a:pPr eaLnBrk="1" hangingPunct="1">
              <a:lnSpc>
                <a:spcPct val="100000"/>
              </a:lnSpc>
              <a:spcBef>
                <a:spcPts val="1000"/>
              </a:spcBef>
            </a:pPr>
            <a:r>
              <a:rPr lang="zh-CN" altLang="en-US" sz="2800" dirty="0">
                <a:latin typeface="Calibri" panose="020F0502020204030204" charset="0"/>
                <a:cs typeface="Calibri" panose="020F0502020204030204" charset="0"/>
              </a:rPr>
              <a:t>审计</a:t>
            </a:r>
          </a:p>
          <a:p>
            <a:pPr lvl="1" eaLnBrk="1" hangingPunct="1">
              <a:lnSpc>
                <a:spcPct val="100000"/>
              </a:lnSpc>
              <a:spcBef>
                <a:spcPts val="1000"/>
              </a:spcBef>
            </a:pPr>
            <a:r>
              <a:rPr lang="zh-CN" altLang="en-US" sz="2800" dirty="0">
                <a:latin typeface="Calibri" panose="020F0502020204030204" charset="0"/>
                <a:cs typeface="Calibri" panose="020F0502020204030204" charset="0"/>
              </a:rPr>
              <a:t>启用一个专用的</a:t>
            </a:r>
            <a:r>
              <a:rPr lang="zh-CN" altLang="en-US" sz="2800" dirty="0">
                <a:solidFill>
                  <a:srgbClr val="C00000"/>
                </a:solidFill>
                <a:latin typeface="Calibri" panose="020F0502020204030204" charset="0"/>
                <a:cs typeface="Calibri" panose="020F0502020204030204" charset="0"/>
              </a:rPr>
              <a:t>审计日志</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Audit Log</a:t>
            </a:r>
            <a:r>
              <a:rPr lang="zh-CN" altLang="en-US" sz="2800" dirty="0">
                <a:latin typeface="Calibri" panose="020F0502020204030204" charset="0"/>
                <a:cs typeface="Calibri" panose="020F0502020204030204" charset="0"/>
              </a:rPr>
              <a:t>）将用户对数据库的所有操作记录在上面</a:t>
            </a:r>
          </a:p>
          <a:p>
            <a:pPr lvl="1" eaLnBrk="1" hangingPunct="1">
              <a:lnSpc>
                <a:spcPct val="100000"/>
              </a:lnSpc>
              <a:spcBef>
                <a:spcPts val="1000"/>
              </a:spcBef>
            </a:pPr>
            <a:r>
              <a:rPr lang="zh-CN" altLang="en-US" sz="2800" dirty="0">
                <a:latin typeface="Calibri" panose="020F0502020204030204" charset="0"/>
                <a:cs typeface="Calibri" panose="020F0502020204030204" charset="0"/>
              </a:rPr>
              <a:t>审计员利用审计日志</a:t>
            </a:r>
            <a:r>
              <a:rPr lang="zh-CN" altLang="zh-CN" sz="2800" dirty="0">
                <a:latin typeface="Calibri" panose="020F0502020204030204" charset="0"/>
                <a:cs typeface="Calibri" panose="020F0502020204030204" charset="0"/>
              </a:rPr>
              <a:t>监控数据库中的各种行为</a:t>
            </a:r>
            <a:r>
              <a:rPr lang="zh-CN" altLang="en-US" sz="2800" dirty="0">
                <a:latin typeface="Calibri" panose="020F0502020204030204" charset="0"/>
                <a:cs typeface="Calibri" panose="020F0502020204030204" charset="0"/>
              </a:rPr>
              <a:t>，找出非法存取数据的人、时间和内容</a:t>
            </a:r>
          </a:p>
          <a:p>
            <a:pPr lvl="1" eaLnBrk="1" hangingPunct="1">
              <a:lnSpc>
                <a:spcPct val="100000"/>
              </a:lnSpc>
              <a:spcBef>
                <a:spcPts val="1000"/>
              </a:spcBef>
            </a:pPr>
            <a:r>
              <a:rPr lang="en-US" altLang="zh-CN" sz="2800" dirty="0">
                <a:latin typeface="Calibri" panose="020F0502020204030204" charset="0"/>
                <a:cs typeface="Calibri" panose="020F0502020204030204" charset="0"/>
              </a:rPr>
              <a:t>C2</a:t>
            </a:r>
            <a:r>
              <a:rPr lang="zh-CN" altLang="en-US" sz="2800" dirty="0">
                <a:latin typeface="Calibri" panose="020F0502020204030204" charset="0"/>
                <a:cs typeface="Calibri" panose="020F0502020204030204" charset="0"/>
              </a:rPr>
              <a:t>以上安全级别的</a:t>
            </a:r>
            <a:r>
              <a:rPr lang="en-US" altLang="zh-CN" sz="2800" dirty="0">
                <a:latin typeface="Calibri" panose="020F0502020204030204" charset="0"/>
                <a:cs typeface="Calibri" panose="020F0502020204030204" charset="0"/>
              </a:rPr>
              <a:t>DBMS</a:t>
            </a:r>
            <a:r>
              <a:rPr lang="zh-CN" altLang="en-US" sz="2800" dirty="0">
                <a:latin typeface="Calibri" panose="020F0502020204030204" charset="0"/>
                <a:cs typeface="Calibri" panose="020F0502020204030204" charset="0"/>
              </a:rPr>
              <a:t>必须具有审计功能</a:t>
            </a:r>
            <a:endParaRPr lang="en-US" altLang="zh-CN" sz="2800" dirty="0">
              <a:latin typeface="Calibri" panose="020F0502020204030204" charset="0"/>
              <a:cs typeface="Calibri" panose="020F0502020204030204" charset="0"/>
            </a:endParaRPr>
          </a:p>
          <a:p>
            <a:pPr>
              <a:lnSpc>
                <a:spcPct val="100000"/>
              </a:lnSpc>
              <a:spcBef>
                <a:spcPts val="3000"/>
              </a:spcBef>
            </a:pPr>
            <a:r>
              <a:rPr lang="zh-CN" altLang="en-US" sz="2800" dirty="0">
                <a:latin typeface="Calibri" panose="020F0502020204030204" charset="0"/>
                <a:cs typeface="Calibri" panose="020F0502020204030204" charset="0"/>
              </a:rPr>
              <a:t>审计功能的可选性</a:t>
            </a:r>
          </a:p>
          <a:p>
            <a:pPr lvl="1">
              <a:lnSpc>
                <a:spcPct val="100000"/>
              </a:lnSpc>
              <a:spcBef>
                <a:spcPts val="1000"/>
              </a:spcBef>
            </a:pPr>
            <a:r>
              <a:rPr lang="zh-CN" altLang="en-US" sz="2800" dirty="0">
                <a:latin typeface="Calibri" panose="020F0502020204030204" charset="0"/>
                <a:cs typeface="Calibri" panose="020F0502020204030204" charset="0"/>
              </a:rPr>
              <a:t>审计很费时间和空间</a:t>
            </a:r>
          </a:p>
          <a:p>
            <a:pPr lvl="1">
              <a:lnSpc>
                <a:spcPct val="100000"/>
              </a:lnSpc>
              <a:spcBef>
                <a:spcPts val="1000"/>
              </a:spcBef>
            </a:pPr>
            <a:r>
              <a:rPr lang="en-US" altLang="zh-CN" sz="2800" dirty="0">
                <a:latin typeface="Calibri" panose="020F0502020204030204" charset="0"/>
                <a:cs typeface="Calibri" panose="020F0502020204030204" charset="0"/>
              </a:rPr>
              <a:t>DBA</a:t>
            </a:r>
            <a:r>
              <a:rPr lang="zh-CN" altLang="en-US" sz="2800" dirty="0">
                <a:latin typeface="Calibri" panose="020F0502020204030204" charset="0"/>
                <a:cs typeface="Calibri" panose="020F0502020204030204" charset="0"/>
              </a:rPr>
              <a:t>可以根据应用对安全性的要求，灵活地打开或关闭审计功能</a:t>
            </a:r>
          </a:p>
          <a:p>
            <a:pPr lvl="1">
              <a:lnSpc>
                <a:spcPct val="100000"/>
              </a:lnSpc>
              <a:spcBef>
                <a:spcPts val="1000"/>
              </a:spcBef>
            </a:pPr>
            <a:r>
              <a:rPr lang="zh-CN" altLang="en-US" sz="2800" dirty="0">
                <a:latin typeface="Calibri" panose="020F0502020204030204" charset="0"/>
                <a:cs typeface="Calibri" panose="020F0502020204030204" charset="0"/>
              </a:rPr>
              <a:t>审计功能主要用于安全性要求较高的部门</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60</a:t>
            </a:fld>
            <a:endParaRPr lang="zh-CN" altLang="en-US"/>
          </a:p>
        </p:txBody>
      </p:sp>
      <p:sp>
        <p:nvSpPr>
          <p:cNvPr id="3" name="页脚占位符 2"/>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1140">
                                            <p:txEl>
                                              <p:pRg st="4" end="4"/>
                                            </p:txEl>
                                          </p:spTgt>
                                        </p:tgtEl>
                                        <p:attrNameLst>
                                          <p:attrName>style.visibility</p:attrName>
                                        </p:attrNameLst>
                                      </p:cBhvr>
                                      <p:to>
                                        <p:strVal val="visible"/>
                                      </p:to>
                                    </p:set>
                                    <p:anim calcmode="lin" valueType="num">
                                      <p:cBhvr additive="base">
                                        <p:cTn id="7" dur="500" fill="hold"/>
                                        <p:tgtEl>
                                          <p:spTgt spid="91140">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1140">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1140">
                                            <p:txEl>
                                              <p:pRg st="5" end="5"/>
                                            </p:txEl>
                                          </p:spTgt>
                                        </p:tgtEl>
                                        <p:attrNameLst>
                                          <p:attrName>style.visibility</p:attrName>
                                        </p:attrNameLst>
                                      </p:cBhvr>
                                      <p:to>
                                        <p:strVal val="visible"/>
                                      </p:to>
                                    </p:set>
                                    <p:anim calcmode="lin" valueType="num">
                                      <p:cBhvr additive="base">
                                        <p:cTn id="11" dur="500" fill="hold"/>
                                        <p:tgtEl>
                                          <p:spTgt spid="91140">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1140">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1140">
                                            <p:txEl>
                                              <p:pRg st="6" end="6"/>
                                            </p:txEl>
                                          </p:spTgt>
                                        </p:tgtEl>
                                        <p:attrNameLst>
                                          <p:attrName>style.visibility</p:attrName>
                                        </p:attrNameLst>
                                      </p:cBhvr>
                                      <p:to>
                                        <p:strVal val="visible"/>
                                      </p:to>
                                    </p:set>
                                    <p:anim calcmode="lin" valueType="num">
                                      <p:cBhvr additive="base">
                                        <p:cTn id="15" dur="500" fill="hold"/>
                                        <p:tgtEl>
                                          <p:spTgt spid="91140">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1140">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91140">
                                            <p:txEl>
                                              <p:pRg st="7" end="7"/>
                                            </p:txEl>
                                          </p:spTgt>
                                        </p:tgtEl>
                                        <p:attrNameLst>
                                          <p:attrName>style.visibility</p:attrName>
                                        </p:attrNameLst>
                                      </p:cBhvr>
                                      <p:to>
                                        <p:strVal val="visible"/>
                                      </p:to>
                                    </p:set>
                                    <p:anim calcmode="lin" valueType="num">
                                      <p:cBhvr additive="base">
                                        <p:cTn id="19" dur="500" fill="hold"/>
                                        <p:tgtEl>
                                          <p:spTgt spid="91140">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1140">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93187" name="Rectangle 2"/>
          <p:cNvSpPr>
            <a:spLocks noGrp="1" noChangeArrowheads="1"/>
          </p:cNvSpPr>
          <p:nvPr>
            <p:ph type="title"/>
          </p:nvPr>
        </p:nvSpPr>
        <p:spPr/>
        <p:txBody>
          <a:bodyPr/>
          <a:lstStyle/>
          <a:p>
            <a:r>
              <a:rPr lang="zh-CN" altLang="en-US" dirty="0"/>
              <a:t>审计事件</a:t>
            </a:r>
            <a:endParaRPr lang="en-US" altLang="zh-CN" dirty="0"/>
          </a:p>
        </p:txBody>
      </p:sp>
      <p:sp>
        <p:nvSpPr>
          <p:cNvPr id="93188" name="Rectangle 3"/>
          <p:cNvSpPr>
            <a:spLocks noGrp="1" noChangeArrowheads="1"/>
          </p:cNvSpPr>
          <p:nvPr>
            <p:ph idx="1"/>
          </p:nvPr>
        </p:nvSpPr>
        <p:spPr/>
        <p:txBody>
          <a:bodyPr>
            <a:noAutofit/>
          </a:bodyPr>
          <a:lstStyle/>
          <a:p>
            <a:pPr>
              <a:lnSpc>
                <a:spcPct val="100000"/>
              </a:lnSpc>
            </a:pPr>
            <a:r>
              <a:rPr lang="zh-CN" altLang="en-US" sz="2800" dirty="0">
                <a:solidFill>
                  <a:srgbClr val="FF0000"/>
                </a:solidFill>
                <a:latin typeface="Calibri" panose="020F0502020204030204" charset="0"/>
                <a:cs typeface="Calibri" panose="020F0502020204030204" charset="0"/>
              </a:rPr>
              <a:t>服务器事件</a:t>
            </a:r>
            <a:endParaRPr lang="en-US" altLang="zh-CN" sz="2800" dirty="0">
              <a:solidFill>
                <a:srgbClr val="FF0000"/>
              </a:solidFill>
              <a:latin typeface="Calibri" panose="020F0502020204030204" charset="0"/>
              <a:cs typeface="Calibri" panose="020F0502020204030204" charset="0"/>
            </a:endParaRPr>
          </a:p>
          <a:p>
            <a:pPr lvl="1">
              <a:lnSpc>
                <a:spcPct val="100000"/>
              </a:lnSpc>
            </a:pPr>
            <a:r>
              <a:rPr lang="zh-CN" altLang="zh-CN" sz="2800" dirty="0">
                <a:latin typeface="Calibri" panose="020F0502020204030204" charset="0"/>
                <a:cs typeface="Calibri" panose="020F0502020204030204" charset="0"/>
              </a:rPr>
              <a:t>审计数据库服务器发生的事件，包括数据库服务器的启停、配置文件的重新加载等</a:t>
            </a:r>
            <a:endParaRPr lang="en-US" altLang="zh-CN" sz="2800" dirty="0">
              <a:latin typeface="Calibri" panose="020F0502020204030204" charset="0"/>
              <a:cs typeface="Calibri" panose="020F0502020204030204" charset="0"/>
            </a:endParaRPr>
          </a:p>
          <a:p>
            <a:pPr lvl="0">
              <a:lnSpc>
                <a:spcPct val="100000"/>
              </a:lnSpc>
              <a:spcBef>
                <a:spcPts val="2000"/>
              </a:spcBef>
            </a:pPr>
            <a:r>
              <a:rPr lang="zh-CN" altLang="en-US" sz="2800" dirty="0">
                <a:solidFill>
                  <a:srgbClr val="FF0000"/>
                </a:solidFill>
                <a:latin typeface="Calibri" panose="020F0502020204030204" charset="0"/>
                <a:cs typeface="Calibri" panose="020F0502020204030204" charset="0"/>
              </a:rPr>
              <a:t>系统权限</a:t>
            </a:r>
            <a:endParaRPr lang="en-US" altLang="zh-CN" sz="2800" dirty="0">
              <a:solidFill>
                <a:srgbClr val="FF0000"/>
              </a:solidFill>
              <a:latin typeface="Calibri" panose="020F0502020204030204" charset="0"/>
              <a:cs typeface="Calibri" panose="020F0502020204030204" charset="0"/>
            </a:endParaRPr>
          </a:p>
          <a:p>
            <a:pPr lvl="1">
              <a:lnSpc>
                <a:spcPct val="100000"/>
              </a:lnSpc>
            </a:pPr>
            <a:r>
              <a:rPr lang="zh-CN" altLang="zh-CN" sz="2800" dirty="0">
                <a:latin typeface="Calibri" panose="020F0502020204030204" charset="0"/>
                <a:cs typeface="Calibri" panose="020F0502020204030204" charset="0"/>
              </a:rPr>
              <a:t>对系统拥有的结构或模式对象进行操作的审计</a:t>
            </a:r>
            <a:endParaRPr lang="en-US" altLang="zh-CN" sz="2800" dirty="0">
              <a:latin typeface="Calibri" panose="020F0502020204030204" charset="0"/>
              <a:cs typeface="Calibri" panose="020F0502020204030204" charset="0"/>
            </a:endParaRPr>
          </a:p>
          <a:p>
            <a:pPr lvl="1">
              <a:lnSpc>
                <a:spcPct val="100000"/>
              </a:lnSpc>
            </a:pPr>
            <a:r>
              <a:rPr lang="zh-CN" altLang="zh-CN" sz="2800" dirty="0">
                <a:latin typeface="Calibri" panose="020F0502020204030204" charset="0"/>
                <a:cs typeface="Calibri" panose="020F0502020204030204" charset="0"/>
              </a:rPr>
              <a:t>执行相关操作需要的权限是通过系统权限获得的</a:t>
            </a:r>
          </a:p>
          <a:p>
            <a:pPr lvl="0">
              <a:lnSpc>
                <a:spcPct val="100000"/>
              </a:lnSpc>
              <a:spcBef>
                <a:spcPts val="2000"/>
              </a:spcBef>
            </a:pPr>
            <a:r>
              <a:rPr lang="zh-CN" altLang="en-US" sz="2800" dirty="0">
                <a:solidFill>
                  <a:srgbClr val="FF0000"/>
                </a:solidFill>
                <a:latin typeface="Calibri" panose="020F0502020204030204" charset="0"/>
                <a:cs typeface="Calibri" panose="020F0502020204030204" charset="0"/>
              </a:rPr>
              <a:t>语句事件</a:t>
            </a:r>
            <a:endParaRPr lang="en-US" altLang="zh-CN" sz="2800" dirty="0">
              <a:solidFill>
                <a:srgbClr val="FF0000"/>
              </a:solidFill>
              <a:latin typeface="Calibri" panose="020F0502020204030204" charset="0"/>
              <a:cs typeface="Calibri" panose="020F0502020204030204" charset="0"/>
            </a:endParaRPr>
          </a:p>
          <a:p>
            <a:pPr lvl="1">
              <a:lnSpc>
                <a:spcPct val="100000"/>
              </a:lnSpc>
            </a:pPr>
            <a:r>
              <a:rPr lang="zh-CN" altLang="zh-CN" sz="2800" dirty="0">
                <a:latin typeface="Calibri" panose="020F0502020204030204" charset="0"/>
                <a:cs typeface="Calibri" panose="020F0502020204030204" charset="0"/>
              </a:rPr>
              <a:t>对</a:t>
            </a:r>
            <a:r>
              <a:rPr lang="en-US" altLang="zh-CN" sz="2800" dirty="0">
                <a:latin typeface="Calibri" panose="020F0502020204030204" charset="0"/>
                <a:cs typeface="Calibri" panose="020F0502020204030204" charset="0"/>
              </a:rPr>
              <a:t>SQL</a:t>
            </a:r>
            <a:r>
              <a:rPr lang="zh-CN" altLang="zh-CN" sz="2800" dirty="0">
                <a:latin typeface="Calibri" panose="020F0502020204030204" charset="0"/>
                <a:cs typeface="Calibri" panose="020F0502020204030204" charset="0"/>
              </a:rPr>
              <a:t>语句的审计，如对</a:t>
            </a:r>
            <a:r>
              <a:rPr lang="en-US" altLang="zh-CN" sz="2800" dirty="0">
                <a:latin typeface="Calibri" panose="020F0502020204030204" charset="0"/>
                <a:cs typeface="Calibri" panose="020F0502020204030204" charset="0"/>
              </a:rPr>
              <a:t>DDL</a:t>
            </a:r>
            <a:r>
              <a:rPr lang="zh-CN" altLang="zh-CN"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DML</a:t>
            </a:r>
            <a:r>
              <a:rPr lang="zh-CN" altLang="zh-CN"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DQL</a:t>
            </a:r>
            <a:r>
              <a:rPr lang="zh-CN" altLang="zh-CN" sz="2800" dirty="0">
                <a:latin typeface="Calibri" panose="020F0502020204030204" charset="0"/>
                <a:cs typeface="Calibri" panose="020F0502020204030204" charset="0"/>
              </a:rPr>
              <a:t>及</a:t>
            </a:r>
            <a:r>
              <a:rPr lang="en-US" altLang="zh-CN" sz="2800" dirty="0">
                <a:latin typeface="Calibri" panose="020F0502020204030204" charset="0"/>
                <a:cs typeface="Calibri" panose="020F0502020204030204" charset="0"/>
              </a:rPr>
              <a:t>DCL</a:t>
            </a:r>
            <a:r>
              <a:rPr lang="zh-CN" altLang="zh-CN" sz="2800" dirty="0">
                <a:latin typeface="Calibri" panose="020F0502020204030204" charset="0"/>
                <a:cs typeface="Calibri" panose="020F0502020204030204" charset="0"/>
              </a:rPr>
              <a:t>语句的审计</a:t>
            </a:r>
            <a:endParaRPr lang="en-US" altLang="zh-CN" sz="2800" dirty="0">
              <a:latin typeface="Calibri" panose="020F0502020204030204" charset="0"/>
              <a:cs typeface="Calibri" panose="020F0502020204030204" charset="0"/>
            </a:endParaRPr>
          </a:p>
          <a:p>
            <a:pPr lvl="0">
              <a:lnSpc>
                <a:spcPct val="100000"/>
              </a:lnSpc>
              <a:spcBef>
                <a:spcPts val="2000"/>
              </a:spcBef>
            </a:pPr>
            <a:r>
              <a:rPr lang="zh-CN" altLang="en-US" sz="2800" dirty="0">
                <a:solidFill>
                  <a:srgbClr val="FF0000"/>
                </a:solidFill>
                <a:latin typeface="Calibri" panose="020F0502020204030204" charset="0"/>
                <a:cs typeface="Calibri" panose="020F0502020204030204" charset="0"/>
              </a:rPr>
              <a:t>模式对象事件</a:t>
            </a:r>
            <a:endParaRPr lang="en-US" altLang="zh-CN" sz="2800" dirty="0">
              <a:solidFill>
                <a:srgbClr val="FF0000"/>
              </a:solidFill>
              <a:latin typeface="Calibri" panose="020F0502020204030204" charset="0"/>
              <a:cs typeface="Calibri" panose="020F0502020204030204" charset="0"/>
            </a:endParaRPr>
          </a:p>
          <a:p>
            <a:pPr lvl="1">
              <a:lnSpc>
                <a:spcPct val="100000"/>
              </a:lnSpc>
            </a:pPr>
            <a:r>
              <a:rPr lang="zh-CN" altLang="zh-CN" sz="2800" dirty="0">
                <a:latin typeface="Calibri" panose="020F0502020204030204" charset="0"/>
                <a:cs typeface="Calibri" panose="020F0502020204030204" charset="0"/>
              </a:rPr>
              <a:t>对特定模式对象上进行的</a:t>
            </a:r>
            <a:r>
              <a:rPr lang="en-US" altLang="zh-CN" sz="2800" dirty="0">
                <a:latin typeface="Calibri" panose="020F0502020204030204" charset="0"/>
                <a:cs typeface="Calibri" panose="020F0502020204030204" charset="0"/>
              </a:rPr>
              <a:t>SELECT</a:t>
            </a:r>
            <a:r>
              <a:rPr lang="zh-CN" altLang="zh-CN" sz="2800" dirty="0">
                <a:latin typeface="Calibri" panose="020F0502020204030204" charset="0"/>
                <a:cs typeface="Calibri" panose="020F0502020204030204" charset="0"/>
              </a:rPr>
              <a:t>或</a:t>
            </a:r>
            <a:r>
              <a:rPr lang="en-US" altLang="zh-CN" sz="2800" dirty="0">
                <a:latin typeface="Calibri" panose="020F0502020204030204" charset="0"/>
                <a:cs typeface="Calibri" panose="020F0502020204030204" charset="0"/>
              </a:rPr>
              <a:t>DML</a:t>
            </a:r>
            <a:r>
              <a:rPr lang="zh-CN" altLang="zh-CN" sz="2800" dirty="0">
                <a:latin typeface="Calibri" panose="020F0502020204030204" charset="0"/>
                <a:cs typeface="Calibri" panose="020F0502020204030204" charset="0"/>
              </a:rPr>
              <a:t>操作的审计</a:t>
            </a:r>
          </a:p>
          <a:p>
            <a:pPr lvl="1">
              <a:lnSpc>
                <a:spcPct val="100000"/>
              </a:lnSpc>
            </a:pPr>
            <a:r>
              <a:rPr lang="zh-CN" altLang="en-US" sz="2800" dirty="0">
                <a:latin typeface="Calibri" panose="020F0502020204030204" charset="0"/>
                <a:cs typeface="Calibri" panose="020F0502020204030204" charset="0"/>
              </a:rPr>
              <a:t>模式对象主要包括表、视图、存储过程</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函数，但不包括表上的索引、约束、触发器等。</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61</a:t>
            </a:fld>
            <a:endParaRPr lang="zh-CN" altLang="en-US"/>
          </a:p>
        </p:txBody>
      </p:sp>
      <p:sp>
        <p:nvSpPr>
          <p:cNvPr id="3" name="页脚占位符 2"/>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审计功能</a:t>
            </a:r>
          </a:p>
        </p:txBody>
      </p:sp>
      <p:sp>
        <p:nvSpPr>
          <p:cNvPr id="3" name="内容占位符 2"/>
          <p:cNvSpPr>
            <a:spLocks noGrp="1"/>
          </p:cNvSpPr>
          <p:nvPr>
            <p:ph idx="1"/>
          </p:nvPr>
        </p:nvSpPr>
        <p:spPr/>
        <p:txBody>
          <a:bodyPr>
            <a:noAutofit/>
          </a:bodyPr>
          <a:lstStyle/>
          <a:p>
            <a:r>
              <a:rPr lang="zh-CN" altLang="en-US" sz="2800" dirty="0">
                <a:solidFill>
                  <a:srgbClr val="C00000"/>
                </a:solidFill>
              </a:rPr>
              <a:t>基本功能</a:t>
            </a:r>
            <a:r>
              <a:rPr lang="zh-CN" altLang="en-US" sz="2800" dirty="0"/>
              <a:t>：</a:t>
            </a:r>
            <a:r>
              <a:rPr lang="zh-CN" altLang="zh-CN" sz="2800" dirty="0"/>
              <a:t>提供多种审计查阅方式</a:t>
            </a:r>
            <a:endParaRPr lang="en-US" altLang="zh-CN" sz="2800" dirty="0"/>
          </a:p>
          <a:p>
            <a:r>
              <a:rPr lang="zh-CN" altLang="en-US" sz="2800" dirty="0">
                <a:solidFill>
                  <a:srgbClr val="C00000"/>
                </a:solidFill>
              </a:rPr>
              <a:t>多套审计规则</a:t>
            </a:r>
            <a:r>
              <a:rPr lang="zh-CN" altLang="en-US" sz="2800" dirty="0"/>
              <a:t>：一般在数据库初始化时设定</a:t>
            </a:r>
            <a:endParaRPr lang="en-US" altLang="zh-CN" sz="2800" dirty="0"/>
          </a:p>
          <a:p>
            <a:r>
              <a:rPr lang="zh-CN" altLang="en-US" sz="2800" dirty="0">
                <a:solidFill>
                  <a:srgbClr val="C00000"/>
                </a:solidFill>
              </a:rPr>
              <a:t>提供审计分析和报表功能</a:t>
            </a:r>
            <a:endParaRPr lang="en-US" altLang="zh-CN" sz="2800" dirty="0"/>
          </a:p>
          <a:p>
            <a:r>
              <a:rPr lang="zh-CN" altLang="en-US" sz="2800" dirty="0">
                <a:solidFill>
                  <a:srgbClr val="C00000"/>
                </a:solidFill>
              </a:rPr>
              <a:t>审计日志管理功能</a:t>
            </a:r>
            <a:endParaRPr lang="en-US" altLang="zh-CN" sz="2800" dirty="0"/>
          </a:p>
          <a:p>
            <a:pPr lvl="1"/>
            <a:r>
              <a:rPr lang="zh-CN" altLang="zh-CN" sz="2800" dirty="0"/>
              <a:t>防止审计员误删审计记录，审计日志必须先转储后删除；</a:t>
            </a:r>
            <a:endParaRPr lang="en-US" altLang="zh-CN" sz="2800" dirty="0"/>
          </a:p>
          <a:p>
            <a:pPr lvl="1"/>
            <a:r>
              <a:rPr lang="zh-CN" altLang="zh-CN" sz="2800" dirty="0"/>
              <a:t>对转储的审计记录文件提供完整性和保密性保护；</a:t>
            </a:r>
            <a:endParaRPr lang="en-US" altLang="zh-CN" sz="2800" dirty="0"/>
          </a:p>
          <a:p>
            <a:pPr lvl="1"/>
            <a:r>
              <a:rPr lang="zh-CN" altLang="zh-CN" sz="2800" dirty="0"/>
              <a:t>只允许审计员查阅和转储审计记录</a:t>
            </a:r>
            <a:r>
              <a:rPr lang="zh-CN" altLang="en-US" sz="2800" dirty="0"/>
              <a:t>，</a:t>
            </a:r>
            <a:r>
              <a:rPr lang="zh-CN" altLang="zh-CN" sz="2800" dirty="0"/>
              <a:t>不允许任何用户新增和修改审计记录等。</a:t>
            </a:r>
            <a:endParaRPr lang="en-US" altLang="zh-CN" sz="2800" dirty="0"/>
          </a:p>
          <a:p>
            <a:r>
              <a:rPr lang="zh-CN" altLang="en-US" sz="2800" dirty="0">
                <a:solidFill>
                  <a:srgbClr val="C00000"/>
                </a:solidFill>
              </a:rPr>
              <a:t>提供查询审计设置及审计记录信息的专门视图</a:t>
            </a:r>
          </a:p>
        </p:txBody>
      </p:sp>
      <p:sp>
        <p:nvSpPr>
          <p:cNvPr id="5" name="灯片编号占位符 4"/>
          <p:cNvSpPr>
            <a:spLocks noGrp="1"/>
          </p:cNvSpPr>
          <p:nvPr>
            <p:ph type="sldNum" sz="quarter" idx="12"/>
          </p:nvPr>
        </p:nvSpPr>
        <p:spPr/>
        <p:txBody>
          <a:bodyPr/>
          <a:lstStyle/>
          <a:p>
            <a:fld id="{565CE74E-AB26-4998-AD42-012C4C1AD076}" type="slidenum">
              <a:rPr lang="zh-CN" altLang="en-US" smtClean="0"/>
              <a:t>62</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审计级别</a:t>
            </a:r>
          </a:p>
        </p:txBody>
      </p:sp>
      <p:sp>
        <p:nvSpPr>
          <p:cNvPr id="3" name="内容占位符 2"/>
          <p:cNvSpPr>
            <a:spLocks noGrp="1"/>
          </p:cNvSpPr>
          <p:nvPr>
            <p:ph idx="1"/>
          </p:nvPr>
        </p:nvSpPr>
        <p:spPr/>
        <p:txBody>
          <a:bodyPr>
            <a:noAutofit/>
          </a:bodyPr>
          <a:lstStyle/>
          <a:p>
            <a:pPr eaLnBrk="1" hangingPunct="1"/>
            <a:r>
              <a:rPr lang="zh-CN" altLang="en-US" dirty="0">
                <a:solidFill>
                  <a:srgbClr val="FF0000"/>
                </a:solidFill>
              </a:rPr>
              <a:t>用户级审计</a:t>
            </a:r>
            <a:endParaRPr lang="en-US" altLang="zh-CN" dirty="0">
              <a:solidFill>
                <a:srgbClr val="FF0000"/>
              </a:solidFill>
            </a:endParaRPr>
          </a:p>
          <a:p>
            <a:pPr lvl="1">
              <a:lnSpc>
                <a:spcPct val="150000"/>
              </a:lnSpc>
              <a:buSzPct val="85000"/>
            </a:pPr>
            <a:r>
              <a:rPr lang="zh-CN" altLang="en-US" dirty="0"/>
              <a:t>任何用户可设置的审计</a:t>
            </a:r>
            <a:endParaRPr lang="en-US" altLang="zh-CN" dirty="0"/>
          </a:p>
          <a:p>
            <a:pPr lvl="1">
              <a:lnSpc>
                <a:spcPct val="150000"/>
              </a:lnSpc>
              <a:buSzPct val="85000"/>
            </a:pPr>
            <a:r>
              <a:rPr lang="zh-CN" altLang="en-US" dirty="0"/>
              <a:t>主要是用户针对自己创建的数据库表和视图进行审计</a:t>
            </a:r>
          </a:p>
          <a:p>
            <a:pPr lvl="1">
              <a:lnSpc>
                <a:spcPct val="150000"/>
              </a:lnSpc>
              <a:buSzPct val="85000"/>
            </a:pPr>
            <a:endParaRPr lang="en-US" altLang="zh-CN" dirty="0"/>
          </a:p>
          <a:p>
            <a:pPr eaLnBrk="1" hangingPunct="1"/>
            <a:r>
              <a:rPr lang="zh-CN" altLang="en-US" dirty="0">
                <a:solidFill>
                  <a:srgbClr val="FF0000"/>
                </a:solidFill>
              </a:rPr>
              <a:t>系统级审计</a:t>
            </a:r>
            <a:endParaRPr lang="en-US" altLang="zh-CN" dirty="0">
              <a:solidFill>
                <a:srgbClr val="FF0000"/>
              </a:solidFill>
            </a:endParaRPr>
          </a:p>
          <a:p>
            <a:pPr lvl="1">
              <a:lnSpc>
                <a:spcPct val="150000"/>
              </a:lnSpc>
              <a:buSzPct val="85000"/>
            </a:pPr>
            <a:r>
              <a:rPr lang="zh-CN" altLang="en-US" dirty="0"/>
              <a:t>只能由数据库管理员设置</a:t>
            </a:r>
            <a:endParaRPr lang="en-US" altLang="zh-CN" dirty="0"/>
          </a:p>
          <a:p>
            <a:pPr lvl="1">
              <a:lnSpc>
                <a:spcPct val="150000"/>
              </a:lnSpc>
              <a:buSzPct val="85000"/>
            </a:pPr>
            <a:r>
              <a:rPr lang="zh-CN" altLang="en-US" dirty="0"/>
              <a:t>监测成功或失败的登录要求、监测授权和收回操作以及其他数据库级权限下的操作</a:t>
            </a:r>
            <a:endParaRPr lang="en-US" altLang="zh-CN" dirty="0"/>
          </a:p>
        </p:txBody>
      </p:sp>
      <p:sp>
        <p:nvSpPr>
          <p:cNvPr id="5" name="灯片编号占位符 4"/>
          <p:cNvSpPr>
            <a:spLocks noGrp="1"/>
          </p:cNvSpPr>
          <p:nvPr>
            <p:ph type="sldNum" sz="quarter" idx="12"/>
          </p:nvPr>
        </p:nvSpPr>
        <p:spPr/>
        <p:txBody>
          <a:bodyPr/>
          <a:lstStyle/>
          <a:p>
            <a:fld id="{565CE74E-AB26-4998-AD42-012C4C1AD076}" type="slidenum">
              <a:rPr lang="zh-CN" altLang="en-US" smtClean="0"/>
              <a:t>63</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95235" name="Rectangle 2"/>
          <p:cNvSpPr>
            <a:spLocks noGrp="1" noChangeArrowheads="1"/>
          </p:cNvSpPr>
          <p:nvPr>
            <p:ph type="title"/>
          </p:nvPr>
        </p:nvSpPr>
        <p:spPr/>
        <p:txBody>
          <a:bodyPr/>
          <a:lstStyle/>
          <a:p>
            <a:r>
              <a:rPr lang="zh-CN" altLang="zh-CN" dirty="0"/>
              <a:t>审计</a:t>
            </a:r>
            <a:r>
              <a:rPr lang="zh-CN" altLang="en-US" dirty="0"/>
              <a:t>语句</a:t>
            </a:r>
            <a:endParaRPr lang="zh-CN" altLang="zh-CN" dirty="0"/>
          </a:p>
        </p:txBody>
      </p:sp>
      <p:sp>
        <p:nvSpPr>
          <p:cNvPr id="95236" name="Rectangle 3"/>
          <p:cNvSpPr>
            <a:spLocks noGrp="1" noChangeArrowheads="1"/>
          </p:cNvSpPr>
          <p:nvPr>
            <p:ph idx="1"/>
          </p:nvPr>
        </p:nvSpPr>
        <p:spPr>
          <a:xfrm>
            <a:off x="424180" y="687070"/>
            <a:ext cx="11343005" cy="1769110"/>
          </a:xfrm>
        </p:spPr>
        <p:txBody>
          <a:bodyPr>
            <a:noAutofit/>
          </a:bodyPr>
          <a:lstStyle/>
          <a:p>
            <a:pPr fontAlgn="auto">
              <a:spcBef>
                <a:spcPts val="1000"/>
              </a:spcBef>
            </a:pPr>
            <a:r>
              <a:rPr lang="en-US" altLang="zh-CN" sz="2800" dirty="0">
                <a:solidFill>
                  <a:srgbClr val="FF0000"/>
                </a:solidFill>
                <a:latin typeface="Calibri" panose="020F0502020204030204" charset="0"/>
                <a:cs typeface="Calibri" panose="020F0502020204030204" charset="0"/>
              </a:rPr>
              <a:t>AUDIT</a:t>
            </a:r>
            <a:r>
              <a:rPr lang="zh-CN" altLang="en-US" sz="2800" dirty="0">
                <a:latin typeface="Calibri" panose="020F0502020204030204" charset="0"/>
                <a:cs typeface="Calibri" panose="020F0502020204030204" charset="0"/>
              </a:rPr>
              <a:t>语句</a:t>
            </a:r>
            <a:r>
              <a:rPr lang="en-US" altLang="zh-CN" sz="2800" dirty="0">
                <a:latin typeface="Calibri" panose="020F0502020204030204" charset="0"/>
                <a:cs typeface="Calibri" panose="020F0502020204030204" charset="0"/>
              </a:rPr>
              <a:t> </a:t>
            </a:r>
            <a:r>
              <a:rPr lang="zh-CN" altLang="en-US" sz="2800" dirty="0">
                <a:latin typeface="Calibri" panose="020F0502020204030204" charset="0"/>
                <a:cs typeface="Calibri" panose="020F0502020204030204" charset="0"/>
              </a:rPr>
              <a:t>和</a:t>
            </a:r>
            <a:r>
              <a:rPr lang="en-US" altLang="zh-CN" sz="2800" dirty="0">
                <a:latin typeface="Calibri" panose="020F0502020204030204" charset="0"/>
                <a:cs typeface="Calibri" panose="020F0502020204030204" charset="0"/>
              </a:rPr>
              <a:t> </a:t>
            </a:r>
            <a:r>
              <a:rPr lang="en-US" altLang="zh-CN" sz="2800" dirty="0">
                <a:solidFill>
                  <a:srgbClr val="FF0000"/>
                </a:solidFill>
                <a:latin typeface="Calibri" panose="020F0502020204030204" charset="0"/>
                <a:cs typeface="Calibri" panose="020F0502020204030204" charset="0"/>
              </a:rPr>
              <a:t>NOAUDIT</a:t>
            </a:r>
            <a:r>
              <a:rPr lang="zh-CN" altLang="en-US" sz="2800" dirty="0">
                <a:latin typeface="Calibri" panose="020F0502020204030204" charset="0"/>
                <a:cs typeface="Calibri" panose="020F0502020204030204" charset="0"/>
              </a:rPr>
              <a:t>语句</a:t>
            </a:r>
            <a:endParaRPr lang="en-US" altLang="zh-CN" sz="2800" dirty="0">
              <a:latin typeface="Calibri" panose="020F0502020204030204" charset="0"/>
              <a:cs typeface="Calibri" panose="020F0502020204030204" charset="0"/>
            </a:endParaRPr>
          </a:p>
          <a:p>
            <a:pPr lvl="1" fontAlgn="auto">
              <a:spcBef>
                <a:spcPts val="1000"/>
              </a:spcBef>
            </a:pPr>
            <a:r>
              <a:rPr lang="en-US" altLang="zh-CN" sz="2800" dirty="0">
                <a:latin typeface="Calibri" panose="020F0502020204030204" charset="0"/>
                <a:cs typeface="Calibri" panose="020F0502020204030204" charset="0"/>
              </a:rPr>
              <a:t>AUDIT</a:t>
            </a:r>
            <a:r>
              <a:rPr lang="zh-CN" altLang="en-US" sz="2800" dirty="0">
                <a:latin typeface="Calibri" panose="020F0502020204030204" charset="0"/>
                <a:cs typeface="Calibri" panose="020F0502020204030204" charset="0"/>
              </a:rPr>
              <a:t>语句：设置审计功能 </a:t>
            </a:r>
          </a:p>
          <a:p>
            <a:pPr lvl="1" fontAlgn="auto">
              <a:spcBef>
                <a:spcPts val="1000"/>
              </a:spcBef>
            </a:pPr>
            <a:r>
              <a:rPr lang="en-US" altLang="zh-CN" sz="2800" dirty="0">
                <a:latin typeface="Calibri" panose="020F0502020204030204" charset="0"/>
                <a:cs typeface="Calibri" panose="020F0502020204030204" charset="0"/>
              </a:rPr>
              <a:t>NOAUDIT</a:t>
            </a:r>
            <a:r>
              <a:rPr lang="zh-CN" altLang="en-US" sz="2800" dirty="0">
                <a:latin typeface="Calibri" panose="020F0502020204030204" charset="0"/>
                <a:cs typeface="Calibri" panose="020F0502020204030204" charset="0"/>
              </a:rPr>
              <a:t>语句：取消审计功能</a:t>
            </a:r>
            <a:endParaRPr lang="en-US" altLang="zh-CN" sz="2800" dirty="0">
              <a:solidFill>
                <a:srgbClr val="FF0000"/>
              </a:solidFill>
              <a:latin typeface="Calibri" panose="020F0502020204030204" charset="0"/>
              <a:cs typeface="Calibri" panose="020F0502020204030204" charset="0"/>
            </a:endParaRPr>
          </a:p>
        </p:txBody>
      </p:sp>
      <p:sp>
        <p:nvSpPr>
          <p:cNvPr id="2" name="灯片编号占位符 1"/>
          <p:cNvSpPr>
            <a:spLocks noGrp="1"/>
          </p:cNvSpPr>
          <p:nvPr>
            <p:ph type="sldNum" sz="quarter" idx="12"/>
          </p:nvPr>
        </p:nvSpPr>
        <p:spPr/>
        <p:txBody>
          <a:bodyPr/>
          <a:lstStyle/>
          <a:p>
            <a:fld id="{565CE74E-AB26-4998-AD42-012C4C1AD076}" type="slidenum">
              <a:rPr lang="zh-CN" altLang="en-US" smtClean="0"/>
              <a:t>64</a:t>
            </a:fld>
            <a:endParaRPr lang="zh-CN" altLang="en-US"/>
          </a:p>
        </p:txBody>
      </p:sp>
      <p:sp>
        <p:nvSpPr>
          <p:cNvPr id="3" name="页脚占位符 2"/>
          <p:cNvSpPr>
            <a:spLocks noGrp="1"/>
          </p:cNvSpPr>
          <p:nvPr>
            <p:ph type="ftr" sz="quarter" idx="11"/>
          </p:nvPr>
        </p:nvSpPr>
        <p:spPr/>
        <p:txBody>
          <a:bodyPr/>
          <a:lstStyle/>
          <a:p>
            <a:r>
              <a:rPr lang="zh-CN" altLang="en-US"/>
              <a:t>ch04_数据库安全性</a:t>
            </a:r>
          </a:p>
        </p:txBody>
      </p:sp>
      <p:sp>
        <p:nvSpPr>
          <p:cNvPr id="4" name="Rectangle 3"/>
          <p:cNvSpPr>
            <a:spLocks noGrp="1" noChangeArrowheads="1"/>
          </p:cNvSpPr>
          <p:nvPr/>
        </p:nvSpPr>
        <p:spPr>
          <a:xfrm>
            <a:off x="424180" y="2880995"/>
            <a:ext cx="11343005" cy="565150"/>
          </a:xfrm>
          <a:prstGeom prst="rect">
            <a:avLst/>
          </a:prstGeom>
          <a:solidFill>
            <a:schemeClr val="accent3">
              <a:lumMod val="20000"/>
              <a:lumOff val="80000"/>
              <a:alpha val="50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例4.</a:t>
            </a:r>
            <a:r>
              <a:rPr lang="en-US" altLang="zh-CN" sz="2800" dirty="0">
                <a:latin typeface="Calibri" panose="020F0502020204030204" charset="0"/>
                <a:cs typeface="Calibri" panose="020F0502020204030204" charset="0"/>
              </a:rPr>
              <a:t>15] </a:t>
            </a:r>
            <a:r>
              <a:rPr lang="zh-CN" altLang="en-US" sz="2800" dirty="0">
                <a:latin typeface="Calibri" panose="020F0502020204030204" charset="0"/>
                <a:cs typeface="Calibri" panose="020F0502020204030204" charset="0"/>
              </a:rPr>
              <a:t>对修改</a:t>
            </a:r>
            <a:r>
              <a:rPr lang="en-US" altLang="zh-CN" sz="2800" dirty="0">
                <a:latin typeface="Calibri" panose="020F0502020204030204" charset="0"/>
                <a:cs typeface="Calibri" panose="020F0502020204030204" charset="0"/>
              </a:rPr>
              <a:t>SC</a:t>
            </a:r>
            <a:r>
              <a:rPr lang="zh-CN" altLang="en-US" sz="2800" dirty="0">
                <a:latin typeface="Calibri" panose="020F0502020204030204" charset="0"/>
                <a:cs typeface="Calibri" panose="020F0502020204030204" charset="0"/>
              </a:rPr>
              <a:t>表结构或修改</a:t>
            </a:r>
            <a:r>
              <a:rPr lang="en-US" altLang="zh-CN" sz="2800" dirty="0">
                <a:latin typeface="Calibri" panose="020F0502020204030204" charset="0"/>
                <a:cs typeface="Calibri" panose="020F0502020204030204" charset="0"/>
              </a:rPr>
              <a:t>SC</a:t>
            </a:r>
            <a:r>
              <a:rPr lang="zh-CN" altLang="en-US" sz="2800" dirty="0">
                <a:latin typeface="Calibri" panose="020F0502020204030204" charset="0"/>
                <a:cs typeface="Calibri" panose="020F0502020204030204" charset="0"/>
              </a:rPr>
              <a:t>表数据的操作进行审计</a:t>
            </a:r>
            <a:endParaRPr lang="en-US" altLang="zh-CN" sz="2800" dirty="0">
              <a:solidFill>
                <a:srgbClr val="FF0000"/>
              </a:solidFill>
              <a:latin typeface="Calibri" panose="020F0502020204030204" charset="0"/>
              <a:cs typeface="Calibri" panose="020F0502020204030204" charset="0"/>
            </a:endParaRPr>
          </a:p>
        </p:txBody>
      </p:sp>
      <p:sp>
        <p:nvSpPr>
          <p:cNvPr id="5" name="Rectangle 3"/>
          <p:cNvSpPr>
            <a:spLocks noGrp="1" noChangeArrowheads="1"/>
          </p:cNvSpPr>
          <p:nvPr/>
        </p:nvSpPr>
        <p:spPr>
          <a:xfrm>
            <a:off x="1673225" y="3550920"/>
            <a:ext cx="8080375" cy="565150"/>
          </a:xfrm>
          <a:prstGeom prst="rect">
            <a:avLst/>
          </a:prstGeom>
        </p:spPr>
        <p:txBody>
          <a:bodyPr vert="horz" wrap="square"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3855" lvl="1" indent="0">
              <a:buNone/>
            </a:pPr>
            <a:r>
              <a:rPr lang="en-US" altLang="zh-CN" sz="2800" dirty="0">
                <a:solidFill>
                  <a:srgbClr val="FF0000"/>
                </a:solidFill>
                <a:latin typeface="Calibri" panose="020F0502020204030204" charset="0"/>
                <a:cs typeface="Calibri" panose="020F0502020204030204" charset="0"/>
              </a:rPr>
              <a:t>AUDIT  ALTER, UPDATE  ON  SC;</a:t>
            </a:r>
          </a:p>
        </p:txBody>
      </p:sp>
      <p:sp>
        <p:nvSpPr>
          <p:cNvPr id="6" name="Rectangle 3"/>
          <p:cNvSpPr>
            <a:spLocks noGrp="1" noChangeArrowheads="1"/>
          </p:cNvSpPr>
          <p:nvPr/>
        </p:nvSpPr>
        <p:spPr>
          <a:xfrm>
            <a:off x="424180" y="4787900"/>
            <a:ext cx="11343005" cy="565150"/>
          </a:xfrm>
          <a:prstGeom prst="rect">
            <a:avLst/>
          </a:prstGeom>
          <a:solidFill>
            <a:schemeClr val="accent3">
              <a:lumMod val="20000"/>
              <a:lumOff val="80000"/>
              <a:alpha val="50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例4.</a:t>
            </a:r>
            <a:r>
              <a:rPr lang="en-US" altLang="zh-CN" sz="2800" dirty="0">
                <a:latin typeface="Calibri" panose="020F0502020204030204" charset="0"/>
                <a:cs typeface="Calibri" panose="020F0502020204030204" charset="0"/>
              </a:rPr>
              <a:t>16] </a:t>
            </a:r>
            <a:r>
              <a:rPr lang="zh-CN" altLang="en-US" sz="2800" dirty="0">
                <a:latin typeface="Calibri" panose="020F0502020204030204" charset="0"/>
                <a:cs typeface="Calibri" panose="020F0502020204030204" charset="0"/>
              </a:rPr>
              <a:t>取消对</a:t>
            </a:r>
            <a:r>
              <a:rPr lang="en-US" altLang="zh-CN" sz="2800" dirty="0">
                <a:latin typeface="Calibri" panose="020F0502020204030204" charset="0"/>
                <a:cs typeface="Calibri" panose="020F0502020204030204" charset="0"/>
              </a:rPr>
              <a:t>SC</a:t>
            </a:r>
            <a:r>
              <a:rPr lang="zh-CN" altLang="en-US" sz="2800" dirty="0">
                <a:latin typeface="Calibri" panose="020F0502020204030204" charset="0"/>
                <a:cs typeface="Calibri" panose="020F0502020204030204" charset="0"/>
              </a:rPr>
              <a:t>表上的</a:t>
            </a:r>
            <a:r>
              <a:rPr lang="en-US" altLang="zh-CN" sz="2800" dirty="0">
                <a:latin typeface="Calibri" panose="020F0502020204030204" charset="0"/>
                <a:cs typeface="Calibri" panose="020F0502020204030204" charset="0"/>
              </a:rPr>
              <a:t>ALTER</a:t>
            </a:r>
            <a:r>
              <a:rPr lang="zh-CN" altLang="en-US" sz="2800" dirty="0">
                <a:latin typeface="Calibri" panose="020F0502020204030204" charset="0"/>
                <a:cs typeface="Calibri" panose="020F0502020204030204" charset="0"/>
              </a:rPr>
              <a:t>和</a:t>
            </a:r>
            <a:r>
              <a:rPr lang="en-US" altLang="zh-CN" sz="2800" dirty="0">
                <a:latin typeface="Calibri" panose="020F0502020204030204" charset="0"/>
                <a:cs typeface="Calibri" panose="020F0502020204030204" charset="0"/>
              </a:rPr>
              <a:t>UPDATE</a:t>
            </a:r>
            <a:r>
              <a:rPr lang="zh-CN" altLang="en-US" sz="2800" dirty="0">
                <a:latin typeface="Calibri" panose="020F0502020204030204" charset="0"/>
                <a:cs typeface="Calibri" panose="020F0502020204030204" charset="0"/>
              </a:rPr>
              <a:t>操作的审计</a:t>
            </a:r>
            <a:endParaRPr lang="en-US" altLang="zh-CN" sz="2800" dirty="0">
              <a:solidFill>
                <a:srgbClr val="FF0000"/>
              </a:solidFill>
              <a:latin typeface="Calibri" panose="020F0502020204030204" charset="0"/>
              <a:cs typeface="Calibri" panose="020F0502020204030204" charset="0"/>
            </a:endParaRPr>
          </a:p>
        </p:txBody>
      </p:sp>
      <p:sp>
        <p:nvSpPr>
          <p:cNvPr id="7" name="Rectangle 3"/>
          <p:cNvSpPr>
            <a:spLocks noGrp="1" noChangeArrowheads="1"/>
          </p:cNvSpPr>
          <p:nvPr/>
        </p:nvSpPr>
        <p:spPr>
          <a:xfrm>
            <a:off x="1666875" y="5555615"/>
            <a:ext cx="8080375" cy="565150"/>
          </a:xfrm>
          <a:prstGeom prst="rect">
            <a:avLst/>
          </a:prstGeom>
        </p:spPr>
        <p:txBody>
          <a:bodyPr vert="horz" wrap="square"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3855" lvl="1" indent="0">
              <a:buNone/>
            </a:pPr>
            <a:r>
              <a:rPr lang="en-US" altLang="zh-CN" sz="2800" dirty="0">
                <a:solidFill>
                  <a:srgbClr val="FF0000"/>
                </a:solidFill>
                <a:latin typeface="Calibri" panose="020F0502020204030204" charset="0"/>
                <a:cs typeface="Calibri" panose="020F0502020204030204" charset="0"/>
              </a:rPr>
              <a:t>NOAUDIT  ALTER, UPDATE  ON  SC;</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blinds(horizontal)">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 calcmode="lin" valueType="num">
                                      <p:cBhvr additive="base">
                                        <p:cTn id="22"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6" grpId="0" bldLvl="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99331" name="Rectangle 2"/>
          <p:cNvSpPr>
            <a:spLocks noGrp="1" noChangeArrowheads="1"/>
          </p:cNvSpPr>
          <p:nvPr>
            <p:ph type="title"/>
          </p:nvPr>
        </p:nvSpPr>
        <p:spPr/>
        <p:txBody>
          <a:bodyPr/>
          <a:lstStyle/>
          <a:p>
            <a:r>
              <a:rPr lang="en-US" altLang="zh-CN" dirty="0"/>
              <a:t>4.5  </a:t>
            </a:r>
            <a:r>
              <a:rPr lang="zh-CN" altLang="en-US" dirty="0"/>
              <a:t>数据加密</a:t>
            </a:r>
          </a:p>
        </p:txBody>
      </p:sp>
      <p:sp>
        <p:nvSpPr>
          <p:cNvPr id="99332" name="Rectangle 3"/>
          <p:cNvSpPr>
            <a:spLocks noGrp="1" noChangeArrowheads="1"/>
          </p:cNvSpPr>
          <p:nvPr>
            <p:ph idx="1"/>
          </p:nvPr>
        </p:nvSpPr>
        <p:spPr/>
        <p:txBody>
          <a:bodyPr>
            <a:noAutofit/>
          </a:bodyPr>
          <a:lstStyle/>
          <a:p>
            <a:r>
              <a:rPr lang="zh-CN" altLang="en-US" dirty="0">
                <a:solidFill>
                  <a:srgbClr val="C00000"/>
                </a:solidFill>
              </a:rPr>
              <a:t>数据加密</a:t>
            </a:r>
            <a:endParaRPr lang="zh-CN" altLang="en-US" dirty="0"/>
          </a:p>
          <a:p>
            <a:pPr lvl="1"/>
            <a:r>
              <a:rPr lang="zh-CN" altLang="en-US" dirty="0"/>
              <a:t>防止数据库中数据在存储和传输中失密的有效手段</a:t>
            </a:r>
          </a:p>
          <a:p>
            <a:pPr lvl="1"/>
            <a:endParaRPr lang="zh-CN" altLang="en-US" dirty="0"/>
          </a:p>
          <a:p>
            <a:r>
              <a:rPr lang="zh-CN" altLang="en-US" dirty="0">
                <a:solidFill>
                  <a:srgbClr val="C00000"/>
                </a:solidFill>
              </a:rPr>
              <a:t>加密的基本思想</a:t>
            </a:r>
            <a:endParaRPr lang="en-US" altLang="zh-CN" dirty="0">
              <a:solidFill>
                <a:srgbClr val="C00000"/>
              </a:solidFill>
            </a:endParaRPr>
          </a:p>
          <a:p>
            <a:pPr lvl="1"/>
            <a:r>
              <a:rPr lang="zh-CN" altLang="zh-CN" dirty="0"/>
              <a:t>根据一定的算法将原始数据</a:t>
            </a:r>
            <a:r>
              <a:rPr lang="en-US" altLang="zh-CN" dirty="0"/>
              <a:t>—</a:t>
            </a:r>
            <a:r>
              <a:rPr lang="zh-CN" altLang="zh-CN" dirty="0"/>
              <a:t>明文（</a:t>
            </a:r>
            <a:r>
              <a:rPr lang="en-US" altLang="zh-CN" dirty="0"/>
              <a:t>Plain text</a:t>
            </a:r>
            <a:r>
              <a:rPr lang="zh-CN" altLang="zh-CN" dirty="0"/>
              <a:t>）变换为不可直接识别的格式—密文（</a:t>
            </a:r>
            <a:r>
              <a:rPr lang="en-US" altLang="zh-CN" dirty="0"/>
              <a:t>Cipher text</a:t>
            </a:r>
            <a:r>
              <a:rPr lang="zh-CN" altLang="zh-CN" dirty="0"/>
              <a:t>）</a:t>
            </a:r>
          </a:p>
          <a:p>
            <a:pPr lvl="1"/>
            <a:endParaRPr lang="zh-CN" altLang="en-US" dirty="0"/>
          </a:p>
          <a:p>
            <a:r>
              <a:rPr lang="zh-CN" altLang="en-US" dirty="0">
                <a:solidFill>
                  <a:srgbClr val="C00000"/>
                </a:solidFill>
              </a:rPr>
              <a:t>加密方法</a:t>
            </a:r>
          </a:p>
          <a:p>
            <a:pPr lvl="1"/>
            <a:r>
              <a:rPr lang="zh-CN" altLang="en-US" dirty="0"/>
              <a:t>存储加密</a:t>
            </a:r>
            <a:endParaRPr lang="en-US" altLang="zh-CN" dirty="0"/>
          </a:p>
          <a:p>
            <a:pPr lvl="1"/>
            <a:r>
              <a:rPr lang="zh-CN" altLang="en-US" dirty="0"/>
              <a:t>传输加密</a:t>
            </a:r>
            <a:endParaRPr lang="en-US" altLang="zh-CN" dirty="0"/>
          </a:p>
        </p:txBody>
      </p:sp>
      <p:sp>
        <p:nvSpPr>
          <p:cNvPr id="2" name="灯片编号占位符 1"/>
          <p:cNvSpPr>
            <a:spLocks noGrp="1"/>
          </p:cNvSpPr>
          <p:nvPr>
            <p:ph type="sldNum" sz="quarter" idx="12"/>
          </p:nvPr>
        </p:nvSpPr>
        <p:spPr/>
        <p:txBody>
          <a:bodyPr/>
          <a:lstStyle/>
          <a:p>
            <a:fld id="{565CE74E-AB26-4998-AD42-012C4C1AD076}" type="slidenum">
              <a:rPr lang="zh-CN" altLang="en-US" smtClean="0"/>
              <a:t>65</a:t>
            </a:fld>
            <a:endParaRPr lang="zh-CN" altLang="en-US"/>
          </a:p>
        </p:txBody>
      </p:sp>
      <p:sp>
        <p:nvSpPr>
          <p:cNvPr id="3" name="页脚占位符 2"/>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存储加密</a:t>
            </a:r>
            <a:endParaRPr lang="en-US" altLang="zh-CN" dirty="0"/>
          </a:p>
        </p:txBody>
      </p:sp>
      <p:sp>
        <p:nvSpPr>
          <p:cNvPr id="3" name="内容占位符 2"/>
          <p:cNvSpPr>
            <a:spLocks noGrp="1"/>
          </p:cNvSpPr>
          <p:nvPr>
            <p:ph idx="1"/>
          </p:nvPr>
        </p:nvSpPr>
        <p:spPr/>
        <p:txBody>
          <a:bodyPr>
            <a:noAutofit/>
          </a:bodyPr>
          <a:lstStyle/>
          <a:p>
            <a:r>
              <a:rPr lang="zh-CN" altLang="zh-CN" dirty="0">
                <a:solidFill>
                  <a:srgbClr val="C00000"/>
                </a:solidFill>
              </a:rPr>
              <a:t>透明存储加密</a:t>
            </a:r>
            <a:endParaRPr lang="en-US" altLang="zh-CN" dirty="0">
              <a:solidFill>
                <a:srgbClr val="C00000"/>
              </a:solidFill>
            </a:endParaRPr>
          </a:p>
          <a:p>
            <a:pPr lvl="1"/>
            <a:r>
              <a:rPr lang="zh-CN" altLang="zh-CN" dirty="0"/>
              <a:t>内核级加密保护方式，对用户完全透明</a:t>
            </a:r>
            <a:endParaRPr lang="en-US" altLang="zh-CN" dirty="0"/>
          </a:p>
          <a:p>
            <a:pPr lvl="1"/>
            <a:r>
              <a:rPr lang="zh-CN" altLang="en-US" dirty="0"/>
              <a:t>将</a:t>
            </a:r>
            <a:r>
              <a:rPr lang="zh-CN" altLang="zh-CN" dirty="0"/>
              <a:t>数据在写到磁盘时对数据进行加密</a:t>
            </a:r>
            <a:r>
              <a:rPr lang="zh-CN" altLang="en-US" dirty="0"/>
              <a:t>，</a:t>
            </a:r>
            <a:r>
              <a:rPr lang="zh-CN" altLang="zh-CN" dirty="0"/>
              <a:t>授权用户读取数据时再对其进行解密</a:t>
            </a:r>
            <a:endParaRPr lang="en-US" altLang="zh-CN" dirty="0"/>
          </a:p>
          <a:p>
            <a:pPr lvl="1"/>
            <a:r>
              <a:rPr lang="zh-CN" altLang="zh-CN" dirty="0"/>
              <a:t>数据库的应用程序不需要做任何修改，只需在创建表语句中说明需加密的字段即可</a:t>
            </a:r>
            <a:endParaRPr lang="en-US" altLang="zh-CN" dirty="0"/>
          </a:p>
          <a:p>
            <a:pPr lvl="1"/>
            <a:r>
              <a:rPr lang="zh-CN" altLang="zh-CN" dirty="0"/>
              <a:t>内核级加密</a:t>
            </a:r>
            <a:r>
              <a:rPr lang="zh-CN" altLang="en-US" dirty="0"/>
              <a:t>方法</a:t>
            </a:r>
            <a:r>
              <a:rPr lang="en-US" altLang="zh-CN" dirty="0"/>
              <a:t>:</a:t>
            </a:r>
            <a:r>
              <a:rPr lang="zh-CN" altLang="en-US" dirty="0"/>
              <a:t> 性能较好，安全完备性较高</a:t>
            </a:r>
          </a:p>
          <a:p>
            <a:pPr lvl="1"/>
            <a:endParaRPr lang="en-US" altLang="zh-CN" dirty="0"/>
          </a:p>
          <a:p>
            <a:r>
              <a:rPr lang="zh-CN" altLang="zh-CN" dirty="0">
                <a:solidFill>
                  <a:srgbClr val="C00000"/>
                </a:solidFill>
              </a:rPr>
              <a:t>非透明存储加密</a:t>
            </a:r>
            <a:endParaRPr lang="en-US" altLang="zh-CN" dirty="0">
              <a:solidFill>
                <a:srgbClr val="C00000"/>
              </a:solidFill>
            </a:endParaRPr>
          </a:p>
          <a:p>
            <a:pPr lvl="1"/>
            <a:r>
              <a:rPr lang="zh-CN" altLang="zh-CN" dirty="0"/>
              <a:t>通过多个加密函数实现</a:t>
            </a:r>
            <a:endParaRPr lang="en-US" altLang="zh-CN" dirty="0"/>
          </a:p>
        </p:txBody>
      </p:sp>
      <p:sp>
        <p:nvSpPr>
          <p:cNvPr id="5" name="灯片编号占位符 4"/>
          <p:cNvSpPr>
            <a:spLocks noGrp="1"/>
          </p:cNvSpPr>
          <p:nvPr>
            <p:ph type="sldNum" sz="quarter" idx="12"/>
          </p:nvPr>
        </p:nvSpPr>
        <p:spPr/>
        <p:txBody>
          <a:bodyPr/>
          <a:lstStyle/>
          <a:p>
            <a:fld id="{565CE74E-AB26-4998-AD42-012C4C1AD076}" type="slidenum">
              <a:rPr lang="zh-CN" altLang="en-US" smtClean="0"/>
              <a:t>66</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标题 1"/>
          <p:cNvSpPr>
            <a:spLocks noGrp="1"/>
          </p:cNvSpPr>
          <p:nvPr>
            <p:ph type="title"/>
          </p:nvPr>
        </p:nvSpPr>
        <p:spPr/>
        <p:txBody>
          <a:bodyPr/>
          <a:lstStyle/>
          <a:p>
            <a:r>
              <a:rPr lang="zh-CN" altLang="en-US" dirty="0"/>
              <a:t>传输加密</a:t>
            </a:r>
            <a:endParaRPr lang="en-US" altLang="zh-CN" dirty="0"/>
          </a:p>
        </p:txBody>
      </p:sp>
      <p:sp>
        <p:nvSpPr>
          <p:cNvPr id="101379" name="内容占位符 2"/>
          <p:cNvSpPr>
            <a:spLocks noGrp="1"/>
          </p:cNvSpPr>
          <p:nvPr>
            <p:ph idx="1"/>
          </p:nvPr>
        </p:nvSpPr>
        <p:spPr/>
        <p:txBody>
          <a:bodyPr>
            <a:noAutofit/>
          </a:bodyPr>
          <a:lstStyle/>
          <a:p>
            <a:r>
              <a:rPr lang="zh-CN" altLang="en-US" dirty="0">
                <a:solidFill>
                  <a:srgbClr val="C00000"/>
                </a:solidFill>
              </a:rPr>
              <a:t>链路加密</a:t>
            </a:r>
            <a:endParaRPr lang="en-US" altLang="zh-CN" dirty="0"/>
          </a:p>
          <a:p>
            <a:pPr lvl="1"/>
            <a:r>
              <a:rPr lang="zh-CN" altLang="en-US" dirty="0"/>
              <a:t>在链路层进行加密</a:t>
            </a:r>
            <a:endParaRPr lang="en-US" altLang="zh-CN" dirty="0"/>
          </a:p>
          <a:p>
            <a:pPr lvl="1"/>
            <a:r>
              <a:rPr lang="zh-CN" altLang="en-US" dirty="0"/>
              <a:t>传输信息由报头和报文两部分组成</a:t>
            </a:r>
            <a:endParaRPr lang="en-US" altLang="zh-CN" dirty="0"/>
          </a:p>
          <a:p>
            <a:pPr lvl="1"/>
            <a:r>
              <a:rPr lang="zh-CN" altLang="zh-CN" dirty="0"/>
              <a:t>报文和报头均加密</a:t>
            </a:r>
          </a:p>
          <a:p>
            <a:pPr lvl="1"/>
            <a:endParaRPr lang="en-US" altLang="zh-CN" dirty="0"/>
          </a:p>
          <a:p>
            <a:r>
              <a:rPr lang="zh-CN" altLang="en-US" dirty="0">
                <a:solidFill>
                  <a:srgbClr val="C00000"/>
                </a:solidFill>
              </a:rPr>
              <a:t>端到端加密</a:t>
            </a:r>
            <a:endParaRPr lang="en-US" altLang="zh-CN" dirty="0"/>
          </a:p>
          <a:p>
            <a:pPr lvl="1"/>
            <a:r>
              <a:rPr lang="zh-CN" altLang="en-US" dirty="0"/>
              <a:t>在发送端加密，接收端解密</a:t>
            </a:r>
            <a:endParaRPr lang="en-US" altLang="zh-CN" dirty="0"/>
          </a:p>
          <a:p>
            <a:pPr lvl="1"/>
            <a:r>
              <a:rPr lang="zh-CN" altLang="en-US" dirty="0"/>
              <a:t>只加密报文不加密报头</a:t>
            </a:r>
            <a:endParaRPr lang="en-US" altLang="zh-CN" dirty="0"/>
          </a:p>
          <a:p>
            <a:pPr lvl="1"/>
            <a:r>
              <a:rPr lang="zh-CN" altLang="zh-CN" dirty="0"/>
              <a:t>所需密码设备数量相对较少</a:t>
            </a:r>
            <a:r>
              <a:rPr lang="zh-CN" altLang="en-US" dirty="0"/>
              <a:t>，</a:t>
            </a:r>
            <a:r>
              <a:rPr lang="zh-CN" altLang="zh-CN" dirty="0"/>
              <a:t>容易被非法监听者发现并从中获取敏感信息</a:t>
            </a:r>
            <a:endParaRPr lang="en-US" altLang="zh-CN" dirty="0"/>
          </a:p>
        </p:txBody>
      </p:sp>
      <p:sp>
        <p:nvSpPr>
          <p:cNvPr id="101380" name="页脚占位符 3"/>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2" name="灯片编号占位符 1"/>
          <p:cNvSpPr>
            <a:spLocks noGrp="1"/>
          </p:cNvSpPr>
          <p:nvPr>
            <p:ph type="sldNum" sz="quarter" idx="12"/>
          </p:nvPr>
        </p:nvSpPr>
        <p:spPr/>
        <p:txBody>
          <a:bodyPr/>
          <a:lstStyle/>
          <a:p>
            <a:fld id="{565CE74E-AB26-4998-AD42-012C4C1AD076}" type="slidenum">
              <a:rPr lang="zh-CN" altLang="en-US" smtClean="0"/>
              <a:t>67</a:t>
            </a:fld>
            <a:endParaRPr lang="zh-CN" altLang="en-US"/>
          </a:p>
        </p:txBody>
      </p:sp>
      <p:sp>
        <p:nvSpPr>
          <p:cNvPr id="3" name="页脚占位符 2"/>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106499" name="Rectangle 2"/>
          <p:cNvSpPr>
            <a:spLocks noGrp="1" noChangeArrowheads="1"/>
          </p:cNvSpPr>
          <p:nvPr>
            <p:ph type="title"/>
          </p:nvPr>
        </p:nvSpPr>
        <p:spPr/>
        <p:txBody>
          <a:bodyPr/>
          <a:lstStyle/>
          <a:p>
            <a:r>
              <a:rPr lang="en-US" altLang="zh-CN" dirty="0"/>
              <a:t>4.6  </a:t>
            </a:r>
            <a:r>
              <a:rPr lang="zh-CN" altLang="en-US" dirty="0"/>
              <a:t>其他安全性保护</a:t>
            </a:r>
          </a:p>
        </p:txBody>
      </p:sp>
      <p:sp>
        <p:nvSpPr>
          <p:cNvPr id="106500" name="Rectangle 3"/>
          <p:cNvSpPr>
            <a:spLocks noGrp="1" noChangeArrowheads="1"/>
          </p:cNvSpPr>
          <p:nvPr>
            <p:ph idx="1"/>
          </p:nvPr>
        </p:nvSpPr>
        <p:spPr/>
        <p:txBody>
          <a:bodyPr>
            <a:noAutofit/>
          </a:bodyPr>
          <a:lstStyle/>
          <a:p>
            <a:r>
              <a:rPr lang="zh-CN" altLang="en-US" dirty="0">
                <a:solidFill>
                  <a:srgbClr val="C00000"/>
                </a:solidFill>
              </a:rPr>
              <a:t>推理控制</a:t>
            </a:r>
            <a:endParaRPr lang="zh-CN" altLang="en-US" dirty="0"/>
          </a:p>
          <a:p>
            <a:pPr lvl="1"/>
            <a:r>
              <a:rPr lang="zh-CN" altLang="en-US" dirty="0"/>
              <a:t>避免用户利用能够访问的数据推知更高密级的数据</a:t>
            </a:r>
          </a:p>
          <a:p>
            <a:pPr lvl="1"/>
            <a:endParaRPr lang="en-US" altLang="zh-CN" dirty="0"/>
          </a:p>
          <a:p>
            <a:r>
              <a:rPr lang="zh-CN" altLang="en-US" dirty="0">
                <a:solidFill>
                  <a:srgbClr val="C00000"/>
                </a:solidFill>
              </a:rPr>
              <a:t>隐蔽信道</a:t>
            </a:r>
            <a:endParaRPr lang="en-US" altLang="zh-CN" dirty="0"/>
          </a:p>
          <a:p>
            <a:pPr lvl="1"/>
            <a:r>
              <a:rPr lang="zh-CN" altLang="en-US"/>
              <a:t>间接数据传递</a:t>
            </a:r>
          </a:p>
          <a:p>
            <a:pPr lvl="1"/>
            <a:endParaRPr lang="en-US" altLang="zh-CN" dirty="0"/>
          </a:p>
          <a:p>
            <a:r>
              <a:rPr lang="zh-CN" altLang="en-US" dirty="0">
                <a:solidFill>
                  <a:srgbClr val="C00000"/>
                </a:solidFill>
              </a:rPr>
              <a:t>数据隐私保护</a:t>
            </a:r>
            <a:endParaRPr lang="en-US" altLang="zh-CN" dirty="0"/>
          </a:p>
          <a:p>
            <a:pPr lvl="1"/>
            <a:r>
              <a:rPr lang="zh-CN" altLang="zh-CN" dirty="0"/>
              <a:t>描述个人控制其不愿他人知道或他人不便知道的个人数据的能力</a:t>
            </a:r>
            <a:endParaRPr lang="en-US" altLang="zh-CN" dirty="0"/>
          </a:p>
          <a:p>
            <a:pPr lvl="1"/>
            <a:r>
              <a:rPr lang="zh-CN" altLang="zh-CN" dirty="0"/>
              <a:t>范围很广</a:t>
            </a:r>
            <a:r>
              <a:rPr lang="zh-CN" altLang="en-US" dirty="0"/>
              <a:t>：</a:t>
            </a:r>
            <a:r>
              <a:rPr lang="zh-CN" altLang="zh-CN" dirty="0"/>
              <a:t>数据收集、数据存储、数据处理和数据发布等各个阶段</a:t>
            </a:r>
            <a:endParaRPr lang="zh-CN" altLang="en-US" dirty="0"/>
          </a:p>
        </p:txBody>
      </p:sp>
      <p:sp>
        <p:nvSpPr>
          <p:cNvPr id="2" name="灯片编号占位符 1"/>
          <p:cNvSpPr>
            <a:spLocks noGrp="1"/>
          </p:cNvSpPr>
          <p:nvPr>
            <p:ph type="sldNum" sz="quarter" idx="12"/>
          </p:nvPr>
        </p:nvSpPr>
        <p:spPr/>
        <p:txBody>
          <a:bodyPr/>
          <a:lstStyle/>
          <a:p>
            <a:fld id="{565CE74E-AB26-4998-AD42-012C4C1AD076}" type="slidenum">
              <a:rPr lang="zh-CN" altLang="en-US" smtClean="0"/>
              <a:t>68</a:t>
            </a:fld>
            <a:endParaRPr lang="zh-CN" altLang="en-US"/>
          </a:p>
        </p:txBody>
      </p:sp>
      <p:sp>
        <p:nvSpPr>
          <p:cNvPr id="3" name="页脚占位符 2"/>
          <p:cNvSpPr>
            <a:spLocks noGrp="1"/>
          </p:cNvSpPr>
          <p:nvPr>
            <p:ph type="ftr" sz="quarter" idx="11"/>
          </p:nvPr>
        </p:nvSpPr>
        <p:spPr/>
        <p:txBody>
          <a:bodyPr/>
          <a:lstStyle/>
          <a:p>
            <a:r>
              <a:rPr lang="zh-CN" altLang="en-US"/>
              <a:t>ch04_数据库安全性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4.7  </a:t>
            </a:r>
            <a:r>
              <a:rPr lang="zh-CN" altLang="en-US"/>
              <a:t>小结</a:t>
            </a:r>
          </a:p>
        </p:txBody>
      </p:sp>
      <p:sp>
        <p:nvSpPr>
          <p:cNvPr id="3" name="内容占位符 2"/>
          <p:cNvSpPr>
            <a:spLocks noGrp="1"/>
          </p:cNvSpPr>
          <p:nvPr>
            <p:ph idx="1"/>
          </p:nvPr>
        </p:nvSpPr>
        <p:spPr/>
        <p:txBody>
          <a:bodyPr/>
          <a:lstStyle/>
          <a:p>
            <a:r>
              <a:rPr lang="zh-CN" altLang="en-US"/>
              <a:t>数据的共享日益加强，数据的安全保密越来越重要。</a:t>
            </a:r>
          </a:p>
          <a:p>
            <a:r>
              <a:rPr lang="zh-CN" altLang="en-US"/>
              <a:t>数据库管理系统是管理数据的核心，因而其自身必须具有一整套完整而有效的安全性机制。</a:t>
            </a:r>
          </a:p>
          <a:p>
            <a:r>
              <a:rPr lang="zh-CN" altLang="en-US"/>
              <a:t>实现数据库系统安全性的技术和方法</a:t>
            </a:r>
          </a:p>
          <a:p>
            <a:pPr lvl="1"/>
            <a:r>
              <a:rPr lang="zh-CN" altLang="en-US">
                <a:solidFill>
                  <a:srgbClr val="C00000"/>
                </a:solidFill>
              </a:rPr>
              <a:t>用户身份鉴别</a:t>
            </a:r>
          </a:p>
          <a:p>
            <a:pPr lvl="1"/>
            <a:r>
              <a:rPr lang="zh-CN" altLang="en-US">
                <a:solidFill>
                  <a:srgbClr val="C00000"/>
                </a:solidFill>
              </a:rPr>
              <a:t>存取控制技术：自主存取控制</a:t>
            </a:r>
            <a:r>
              <a:rPr lang="en-US" altLang="zh-CN">
                <a:solidFill>
                  <a:srgbClr val="C00000"/>
                </a:solidFill>
              </a:rPr>
              <a:t> </a:t>
            </a:r>
            <a:r>
              <a:rPr lang="en-US" altLang="zh-CN">
                <a:solidFill>
                  <a:srgbClr val="1F2DA8"/>
                </a:solidFill>
              </a:rPr>
              <a:t>&amp; </a:t>
            </a:r>
            <a:r>
              <a:rPr lang="zh-CN" altLang="en-US">
                <a:solidFill>
                  <a:srgbClr val="1F2DA8"/>
                </a:solidFill>
              </a:rPr>
              <a:t>强制存取控制</a:t>
            </a:r>
            <a:endParaRPr lang="zh-CN" altLang="en-US">
              <a:solidFill>
                <a:srgbClr val="C00000"/>
              </a:solidFill>
            </a:endParaRPr>
          </a:p>
          <a:p>
            <a:pPr lvl="1"/>
            <a:r>
              <a:rPr lang="zh-CN" altLang="en-US">
                <a:solidFill>
                  <a:srgbClr val="C00000"/>
                </a:solidFill>
              </a:rPr>
              <a:t>视图</a:t>
            </a:r>
          </a:p>
          <a:p>
            <a:pPr lvl="1"/>
            <a:r>
              <a:rPr lang="zh-CN" altLang="en-US">
                <a:solidFill>
                  <a:srgbClr val="C00000"/>
                </a:solidFill>
              </a:rPr>
              <a:t>审计</a:t>
            </a:r>
          </a:p>
          <a:p>
            <a:pPr lvl="1"/>
            <a:r>
              <a:rPr lang="zh-CN" altLang="en-US"/>
              <a:t>数据加密存储和加密传输</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69</a:t>
            </a:fld>
            <a:endParaRPr lang="zh-CN" altLang="en-US"/>
          </a:p>
        </p:txBody>
      </p:sp>
      <p:sp>
        <p:nvSpPr>
          <p:cNvPr id="4" name="页脚占位符 3"/>
          <p:cNvSpPr>
            <a:spLocks noGrp="1"/>
          </p:cNvSpPr>
          <p:nvPr>
            <p:ph type="ftr" sz="quarter" idx="11"/>
          </p:nvPr>
        </p:nvSpPr>
        <p:spPr/>
        <p:txBody>
          <a:bodyPr/>
          <a:lstStyle/>
          <a:p>
            <a:r>
              <a:rPr lang="zh-CN" altLang="en-US"/>
              <a:t>ch04_数据库安全性</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MySQL</a:t>
            </a:r>
            <a:r>
              <a:rPr lang="zh-CN" altLang="en-US"/>
              <a:t>中安全性管理相关的</a:t>
            </a:r>
            <a:r>
              <a:rPr lang="en-US" altLang="zh-CN"/>
              <a:t>SQL</a:t>
            </a:r>
            <a:r>
              <a:rPr lang="zh-CN" altLang="en-US"/>
              <a:t>命令</a:t>
            </a:r>
          </a:p>
        </p:txBody>
      </p:sp>
      <p:sp>
        <p:nvSpPr>
          <p:cNvPr id="3" name="内容占位符 2"/>
          <p:cNvSpPr>
            <a:spLocks noGrp="1"/>
          </p:cNvSpPr>
          <p:nvPr>
            <p:ph idx="1"/>
          </p:nvPr>
        </p:nvSpPr>
        <p:spPr/>
        <p:txBody>
          <a:bodyPr/>
          <a:lstStyle/>
          <a:p>
            <a:r>
              <a:rPr lang="zh-CN" altLang="en-US" sz="2800">
                <a:latin typeface="+mn-lt"/>
                <a:cs typeface="+mn-lt"/>
              </a:rPr>
              <a:t>创建新用户</a:t>
            </a:r>
            <a:r>
              <a:rPr lang="en-US" altLang="zh-CN" sz="2800">
                <a:latin typeface="+mn-lt"/>
                <a:cs typeface="+mn-lt"/>
              </a:rPr>
              <a:t> </a:t>
            </a:r>
          </a:p>
          <a:p>
            <a:pPr marL="457200" lvl="1" indent="0">
              <a:buNone/>
            </a:pPr>
            <a:r>
              <a:rPr lang="en-US" altLang="zh-CN" sz="2800">
                <a:latin typeface="+mn-lt"/>
                <a:cs typeface="+mn-lt"/>
              </a:rPr>
              <a:t>CREATE USER </a:t>
            </a:r>
            <a:r>
              <a:rPr lang="en-US" altLang="zh-CN" sz="2800">
                <a:solidFill>
                  <a:srgbClr val="C00000"/>
                </a:solidFill>
                <a:latin typeface="+mn-lt"/>
                <a:cs typeface="+mn-lt"/>
              </a:rPr>
              <a:t>username </a:t>
            </a:r>
            <a:r>
              <a:rPr lang="en-US" altLang="zh-CN" sz="2800">
                <a:latin typeface="+mn-lt"/>
                <a:cs typeface="+mn-lt"/>
              </a:rPr>
              <a:t>IDENTIFIED BY ‘</a:t>
            </a:r>
            <a:r>
              <a:rPr lang="en-US" altLang="zh-CN" sz="2800">
                <a:solidFill>
                  <a:srgbClr val="C00000"/>
                </a:solidFill>
                <a:latin typeface="+mn-lt"/>
                <a:cs typeface="+mn-lt"/>
              </a:rPr>
              <a:t>password</a:t>
            </a:r>
            <a:r>
              <a:rPr lang="en-US" altLang="zh-CN" sz="2800">
                <a:solidFill>
                  <a:srgbClr val="0000C8"/>
                </a:solidFill>
                <a:latin typeface="+mn-lt"/>
                <a:cs typeface="+mn-lt"/>
              </a:rPr>
              <a:t>’</a:t>
            </a:r>
            <a:r>
              <a:rPr lang="en-US" altLang="zh-CN" sz="2800">
                <a:solidFill>
                  <a:srgbClr val="C00000"/>
                </a:solidFill>
                <a:latin typeface="+mn-lt"/>
                <a:cs typeface="+mn-lt"/>
              </a:rPr>
              <a:t> </a:t>
            </a:r>
            <a:r>
              <a:rPr lang="en-US" altLang="zh-CN" sz="2800">
                <a:latin typeface="+mn-lt"/>
                <a:cs typeface="+mn-lt"/>
              </a:rPr>
              <a:t>;</a:t>
            </a:r>
          </a:p>
          <a:p>
            <a:pPr marL="457200" lvl="1" indent="0">
              <a:buNone/>
            </a:pPr>
            <a:endParaRPr lang="en-US" altLang="zh-CN" sz="2800">
              <a:latin typeface="+mn-lt"/>
              <a:cs typeface="+mn-lt"/>
            </a:endParaRPr>
          </a:p>
          <a:p>
            <a:r>
              <a:rPr lang="zh-CN" altLang="en-US" sz="2800">
                <a:latin typeface="+mn-lt"/>
                <a:cs typeface="+mn-lt"/>
              </a:rPr>
              <a:t>创建角色</a:t>
            </a:r>
            <a:r>
              <a:rPr lang="en-US" altLang="zh-CN" sz="2800">
                <a:latin typeface="+mn-lt"/>
                <a:cs typeface="+mn-lt"/>
              </a:rPr>
              <a:t>  </a:t>
            </a:r>
            <a:endParaRPr lang="en-US" altLang="zh-CN" sz="2800">
              <a:solidFill>
                <a:srgbClr val="C00000"/>
              </a:solidFill>
              <a:latin typeface="+mn-lt"/>
              <a:cs typeface="+mn-lt"/>
            </a:endParaRPr>
          </a:p>
          <a:p>
            <a:pPr marL="457200" lvl="1" indent="0">
              <a:buNone/>
            </a:pPr>
            <a:r>
              <a:rPr lang="en-US" altLang="zh-CN" sz="2800">
                <a:latin typeface="+mn-lt"/>
                <a:cs typeface="+mn-lt"/>
              </a:rPr>
              <a:t>CREATE ROLE  </a:t>
            </a:r>
            <a:r>
              <a:rPr lang="en-US" altLang="zh-CN" sz="2800">
                <a:solidFill>
                  <a:srgbClr val="C00000"/>
                </a:solidFill>
                <a:latin typeface="+mn-lt"/>
                <a:cs typeface="+mn-lt"/>
              </a:rPr>
              <a:t>rolename </a:t>
            </a:r>
            <a:r>
              <a:rPr lang="en-US" altLang="zh-CN" sz="2800">
                <a:latin typeface="+mn-lt"/>
                <a:cs typeface="+mn-lt"/>
              </a:rPr>
              <a:t>[ , </a:t>
            </a:r>
            <a:r>
              <a:rPr lang="en-US" altLang="zh-CN" sz="2800">
                <a:solidFill>
                  <a:srgbClr val="C00000"/>
                </a:solidFill>
                <a:latin typeface="+mn-lt"/>
                <a:cs typeface="+mn-lt"/>
              </a:rPr>
              <a:t>rolename</a:t>
            </a:r>
            <a:r>
              <a:rPr lang="en-US" altLang="zh-CN" sz="2800">
                <a:latin typeface="+mn-lt"/>
                <a:cs typeface="+mn-lt"/>
              </a:rPr>
              <a:t>] ... ;</a:t>
            </a:r>
          </a:p>
          <a:p>
            <a:pPr marL="457200" lvl="1" indent="0">
              <a:buNone/>
            </a:pPr>
            <a:endParaRPr lang="en-US" altLang="zh-CN" sz="2800">
              <a:latin typeface="+mn-lt"/>
              <a:cs typeface="+mn-lt"/>
            </a:endParaRPr>
          </a:p>
          <a:p>
            <a:r>
              <a:rPr lang="zh-CN" altLang="en-US" sz="2800">
                <a:latin typeface="+mn-lt"/>
                <a:cs typeface="+mn-lt"/>
              </a:rPr>
              <a:t>授权</a:t>
            </a:r>
            <a:r>
              <a:rPr lang="en-US" altLang="zh-CN" sz="2800">
                <a:latin typeface="+mn-lt"/>
                <a:cs typeface="+mn-lt"/>
              </a:rPr>
              <a:t> GRANT </a:t>
            </a:r>
          </a:p>
          <a:p>
            <a:endParaRPr lang="en-US" altLang="zh-CN" sz="2800">
              <a:latin typeface="+mn-lt"/>
              <a:cs typeface="+mn-lt"/>
            </a:endParaRPr>
          </a:p>
          <a:p>
            <a:r>
              <a:rPr lang="zh-CN" altLang="en-US" sz="2800">
                <a:latin typeface="+mn-lt"/>
                <a:cs typeface="+mn-lt"/>
              </a:rPr>
              <a:t>回收</a:t>
            </a:r>
            <a:r>
              <a:rPr lang="en-US" altLang="zh-CN" sz="2800">
                <a:latin typeface="+mn-lt"/>
                <a:cs typeface="+mn-lt"/>
              </a:rPr>
              <a:t> REVOKE</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70</a:t>
            </a:fld>
            <a:endParaRPr lang="zh-CN" altLang="en-US"/>
          </a:p>
        </p:txBody>
      </p:sp>
      <p:sp>
        <p:nvSpPr>
          <p:cNvPr id="5" name="页脚占位符 4"/>
          <p:cNvSpPr>
            <a:spLocks noGrp="1"/>
          </p:cNvSpPr>
          <p:nvPr>
            <p:ph type="ftr" sz="quarter" idx="11"/>
          </p:nvPr>
        </p:nvSpPr>
        <p:spPr/>
        <p:txBody>
          <a:bodyPr/>
          <a:lstStyle/>
          <a:p>
            <a:r>
              <a:rPr lang="zh-CN" altLang="en-US"/>
              <a:t>ch04_数据库安全性</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t>Permissible Static Privileges for GRANT and REVOKE</a:t>
            </a:r>
            <a:r>
              <a:rPr lang="en-US" altLang="zh-CN"/>
              <a:t> (Global &amp; Database)</a:t>
            </a:r>
          </a:p>
        </p:txBody>
      </p:sp>
      <p:sp>
        <p:nvSpPr>
          <p:cNvPr id="4" name="灯片编号占位符 3"/>
          <p:cNvSpPr>
            <a:spLocks noGrp="1"/>
          </p:cNvSpPr>
          <p:nvPr>
            <p:ph type="sldNum" sz="quarter" idx="12"/>
          </p:nvPr>
        </p:nvSpPr>
        <p:spPr>
          <a:xfrm>
            <a:off x="11461115" y="6696000"/>
            <a:ext cx="730885" cy="153670"/>
          </a:xfrm>
        </p:spPr>
        <p:txBody>
          <a:bodyPr/>
          <a:lstStyle/>
          <a:p>
            <a:fld id="{565CE74E-AB26-4998-AD42-012C4C1AD076}" type="slidenum">
              <a:rPr lang="zh-CN" altLang="en-US" smtClean="0"/>
              <a:t>71</a:t>
            </a:fld>
            <a:endParaRPr lang="zh-CN" altLang="en-US"/>
          </a:p>
        </p:txBody>
      </p:sp>
      <p:graphicFrame>
        <p:nvGraphicFramePr>
          <p:cNvPr id="6" name="表格 5"/>
          <p:cNvGraphicFramePr/>
          <p:nvPr/>
        </p:nvGraphicFramePr>
        <p:xfrm>
          <a:off x="646430" y="691388"/>
          <a:ext cx="11215369" cy="5856586"/>
        </p:xfrm>
        <a:graphic>
          <a:graphicData uri="http://schemas.openxmlformats.org/drawingml/2006/table">
            <a:tbl>
              <a:tblPr/>
              <a:tblGrid>
                <a:gridCol w="2582545">
                  <a:extLst>
                    <a:ext uri="{9D8B030D-6E8A-4147-A177-3AD203B41FA5}">
                      <a16:colId xmlns:a16="http://schemas.microsoft.com/office/drawing/2014/main" val="20000"/>
                    </a:ext>
                  </a:extLst>
                </a:gridCol>
                <a:gridCol w="6550660">
                  <a:extLst>
                    <a:ext uri="{9D8B030D-6E8A-4147-A177-3AD203B41FA5}">
                      <a16:colId xmlns:a16="http://schemas.microsoft.com/office/drawing/2014/main" val="20001"/>
                    </a:ext>
                  </a:extLst>
                </a:gridCol>
                <a:gridCol w="1041082">
                  <a:extLst>
                    <a:ext uri="{9D8B030D-6E8A-4147-A177-3AD203B41FA5}">
                      <a16:colId xmlns:a16="http://schemas.microsoft.com/office/drawing/2014/main" val="20002"/>
                    </a:ext>
                  </a:extLst>
                </a:gridCol>
                <a:gridCol w="1041082">
                  <a:extLst>
                    <a:ext uri="{9D8B030D-6E8A-4147-A177-3AD203B41FA5}">
                      <a16:colId xmlns:a16="http://schemas.microsoft.com/office/drawing/2014/main" val="20003"/>
                    </a:ext>
                  </a:extLst>
                </a:gridCol>
              </a:tblGrid>
              <a:tr h="129540">
                <a:tc>
                  <a:txBody>
                    <a:bodyPr/>
                    <a:lstStyle/>
                    <a:p>
                      <a:pPr marL="0" indent="0" algn="ctr" fontAlgn="base">
                        <a:spcBef>
                          <a:spcPct val="0"/>
                        </a:spcBef>
                        <a:spcAft>
                          <a:spcPct val="0"/>
                        </a:spcAft>
                      </a:pPr>
                      <a:r>
                        <a:rPr lang="en-US" altLang="zh-CN" sz="1600" b="1" i="0">
                          <a:solidFill>
                            <a:srgbClr val="555555"/>
                          </a:solidFill>
                          <a:ea typeface="Open Sans"/>
                          <a:cs typeface="+mn-lt"/>
                        </a:rPr>
                        <a:t>Privilege</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bg2">
                        <a:lumMod val="90000"/>
                      </a:schemeClr>
                    </a:solidFill>
                  </a:tcPr>
                </a:tc>
                <a:tc>
                  <a:txBody>
                    <a:bodyPr/>
                    <a:lstStyle/>
                    <a:p>
                      <a:pPr marL="0" indent="0" algn="ctr" fontAlgn="base">
                        <a:spcBef>
                          <a:spcPct val="0"/>
                        </a:spcBef>
                        <a:spcAft>
                          <a:spcPct val="0"/>
                        </a:spcAft>
                      </a:pPr>
                      <a:r>
                        <a:rPr lang="en-US" altLang="zh-CN" sz="1600" b="1" i="0">
                          <a:solidFill>
                            <a:srgbClr val="555555"/>
                          </a:solidFill>
                          <a:ea typeface="Open Sans"/>
                          <a:cs typeface="+mn-lt"/>
                        </a:rPr>
                        <a:t>Meaning and Grantable Levels</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bg2">
                        <a:lumMod val="90000"/>
                      </a:schemeClr>
                    </a:solidFill>
                  </a:tcPr>
                </a:tc>
                <a:tc>
                  <a:txBody>
                    <a:bodyPr/>
                    <a:lstStyle/>
                    <a:p>
                      <a:pPr marL="0" indent="0" algn="ctr" fontAlgn="base">
                        <a:spcBef>
                          <a:spcPct val="0"/>
                        </a:spcBef>
                        <a:spcAft>
                          <a:spcPct val="0"/>
                        </a:spcAft>
                        <a:buNone/>
                      </a:pPr>
                      <a:r>
                        <a:rPr lang="en-US" altLang="zh-CN" sz="1600" b="1" i="0">
                          <a:solidFill>
                            <a:srgbClr val="555555"/>
                          </a:solidFill>
                          <a:ea typeface="Open Sans"/>
                          <a:cs typeface="+mn-lt"/>
                        </a:rPr>
                        <a:t>Global</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bg2">
                        <a:lumMod val="90000"/>
                      </a:schemeClr>
                    </a:solidFill>
                  </a:tcPr>
                </a:tc>
                <a:tc>
                  <a:txBody>
                    <a:bodyPr/>
                    <a:lstStyle/>
                    <a:p>
                      <a:pPr marL="0" indent="0" algn="ctr" fontAlgn="base">
                        <a:spcBef>
                          <a:spcPct val="0"/>
                        </a:spcBef>
                        <a:spcAft>
                          <a:spcPct val="0"/>
                        </a:spcAft>
                        <a:buNone/>
                      </a:pPr>
                      <a:r>
                        <a:rPr lang="en-US" altLang="zh-CN" sz="1600" b="1" i="0">
                          <a:solidFill>
                            <a:srgbClr val="555555"/>
                          </a:solidFill>
                          <a:ea typeface="Open Sans"/>
                          <a:cs typeface="+mn-lt"/>
                        </a:rPr>
                        <a:t>Database</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bg2">
                        <a:lumMod val="90000"/>
                      </a:schemeClr>
                    </a:solidFill>
                  </a:tcPr>
                </a:tc>
                <a:extLst>
                  <a:ext uri="{0D108BD9-81ED-4DB2-BD59-A6C34878D82A}">
                    <a16:rowId xmlns:a16="http://schemas.microsoft.com/office/drawing/2014/main" val="10000"/>
                  </a:ext>
                </a:extLst>
              </a:tr>
              <a:tr h="0">
                <a:tc>
                  <a:txBody>
                    <a:bodyPr/>
                    <a:lstStyle/>
                    <a:p>
                      <a:pPr marL="0" indent="0" fontAlgn="base">
                        <a:spcBef>
                          <a:spcPct val="0"/>
                        </a:spcBef>
                        <a:spcAft>
                          <a:spcPct val="0"/>
                        </a:spcAft>
                      </a:pPr>
                      <a:r>
                        <a:rPr lang="en-US" altLang="zh-CN" sz="1600" b="1" i="0" u="sng">
                          <a:solidFill>
                            <a:srgbClr val="000000"/>
                          </a:solidFill>
                          <a:ea typeface="Open Sans"/>
                          <a:cs typeface="+mn-lt"/>
                          <a:hlinkClick r:id="rId2"/>
                        </a:rPr>
                        <a:t>CREATE ROLE</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fontAlgn="base">
                        <a:spcBef>
                          <a:spcPct val="0"/>
                        </a:spcBef>
                        <a:spcAft>
                          <a:spcPct val="0"/>
                        </a:spcAft>
                      </a:pPr>
                      <a:r>
                        <a:rPr lang="en-US" altLang="zh-CN" sz="1600" b="0" i="0">
                          <a:solidFill>
                            <a:srgbClr val="555555"/>
                          </a:solidFill>
                          <a:ea typeface="Open Sans"/>
                          <a:cs typeface="+mn-lt"/>
                        </a:rPr>
                        <a:t>Enable role creation.</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endParaRPr lang="en-US" altLang="zh-CN" sz="1600" b="1" i="0">
                        <a:solidFill>
                          <a:srgbClr val="C00000"/>
                        </a:solidFill>
                        <a:ea typeface="Open Sans"/>
                        <a:cs typeface="+mn-l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extLst>
                  <a:ext uri="{0D108BD9-81ED-4DB2-BD59-A6C34878D82A}">
                    <a16:rowId xmlns:a16="http://schemas.microsoft.com/office/drawing/2014/main" val="10001"/>
                  </a:ext>
                </a:extLst>
              </a:tr>
              <a:tr h="193675">
                <a:tc>
                  <a:txBody>
                    <a:bodyPr/>
                    <a:lstStyle/>
                    <a:p>
                      <a:pPr marL="0" indent="0" fontAlgn="base">
                        <a:spcBef>
                          <a:spcPct val="0"/>
                        </a:spcBef>
                        <a:spcAft>
                          <a:spcPct val="0"/>
                        </a:spcAft>
                      </a:pPr>
                      <a:r>
                        <a:rPr lang="en-US" altLang="zh-CN" sz="1600" b="1" i="0" u="sng">
                          <a:solidFill>
                            <a:srgbClr val="000000"/>
                          </a:solidFill>
                          <a:ea typeface="Open Sans"/>
                          <a:cs typeface="+mn-lt"/>
                          <a:hlinkClick r:id="rId3"/>
                        </a:rPr>
                        <a:t>CREATE TABLESPACE</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fontAlgn="base">
                        <a:spcBef>
                          <a:spcPct val="0"/>
                        </a:spcBef>
                        <a:spcAft>
                          <a:spcPct val="0"/>
                        </a:spcAft>
                      </a:pPr>
                      <a:r>
                        <a:rPr lang="en-US" altLang="zh-CN" sz="1600" b="0" i="0">
                          <a:solidFill>
                            <a:srgbClr val="555555"/>
                          </a:solidFill>
                          <a:ea typeface="Open Sans"/>
                          <a:cs typeface="+mn-lt"/>
                        </a:rPr>
                        <a:t>Enable tablespaces and log file groups to be created, altered, or dropped.</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endParaRPr lang="en-US" altLang="zh-CN" sz="1600" b="1" i="0">
                        <a:solidFill>
                          <a:srgbClr val="C00000"/>
                        </a:solidFill>
                        <a:ea typeface="Open Sans"/>
                        <a:cs typeface="+mn-l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extLst>
                  <a:ext uri="{0D108BD9-81ED-4DB2-BD59-A6C34878D82A}">
                    <a16:rowId xmlns:a16="http://schemas.microsoft.com/office/drawing/2014/main" val="10002"/>
                  </a:ext>
                </a:extLst>
              </a:tr>
              <a:tr h="281940">
                <a:tc>
                  <a:txBody>
                    <a:bodyPr/>
                    <a:lstStyle/>
                    <a:p>
                      <a:pPr marL="0" indent="0" fontAlgn="base">
                        <a:spcBef>
                          <a:spcPct val="0"/>
                        </a:spcBef>
                        <a:spcAft>
                          <a:spcPct val="0"/>
                        </a:spcAft>
                      </a:pPr>
                      <a:r>
                        <a:rPr lang="en-US" altLang="zh-CN" sz="1600" b="1" i="0" u="sng">
                          <a:solidFill>
                            <a:srgbClr val="000000"/>
                          </a:solidFill>
                          <a:ea typeface="Open Sans"/>
                          <a:cs typeface="+mn-lt"/>
                          <a:hlinkClick r:id="rId4"/>
                        </a:rPr>
                        <a:t>CREATE USER</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fontAlgn="base">
                        <a:spcBef>
                          <a:spcPct val="0"/>
                        </a:spcBef>
                        <a:spcAft>
                          <a:spcPct val="0"/>
                        </a:spcAft>
                      </a:pPr>
                      <a:r>
                        <a:rPr lang="en-US" altLang="zh-CN" sz="1600" b="0" i="0">
                          <a:solidFill>
                            <a:srgbClr val="555555"/>
                          </a:solidFill>
                          <a:ea typeface="Open Sans"/>
                          <a:cs typeface="+mn-lt"/>
                        </a:rPr>
                        <a:t>Enable use of </a:t>
                      </a:r>
                      <a:r>
                        <a:rPr lang="en-US" altLang="zh-CN" sz="1600" b="0" i="0" u="sng">
                          <a:solidFill>
                            <a:srgbClr val="000000"/>
                          </a:solidFill>
                          <a:ea typeface="Open Sans"/>
                          <a:cs typeface="+mn-lt"/>
                          <a:hlinkClick r:id="rId5" tooltip="15.7.1.3 CREATE USER Statement"/>
                        </a:rPr>
                        <a:t>CREATE/DROP/RENAME USER</a:t>
                      </a:r>
                      <a:r>
                        <a:rPr lang="en-US" altLang="zh-CN" sz="1600" b="0" i="0">
                          <a:solidFill>
                            <a:srgbClr val="555555"/>
                          </a:solidFill>
                          <a:ea typeface="Open Sans"/>
                          <a:cs typeface="+mn-lt"/>
                        </a:rPr>
                        <a:t>, and </a:t>
                      </a:r>
                      <a:r>
                        <a:rPr lang="en-US" altLang="zh-CN" sz="1600" b="0" i="0" u="sng">
                          <a:solidFill>
                            <a:srgbClr val="000000"/>
                          </a:solidFill>
                          <a:ea typeface="Open Sans"/>
                          <a:cs typeface="+mn-lt"/>
                        </a:rPr>
                        <a:t>REVOKE ALL PRIVILEGES</a:t>
                      </a:r>
                      <a:r>
                        <a:rPr lang="en-US" altLang="zh-CN" sz="1600" b="0" i="0">
                          <a:solidFill>
                            <a:srgbClr val="555555"/>
                          </a:solidFill>
                          <a:ea typeface="Open Sans"/>
                          <a:cs typeface="+mn-lt"/>
                        </a:rPr>
                        <a:t>.</a:t>
                      </a:r>
                      <a:endParaRPr lang="en-US" altLang="zh-CN" sz="1600" b="0" i="0" u="sng">
                        <a:solidFill>
                          <a:srgbClr val="555555"/>
                        </a:solidFill>
                        <a:ea typeface="Open Sans"/>
                        <a:cs typeface="+mn-l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endParaRPr lang="en-US" altLang="zh-CN" sz="1600" b="1" i="0">
                        <a:solidFill>
                          <a:srgbClr val="C00000"/>
                        </a:solidFill>
                        <a:ea typeface="Open Sans"/>
                        <a:cs typeface="+mn-l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extLst>
                  <a:ext uri="{0D108BD9-81ED-4DB2-BD59-A6C34878D82A}">
                    <a16:rowId xmlns:a16="http://schemas.microsoft.com/office/drawing/2014/main" val="10003"/>
                  </a:ext>
                </a:extLst>
              </a:tr>
              <a:tr h="0">
                <a:tc>
                  <a:txBody>
                    <a:bodyPr/>
                    <a:lstStyle/>
                    <a:p>
                      <a:pPr marL="0" indent="0" fontAlgn="base">
                        <a:spcBef>
                          <a:spcPct val="0"/>
                        </a:spcBef>
                        <a:spcAft>
                          <a:spcPct val="0"/>
                        </a:spcAft>
                      </a:pPr>
                      <a:r>
                        <a:rPr lang="en-US" altLang="zh-CN" sz="1600" b="1" i="0" u="sng">
                          <a:solidFill>
                            <a:srgbClr val="000000"/>
                          </a:solidFill>
                          <a:ea typeface="Open Sans"/>
                          <a:cs typeface="+mn-lt"/>
                          <a:hlinkClick r:id="rId6"/>
                        </a:rPr>
                        <a:t>DROP ROLE</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fontAlgn="base">
                        <a:spcBef>
                          <a:spcPct val="0"/>
                        </a:spcBef>
                        <a:spcAft>
                          <a:spcPct val="0"/>
                        </a:spcAft>
                      </a:pPr>
                      <a:r>
                        <a:rPr lang="en-US" altLang="zh-CN" sz="1600" b="0" i="0">
                          <a:solidFill>
                            <a:srgbClr val="555555"/>
                          </a:solidFill>
                          <a:ea typeface="Open Sans"/>
                          <a:cs typeface="+mn-lt"/>
                        </a:rPr>
                        <a:t>Enable roles to be dropped.</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endParaRPr lang="en-US" altLang="zh-CN" sz="1600" b="1" i="0">
                        <a:solidFill>
                          <a:srgbClr val="C00000"/>
                        </a:solidFill>
                        <a:ea typeface="Open Sans"/>
                        <a:cs typeface="+mn-l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extLst>
                  <a:ext uri="{0D108BD9-81ED-4DB2-BD59-A6C34878D82A}">
                    <a16:rowId xmlns:a16="http://schemas.microsoft.com/office/drawing/2014/main" val="10004"/>
                  </a:ext>
                </a:extLst>
              </a:tr>
              <a:tr h="0">
                <a:tc>
                  <a:txBody>
                    <a:bodyPr/>
                    <a:lstStyle/>
                    <a:p>
                      <a:pPr marL="0" indent="0" fontAlgn="base">
                        <a:spcBef>
                          <a:spcPct val="0"/>
                        </a:spcBef>
                        <a:spcAft>
                          <a:spcPct val="0"/>
                        </a:spcAft>
                      </a:pPr>
                      <a:r>
                        <a:rPr lang="en-US" altLang="zh-CN" sz="1600" b="1" i="0" u="sng">
                          <a:solidFill>
                            <a:srgbClr val="000000"/>
                          </a:solidFill>
                          <a:ea typeface="Open Sans"/>
                          <a:cs typeface="+mn-lt"/>
                          <a:hlinkClick r:id="rId7"/>
                        </a:rPr>
                        <a:t>FILE</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fontAlgn="base">
                        <a:spcBef>
                          <a:spcPct val="0"/>
                        </a:spcBef>
                        <a:spcAft>
                          <a:spcPct val="0"/>
                        </a:spcAft>
                      </a:pPr>
                      <a:r>
                        <a:rPr lang="en-US" altLang="zh-CN" sz="1600" b="0" i="0">
                          <a:solidFill>
                            <a:srgbClr val="555555"/>
                          </a:solidFill>
                          <a:ea typeface="Open Sans"/>
                          <a:cs typeface="+mn-lt"/>
                        </a:rPr>
                        <a:t>Enable the user to cause the server to read or write files. </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endParaRPr lang="en-US" altLang="zh-CN" sz="1600" b="1" i="0">
                        <a:solidFill>
                          <a:srgbClr val="C00000"/>
                        </a:solidFill>
                        <a:ea typeface="Open Sans"/>
                        <a:cs typeface="+mn-l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extLst>
                  <a:ext uri="{0D108BD9-81ED-4DB2-BD59-A6C34878D82A}">
                    <a16:rowId xmlns:a16="http://schemas.microsoft.com/office/drawing/2014/main" val="10005"/>
                  </a:ext>
                </a:extLst>
              </a:tr>
              <a:tr h="0">
                <a:tc>
                  <a:txBody>
                    <a:bodyPr/>
                    <a:lstStyle/>
                    <a:p>
                      <a:pPr marL="0" indent="0" fontAlgn="base">
                        <a:spcBef>
                          <a:spcPct val="0"/>
                        </a:spcBef>
                        <a:spcAft>
                          <a:spcPct val="0"/>
                        </a:spcAft>
                      </a:pPr>
                      <a:r>
                        <a:rPr lang="en-US" altLang="zh-CN" sz="1600" b="1" i="0" u="sng">
                          <a:solidFill>
                            <a:srgbClr val="000000"/>
                          </a:solidFill>
                          <a:ea typeface="Open Sans"/>
                          <a:cs typeface="+mn-lt"/>
                          <a:hlinkClick r:id="rId8"/>
                        </a:rPr>
                        <a:t>PROCESS</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fontAlgn="base">
                        <a:spcBef>
                          <a:spcPct val="0"/>
                        </a:spcBef>
                        <a:spcAft>
                          <a:spcPct val="0"/>
                        </a:spcAft>
                      </a:pPr>
                      <a:r>
                        <a:rPr lang="en-US" altLang="zh-CN" sz="1600" b="0" i="0">
                          <a:solidFill>
                            <a:srgbClr val="555555"/>
                          </a:solidFill>
                          <a:ea typeface="Open Sans"/>
                          <a:cs typeface="+mn-lt"/>
                        </a:rPr>
                        <a:t>Enable the user to see all processes with </a:t>
                      </a:r>
                      <a:r>
                        <a:rPr lang="en-US" altLang="zh-CN" sz="1600" b="0" i="0" u="sng">
                          <a:solidFill>
                            <a:srgbClr val="000000"/>
                          </a:solidFill>
                          <a:ea typeface="Open Sans"/>
                          <a:cs typeface="+mn-lt"/>
                        </a:rPr>
                        <a:t>SHOW PROCESSLIST</a:t>
                      </a:r>
                      <a:r>
                        <a:rPr lang="en-US" altLang="zh-CN" sz="1600" b="0" i="0">
                          <a:solidFill>
                            <a:srgbClr val="555555"/>
                          </a:solidFill>
                          <a:ea typeface="Open Sans"/>
                          <a:cs typeface="+mn-lt"/>
                        </a:rPr>
                        <a:t>.</a:t>
                      </a:r>
                      <a:endParaRPr lang="en-US" altLang="zh-CN" sz="1600" b="0" i="0" u="sng">
                        <a:solidFill>
                          <a:srgbClr val="555555"/>
                        </a:solidFill>
                        <a:ea typeface="Open Sans"/>
                        <a:cs typeface="+mn-l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endParaRPr lang="en-US" altLang="zh-CN" sz="1600" b="1" i="0">
                        <a:solidFill>
                          <a:srgbClr val="C00000"/>
                        </a:solidFill>
                        <a:ea typeface="Open Sans"/>
                        <a:cs typeface="+mn-l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extLst>
                  <a:ext uri="{0D108BD9-81ED-4DB2-BD59-A6C34878D82A}">
                    <a16:rowId xmlns:a16="http://schemas.microsoft.com/office/drawing/2014/main" val="10006"/>
                  </a:ext>
                </a:extLst>
              </a:tr>
              <a:tr h="0">
                <a:tc>
                  <a:txBody>
                    <a:bodyPr/>
                    <a:lstStyle/>
                    <a:p>
                      <a:pPr marL="0" indent="0" fontAlgn="base">
                        <a:spcBef>
                          <a:spcPct val="0"/>
                        </a:spcBef>
                        <a:spcAft>
                          <a:spcPct val="0"/>
                        </a:spcAft>
                      </a:pPr>
                      <a:r>
                        <a:rPr lang="en-US" altLang="zh-CN" sz="1600" b="1" i="0" u="sng">
                          <a:solidFill>
                            <a:srgbClr val="000000"/>
                          </a:solidFill>
                          <a:ea typeface="Open Sans"/>
                          <a:cs typeface="+mn-lt"/>
                          <a:hlinkClick r:id="rId9"/>
                        </a:rPr>
                        <a:t>RELOAD</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fontAlgn="base">
                        <a:spcBef>
                          <a:spcPct val="0"/>
                        </a:spcBef>
                        <a:spcAft>
                          <a:spcPct val="0"/>
                        </a:spcAft>
                      </a:pPr>
                      <a:r>
                        <a:rPr lang="en-US" altLang="zh-CN" sz="1600" b="0" i="0">
                          <a:solidFill>
                            <a:srgbClr val="555555"/>
                          </a:solidFill>
                          <a:ea typeface="Open Sans"/>
                          <a:cs typeface="+mn-lt"/>
                        </a:rPr>
                        <a:t>Enable use of </a:t>
                      </a:r>
                      <a:r>
                        <a:rPr lang="en-US" altLang="zh-CN" sz="1600" b="0" i="0" u="sng">
                          <a:solidFill>
                            <a:srgbClr val="000000"/>
                          </a:solidFill>
                          <a:ea typeface="Open Sans"/>
                          <a:cs typeface="+mn-lt"/>
                        </a:rPr>
                        <a:t>FLUSH</a:t>
                      </a:r>
                      <a:r>
                        <a:rPr lang="en-US" altLang="zh-CN" sz="1600" b="0" i="0">
                          <a:solidFill>
                            <a:srgbClr val="555555"/>
                          </a:solidFill>
                          <a:ea typeface="Open Sans"/>
                          <a:cs typeface="+mn-lt"/>
                        </a:rPr>
                        <a:t> operations.</a:t>
                      </a:r>
                      <a:endParaRPr lang="en-US" altLang="zh-CN" sz="1600" b="0" i="0" u="sng">
                        <a:solidFill>
                          <a:srgbClr val="555555"/>
                        </a:solidFill>
                        <a:ea typeface="Open Sans"/>
                        <a:cs typeface="+mn-l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endParaRPr lang="en-US" altLang="zh-CN" sz="1600" b="1" i="0">
                        <a:solidFill>
                          <a:srgbClr val="C00000"/>
                        </a:solidFill>
                        <a:ea typeface="Open Sans"/>
                        <a:cs typeface="+mn-l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extLst>
                  <a:ext uri="{0D108BD9-81ED-4DB2-BD59-A6C34878D82A}">
                    <a16:rowId xmlns:a16="http://schemas.microsoft.com/office/drawing/2014/main" val="10007"/>
                  </a:ext>
                </a:extLst>
              </a:tr>
              <a:tr h="0">
                <a:tc>
                  <a:txBody>
                    <a:bodyPr/>
                    <a:lstStyle/>
                    <a:p>
                      <a:pPr marL="0" indent="0" fontAlgn="base">
                        <a:spcBef>
                          <a:spcPct val="0"/>
                        </a:spcBef>
                        <a:spcAft>
                          <a:spcPct val="0"/>
                        </a:spcAft>
                      </a:pPr>
                      <a:r>
                        <a:rPr lang="en-US" altLang="zh-CN" sz="1600" b="1" i="0" u="sng">
                          <a:solidFill>
                            <a:srgbClr val="000000"/>
                          </a:solidFill>
                          <a:ea typeface="Open Sans"/>
                          <a:cs typeface="+mn-lt"/>
                          <a:hlinkClick r:id="rId10"/>
                        </a:rPr>
                        <a:t>REPLICATION CLIENT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fontAlgn="base">
                        <a:spcBef>
                          <a:spcPct val="0"/>
                        </a:spcBef>
                        <a:spcAft>
                          <a:spcPct val="0"/>
                        </a:spcAft>
                      </a:pPr>
                      <a:r>
                        <a:rPr lang="en-US" altLang="zh-CN" sz="1600" b="0" i="0">
                          <a:solidFill>
                            <a:srgbClr val="555555"/>
                          </a:solidFill>
                          <a:ea typeface="Open Sans"/>
                          <a:cs typeface="+mn-lt"/>
                        </a:rPr>
                        <a:t>Enable the user to ask where source or replica servers are.</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endParaRPr lang="en-US" altLang="zh-CN" sz="1600" b="1" i="0">
                        <a:solidFill>
                          <a:srgbClr val="C00000"/>
                        </a:solidFill>
                        <a:ea typeface="Open Sans"/>
                        <a:cs typeface="+mn-l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extLst>
                  <a:ext uri="{0D108BD9-81ED-4DB2-BD59-A6C34878D82A}">
                    <a16:rowId xmlns:a16="http://schemas.microsoft.com/office/drawing/2014/main" val="10008"/>
                  </a:ext>
                </a:extLst>
              </a:tr>
              <a:tr h="0">
                <a:tc>
                  <a:txBody>
                    <a:bodyPr/>
                    <a:lstStyle/>
                    <a:p>
                      <a:pPr marL="0" indent="0" fontAlgn="base">
                        <a:spcBef>
                          <a:spcPct val="0"/>
                        </a:spcBef>
                        <a:spcAft>
                          <a:spcPct val="0"/>
                        </a:spcAft>
                      </a:pPr>
                      <a:r>
                        <a:rPr lang="en-US" altLang="zh-CN" sz="1600" b="1" i="0" u="sng">
                          <a:solidFill>
                            <a:srgbClr val="000000"/>
                          </a:solidFill>
                          <a:ea typeface="Open Sans"/>
                          <a:cs typeface="+mn-lt"/>
                          <a:hlinkClick r:id="rId11"/>
                        </a:rPr>
                        <a:t>REPLICATION SLAVE</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fontAlgn="base">
                        <a:spcBef>
                          <a:spcPct val="0"/>
                        </a:spcBef>
                        <a:spcAft>
                          <a:spcPct val="0"/>
                        </a:spcAft>
                      </a:pPr>
                      <a:r>
                        <a:rPr lang="en-US" altLang="zh-CN" sz="1600" b="0" i="0">
                          <a:solidFill>
                            <a:srgbClr val="555555"/>
                          </a:solidFill>
                          <a:ea typeface="Open Sans"/>
                          <a:cs typeface="+mn-lt"/>
                        </a:rPr>
                        <a:t>Enable replicas to read binary log events from the source.</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endParaRPr lang="en-US" altLang="zh-CN" sz="1600" b="1" i="0">
                        <a:solidFill>
                          <a:srgbClr val="C00000"/>
                        </a:solidFill>
                        <a:ea typeface="Open Sans"/>
                        <a:cs typeface="+mn-l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extLst>
                  <a:ext uri="{0D108BD9-81ED-4DB2-BD59-A6C34878D82A}">
                    <a16:rowId xmlns:a16="http://schemas.microsoft.com/office/drawing/2014/main" val="10009"/>
                  </a:ext>
                </a:extLst>
              </a:tr>
              <a:tr h="0">
                <a:tc>
                  <a:txBody>
                    <a:bodyPr/>
                    <a:lstStyle/>
                    <a:p>
                      <a:pPr marL="0" indent="0" fontAlgn="base">
                        <a:spcBef>
                          <a:spcPct val="0"/>
                        </a:spcBef>
                        <a:spcAft>
                          <a:spcPct val="0"/>
                        </a:spcAft>
                      </a:pPr>
                      <a:r>
                        <a:rPr lang="en-US" altLang="zh-CN" sz="1600" b="1" i="0" u="sng">
                          <a:solidFill>
                            <a:srgbClr val="000000"/>
                          </a:solidFill>
                          <a:ea typeface="Open Sans"/>
                          <a:cs typeface="+mn-lt"/>
                          <a:hlinkClick r:id="rId12"/>
                        </a:rPr>
                        <a:t>SHOW DATABASES</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fontAlgn="base">
                        <a:spcBef>
                          <a:spcPct val="0"/>
                        </a:spcBef>
                        <a:spcAft>
                          <a:spcPct val="0"/>
                        </a:spcAft>
                      </a:pPr>
                      <a:r>
                        <a:rPr lang="en-US" altLang="zh-CN" sz="1600" b="0" i="0">
                          <a:solidFill>
                            <a:srgbClr val="555555"/>
                          </a:solidFill>
                          <a:ea typeface="Open Sans"/>
                          <a:cs typeface="+mn-lt"/>
                        </a:rPr>
                        <a:t>Enable </a:t>
                      </a:r>
                      <a:r>
                        <a:rPr lang="en-US" altLang="zh-CN" sz="1600" b="0" i="0" u="sng">
                          <a:solidFill>
                            <a:srgbClr val="000000"/>
                          </a:solidFill>
                          <a:ea typeface="Open Sans"/>
                          <a:cs typeface="+mn-lt"/>
                        </a:rPr>
                        <a:t>SHOW DATABASES</a:t>
                      </a:r>
                      <a:r>
                        <a:rPr lang="en-US" altLang="zh-CN" sz="1600" b="0" i="0">
                          <a:solidFill>
                            <a:srgbClr val="555555"/>
                          </a:solidFill>
                          <a:ea typeface="Open Sans"/>
                          <a:cs typeface="+mn-lt"/>
                        </a:rPr>
                        <a:t> to show all databases.</a:t>
                      </a:r>
                      <a:endParaRPr lang="en-US" altLang="zh-CN" sz="1600" b="0" i="0" u="sng">
                        <a:solidFill>
                          <a:srgbClr val="555555"/>
                        </a:solidFill>
                        <a:ea typeface="Open Sans"/>
                        <a:cs typeface="+mn-l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endParaRPr lang="en-US" altLang="zh-CN" sz="1600" b="1" i="0">
                        <a:solidFill>
                          <a:srgbClr val="C00000"/>
                        </a:solidFill>
                        <a:ea typeface="Open Sans"/>
                        <a:cs typeface="+mn-l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extLst>
                  <a:ext uri="{0D108BD9-81ED-4DB2-BD59-A6C34878D82A}">
                    <a16:rowId xmlns:a16="http://schemas.microsoft.com/office/drawing/2014/main" val="10010"/>
                  </a:ext>
                </a:extLst>
              </a:tr>
              <a:tr h="0">
                <a:tc>
                  <a:txBody>
                    <a:bodyPr/>
                    <a:lstStyle/>
                    <a:p>
                      <a:pPr marL="0" indent="0" fontAlgn="base">
                        <a:spcBef>
                          <a:spcPct val="0"/>
                        </a:spcBef>
                        <a:spcAft>
                          <a:spcPct val="0"/>
                        </a:spcAft>
                      </a:pPr>
                      <a:r>
                        <a:rPr lang="en-US" altLang="zh-CN" sz="1600" b="1" i="0" u="sng">
                          <a:solidFill>
                            <a:srgbClr val="000000"/>
                          </a:solidFill>
                          <a:ea typeface="Open Sans"/>
                          <a:cs typeface="+mn-lt"/>
                          <a:hlinkClick r:id="rId13"/>
                        </a:rPr>
                        <a:t>SHUTDOWN</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fontAlgn="base">
                        <a:spcBef>
                          <a:spcPct val="0"/>
                        </a:spcBef>
                        <a:spcAft>
                          <a:spcPct val="0"/>
                        </a:spcAft>
                      </a:pPr>
                      <a:r>
                        <a:rPr lang="en-US" altLang="zh-CN" sz="1600" b="0" i="0">
                          <a:solidFill>
                            <a:srgbClr val="555555"/>
                          </a:solidFill>
                          <a:ea typeface="Open Sans"/>
                          <a:cs typeface="+mn-lt"/>
                        </a:rPr>
                        <a:t>Enable use of </a:t>
                      </a:r>
                      <a:r>
                        <a:rPr lang="en-US" altLang="zh-CN" sz="1600" b="0" i="0">
                          <a:solidFill>
                            <a:srgbClr val="0074A3"/>
                          </a:solidFill>
                          <a:ea typeface="Open Sans"/>
                          <a:cs typeface="+mn-lt"/>
                        </a:rPr>
                        <a:t>mysqladmin shutdown</a:t>
                      </a:r>
                      <a:r>
                        <a:rPr lang="en-US" altLang="zh-CN" sz="1600" b="0" i="0">
                          <a:solidFill>
                            <a:srgbClr val="555555"/>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endParaRPr lang="en-US" altLang="zh-CN" sz="1600" b="1" i="0">
                        <a:solidFill>
                          <a:srgbClr val="C00000"/>
                        </a:solidFill>
                        <a:ea typeface="Open Sans"/>
                        <a:cs typeface="+mn-l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extLst>
                  <a:ext uri="{0D108BD9-81ED-4DB2-BD59-A6C34878D82A}">
                    <a16:rowId xmlns:a16="http://schemas.microsoft.com/office/drawing/2014/main" val="10011"/>
                  </a:ext>
                </a:extLst>
              </a:tr>
              <a:tr h="281305">
                <a:tc>
                  <a:txBody>
                    <a:bodyPr/>
                    <a:lstStyle/>
                    <a:p>
                      <a:pPr marL="0" indent="0" fontAlgn="base">
                        <a:spcBef>
                          <a:spcPct val="0"/>
                        </a:spcBef>
                        <a:spcAft>
                          <a:spcPct val="0"/>
                        </a:spcAft>
                      </a:pPr>
                      <a:r>
                        <a:rPr lang="en-US" altLang="zh-CN" sz="1600" b="1" i="0" u="sng">
                          <a:solidFill>
                            <a:srgbClr val="000000"/>
                          </a:solidFill>
                          <a:ea typeface="Open Sans"/>
                          <a:cs typeface="+mn-lt"/>
                          <a:hlinkClick r:id="rId14"/>
                        </a:rPr>
                        <a:t>SUPER</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fontAlgn="base">
                        <a:spcBef>
                          <a:spcPct val="0"/>
                        </a:spcBef>
                        <a:spcAft>
                          <a:spcPct val="0"/>
                        </a:spcAft>
                      </a:pPr>
                      <a:r>
                        <a:rPr lang="en-US" altLang="zh-CN" sz="1600" b="0" i="0">
                          <a:solidFill>
                            <a:srgbClr val="555555"/>
                          </a:solidFill>
                          <a:ea typeface="Open Sans"/>
                          <a:cs typeface="+mn-lt"/>
                        </a:rPr>
                        <a:t>Enable use of other administrative operations such as </a:t>
                      </a:r>
                      <a:r>
                        <a:rPr lang="en-US" altLang="zh-CN" sz="1600" b="0" i="0" u="sng">
                          <a:solidFill>
                            <a:srgbClr val="000000"/>
                          </a:solidFill>
                          <a:ea typeface="Open Sans"/>
                          <a:cs typeface="+mn-lt"/>
                          <a:hlinkClick r:id="rId15" tooltip="15.4.2.3 CHANGE REPLICATION SOURCE TO Statement"/>
                        </a:rPr>
                        <a:t>CHANGE REPLICATION SOURCE TO</a:t>
                      </a:r>
                      <a:r>
                        <a:rPr lang="en-US" altLang="zh-CN" sz="1600" b="0" i="0">
                          <a:solidFill>
                            <a:srgbClr val="555555"/>
                          </a:solidFill>
                          <a:ea typeface="Open Sans"/>
                          <a:cs typeface="+mn-lt"/>
                        </a:rPr>
                        <a:t>, </a:t>
                      </a:r>
                      <a:r>
                        <a:rPr lang="en-US" altLang="zh-CN" sz="1600" b="0" i="0" u="sng">
                          <a:solidFill>
                            <a:srgbClr val="000000"/>
                          </a:solidFill>
                          <a:ea typeface="Open Sans"/>
                          <a:cs typeface="+mn-lt"/>
                          <a:hlinkClick r:id="rId16" tooltip="15.4.2.1 CHANGE MASTER TO Statement"/>
                        </a:rPr>
                        <a:t>CHANGE MASTER TO</a:t>
                      </a:r>
                      <a:r>
                        <a:rPr lang="en-US" altLang="zh-CN" sz="1600" b="0" i="0">
                          <a:solidFill>
                            <a:srgbClr val="555555"/>
                          </a:solidFill>
                          <a:ea typeface="Open Sans"/>
                          <a:cs typeface="+mn-lt"/>
                        </a:rPr>
                        <a:t>, </a:t>
                      </a:r>
                      <a:r>
                        <a:rPr lang="en-US" altLang="zh-CN" sz="1600" b="0" i="0" u="sng">
                          <a:solidFill>
                            <a:srgbClr val="000000"/>
                          </a:solidFill>
                          <a:ea typeface="Open Sans"/>
                          <a:cs typeface="+mn-lt"/>
                          <a:hlinkClick r:id="rId17" tooltip="15.7.8.4 KILL Statement"/>
                        </a:rPr>
                        <a:t>KILL</a:t>
                      </a:r>
                      <a:r>
                        <a:rPr lang="en-US" altLang="zh-CN" sz="1600" b="0" i="0">
                          <a:solidFill>
                            <a:srgbClr val="555555"/>
                          </a:solidFill>
                          <a:ea typeface="Open Sans"/>
                          <a:cs typeface="+mn-lt"/>
                        </a:rPr>
                        <a:t>, </a:t>
                      </a:r>
                      <a:r>
                        <a:rPr lang="en-US" altLang="zh-CN" sz="1600" b="0" i="0" u="sng">
                          <a:solidFill>
                            <a:srgbClr val="000000"/>
                          </a:solidFill>
                          <a:ea typeface="Open Sans"/>
                          <a:cs typeface="+mn-lt"/>
                          <a:hlinkClick r:id="rId18" tooltip="15.4.1.1 PURGE BINARY LOGS Statement"/>
                        </a:rPr>
                        <a:t>PURGE BINARY LOGS</a:t>
                      </a:r>
                      <a:r>
                        <a:rPr lang="en-US" altLang="zh-CN" sz="1600" b="0" i="0">
                          <a:solidFill>
                            <a:srgbClr val="555555"/>
                          </a:solidFill>
                          <a:ea typeface="Open Sans"/>
                          <a:cs typeface="+mn-lt"/>
                        </a:rPr>
                        <a:t>, </a:t>
                      </a:r>
                      <a:r>
                        <a:rPr lang="en-US" altLang="zh-CN" sz="1600" b="0" i="0" u="sng">
                          <a:solidFill>
                            <a:srgbClr val="000000"/>
                          </a:solidFill>
                          <a:ea typeface="Open Sans"/>
                          <a:cs typeface="+mn-lt"/>
                          <a:hlinkClick r:id="rId19" tooltip="15.7.6.1 SET Syntax for Variable Assignment"/>
                        </a:rPr>
                        <a:t>SET GLOBAL</a:t>
                      </a:r>
                      <a:r>
                        <a:rPr lang="en-US" altLang="zh-CN" sz="1600" b="0" i="0">
                          <a:solidFill>
                            <a:srgbClr val="555555"/>
                          </a:solidFill>
                          <a:ea typeface="Open Sans"/>
                          <a:cs typeface="+mn-lt"/>
                        </a:rPr>
                        <a:t>, and </a:t>
                      </a:r>
                      <a:r>
                        <a:rPr lang="en-US" altLang="zh-CN" sz="1600" b="0" i="0">
                          <a:solidFill>
                            <a:srgbClr val="0074A3"/>
                          </a:solidFill>
                          <a:ea typeface="Open Sans"/>
                          <a:cs typeface="+mn-lt"/>
                        </a:rPr>
                        <a:t>mysqladmin debug</a:t>
                      </a:r>
                      <a:r>
                        <a:rPr lang="en-US" altLang="zh-CN" sz="1600" b="0" i="0">
                          <a:solidFill>
                            <a:srgbClr val="555555"/>
                          </a:solidFill>
                          <a:ea typeface="Open Sans"/>
                          <a:cs typeface="+mn-lt"/>
                        </a:rPr>
                        <a:t> command.</a:t>
                      </a:r>
                      <a:endParaRPr lang="en-US" altLang="zh-CN" sz="1600" b="0" i="0" u="sng">
                        <a:solidFill>
                          <a:srgbClr val="555555"/>
                        </a:solidFill>
                        <a:ea typeface="Open Sans"/>
                        <a:cs typeface="+mn-l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endParaRPr lang="en-US" altLang="zh-CN" sz="1600" b="1" i="0">
                        <a:solidFill>
                          <a:srgbClr val="C00000"/>
                        </a:solidFill>
                        <a:ea typeface="Open Sans"/>
                        <a:cs typeface="+mn-l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extLst>
                  <a:ext uri="{0D108BD9-81ED-4DB2-BD59-A6C34878D82A}">
                    <a16:rowId xmlns:a16="http://schemas.microsoft.com/office/drawing/2014/main" val="10012"/>
                  </a:ext>
                </a:extLst>
              </a:tr>
              <a:tr h="281305">
                <a:tc>
                  <a:txBody>
                    <a:bodyPr/>
                    <a:lstStyle/>
                    <a:p>
                      <a:pPr marL="0" indent="0" fontAlgn="base">
                        <a:spcBef>
                          <a:spcPct val="0"/>
                        </a:spcBef>
                        <a:spcAft>
                          <a:spcPct val="0"/>
                        </a:spcAft>
                      </a:pPr>
                      <a:r>
                        <a:rPr lang="en-US" altLang="zh-CN" sz="1600" b="1" i="0" u="sng">
                          <a:solidFill>
                            <a:srgbClr val="000000"/>
                          </a:solidFill>
                          <a:ea typeface="Open Sans"/>
                          <a:cs typeface="+mn-lt"/>
                          <a:hlinkClick r:id="rId20"/>
                        </a:rPr>
                        <a:t>ALTER ROUTINE</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indent="0" fontAlgn="base">
                        <a:spcBef>
                          <a:spcPct val="0"/>
                        </a:spcBef>
                        <a:spcAft>
                          <a:spcPct val="0"/>
                        </a:spcAft>
                      </a:pPr>
                      <a:r>
                        <a:rPr lang="en-US" altLang="zh-CN" sz="1600" b="0" i="0">
                          <a:solidFill>
                            <a:srgbClr val="555555"/>
                          </a:solidFill>
                          <a:ea typeface="Open Sans"/>
                          <a:cs typeface="+mn-lt"/>
                        </a:rPr>
                        <a:t>Enable stored routines to be altered or dropped.</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indent="0" algn="ctr" fontAlgn="base">
                        <a:spcBef>
                          <a:spcPct val="0"/>
                        </a:spcBef>
                        <a:spcAft>
                          <a:spcPct val="0"/>
                        </a:spcAft>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indent="0" algn="ctr" fontAlgn="base">
                        <a:spcBef>
                          <a:spcPct val="0"/>
                        </a:spcBef>
                        <a:spcAft>
                          <a:spcPct val="0"/>
                        </a:spcAft>
                        <a:buNone/>
                      </a:pPr>
                      <a:r>
                        <a:rPr lang="en-US" altLang="zh-CN" sz="1600" b="1">
                          <a:solidFill>
                            <a:srgbClr val="C00000"/>
                          </a:solidFill>
                          <a:ea typeface="Open Sans"/>
                          <a:cs typeface="+mn-lt"/>
                          <a:sym typeface="+mn-ea"/>
                        </a:rPr>
                        <a:t>√</a:t>
                      </a:r>
                      <a:endParaRPr lang="en-US" altLang="zh-CN" sz="1600" b="1" i="0">
                        <a:solidFill>
                          <a:srgbClr val="C00000"/>
                        </a:solidFill>
                        <a:ea typeface="Open Sans"/>
                        <a:cs typeface="+mn-lt"/>
                        <a:sym typeface="+mn-ea"/>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extLst>
                  <a:ext uri="{0D108BD9-81ED-4DB2-BD59-A6C34878D82A}">
                    <a16:rowId xmlns:a16="http://schemas.microsoft.com/office/drawing/2014/main" val="10013"/>
                  </a:ext>
                </a:extLst>
              </a:tr>
              <a:tr h="281305">
                <a:tc>
                  <a:txBody>
                    <a:bodyPr/>
                    <a:lstStyle/>
                    <a:p>
                      <a:pPr marL="0" indent="0" fontAlgn="base">
                        <a:spcBef>
                          <a:spcPct val="0"/>
                        </a:spcBef>
                        <a:spcAft>
                          <a:spcPct val="0"/>
                        </a:spcAft>
                      </a:pPr>
                      <a:r>
                        <a:rPr lang="en-US" altLang="zh-CN" sz="1600" b="1" i="0" u="sng">
                          <a:solidFill>
                            <a:srgbClr val="000000"/>
                          </a:solidFill>
                          <a:ea typeface="Open Sans"/>
                          <a:cs typeface="+mn-lt"/>
                          <a:hlinkClick r:id="rId21"/>
                        </a:rPr>
                        <a:t>CREATE ROUTINE</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indent="0" fontAlgn="base">
                        <a:spcBef>
                          <a:spcPct val="0"/>
                        </a:spcBef>
                        <a:spcAft>
                          <a:spcPct val="0"/>
                        </a:spcAft>
                      </a:pPr>
                      <a:r>
                        <a:rPr lang="en-US" altLang="zh-CN" sz="1600" b="0" i="0">
                          <a:solidFill>
                            <a:srgbClr val="555555"/>
                          </a:solidFill>
                          <a:ea typeface="Open Sans"/>
                          <a:cs typeface="+mn-lt"/>
                        </a:rPr>
                        <a:t>Enable stored routine creation.</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indent="0" algn="ctr" fontAlgn="base">
                        <a:spcBef>
                          <a:spcPct val="0"/>
                        </a:spcBef>
                        <a:spcAft>
                          <a:spcPct val="0"/>
                        </a:spcAft>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indent="0" algn="ctr" fontAlgn="base">
                        <a:spcBef>
                          <a:spcPct val="0"/>
                        </a:spcBef>
                        <a:spcAft>
                          <a:spcPct val="0"/>
                        </a:spcAft>
                        <a:buNone/>
                      </a:pPr>
                      <a:r>
                        <a:rPr lang="en-US" altLang="zh-CN" sz="1600" b="1">
                          <a:solidFill>
                            <a:srgbClr val="C00000"/>
                          </a:solidFill>
                          <a:ea typeface="Open Sans"/>
                          <a:cs typeface="+mn-lt"/>
                          <a:sym typeface="+mn-ea"/>
                        </a:rPr>
                        <a:t>√</a:t>
                      </a:r>
                      <a:endParaRPr lang="en-US" altLang="zh-CN" sz="1600" b="1" i="0">
                        <a:solidFill>
                          <a:srgbClr val="C00000"/>
                        </a:solidFill>
                        <a:ea typeface="Open Sans"/>
                        <a:cs typeface="+mn-lt"/>
                        <a:sym typeface="+mn-ea"/>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extLst>
                  <a:ext uri="{0D108BD9-81ED-4DB2-BD59-A6C34878D82A}">
                    <a16:rowId xmlns:a16="http://schemas.microsoft.com/office/drawing/2014/main" val="10014"/>
                  </a:ext>
                </a:extLst>
              </a:tr>
              <a:tr h="281305">
                <a:tc>
                  <a:txBody>
                    <a:bodyPr/>
                    <a:lstStyle/>
                    <a:p>
                      <a:pPr marL="0" indent="0" fontAlgn="base">
                        <a:spcBef>
                          <a:spcPct val="0"/>
                        </a:spcBef>
                        <a:spcAft>
                          <a:spcPct val="0"/>
                        </a:spcAft>
                      </a:pPr>
                      <a:r>
                        <a:rPr lang="en-US" altLang="zh-CN" sz="1600" b="1" i="0" u="sng">
                          <a:solidFill>
                            <a:srgbClr val="000000"/>
                          </a:solidFill>
                          <a:ea typeface="Open Sans"/>
                          <a:cs typeface="+mn-lt"/>
                          <a:hlinkClick r:id="rId22"/>
                        </a:rPr>
                        <a:t>CREATE TEMPORARY TABLES</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indent="0" fontAlgn="base">
                        <a:spcBef>
                          <a:spcPct val="0"/>
                        </a:spcBef>
                        <a:spcAft>
                          <a:spcPct val="0"/>
                        </a:spcAft>
                      </a:pPr>
                      <a:r>
                        <a:rPr lang="en-US" altLang="zh-CN" sz="1600" b="0" i="0">
                          <a:solidFill>
                            <a:srgbClr val="555555"/>
                          </a:solidFill>
                          <a:ea typeface="Open Sans"/>
                          <a:cs typeface="+mn-lt"/>
                        </a:rPr>
                        <a:t>Enable use of </a:t>
                      </a:r>
                      <a:r>
                        <a:rPr lang="en-US" altLang="zh-CN" sz="1600" b="0" i="0" u="sng">
                          <a:solidFill>
                            <a:srgbClr val="000000"/>
                          </a:solidFill>
                          <a:ea typeface="Open Sans"/>
                          <a:cs typeface="+mn-lt"/>
                        </a:rPr>
                        <a:t>CREATE TEMPORARY TABLE</a:t>
                      </a:r>
                      <a:r>
                        <a:rPr lang="en-US" altLang="zh-CN" sz="1600" b="0" i="0">
                          <a:solidFill>
                            <a:srgbClr val="555555"/>
                          </a:solidFill>
                          <a:ea typeface="Open Sans"/>
                          <a:cs typeface="+mn-lt"/>
                        </a:rPr>
                        <a:t>.</a:t>
                      </a:r>
                      <a:endParaRPr lang="en-US" altLang="zh-CN" sz="1600" b="0" i="0" u="sng">
                        <a:solidFill>
                          <a:srgbClr val="555555"/>
                        </a:solidFill>
                        <a:ea typeface="Open Sans"/>
                        <a:cs typeface="+mn-l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indent="0" algn="ctr" fontAlgn="base">
                        <a:spcBef>
                          <a:spcPct val="0"/>
                        </a:spcBef>
                        <a:spcAft>
                          <a:spcPct val="0"/>
                        </a:spcAft>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indent="0" algn="ctr" fontAlgn="base">
                        <a:spcBef>
                          <a:spcPct val="0"/>
                        </a:spcBef>
                        <a:spcAft>
                          <a:spcPct val="0"/>
                        </a:spcAft>
                        <a:buNone/>
                      </a:pPr>
                      <a:r>
                        <a:rPr lang="en-US" altLang="zh-CN" sz="1600" b="1">
                          <a:solidFill>
                            <a:srgbClr val="C00000"/>
                          </a:solidFill>
                          <a:ea typeface="Open Sans"/>
                          <a:cs typeface="+mn-lt"/>
                          <a:sym typeface="+mn-ea"/>
                        </a:rPr>
                        <a:t>√</a:t>
                      </a:r>
                      <a:endParaRPr lang="en-US" altLang="zh-CN" sz="1600" b="1" i="0">
                        <a:solidFill>
                          <a:srgbClr val="C00000"/>
                        </a:solidFill>
                        <a:ea typeface="Open Sans"/>
                        <a:cs typeface="+mn-lt"/>
                        <a:sym typeface="+mn-ea"/>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extLst>
                  <a:ext uri="{0D108BD9-81ED-4DB2-BD59-A6C34878D82A}">
                    <a16:rowId xmlns:a16="http://schemas.microsoft.com/office/drawing/2014/main" val="10015"/>
                  </a:ext>
                </a:extLst>
              </a:tr>
              <a:tr h="281305">
                <a:tc>
                  <a:txBody>
                    <a:bodyPr/>
                    <a:lstStyle/>
                    <a:p>
                      <a:pPr marL="0" indent="0" fontAlgn="base">
                        <a:spcBef>
                          <a:spcPct val="0"/>
                        </a:spcBef>
                        <a:spcAft>
                          <a:spcPct val="0"/>
                        </a:spcAft>
                      </a:pPr>
                      <a:r>
                        <a:rPr lang="en-US" altLang="zh-CN" sz="1600" b="1" i="0" u="sng">
                          <a:solidFill>
                            <a:srgbClr val="000000"/>
                          </a:solidFill>
                          <a:ea typeface="Open Sans"/>
                          <a:cs typeface="+mn-lt"/>
                          <a:hlinkClick r:id="rId23"/>
                        </a:rPr>
                        <a:t>EVENT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indent="0" fontAlgn="base">
                        <a:spcBef>
                          <a:spcPct val="0"/>
                        </a:spcBef>
                        <a:spcAft>
                          <a:spcPct val="0"/>
                        </a:spcAft>
                      </a:pPr>
                      <a:r>
                        <a:rPr lang="en-US" altLang="zh-CN" sz="1600" b="0" i="0">
                          <a:solidFill>
                            <a:srgbClr val="555555"/>
                          </a:solidFill>
                          <a:ea typeface="Open Sans"/>
                          <a:cs typeface="+mn-lt"/>
                        </a:rPr>
                        <a:t>Enable use of events for the Event Scheduler.</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indent="0" algn="ctr" fontAlgn="base">
                        <a:spcBef>
                          <a:spcPct val="0"/>
                        </a:spcBef>
                        <a:spcAft>
                          <a:spcPct val="0"/>
                        </a:spcAft>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indent="0" algn="ctr" fontAlgn="base">
                        <a:spcBef>
                          <a:spcPct val="0"/>
                        </a:spcBef>
                        <a:spcAft>
                          <a:spcPct val="0"/>
                        </a:spcAft>
                        <a:buNone/>
                      </a:pPr>
                      <a:r>
                        <a:rPr lang="en-US" altLang="zh-CN" sz="1600" b="1">
                          <a:solidFill>
                            <a:srgbClr val="C00000"/>
                          </a:solidFill>
                          <a:ea typeface="Open Sans"/>
                          <a:cs typeface="+mn-lt"/>
                          <a:sym typeface="+mn-ea"/>
                        </a:rPr>
                        <a:t>√</a:t>
                      </a:r>
                      <a:endParaRPr lang="en-US" altLang="zh-CN" sz="1600" b="1" i="0">
                        <a:solidFill>
                          <a:srgbClr val="C00000"/>
                        </a:solidFill>
                        <a:ea typeface="Open Sans"/>
                        <a:cs typeface="+mn-lt"/>
                        <a:sym typeface="+mn-ea"/>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extLst>
                  <a:ext uri="{0D108BD9-81ED-4DB2-BD59-A6C34878D82A}">
                    <a16:rowId xmlns:a16="http://schemas.microsoft.com/office/drawing/2014/main" val="10016"/>
                  </a:ext>
                </a:extLst>
              </a:tr>
              <a:tr h="281305">
                <a:tc>
                  <a:txBody>
                    <a:bodyPr/>
                    <a:lstStyle/>
                    <a:p>
                      <a:pPr marL="0" indent="0" fontAlgn="base">
                        <a:spcBef>
                          <a:spcPct val="0"/>
                        </a:spcBef>
                        <a:spcAft>
                          <a:spcPct val="0"/>
                        </a:spcAft>
                      </a:pPr>
                      <a:r>
                        <a:rPr lang="en-US" altLang="zh-CN" sz="1600" b="1" i="0" u="sng">
                          <a:solidFill>
                            <a:srgbClr val="000000"/>
                          </a:solidFill>
                          <a:ea typeface="Open Sans"/>
                          <a:cs typeface="+mn-lt"/>
                          <a:hlinkClick r:id="rId24"/>
                        </a:rPr>
                        <a:t>EXECUTE</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indent="0" fontAlgn="base">
                        <a:spcBef>
                          <a:spcPct val="0"/>
                        </a:spcBef>
                        <a:spcAft>
                          <a:spcPct val="0"/>
                        </a:spcAft>
                      </a:pPr>
                      <a:r>
                        <a:rPr lang="en-US" altLang="zh-CN" sz="1600" b="0" i="0">
                          <a:solidFill>
                            <a:srgbClr val="555555"/>
                          </a:solidFill>
                          <a:ea typeface="Open Sans"/>
                          <a:cs typeface="+mn-lt"/>
                        </a:rPr>
                        <a:t>Enable the user to execute stored routines.</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indent="0" algn="ctr" fontAlgn="base">
                        <a:spcBef>
                          <a:spcPct val="0"/>
                        </a:spcBef>
                        <a:spcAft>
                          <a:spcPct val="0"/>
                        </a:spcAft>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indent="0" algn="ctr" fontAlgn="base">
                        <a:spcBef>
                          <a:spcPct val="0"/>
                        </a:spcBef>
                        <a:spcAft>
                          <a:spcPct val="0"/>
                        </a:spcAft>
                        <a:buNone/>
                      </a:pPr>
                      <a:r>
                        <a:rPr lang="en-US" altLang="zh-CN" sz="1600" b="1">
                          <a:solidFill>
                            <a:srgbClr val="C00000"/>
                          </a:solidFill>
                          <a:ea typeface="Open Sans"/>
                          <a:cs typeface="+mn-lt"/>
                          <a:sym typeface="+mn-ea"/>
                        </a:rPr>
                        <a:t>√</a:t>
                      </a:r>
                      <a:endParaRPr lang="en-US" altLang="zh-CN" sz="1600" b="1" i="0">
                        <a:solidFill>
                          <a:srgbClr val="C00000"/>
                        </a:solidFill>
                        <a:ea typeface="Open Sans"/>
                        <a:cs typeface="+mn-lt"/>
                        <a:sym typeface="+mn-ea"/>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extLst>
                  <a:ext uri="{0D108BD9-81ED-4DB2-BD59-A6C34878D82A}">
                    <a16:rowId xmlns:a16="http://schemas.microsoft.com/office/drawing/2014/main" val="10017"/>
                  </a:ext>
                </a:extLst>
              </a:tr>
              <a:tr h="281305">
                <a:tc>
                  <a:txBody>
                    <a:bodyPr/>
                    <a:lstStyle/>
                    <a:p>
                      <a:pPr marL="0" indent="0" fontAlgn="base">
                        <a:spcBef>
                          <a:spcPct val="0"/>
                        </a:spcBef>
                        <a:spcAft>
                          <a:spcPct val="0"/>
                        </a:spcAft>
                      </a:pPr>
                      <a:r>
                        <a:rPr lang="en-US" altLang="zh-CN" sz="1600" b="1" i="0" u="sng">
                          <a:solidFill>
                            <a:srgbClr val="000000"/>
                          </a:solidFill>
                          <a:ea typeface="Open Sans"/>
                          <a:cs typeface="+mn-lt"/>
                          <a:hlinkClick r:id="rId25"/>
                        </a:rPr>
                        <a:t>LOCK TABLES</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indent="0" fontAlgn="base">
                        <a:spcBef>
                          <a:spcPct val="0"/>
                        </a:spcBef>
                        <a:spcAft>
                          <a:spcPct val="0"/>
                        </a:spcAft>
                      </a:pPr>
                      <a:r>
                        <a:rPr lang="en-US" altLang="zh-CN" sz="1600" b="0" i="0">
                          <a:solidFill>
                            <a:srgbClr val="555555"/>
                          </a:solidFill>
                          <a:ea typeface="Open Sans"/>
                          <a:cs typeface="+mn-lt"/>
                        </a:rPr>
                        <a:t>Enable use of </a:t>
                      </a:r>
                      <a:r>
                        <a:rPr lang="en-US" altLang="zh-CN" sz="1600" b="0" i="0" u="sng">
                          <a:solidFill>
                            <a:srgbClr val="000000"/>
                          </a:solidFill>
                          <a:ea typeface="Open Sans"/>
                          <a:cs typeface="+mn-lt"/>
                          <a:hlinkClick r:id="rId26" tooltip="15.3.6 LOCK TABLES and UNLOCK TABLES Statements"/>
                        </a:rPr>
                        <a:t>LOCK TABLES</a:t>
                      </a:r>
                      <a:r>
                        <a:rPr lang="en-US" altLang="zh-CN" sz="1600" b="0" i="0">
                          <a:solidFill>
                            <a:srgbClr val="555555"/>
                          </a:solidFill>
                          <a:ea typeface="Open Sans"/>
                          <a:cs typeface="+mn-lt"/>
                        </a:rPr>
                        <a:t> on tables for which you have the </a:t>
                      </a:r>
                      <a:r>
                        <a:rPr lang="en-US" altLang="zh-CN" sz="1600" b="0" i="0" u="sng">
                          <a:solidFill>
                            <a:srgbClr val="000000"/>
                          </a:solidFill>
                          <a:ea typeface="Open Sans"/>
                          <a:cs typeface="+mn-lt"/>
                        </a:rPr>
                        <a:t>SELECT</a:t>
                      </a:r>
                      <a:r>
                        <a:rPr lang="en-US" altLang="zh-CN" sz="1600" b="0" i="0">
                          <a:solidFill>
                            <a:srgbClr val="555555"/>
                          </a:solidFill>
                          <a:ea typeface="Open Sans"/>
                          <a:cs typeface="+mn-lt"/>
                        </a:rPr>
                        <a:t> privilege.</a:t>
                      </a:r>
                      <a:endParaRPr lang="en-US" altLang="zh-CN" sz="1600" b="0" i="0" u="sng">
                        <a:solidFill>
                          <a:srgbClr val="555555"/>
                        </a:solidFill>
                        <a:ea typeface="Open Sans"/>
                        <a:cs typeface="+mn-l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indent="0" algn="ctr" fontAlgn="base">
                        <a:spcBef>
                          <a:spcPct val="0"/>
                        </a:spcBef>
                        <a:spcAft>
                          <a:spcPct val="0"/>
                        </a:spcAft>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indent="0" algn="ctr" fontAlgn="base">
                        <a:spcBef>
                          <a:spcPct val="0"/>
                        </a:spcBef>
                        <a:spcAft>
                          <a:spcPct val="0"/>
                        </a:spcAft>
                        <a:buNone/>
                      </a:pPr>
                      <a:r>
                        <a:rPr lang="en-US" altLang="zh-CN" sz="1600" b="1">
                          <a:solidFill>
                            <a:srgbClr val="C00000"/>
                          </a:solidFill>
                          <a:ea typeface="Open Sans"/>
                          <a:cs typeface="+mn-lt"/>
                          <a:sym typeface="+mn-ea"/>
                        </a:rPr>
                        <a:t>√</a:t>
                      </a:r>
                      <a:endParaRPr lang="en-US" altLang="zh-CN" sz="1600" b="1" i="0">
                        <a:solidFill>
                          <a:srgbClr val="C00000"/>
                        </a:solidFill>
                        <a:ea typeface="Open Sans"/>
                        <a:cs typeface="+mn-lt"/>
                        <a:sym typeface="+mn-ea"/>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extLst>
                  <a:ext uri="{0D108BD9-81ED-4DB2-BD59-A6C34878D82A}">
                    <a16:rowId xmlns:a16="http://schemas.microsoft.com/office/drawing/2014/main" val="10018"/>
                  </a:ext>
                </a:extLst>
              </a:tr>
            </a:tbl>
          </a:graphicData>
        </a:graphic>
      </p:graphicFrame>
      <p:sp>
        <p:nvSpPr>
          <p:cNvPr id="2" name="页脚占位符 1"/>
          <p:cNvSpPr>
            <a:spLocks noGrp="1"/>
          </p:cNvSpPr>
          <p:nvPr>
            <p:ph type="ftr" sz="quarter" idx="11"/>
          </p:nvPr>
        </p:nvSpPr>
        <p:spPr/>
        <p:txBody>
          <a:bodyPr/>
          <a:lstStyle/>
          <a:p>
            <a:r>
              <a:rPr lang="zh-CN" altLang="en-US"/>
              <a:t>ch04_数据库安全性</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sym typeface="+mn-ea"/>
              </a:rPr>
              <a:t>Static Privileges for GRANT and REVOKE</a:t>
            </a:r>
            <a:r>
              <a:rPr lang="en-US" altLang="zh-CN">
                <a:sym typeface="+mn-ea"/>
              </a:rPr>
              <a:t> (Global &amp; Database &amp; Table &amp; Column)</a:t>
            </a:r>
            <a:endParaRPr lang="zh-CN" altLang="en-US"/>
          </a:p>
        </p:txBody>
      </p:sp>
      <p:sp>
        <p:nvSpPr>
          <p:cNvPr id="4" name="灯片编号占位符 3"/>
          <p:cNvSpPr>
            <a:spLocks noGrp="1"/>
          </p:cNvSpPr>
          <p:nvPr>
            <p:ph type="sldNum" sz="quarter" idx="12"/>
          </p:nvPr>
        </p:nvSpPr>
        <p:spPr>
          <a:xfrm>
            <a:off x="11461115" y="6696000"/>
            <a:ext cx="730885" cy="153670"/>
          </a:xfrm>
        </p:spPr>
        <p:txBody>
          <a:bodyPr/>
          <a:lstStyle/>
          <a:p>
            <a:fld id="{565CE74E-AB26-4998-AD42-012C4C1AD076}" type="slidenum">
              <a:rPr lang="zh-CN" altLang="en-US" smtClean="0"/>
              <a:t>72</a:t>
            </a:fld>
            <a:endParaRPr lang="zh-CN" altLang="en-US"/>
          </a:p>
        </p:txBody>
      </p:sp>
      <p:graphicFrame>
        <p:nvGraphicFramePr>
          <p:cNvPr id="6" name="表格 5"/>
          <p:cNvGraphicFramePr/>
          <p:nvPr>
            <p:custDataLst>
              <p:tags r:id="rId1"/>
            </p:custDataLst>
          </p:nvPr>
        </p:nvGraphicFramePr>
        <p:xfrm>
          <a:off x="646430" y="691515"/>
          <a:ext cx="11111865" cy="5582919"/>
        </p:xfrm>
        <a:graphic>
          <a:graphicData uri="http://schemas.openxmlformats.org/drawingml/2006/table">
            <a:tbl>
              <a:tblPr/>
              <a:tblGrid>
                <a:gridCol w="1783080">
                  <a:extLst>
                    <a:ext uri="{9D8B030D-6E8A-4147-A177-3AD203B41FA5}">
                      <a16:colId xmlns:a16="http://schemas.microsoft.com/office/drawing/2014/main" val="20000"/>
                    </a:ext>
                  </a:extLst>
                </a:gridCol>
                <a:gridCol w="5781040">
                  <a:extLst>
                    <a:ext uri="{9D8B030D-6E8A-4147-A177-3AD203B41FA5}">
                      <a16:colId xmlns:a16="http://schemas.microsoft.com/office/drawing/2014/main" val="20001"/>
                    </a:ext>
                  </a:extLst>
                </a:gridCol>
                <a:gridCol w="887095">
                  <a:extLst>
                    <a:ext uri="{9D8B030D-6E8A-4147-A177-3AD203B41FA5}">
                      <a16:colId xmlns:a16="http://schemas.microsoft.com/office/drawing/2014/main" val="20002"/>
                    </a:ext>
                  </a:extLst>
                </a:gridCol>
                <a:gridCol w="886460">
                  <a:extLst>
                    <a:ext uri="{9D8B030D-6E8A-4147-A177-3AD203B41FA5}">
                      <a16:colId xmlns:a16="http://schemas.microsoft.com/office/drawing/2014/main" val="20003"/>
                    </a:ext>
                  </a:extLst>
                </a:gridCol>
                <a:gridCol w="887095">
                  <a:extLst>
                    <a:ext uri="{9D8B030D-6E8A-4147-A177-3AD203B41FA5}">
                      <a16:colId xmlns:a16="http://schemas.microsoft.com/office/drawing/2014/main" val="20004"/>
                    </a:ext>
                  </a:extLst>
                </a:gridCol>
                <a:gridCol w="887095">
                  <a:extLst>
                    <a:ext uri="{9D8B030D-6E8A-4147-A177-3AD203B41FA5}">
                      <a16:colId xmlns:a16="http://schemas.microsoft.com/office/drawing/2014/main" val="20005"/>
                    </a:ext>
                  </a:extLst>
                </a:gridCol>
              </a:tblGrid>
              <a:tr h="361315">
                <a:tc>
                  <a:txBody>
                    <a:bodyPr/>
                    <a:lstStyle/>
                    <a:p>
                      <a:pPr marL="0" indent="0" algn="ctr" fontAlgn="base">
                        <a:spcBef>
                          <a:spcPct val="0"/>
                        </a:spcBef>
                        <a:spcAft>
                          <a:spcPct val="0"/>
                        </a:spcAft>
                      </a:pPr>
                      <a:r>
                        <a:rPr lang="en-US" altLang="zh-CN" sz="1600" b="1" i="0">
                          <a:solidFill>
                            <a:srgbClr val="555555"/>
                          </a:solidFill>
                          <a:ea typeface="Open Sans"/>
                          <a:cs typeface="+mn-lt"/>
                        </a:rPr>
                        <a:t>Privilege</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bg1">
                        <a:lumMod val="95000"/>
                      </a:schemeClr>
                    </a:solidFill>
                  </a:tcPr>
                </a:tc>
                <a:tc>
                  <a:txBody>
                    <a:bodyPr/>
                    <a:lstStyle/>
                    <a:p>
                      <a:pPr marL="0" indent="0" algn="ctr" fontAlgn="base">
                        <a:spcBef>
                          <a:spcPct val="0"/>
                        </a:spcBef>
                        <a:spcAft>
                          <a:spcPct val="0"/>
                        </a:spcAft>
                      </a:pPr>
                      <a:r>
                        <a:rPr lang="en-US" altLang="zh-CN" sz="1600" b="1" i="0">
                          <a:solidFill>
                            <a:srgbClr val="555555"/>
                          </a:solidFill>
                          <a:ea typeface="Open Sans"/>
                          <a:cs typeface="+mn-lt"/>
                        </a:rPr>
                        <a:t>Meaning and Grantable Levels</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bg1">
                        <a:lumMod val="95000"/>
                      </a:schemeClr>
                    </a:solidFill>
                  </a:tcPr>
                </a:tc>
                <a:tc>
                  <a:txBody>
                    <a:bodyPr/>
                    <a:lstStyle/>
                    <a:p>
                      <a:pPr marL="0" indent="0" algn="ctr" fontAlgn="base">
                        <a:spcBef>
                          <a:spcPct val="0"/>
                        </a:spcBef>
                        <a:spcAft>
                          <a:spcPct val="0"/>
                        </a:spcAft>
                        <a:buNone/>
                      </a:pPr>
                      <a:r>
                        <a:rPr lang="en-US" altLang="zh-CN" sz="1600" b="1" i="0">
                          <a:solidFill>
                            <a:srgbClr val="555555"/>
                          </a:solidFill>
                          <a:ea typeface="Open Sans"/>
                          <a:cs typeface="+mn-lt"/>
                        </a:rPr>
                        <a:t>Global</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bg1">
                        <a:lumMod val="95000"/>
                      </a:schemeClr>
                    </a:solidFill>
                  </a:tcPr>
                </a:tc>
                <a:tc>
                  <a:txBody>
                    <a:bodyPr/>
                    <a:lstStyle/>
                    <a:p>
                      <a:pPr marL="0" indent="0" algn="ctr" fontAlgn="base">
                        <a:spcBef>
                          <a:spcPct val="0"/>
                        </a:spcBef>
                        <a:spcAft>
                          <a:spcPct val="0"/>
                        </a:spcAft>
                        <a:buNone/>
                      </a:pPr>
                      <a:r>
                        <a:rPr lang="en-US" altLang="zh-CN" sz="1600" b="1" i="0">
                          <a:solidFill>
                            <a:srgbClr val="555555"/>
                          </a:solidFill>
                          <a:ea typeface="Open Sans"/>
                          <a:cs typeface="+mn-lt"/>
                        </a:rPr>
                        <a:t>Database</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bg1">
                        <a:lumMod val="95000"/>
                      </a:schemeClr>
                    </a:solidFill>
                  </a:tcPr>
                </a:tc>
                <a:tc>
                  <a:txBody>
                    <a:bodyPr/>
                    <a:lstStyle/>
                    <a:p>
                      <a:pPr marL="0" indent="0" algn="ctr" fontAlgn="base">
                        <a:spcBef>
                          <a:spcPct val="0"/>
                        </a:spcBef>
                        <a:spcAft>
                          <a:spcPct val="0"/>
                        </a:spcAft>
                        <a:buNone/>
                      </a:pPr>
                      <a:r>
                        <a:rPr lang="en-US" altLang="zh-CN" sz="1600" b="1" i="0">
                          <a:solidFill>
                            <a:srgbClr val="555555"/>
                          </a:solidFill>
                          <a:ea typeface="Open Sans"/>
                          <a:cs typeface="+mn-lt"/>
                        </a:rPr>
                        <a:t>Table</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bg1">
                        <a:lumMod val="95000"/>
                      </a:schemeClr>
                    </a:solidFill>
                  </a:tcPr>
                </a:tc>
                <a:tc>
                  <a:txBody>
                    <a:bodyPr/>
                    <a:lstStyle/>
                    <a:p>
                      <a:pPr marL="0" indent="0" algn="ctr" fontAlgn="base">
                        <a:spcBef>
                          <a:spcPct val="0"/>
                        </a:spcBef>
                        <a:spcAft>
                          <a:spcPct val="0"/>
                        </a:spcAft>
                        <a:buNone/>
                      </a:pPr>
                      <a:r>
                        <a:rPr lang="en-US" altLang="zh-CN" sz="1600" b="1" i="0">
                          <a:solidFill>
                            <a:srgbClr val="555555"/>
                          </a:solidFill>
                          <a:ea typeface="Open Sans"/>
                          <a:cs typeface="+mn-lt"/>
                        </a:rPr>
                        <a:t>Column</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361315">
                <a:tc>
                  <a:txBody>
                    <a:bodyPr/>
                    <a:lstStyle/>
                    <a:p>
                      <a:pPr marL="0" indent="0" fontAlgn="base">
                        <a:spcBef>
                          <a:spcPct val="0"/>
                        </a:spcBef>
                        <a:spcAft>
                          <a:spcPct val="0"/>
                        </a:spcAft>
                      </a:pPr>
                      <a:r>
                        <a:rPr lang="en-US" altLang="zh-CN" sz="1600" b="1" i="0" u="sng">
                          <a:solidFill>
                            <a:srgbClr val="000000"/>
                          </a:solidFill>
                          <a:ea typeface="Open Sans"/>
                          <a:cs typeface="+mn-lt"/>
                          <a:hlinkClick r:id="rId3"/>
                        </a:rPr>
                        <a:t>ALTER</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fontAlgn="base">
                        <a:spcBef>
                          <a:spcPct val="0"/>
                        </a:spcBef>
                        <a:spcAft>
                          <a:spcPct val="0"/>
                        </a:spcAft>
                      </a:pPr>
                      <a:r>
                        <a:rPr lang="en-US" altLang="zh-CN" sz="1600" b="1" i="0">
                          <a:solidFill>
                            <a:srgbClr val="555555"/>
                          </a:solidFill>
                          <a:ea typeface="Open Sans"/>
                          <a:cs typeface="+mn-lt"/>
                        </a:rPr>
                        <a:t>Enable use of </a:t>
                      </a:r>
                      <a:r>
                        <a:rPr lang="en-US" altLang="zh-CN" sz="1600" b="1" i="0" u="sng">
                          <a:solidFill>
                            <a:srgbClr val="000000"/>
                          </a:solidFill>
                          <a:ea typeface="Open Sans"/>
                          <a:cs typeface="+mn-lt"/>
                          <a:hlinkClick r:id="rId4" tooltip="15.1.9 ALTER TABLE Statement"/>
                        </a:rPr>
                        <a:t>ALTER TABLE</a:t>
                      </a:r>
                      <a:r>
                        <a:rPr lang="en-US" altLang="zh-CN" sz="1600" b="1" i="0">
                          <a:solidFill>
                            <a:srgbClr val="555555"/>
                          </a:solidFill>
                          <a:ea typeface="Open Sans"/>
                          <a:cs typeface="+mn-lt"/>
                        </a:rPr>
                        <a:t>.</a:t>
                      </a:r>
                      <a:endParaRPr lang="en-US" altLang="zh-CN" sz="1600" b="1" i="0" u="sng">
                        <a:solidFill>
                          <a:srgbClr val="555555"/>
                        </a:solidFill>
                        <a:ea typeface="Open Sans"/>
                        <a:cs typeface="+mn-lt"/>
                        <a:hlinkClick r:id="rId4" tooltip="15.1.9 ALTER TABLE Statemen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endParaRPr lang="en-US" altLang="zh-CN" sz="1600" b="1" i="0">
                        <a:solidFill>
                          <a:srgbClr val="555555"/>
                        </a:solidFill>
                        <a:ea typeface="Open Sans"/>
                        <a:cs typeface="+mn-lt"/>
                        <a:hlinkClick r:id="rId4" tooltip="15.1.9 ALTER TABLE Statemen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extLst>
                  <a:ext uri="{0D108BD9-81ED-4DB2-BD59-A6C34878D82A}">
                    <a16:rowId xmlns:a16="http://schemas.microsoft.com/office/drawing/2014/main" val="10001"/>
                  </a:ext>
                </a:extLst>
              </a:tr>
              <a:tr h="361315">
                <a:tc>
                  <a:txBody>
                    <a:bodyPr/>
                    <a:lstStyle/>
                    <a:p>
                      <a:pPr marL="0" indent="0" fontAlgn="base">
                        <a:spcBef>
                          <a:spcPct val="0"/>
                        </a:spcBef>
                        <a:spcAft>
                          <a:spcPct val="0"/>
                        </a:spcAft>
                      </a:pPr>
                      <a:r>
                        <a:rPr lang="en-US" altLang="zh-CN" sz="1600" b="1" i="0" u="sng">
                          <a:solidFill>
                            <a:srgbClr val="000000"/>
                          </a:solidFill>
                          <a:ea typeface="Open Sans"/>
                          <a:cs typeface="+mn-lt"/>
                          <a:hlinkClick r:id="rId5"/>
                        </a:rPr>
                        <a:t>CREATE</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fontAlgn="base">
                        <a:spcBef>
                          <a:spcPct val="0"/>
                        </a:spcBef>
                        <a:spcAft>
                          <a:spcPct val="0"/>
                        </a:spcAft>
                      </a:pPr>
                      <a:r>
                        <a:rPr lang="en-US" altLang="zh-CN" sz="1600" b="1" i="0">
                          <a:solidFill>
                            <a:srgbClr val="555555"/>
                          </a:solidFill>
                          <a:ea typeface="Open Sans"/>
                          <a:cs typeface="+mn-lt"/>
                        </a:rPr>
                        <a:t>Enable database and table creation.</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endParaRPr lang="en-US" altLang="zh-CN" sz="1600" b="1" i="0">
                        <a:solidFill>
                          <a:srgbClr val="555555"/>
                        </a:solidFill>
                        <a:ea typeface="Open Sans"/>
                        <a:cs typeface="+mn-l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extLst>
                  <a:ext uri="{0D108BD9-81ED-4DB2-BD59-A6C34878D82A}">
                    <a16:rowId xmlns:a16="http://schemas.microsoft.com/office/drawing/2014/main" val="10002"/>
                  </a:ext>
                </a:extLst>
              </a:tr>
              <a:tr h="360680">
                <a:tc>
                  <a:txBody>
                    <a:bodyPr/>
                    <a:lstStyle/>
                    <a:p>
                      <a:pPr marL="0" indent="0" fontAlgn="base">
                        <a:spcBef>
                          <a:spcPct val="0"/>
                        </a:spcBef>
                        <a:spcAft>
                          <a:spcPct val="0"/>
                        </a:spcAft>
                      </a:pPr>
                      <a:r>
                        <a:rPr lang="en-US" altLang="zh-CN" sz="1600" b="1" i="0" u="sng">
                          <a:solidFill>
                            <a:srgbClr val="000000"/>
                          </a:solidFill>
                          <a:ea typeface="Open Sans"/>
                          <a:cs typeface="+mn-lt"/>
                          <a:hlinkClick r:id="rId6"/>
                        </a:rPr>
                        <a:t>CREATE VIEW</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fontAlgn="base">
                        <a:spcBef>
                          <a:spcPct val="0"/>
                        </a:spcBef>
                        <a:spcAft>
                          <a:spcPct val="0"/>
                        </a:spcAft>
                      </a:pPr>
                      <a:r>
                        <a:rPr lang="en-US" altLang="zh-CN" sz="1600" b="1" i="0">
                          <a:solidFill>
                            <a:srgbClr val="555555"/>
                          </a:solidFill>
                          <a:ea typeface="Open Sans"/>
                          <a:cs typeface="+mn-lt"/>
                        </a:rPr>
                        <a:t>Enable views to be created or altered.</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endParaRPr lang="en-US" altLang="zh-CN" sz="1600" b="1" i="0">
                        <a:solidFill>
                          <a:srgbClr val="555555"/>
                        </a:solidFill>
                        <a:ea typeface="Open Sans"/>
                        <a:cs typeface="+mn-l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extLst>
                  <a:ext uri="{0D108BD9-81ED-4DB2-BD59-A6C34878D82A}">
                    <a16:rowId xmlns:a16="http://schemas.microsoft.com/office/drawing/2014/main" val="10003"/>
                  </a:ext>
                </a:extLst>
              </a:tr>
              <a:tr h="361315">
                <a:tc>
                  <a:txBody>
                    <a:bodyPr/>
                    <a:lstStyle/>
                    <a:p>
                      <a:pPr marL="0" indent="0" fontAlgn="base">
                        <a:spcBef>
                          <a:spcPct val="0"/>
                        </a:spcBef>
                        <a:spcAft>
                          <a:spcPct val="0"/>
                        </a:spcAft>
                      </a:pPr>
                      <a:r>
                        <a:rPr lang="en-US" altLang="zh-CN" sz="1600" b="1" i="0" u="sng">
                          <a:solidFill>
                            <a:srgbClr val="000000"/>
                          </a:solidFill>
                          <a:ea typeface="Open Sans"/>
                          <a:cs typeface="+mn-lt"/>
                          <a:hlinkClick r:id="rId7"/>
                        </a:rPr>
                        <a:t>DELETE</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fontAlgn="base">
                        <a:spcBef>
                          <a:spcPct val="0"/>
                        </a:spcBef>
                        <a:spcAft>
                          <a:spcPct val="0"/>
                        </a:spcAft>
                      </a:pPr>
                      <a:r>
                        <a:rPr lang="en-US" altLang="zh-CN" sz="1600" b="1" i="0">
                          <a:solidFill>
                            <a:srgbClr val="555555"/>
                          </a:solidFill>
                          <a:ea typeface="Open Sans"/>
                          <a:cs typeface="+mn-lt"/>
                        </a:rPr>
                        <a:t>Enable use of </a:t>
                      </a:r>
                      <a:r>
                        <a:rPr lang="en-US" altLang="zh-CN" sz="1600" b="1" i="0" u="sng">
                          <a:solidFill>
                            <a:srgbClr val="000000"/>
                          </a:solidFill>
                          <a:ea typeface="Open Sans"/>
                          <a:cs typeface="+mn-lt"/>
                          <a:hlinkClick r:id="rId8" tooltip="15.2.2 DELETE Statement"/>
                        </a:rPr>
                        <a:t>DELETE</a:t>
                      </a:r>
                      <a:r>
                        <a:rPr lang="en-US" altLang="zh-CN" sz="1600" b="1" i="0">
                          <a:solidFill>
                            <a:srgbClr val="555555"/>
                          </a:solidFill>
                          <a:ea typeface="Open Sans"/>
                          <a:cs typeface="+mn-lt"/>
                        </a:rPr>
                        <a:t>.</a:t>
                      </a:r>
                      <a:endParaRPr lang="en-US" altLang="zh-CN" sz="1600" b="1" i="0" u="sng">
                        <a:solidFill>
                          <a:srgbClr val="555555"/>
                        </a:solidFill>
                        <a:ea typeface="Open Sans"/>
                        <a:cs typeface="+mn-lt"/>
                        <a:hlinkClick r:id="rId8" tooltip="15.2.2 DELETE Statemen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endParaRPr lang="en-US" altLang="zh-CN" sz="1600" b="1" i="0">
                        <a:solidFill>
                          <a:srgbClr val="555555"/>
                        </a:solidFill>
                        <a:ea typeface="Open Sans"/>
                        <a:cs typeface="+mn-lt"/>
                        <a:hlinkClick r:id="rId8" tooltip="15.2.2 DELETE Statemen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extLst>
                  <a:ext uri="{0D108BD9-81ED-4DB2-BD59-A6C34878D82A}">
                    <a16:rowId xmlns:a16="http://schemas.microsoft.com/office/drawing/2014/main" val="10004"/>
                  </a:ext>
                </a:extLst>
              </a:tr>
              <a:tr h="361315">
                <a:tc>
                  <a:txBody>
                    <a:bodyPr/>
                    <a:lstStyle/>
                    <a:p>
                      <a:pPr marL="0" indent="0" fontAlgn="base">
                        <a:spcBef>
                          <a:spcPct val="0"/>
                        </a:spcBef>
                        <a:spcAft>
                          <a:spcPct val="0"/>
                        </a:spcAft>
                      </a:pPr>
                      <a:r>
                        <a:rPr lang="en-US" altLang="zh-CN" sz="1600" b="1" i="0" u="sng">
                          <a:solidFill>
                            <a:srgbClr val="000000"/>
                          </a:solidFill>
                          <a:ea typeface="Open Sans"/>
                          <a:cs typeface="+mn-lt"/>
                          <a:hlinkClick r:id="rId9"/>
                        </a:rPr>
                        <a:t>DROP</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fontAlgn="base">
                        <a:spcBef>
                          <a:spcPct val="0"/>
                        </a:spcBef>
                        <a:spcAft>
                          <a:spcPct val="0"/>
                        </a:spcAft>
                      </a:pPr>
                      <a:r>
                        <a:rPr lang="en-US" altLang="zh-CN" sz="1600" b="1" i="0">
                          <a:solidFill>
                            <a:srgbClr val="555555"/>
                          </a:solidFill>
                          <a:ea typeface="Open Sans"/>
                          <a:cs typeface="+mn-lt"/>
                        </a:rPr>
                        <a:t>Enable databases, tables, and views to be dropped.</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endParaRPr lang="en-US" altLang="zh-CN" sz="1600" b="1" i="0">
                        <a:solidFill>
                          <a:srgbClr val="555555"/>
                        </a:solidFill>
                        <a:ea typeface="Open Sans"/>
                        <a:cs typeface="+mn-l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extLst>
                  <a:ext uri="{0D108BD9-81ED-4DB2-BD59-A6C34878D82A}">
                    <a16:rowId xmlns:a16="http://schemas.microsoft.com/office/drawing/2014/main" val="10005"/>
                  </a:ext>
                </a:extLst>
              </a:tr>
              <a:tr h="360680">
                <a:tc>
                  <a:txBody>
                    <a:bodyPr/>
                    <a:lstStyle/>
                    <a:p>
                      <a:pPr marL="0" indent="0" fontAlgn="base">
                        <a:spcBef>
                          <a:spcPct val="0"/>
                        </a:spcBef>
                        <a:spcAft>
                          <a:spcPct val="0"/>
                        </a:spcAft>
                      </a:pPr>
                      <a:r>
                        <a:rPr lang="en-US" altLang="zh-CN" sz="1600" b="1" i="0" u="sng">
                          <a:solidFill>
                            <a:srgbClr val="000000"/>
                          </a:solidFill>
                          <a:ea typeface="Open Sans"/>
                          <a:cs typeface="+mn-lt"/>
                          <a:hlinkClick r:id="rId10"/>
                        </a:rPr>
                        <a:t>GRANT OPTION</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fontAlgn="base">
                        <a:spcBef>
                          <a:spcPct val="0"/>
                        </a:spcBef>
                        <a:spcAft>
                          <a:spcPct val="0"/>
                        </a:spcAft>
                      </a:pPr>
                      <a:r>
                        <a:rPr lang="en-US" altLang="zh-CN" sz="1600" b="1" i="0">
                          <a:solidFill>
                            <a:srgbClr val="555555"/>
                          </a:solidFill>
                          <a:ea typeface="Open Sans"/>
                          <a:cs typeface="+mn-lt"/>
                        </a:rPr>
                        <a:t>Enable privileges to be granted to or removed from other accounts.</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endParaRPr lang="en-US" altLang="zh-CN" sz="1600" b="1" i="0">
                        <a:solidFill>
                          <a:srgbClr val="555555"/>
                        </a:solidFill>
                        <a:ea typeface="Open Sans"/>
                        <a:cs typeface="+mn-l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extLst>
                  <a:ext uri="{0D108BD9-81ED-4DB2-BD59-A6C34878D82A}">
                    <a16:rowId xmlns:a16="http://schemas.microsoft.com/office/drawing/2014/main" val="10006"/>
                  </a:ext>
                </a:extLst>
              </a:tr>
              <a:tr h="361315">
                <a:tc>
                  <a:txBody>
                    <a:bodyPr/>
                    <a:lstStyle/>
                    <a:p>
                      <a:pPr marL="0" indent="0" fontAlgn="base">
                        <a:spcBef>
                          <a:spcPct val="0"/>
                        </a:spcBef>
                        <a:spcAft>
                          <a:spcPct val="0"/>
                        </a:spcAft>
                      </a:pPr>
                      <a:r>
                        <a:rPr lang="en-US" altLang="zh-CN" sz="1600" b="1" i="0" u="sng">
                          <a:solidFill>
                            <a:srgbClr val="000000"/>
                          </a:solidFill>
                          <a:ea typeface="Open Sans"/>
                          <a:cs typeface="+mn-lt"/>
                          <a:hlinkClick r:id="rId11"/>
                        </a:rPr>
                        <a:t>INDEX</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fontAlgn="base">
                        <a:spcBef>
                          <a:spcPct val="0"/>
                        </a:spcBef>
                        <a:spcAft>
                          <a:spcPct val="0"/>
                        </a:spcAft>
                      </a:pPr>
                      <a:r>
                        <a:rPr lang="en-US" altLang="zh-CN" sz="1600" b="1" i="0">
                          <a:solidFill>
                            <a:srgbClr val="555555"/>
                          </a:solidFill>
                          <a:ea typeface="Open Sans"/>
                          <a:cs typeface="+mn-lt"/>
                        </a:rPr>
                        <a:t>Enable indexes to be created or dropped.</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endParaRPr lang="en-US" altLang="zh-CN" sz="1600" b="1" i="0">
                        <a:solidFill>
                          <a:srgbClr val="555555"/>
                        </a:solidFill>
                        <a:ea typeface="Open Sans"/>
                        <a:cs typeface="+mn-l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extLst>
                  <a:ext uri="{0D108BD9-81ED-4DB2-BD59-A6C34878D82A}">
                    <a16:rowId xmlns:a16="http://schemas.microsoft.com/office/drawing/2014/main" val="10007"/>
                  </a:ext>
                </a:extLst>
              </a:tr>
              <a:tr h="361315">
                <a:tc>
                  <a:txBody>
                    <a:bodyPr/>
                    <a:lstStyle/>
                    <a:p>
                      <a:pPr marL="0" indent="0" fontAlgn="base">
                        <a:spcBef>
                          <a:spcPct val="0"/>
                        </a:spcBef>
                        <a:spcAft>
                          <a:spcPct val="0"/>
                        </a:spcAft>
                      </a:pPr>
                      <a:r>
                        <a:rPr lang="en-US" altLang="zh-CN" sz="1600" b="1" i="0" u="sng">
                          <a:solidFill>
                            <a:srgbClr val="000000"/>
                          </a:solidFill>
                          <a:ea typeface="Open Sans"/>
                          <a:cs typeface="+mn-lt"/>
                          <a:hlinkClick r:id="rId12"/>
                        </a:rPr>
                        <a:t>SHOW VIEW</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fontAlgn="base">
                        <a:spcBef>
                          <a:spcPct val="0"/>
                        </a:spcBef>
                        <a:spcAft>
                          <a:spcPct val="0"/>
                        </a:spcAft>
                      </a:pPr>
                      <a:r>
                        <a:rPr lang="en-US" altLang="zh-CN" sz="1600" b="1" i="0">
                          <a:solidFill>
                            <a:srgbClr val="555555"/>
                          </a:solidFill>
                          <a:ea typeface="Open Sans"/>
                          <a:cs typeface="+mn-lt"/>
                        </a:rPr>
                        <a:t>Enable use of </a:t>
                      </a:r>
                      <a:r>
                        <a:rPr lang="en-US" altLang="zh-CN" sz="1600" b="1" i="0" u="sng">
                          <a:solidFill>
                            <a:srgbClr val="000000"/>
                          </a:solidFill>
                          <a:ea typeface="Open Sans"/>
                          <a:cs typeface="+mn-lt"/>
                          <a:hlinkClick r:id="rId13" tooltip="15.7.7.13 SHOW CREATE VIEW Statement"/>
                        </a:rPr>
                        <a:t>SHOW CREATE VIEW</a:t>
                      </a:r>
                      <a:r>
                        <a:rPr lang="en-US" altLang="zh-CN" sz="1600" b="1" i="0">
                          <a:solidFill>
                            <a:srgbClr val="555555"/>
                          </a:solidFill>
                          <a:ea typeface="Open Sans"/>
                          <a:cs typeface="+mn-lt"/>
                        </a:rPr>
                        <a:t>.</a:t>
                      </a:r>
                      <a:endParaRPr lang="en-US" altLang="zh-CN" sz="1600" b="1" i="0" u="sng">
                        <a:solidFill>
                          <a:srgbClr val="555555"/>
                        </a:solidFill>
                        <a:ea typeface="Open Sans"/>
                        <a:cs typeface="+mn-lt"/>
                        <a:hlinkClick r:id="rId13" tooltip="15.7.7.13 SHOW CREATE VIEW Statemen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endParaRPr lang="en-US" altLang="zh-CN" sz="1600" b="1" i="0">
                        <a:solidFill>
                          <a:srgbClr val="555555"/>
                        </a:solidFill>
                        <a:ea typeface="Open Sans"/>
                        <a:cs typeface="+mn-lt"/>
                        <a:hlinkClick r:id="rId13" tooltip="15.7.7.13 SHOW CREATE VIEW Statemen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extLst>
                  <a:ext uri="{0D108BD9-81ED-4DB2-BD59-A6C34878D82A}">
                    <a16:rowId xmlns:a16="http://schemas.microsoft.com/office/drawing/2014/main" val="10008"/>
                  </a:ext>
                </a:extLst>
              </a:tr>
              <a:tr h="360680">
                <a:tc>
                  <a:txBody>
                    <a:bodyPr/>
                    <a:lstStyle/>
                    <a:p>
                      <a:pPr marL="0" indent="0" fontAlgn="base">
                        <a:spcBef>
                          <a:spcPct val="0"/>
                        </a:spcBef>
                        <a:spcAft>
                          <a:spcPct val="0"/>
                        </a:spcAft>
                      </a:pPr>
                      <a:r>
                        <a:rPr lang="en-US" altLang="zh-CN" sz="1600" b="1" i="0" u="sng">
                          <a:solidFill>
                            <a:srgbClr val="000000"/>
                          </a:solidFill>
                          <a:ea typeface="Open Sans"/>
                          <a:cs typeface="+mn-lt"/>
                          <a:hlinkClick r:id="rId14"/>
                        </a:rPr>
                        <a:t>TRIGGER</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fontAlgn="base">
                        <a:spcBef>
                          <a:spcPct val="0"/>
                        </a:spcBef>
                        <a:spcAft>
                          <a:spcPct val="0"/>
                        </a:spcAft>
                      </a:pPr>
                      <a:r>
                        <a:rPr lang="en-US" altLang="zh-CN" sz="1600" b="1" i="0">
                          <a:solidFill>
                            <a:srgbClr val="555555"/>
                          </a:solidFill>
                          <a:ea typeface="Open Sans"/>
                          <a:cs typeface="+mn-lt"/>
                        </a:rPr>
                        <a:t>Enable trigger operations.</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tc>
                  <a:txBody>
                    <a:bodyPr/>
                    <a:lstStyle/>
                    <a:p>
                      <a:pPr marL="0" indent="0" algn="ctr" fontAlgn="base">
                        <a:spcBef>
                          <a:spcPct val="0"/>
                        </a:spcBef>
                        <a:spcAft>
                          <a:spcPct val="0"/>
                        </a:spcAft>
                        <a:buNone/>
                      </a:pPr>
                      <a:endParaRPr lang="en-US" altLang="zh-CN" sz="1600" b="1" i="0">
                        <a:solidFill>
                          <a:srgbClr val="555555"/>
                        </a:solidFill>
                        <a:ea typeface="Open Sans"/>
                        <a:cs typeface="+mn-l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noFill/>
                  </a:tcPr>
                </a:tc>
                <a:extLst>
                  <a:ext uri="{0D108BD9-81ED-4DB2-BD59-A6C34878D82A}">
                    <a16:rowId xmlns:a16="http://schemas.microsoft.com/office/drawing/2014/main" val="10009"/>
                  </a:ext>
                </a:extLst>
              </a:tr>
              <a:tr h="361315">
                <a:tc>
                  <a:txBody>
                    <a:bodyPr/>
                    <a:lstStyle/>
                    <a:p>
                      <a:pPr marL="0" indent="0" fontAlgn="base">
                        <a:spcBef>
                          <a:spcPct val="0"/>
                        </a:spcBef>
                        <a:spcAft>
                          <a:spcPct val="0"/>
                        </a:spcAft>
                      </a:pPr>
                      <a:r>
                        <a:rPr lang="en-US" altLang="zh-CN" sz="1600" b="1" i="0" u="sng">
                          <a:solidFill>
                            <a:srgbClr val="000000"/>
                          </a:solidFill>
                          <a:ea typeface="Open Sans"/>
                          <a:cs typeface="+mn-lt"/>
                          <a:hlinkClick r:id="rId15"/>
                        </a:rPr>
                        <a:t>SELECT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indent="0" fontAlgn="base">
                        <a:spcBef>
                          <a:spcPct val="0"/>
                        </a:spcBef>
                        <a:spcAft>
                          <a:spcPct val="0"/>
                        </a:spcAft>
                      </a:pPr>
                      <a:r>
                        <a:rPr lang="en-US" altLang="zh-CN" sz="1600" b="1" i="0">
                          <a:solidFill>
                            <a:srgbClr val="555555"/>
                          </a:solidFill>
                          <a:ea typeface="Open Sans"/>
                          <a:cs typeface="+mn-lt"/>
                        </a:rPr>
                        <a:t>Enable use of </a:t>
                      </a:r>
                      <a:r>
                        <a:rPr lang="en-US" altLang="zh-CN" sz="1600" b="1" i="0" u="sng">
                          <a:solidFill>
                            <a:srgbClr val="000000"/>
                          </a:solidFill>
                          <a:ea typeface="Open Sans"/>
                          <a:cs typeface="+mn-lt"/>
                          <a:hlinkClick r:id="rId16" tooltip="15.2.13 SELECT Statement"/>
                        </a:rPr>
                        <a:t>SELECT</a:t>
                      </a:r>
                      <a:r>
                        <a:rPr lang="en-US" altLang="zh-CN" sz="1600" b="1" i="0">
                          <a:solidFill>
                            <a:srgbClr val="555555"/>
                          </a:solidFill>
                          <a:ea typeface="Open Sans"/>
                          <a:cs typeface="+mn-lt"/>
                        </a:rPr>
                        <a:t>.</a:t>
                      </a:r>
                      <a:endParaRPr lang="en-US" altLang="zh-CN" sz="1600" b="1" i="0" u="sng">
                        <a:solidFill>
                          <a:srgbClr val="555555"/>
                        </a:solidFill>
                        <a:ea typeface="Open Sans"/>
                        <a:cs typeface="+mn-lt"/>
                        <a:hlinkClick r:id="rId16" tooltip="15.2.13 SELECT Statemen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indent="0" algn="ctr" fontAlgn="base">
                        <a:spcBef>
                          <a:spcPct val="0"/>
                        </a:spcBef>
                        <a:spcAft>
                          <a:spcPct val="0"/>
                        </a:spcAft>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extLst>
                  <a:ext uri="{0D108BD9-81ED-4DB2-BD59-A6C34878D82A}">
                    <a16:rowId xmlns:a16="http://schemas.microsoft.com/office/drawing/2014/main" val="10010"/>
                  </a:ext>
                </a:extLst>
              </a:tr>
              <a:tr h="361315">
                <a:tc>
                  <a:txBody>
                    <a:bodyPr/>
                    <a:lstStyle/>
                    <a:p>
                      <a:pPr marL="0" indent="0" fontAlgn="base">
                        <a:spcBef>
                          <a:spcPct val="0"/>
                        </a:spcBef>
                        <a:spcAft>
                          <a:spcPct val="0"/>
                        </a:spcAft>
                      </a:pPr>
                      <a:r>
                        <a:rPr lang="en-US" altLang="zh-CN" sz="1600" b="1" i="0" u="sng">
                          <a:solidFill>
                            <a:srgbClr val="000000"/>
                          </a:solidFill>
                          <a:ea typeface="Open Sans"/>
                          <a:cs typeface="+mn-lt"/>
                          <a:hlinkClick r:id="rId17"/>
                        </a:rPr>
                        <a:t>INSERT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indent="0" fontAlgn="base">
                        <a:spcBef>
                          <a:spcPct val="0"/>
                        </a:spcBef>
                        <a:spcAft>
                          <a:spcPct val="0"/>
                        </a:spcAft>
                      </a:pPr>
                      <a:r>
                        <a:rPr lang="en-US" altLang="zh-CN" sz="1600" b="1" i="0">
                          <a:solidFill>
                            <a:srgbClr val="555555"/>
                          </a:solidFill>
                          <a:ea typeface="Open Sans"/>
                          <a:cs typeface="+mn-lt"/>
                        </a:rPr>
                        <a:t>Enable use of </a:t>
                      </a:r>
                      <a:r>
                        <a:rPr lang="en-US" altLang="zh-CN" sz="1600" b="1" i="0" u="sng">
                          <a:solidFill>
                            <a:srgbClr val="000000"/>
                          </a:solidFill>
                          <a:ea typeface="Open Sans"/>
                          <a:cs typeface="+mn-lt"/>
                          <a:hlinkClick r:id="rId18" tooltip="15.2.7 INSERT Statement"/>
                        </a:rPr>
                        <a:t>INSERT</a:t>
                      </a:r>
                      <a:r>
                        <a:rPr lang="en-US" altLang="zh-CN" sz="1600" b="1" i="0">
                          <a:solidFill>
                            <a:srgbClr val="555555"/>
                          </a:solidFill>
                          <a:ea typeface="Open Sans"/>
                          <a:cs typeface="+mn-lt"/>
                        </a:rPr>
                        <a:t>.</a:t>
                      </a:r>
                      <a:endParaRPr lang="en-US" altLang="zh-CN" sz="1600" b="1" i="0" u="sng">
                        <a:solidFill>
                          <a:srgbClr val="555555"/>
                        </a:solidFill>
                        <a:ea typeface="Open Sans"/>
                        <a:cs typeface="+mn-lt"/>
                        <a:hlinkClick r:id="rId18" tooltip="15.2.7 INSERT Statemen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indent="0" algn="ctr" fontAlgn="base">
                        <a:spcBef>
                          <a:spcPct val="0"/>
                        </a:spcBef>
                        <a:spcAft>
                          <a:spcPct val="0"/>
                        </a:spcAft>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extLst>
                  <a:ext uri="{0D108BD9-81ED-4DB2-BD59-A6C34878D82A}">
                    <a16:rowId xmlns:a16="http://schemas.microsoft.com/office/drawing/2014/main" val="10011"/>
                  </a:ext>
                </a:extLst>
              </a:tr>
              <a:tr h="361315">
                <a:tc>
                  <a:txBody>
                    <a:bodyPr/>
                    <a:lstStyle/>
                    <a:p>
                      <a:pPr marL="0" indent="0" fontAlgn="base">
                        <a:spcBef>
                          <a:spcPct val="0"/>
                        </a:spcBef>
                        <a:spcAft>
                          <a:spcPct val="0"/>
                        </a:spcAft>
                      </a:pPr>
                      <a:r>
                        <a:rPr lang="en-US" altLang="zh-CN" sz="1600" b="1" i="0" u="sng">
                          <a:solidFill>
                            <a:srgbClr val="000000"/>
                          </a:solidFill>
                          <a:ea typeface="Open Sans"/>
                          <a:cs typeface="+mn-lt"/>
                          <a:hlinkClick r:id="rId19"/>
                        </a:rPr>
                        <a:t>UPDATE</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indent="0" fontAlgn="base">
                        <a:spcBef>
                          <a:spcPct val="0"/>
                        </a:spcBef>
                        <a:spcAft>
                          <a:spcPct val="0"/>
                        </a:spcAft>
                      </a:pPr>
                      <a:r>
                        <a:rPr lang="en-US" altLang="zh-CN" sz="1600" b="1" i="0">
                          <a:solidFill>
                            <a:srgbClr val="555555"/>
                          </a:solidFill>
                          <a:ea typeface="Open Sans"/>
                          <a:cs typeface="+mn-lt"/>
                        </a:rPr>
                        <a:t>Enable use of </a:t>
                      </a:r>
                      <a:r>
                        <a:rPr lang="en-US" altLang="zh-CN" sz="1600" b="1" i="0" u="sng">
                          <a:solidFill>
                            <a:srgbClr val="000000"/>
                          </a:solidFill>
                          <a:ea typeface="Open Sans"/>
                          <a:cs typeface="+mn-lt"/>
                          <a:hlinkClick r:id="rId20" tooltip="15.2.17 UPDATE Statement"/>
                        </a:rPr>
                        <a:t>UPDATE</a:t>
                      </a:r>
                      <a:r>
                        <a:rPr lang="en-US" altLang="zh-CN" sz="1600" b="1" i="0">
                          <a:solidFill>
                            <a:srgbClr val="555555"/>
                          </a:solidFill>
                          <a:ea typeface="Open Sans"/>
                          <a:cs typeface="+mn-lt"/>
                        </a:rPr>
                        <a:t>.</a:t>
                      </a:r>
                      <a:endParaRPr lang="en-US" altLang="zh-CN" sz="1600" b="1" i="0" u="sng">
                        <a:solidFill>
                          <a:srgbClr val="555555"/>
                        </a:solidFill>
                        <a:ea typeface="Open Sans"/>
                        <a:cs typeface="+mn-lt"/>
                        <a:hlinkClick r:id="rId20" tooltip="15.2.17 UPDATE Statement"/>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indent="0" algn="ctr" fontAlgn="base">
                        <a:spcBef>
                          <a:spcPct val="0"/>
                        </a:spcBef>
                        <a:spcAft>
                          <a:spcPct val="0"/>
                        </a:spcAft>
                        <a:buNone/>
                      </a:pPr>
                      <a:r>
                        <a:rPr lang="en-US" altLang="zh-CN" sz="1600" b="1">
                          <a:solidFill>
                            <a:srgbClr val="C00000"/>
                          </a:solidFill>
                          <a:ea typeface="Open Sans"/>
                          <a:cs typeface="+mn-lt"/>
                          <a:sym typeface="+mn-ea"/>
                        </a:rPr>
                        <a:t>√</a:t>
                      </a:r>
                      <a:endParaRPr lang="en-US" altLang="zh-CN" sz="1600" b="1" i="0">
                        <a:solidFill>
                          <a:srgbClr val="C00000"/>
                        </a:solidFill>
                        <a:ea typeface="Open Sans"/>
                        <a:cs typeface="+mn-lt"/>
                        <a:sym typeface="+mn-ea"/>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extLst>
                  <a:ext uri="{0D108BD9-81ED-4DB2-BD59-A6C34878D82A}">
                    <a16:rowId xmlns:a16="http://schemas.microsoft.com/office/drawing/2014/main" val="10012"/>
                  </a:ext>
                </a:extLst>
              </a:tr>
              <a:tr h="361315">
                <a:tc>
                  <a:txBody>
                    <a:bodyPr/>
                    <a:lstStyle/>
                    <a:p>
                      <a:pPr marL="0" indent="0" fontAlgn="base">
                        <a:spcBef>
                          <a:spcPct val="0"/>
                        </a:spcBef>
                        <a:spcAft>
                          <a:spcPct val="0"/>
                        </a:spcAft>
                      </a:pPr>
                      <a:r>
                        <a:rPr lang="en-US" altLang="zh-CN" sz="1600" b="1" i="0" u="sng">
                          <a:solidFill>
                            <a:srgbClr val="000000"/>
                          </a:solidFill>
                          <a:ea typeface="Open Sans"/>
                          <a:cs typeface="+mn-lt"/>
                          <a:hlinkClick r:id="rId21"/>
                        </a:rPr>
                        <a:t>REFERENCES</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indent="0" fontAlgn="base">
                        <a:spcBef>
                          <a:spcPct val="0"/>
                        </a:spcBef>
                        <a:spcAft>
                          <a:spcPct val="0"/>
                        </a:spcAft>
                      </a:pPr>
                      <a:r>
                        <a:rPr lang="en-US" altLang="zh-CN" sz="1600" b="1" i="0">
                          <a:solidFill>
                            <a:srgbClr val="555555"/>
                          </a:solidFill>
                          <a:ea typeface="Open Sans"/>
                          <a:cs typeface="+mn-lt"/>
                        </a:rPr>
                        <a:t>Enable foreign key creation.</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indent="0" algn="ctr" fontAlgn="base">
                        <a:spcBef>
                          <a:spcPct val="0"/>
                        </a:spcBef>
                        <a:spcAft>
                          <a:spcPct val="0"/>
                        </a:spcAft>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extLst>
                  <a:ext uri="{0D108BD9-81ED-4DB2-BD59-A6C34878D82A}">
                    <a16:rowId xmlns:a16="http://schemas.microsoft.com/office/drawing/2014/main" val="10013"/>
                  </a:ext>
                </a:extLst>
              </a:tr>
              <a:tr h="361315">
                <a:tc>
                  <a:txBody>
                    <a:bodyPr/>
                    <a:lstStyle/>
                    <a:p>
                      <a:pPr marL="0" indent="0" fontAlgn="base">
                        <a:spcBef>
                          <a:spcPct val="0"/>
                        </a:spcBef>
                        <a:spcAft>
                          <a:spcPct val="0"/>
                        </a:spcAft>
                      </a:pPr>
                      <a:r>
                        <a:rPr lang="en-US" altLang="zh-CN" sz="1600" b="1" i="0" u="sng">
                          <a:solidFill>
                            <a:srgbClr val="000000"/>
                          </a:solidFill>
                          <a:ea typeface="Open Sans"/>
                          <a:cs typeface="+mn-lt"/>
                          <a:hlinkClick r:id="rId22"/>
                        </a:rPr>
                        <a:t>ALL [PRIVILEGES]</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indent="0" fontAlgn="base">
                        <a:spcBef>
                          <a:spcPct val="0"/>
                        </a:spcBef>
                        <a:spcAft>
                          <a:spcPct val="0"/>
                        </a:spcAft>
                      </a:pPr>
                      <a:r>
                        <a:rPr lang="en-US" altLang="zh-CN" sz="1600" b="1" i="0">
                          <a:solidFill>
                            <a:srgbClr val="555555"/>
                          </a:solidFill>
                          <a:ea typeface="Open Sans"/>
                          <a:cs typeface="+mn-lt"/>
                        </a:rPr>
                        <a:t>Grant all privileges at specified access level except </a:t>
                      </a:r>
                      <a:r>
                        <a:rPr lang="en-US" altLang="zh-CN" sz="1600" b="1" i="0" u="sng">
                          <a:solidFill>
                            <a:srgbClr val="000000"/>
                          </a:solidFill>
                          <a:ea typeface="Open Sans"/>
                          <a:cs typeface="+mn-lt"/>
                          <a:hlinkClick r:id="rId10"/>
                        </a:rPr>
                        <a:t>GRANT OPTION</a:t>
                      </a:r>
                      <a:r>
                        <a:rPr lang="en-US" altLang="zh-CN" sz="1600" b="1" i="0">
                          <a:solidFill>
                            <a:srgbClr val="555555"/>
                          </a:solidFill>
                          <a:ea typeface="Open Sans"/>
                          <a:cs typeface="+mn-lt"/>
                        </a:rPr>
                        <a:t> and </a:t>
                      </a:r>
                      <a:r>
                        <a:rPr lang="en-US" altLang="zh-CN" sz="1600" b="1" i="0" u="sng">
                          <a:solidFill>
                            <a:srgbClr val="000000"/>
                          </a:solidFill>
                          <a:ea typeface="Open Sans"/>
                          <a:cs typeface="+mn-lt"/>
                          <a:hlinkClick r:id="rId23"/>
                        </a:rPr>
                        <a:t>PROXY</a:t>
                      </a:r>
                      <a:r>
                        <a:rPr lang="en-US" altLang="zh-CN" sz="1600" b="1" i="0">
                          <a:solidFill>
                            <a:srgbClr val="555555"/>
                          </a:solidFill>
                          <a:ea typeface="Open Sans"/>
                          <a:cs typeface="+mn-lt"/>
                        </a:rPr>
                        <a:t>.</a:t>
                      </a:r>
                      <a:endParaRPr lang="en-US" altLang="zh-CN" sz="1600" b="1" i="0" u="sng">
                        <a:solidFill>
                          <a:srgbClr val="555555"/>
                        </a:solidFill>
                        <a:ea typeface="Open Sans"/>
                        <a:cs typeface="+mn-lt"/>
                        <a:hlinkClick r:id="rId23"/>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algn="ctr" fontAlgn="base">
                        <a:buClrTx/>
                        <a:buSzTx/>
                        <a:buFontTx/>
                        <a:buNone/>
                      </a:pPr>
                      <a:r>
                        <a:rPr lang="en-US" altLang="zh-CN" sz="1600" b="1" i="0">
                          <a:solidFill>
                            <a:srgbClr val="C00000"/>
                          </a:solidFill>
                          <a:ea typeface="Open Sans"/>
                          <a:cs typeface="+mn-lt"/>
                        </a:rPr>
                        <a:t>√</a:t>
                      </a: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tc>
                  <a:txBody>
                    <a:bodyPr/>
                    <a:lstStyle/>
                    <a:p>
                      <a:pPr marL="0" indent="0" algn="ctr" fontAlgn="base">
                        <a:spcBef>
                          <a:spcPct val="0"/>
                        </a:spcBef>
                        <a:spcAft>
                          <a:spcPct val="0"/>
                        </a:spcAft>
                        <a:buNone/>
                      </a:pPr>
                      <a:r>
                        <a:rPr lang="en-US" altLang="zh-CN" sz="1600" b="1">
                          <a:solidFill>
                            <a:srgbClr val="C00000"/>
                          </a:solidFill>
                          <a:ea typeface="Open Sans"/>
                          <a:cs typeface="+mn-lt"/>
                          <a:sym typeface="+mn-ea"/>
                        </a:rPr>
                        <a:t>√</a:t>
                      </a:r>
                      <a:endParaRPr lang="en-US" altLang="zh-CN" sz="1600" b="1" i="0">
                        <a:solidFill>
                          <a:srgbClr val="C00000"/>
                        </a:solidFill>
                        <a:ea typeface="Open Sans"/>
                        <a:cs typeface="+mn-lt"/>
                        <a:sym typeface="+mn-ea"/>
                      </a:endParaRPr>
                    </a:p>
                  </a:txBody>
                  <a:tcPr marL="19367" marR="19367" marT="19367" marB="19367" anchor="ctr">
                    <a:lnL w="13335" cap="flat" cmpd="sng">
                      <a:solidFill>
                        <a:srgbClr val="808080"/>
                      </a:solidFill>
                      <a:prstDash val="solid"/>
                      <a:headEnd type="none" w="med" len="med"/>
                      <a:tailEnd type="none" w="med" len="med"/>
                    </a:lnL>
                    <a:lnR w="13335" cap="flat" cmpd="sng">
                      <a:solidFill>
                        <a:srgbClr val="808080"/>
                      </a:solidFill>
                      <a:prstDash val="solid"/>
                      <a:headEnd type="none" w="med" len="med"/>
                      <a:tailEnd type="none" w="med" len="med"/>
                    </a:lnR>
                    <a:lnT w="13335" cap="flat" cmpd="sng">
                      <a:solidFill>
                        <a:srgbClr val="808080"/>
                      </a:solidFill>
                      <a:prstDash val="solid"/>
                      <a:headEnd type="none" w="med" len="med"/>
                      <a:tailEnd type="none" w="med" len="med"/>
                    </a:lnT>
                    <a:lnB w="13335" cap="flat" cmpd="sng">
                      <a:solidFill>
                        <a:srgbClr val="808080"/>
                      </a:solidFill>
                      <a:prstDash val="solid"/>
                      <a:headEnd type="none" w="med" len="med"/>
                      <a:tailEnd type="none" w="med" len="med"/>
                    </a:lnB>
                    <a:solidFill>
                      <a:schemeClr val="accent3">
                        <a:lumMod val="20000"/>
                        <a:lumOff val="80000"/>
                        <a:alpha val="50000"/>
                      </a:schemeClr>
                    </a:solidFill>
                  </a:tcPr>
                </a:tc>
                <a:extLst>
                  <a:ext uri="{0D108BD9-81ED-4DB2-BD59-A6C34878D82A}">
                    <a16:rowId xmlns:a16="http://schemas.microsoft.com/office/drawing/2014/main" val="10014"/>
                  </a:ext>
                </a:extLst>
              </a:tr>
            </a:tbl>
          </a:graphicData>
        </a:graphic>
      </p:graphicFrame>
      <p:sp>
        <p:nvSpPr>
          <p:cNvPr id="2" name="页脚占位符 1"/>
          <p:cNvSpPr>
            <a:spLocks noGrp="1"/>
          </p:cNvSpPr>
          <p:nvPr>
            <p:ph type="ftr" sz="quarter" idx="11"/>
          </p:nvPr>
        </p:nvSpPr>
        <p:spPr/>
        <p:txBody>
          <a:bodyPr/>
          <a:lstStyle/>
          <a:p>
            <a:r>
              <a:rPr lang="zh-CN" altLang="en-US"/>
              <a:t>ch04_数据库安全性</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MySQL </a:t>
            </a:r>
            <a:r>
              <a:rPr lang="zh-CN" altLang="en-US"/>
              <a:t>授权命令</a:t>
            </a:r>
          </a:p>
        </p:txBody>
      </p:sp>
      <p:sp>
        <p:nvSpPr>
          <p:cNvPr id="3" name="内容占位符 2"/>
          <p:cNvSpPr>
            <a:spLocks noGrp="1"/>
          </p:cNvSpPr>
          <p:nvPr>
            <p:ph idx="1"/>
          </p:nvPr>
        </p:nvSpPr>
        <p:spPr>
          <a:xfrm>
            <a:off x="424180" y="687070"/>
            <a:ext cx="11343005" cy="1814830"/>
          </a:xfrm>
          <a:solidFill>
            <a:schemeClr val="accent3">
              <a:lumMod val="20000"/>
              <a:lumOff val="80000"/>
              <a:alpha val="50000"/>
            </a:schemeClr>
          </a:solidFill>
        </p:spPr>
        <p:txBody>
          <a:bodyPr>
            <a:spAutoFit/>
          </a:bodyPr>
          <a:lstStyle/>
          <a:p>
            <a:pPr marL="457200" lvl="1" indent="0">
              <a:lnSpc>
                <a:spcPct val="100000"/>
              </a:lnSpc>
              <a:buNone/>
            </a:pPr>
            <a:r>
              <a:rPr lang="en-US" altLang="zh-CN">
                <a:latin typeface="+mn-lt"/>
                <a:cs typeface="+mn-lt"/>
                <a:sym typeface="+mn-ea"/>
              </a:rPr>
              <a:t>GRANT  </a:t>
            </a:r>
            <a:r>
              <a:rPr lang="en-US" altLang="zh-CN">
                <a:solidFill>
                  <a:srgbClr val="C00000"/>
                </a:solidFill>
                <a:latin typeface="+mn-lt"/>
                <a:cs typeface="+mn-lt"/>
                <a:sym typeface="+mn-ea"/>
              </a:rPr>
              <a:t>priv_type </a:t>
            </a:r>
            <a:r>
              <a:rPr lang="en-US" altLang="zh-CN">
                <a:latin typeface="+mn-lt"/>
                <a:cs typeface="+mn-lt"/>
                <a:sym typeface="+mn-ea"/>
              </a:rPr>
              <a:t>[ (column_list) ] [ , </a:t>
            </a:r>
            <a:r>
              <a:rPr lang="en-US" altLang="zh-CN">
                <a:solidFill>
                  <a:srgbClr val="C00000"/>
                </a:solidFill>
                <a:latin typeface="+mn-lt"/>
                <a:cs typeface="+mn-lt"/>
                <a:sym typeface="+mn-ea"/>
              </a:rPr>
              <a:t>priv</a:t>
            </a:r>
            <a:r>
              <a:rPr lang="en-US" altLang="zh-CN">
                <a:latin typeface="+mn-lt"/>
                <a:cs typeface="+mn-lt"/>
                <a:sym typeface="+mn-ea"/>
              </a:rPr>
              <a:t>_</a:t>
            </a:r>
            <a:r>
              <a:rPr lang="en-US" altLang="zh-CN">
                <a:solidFill>
                  <a:srgbClr val="C00000"/>
                </a:solidFill>
                <a:latin typeface="+mn-lt"/>
                <a:cs typeface="+mn-lt"/>
                <a:sym typeface="+mn-ea"/>
              </a:rPr>
              <a:t>type </a:t>
            </a:r>
            <a:r>
              <a:rPr lang="en-US" altLang="zh-CN">
                <a:latin typeface="+mn-lt"/>
                <a:cs typeface="+mn-lt"/>
                <a:sym typeface="+mn-ea"/>
              </a:rPr>
              <a:t>[ (column_list) ] ] ...</a:t>
            </a:r>
            <a:endParaRPr lang="en-US" altLang="zh-CN">
              <a:latin typeface="+mn-lt"/>
              <a:cs typeface="+mn-lt"/>
            </a:endParaRPr>
          </a:p>
          <a:p>
            <a:pPr marL="914400" lvl="2" indent="0">
              <a:lnSpc>
                <a:spcPct val="100000"/>
              </a:lnSpc>
              <a:buNone/>
            </a:pPr>
            <a:r>
              <a:rPr lang="en-US" altLang="zh-CN">
                <a:latin typeface="+mn-lt"/>
                <a:cs typeface="+mn-lt"/>
                <a:sym typeface="+mn-ea"/>
              </a:rPr>
              <a:t>ON [ </a:t>
            </a:r>
            <a:r>
              <a:rPr lang="en-US" altLang="zh-CN">
                <a:solidFill>
                  <a:srgbClr val="C00000"/>
                </a:solidFill>
                <a:latin typeface="+mn-lt"/>
                <a:cs typeface="+mn-lt"/>
                <a:sym typeface="+mn-ea"/>
              </a:rPr>
              <a:t>object</a:t>
            </a:r>
            <a:r>
              <a:rPr lang="en-US" altLang="zh-CN">
                <a:latin typeface="+mn-lt"/>
                <a:cs typeface="+mn-lt"/>
                <a:sym typeface="+mn-ea"/>
              </a:rPr>
              <a:t>_</a:t>
            </a:r>
            <a:r>
              <a:rPr lang="en-US" altLang="zh-CN">
                <a:solidFill>
                  <a:srgbClr val="C00000"/>
                </a:solidFill>
                <a:latin typeface="+mn-lt"/>
                <a:cs typeface="+mn-lt"/>
                <a:sym typeface="+mn-ea"/>
              </a:rPr>
              <a:t>type </a:t>
            </a:r>
            <a:r>
              <a:rPr lang="en-US" altLang="zh-CN">
                <a:latin typeface="+mn-lt"/>
                <a:cs typeface="+mn-lt"/>
                <a:sym typeface="+mn-ea"/>
              </a:rPr>
              <a:t>] </a:t>
            </a:r>
            <a:r>
              <a:rPr lang="en-US" altLang="zh-CN">
                <a:solidFill>
                  <a:srgbClr val="C00000"/>
                </a:solidFill>
                <a:latin typeface="+mn-lt"/>
                <a:cs typeface="+mn-lt"/>
                <a:sym typeface="+mn-ea"/>
              </a:rPr>
              <a:t>priv</a:t>
            </a:r>
            <a:r>
              <a:rPr lang="en-US" altLang="zh-CN">
                <a:latin typeface="+mn-lt"/>
                <a:cs typeface="+mn-lt"/>
                <a:sym typeface="+mn-ea"/>
              </a:rPr>
              <a:t>_</a:t>
            </a:r>
            <a:r>
              <a:rPr lang="en-US" altLang="zh-CN">
                <a:solidFill>
                  <a:srgbClr val="C00000"/>
                </a:solidFill>
                <a:latin typeface="+mn-lt"/>
                <a:cs typeface="+mn-lt"/>
                <a:sym typeface="+mn-ea"/>
              </a:rPr>
              <a:t>level</a:t>
            </a:r>
            <a:endParaRPr lang="en-US" altLang="zh-CN">
              <a:latin typeface="+mn-lt"/>
              <a:cs typeface="+mn-lt"/>
            </a:endParaRPr>
          </a:p>
          <a:p>
            <a:pPr marL="914400" lvl="2" indent="0">
              <a:lnSpc>
                <a:spcPct val="100000"/>
              </a:lnSpc>
              <a:buNone/>
            </a:pPr>
            <a:r>
              <a:rPr lang="en-US" altLang="zh-CN">
                <a:latin typeface="+mn-lt"/>
                <a:cs typeface="+mn-lt"/>
                <a:sym typeface="+mn-ea"/>
              </a:rPr>
              <a:t>TO  user_or_role [ , user_or_role ] ...</a:t>
            </a:r>
            <a:endParaRPr lang="en-US" altLang="zh-CN">
              <a:latin typeface="+mn-lt"/>
              <a:cs typeface="+mn-lt"/>
            </a:endParaRPr>
          </a:p>
          <a:p>
            <a:pPr marL="914400" lvl="2" indent="0">
              <a:lnSpc>
                <a:spcPct val="100000"/>
              </a:lnSpc>
              <a:buNone/>
            </a:pPr>
            <a:r>
              <a:rPr lang="en-US" altLang="zh-CN">
                <a:latin typeface="+mn-lt"/>
                <a:cs typeface="+mn-lt"/>
                <a:sym typeface="+mn-ea"/>
              </a:rPr>
              <a:t>[ WITH GRANT OPTION ] ;</a:t>
            </a:r>
            <a:endParaRPr lang="zh-CN" altLang="en-US">
              <a:latin typeface="+mn-lt"/>
              <a:cs typeface="+mn-lt"/>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t>73</a:t>
            </a:fld>
            <a:endParaRPr lang="zh-CN" altLang="en-US"/>
          </a:p>
        </p:txBody>
      </p:sp>
      <p:sp>
        <p:nvSpPr>
          <p:cNvPr id="5" name="内容占位符 2"/>
          <p:cNvSpPr>
            <a:spLocks noGrp="1"/>
          </p:cNvSpPr>
          <p:nvPr/>
        </p:nvSpPr>
        <p:spPr>
          <a:xfrm>
            <a:off x="424180" y="3821430"/>
            <a:ext cx="5452110" cy="2091690"/>
          </a:xfrm>
          <a:prstGeom prst="rect">
            <a:avLst/>
          </a:prstGeom>
        </p:spPr>
        <p:txBody>
          <a:bodyPr vert="horz" wrap="square"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300"/>
              </a:spcBef>
              <a:buNone/>
            </a:pPr>
            <a:r>
              <a:rPr lang="en-US" altLang="zh-CN" sz="2400">
                <a:solidFill>
                  <a:srgbClr val="C00000"/>
                </a:solidFill>
                <a:latin typeface="+mn-lt"/>
                <a:cs typeface="+mn-lt"/>
              </a:rPr>
              <a:t>object</a:t>
            </a:r>
            <a:r>
              <a:rPr lang="zh-CN" altLang="en-US" sz="2400">
                <a:latin typeface="+mn-lt"/>
                <a:cs typeface="+mn-lt"/>
              </a:rPr>
              <a:t>_</a:t>
            </a:r>
            <a:r>
              <a:rPr lang="en-US" altLang="zh-CN" sz="2400">
                <a:solidFill>
                  <a:srgbClr val="C00000"/>
                </a:solidFill>
                <a:latin typeface="+mn-lt"/>
                <a:cs typeface="+mn-lt"/>
              </a:rPr>
              <a:t>type</a:t>
            </a:r>
            <a:r>
              <a:rPr lang="zh-CN" altLang="en-US" sz="2400">
                <a:latin typeface="+mn-lt"/>
                <a:cs typeface="+mn-lt"/>
              </a:rPr>
              <a:t>: {</a:t>
            </a:r>
            <a:r>
              <a:rPr lang="en-US" altLang="zh-CN" sz="2400">
                <a:latin typeface="+mn-lt"/>
                <a:cs typeface="+mn-lt"/>
              </a:rPr>
              <a:t> </a:t>
            </a:r>
          </a:p>
          <a:p>
            <a:pPr marL="914400" lvl="2" indent="0">
              <a:lnSpc>
                <a:spcPct val="100000"/>
              </a:lnSpc>
              <a:spcBef>
                <a:spcPts val="300"/>
              </a:spcBef>
              <a:buNone/>
            </a:pPr>
            <a:r>
              <a:rPr lang="zh-CN" altLang="en-US" sz="2400">
                <a:latin typeface="+mn-lt"/>
                <a:cs typeface="+mn-lt"/>
              </a:rPr>
              <a:t>TABLE </a:t>
            </a:r>
          </a:p>
          <a:p>
            <a:pPr marL="914400" lvl="2" indent="0">
              <a:lnSpc>
                <a:spcPct val="100000"/>
              </a:lnSpc>
              <a:spcBef>
                <a:spcPts val="300"/>
              </a:spcBef>
              <a:buNone/>
            </a:pPr>
            <a:r>
              <a:rPr lang="zh-CN" altLang="en-US" sz="2400">
                <a:latin typeface="+mn-lt"/>
                <a:cs typeface="+mn-lt"/>
              </a:rPr>
              <a:t>| FUNCTION </a:t>
            </a:r>
          </a:p>
          <a:p>
            <a:pPr marL="914400" lvl="2" indent="0">
              <a:lnSpc>
                <a:spcPct val="100000"/>
              </a:lnSpc>
              <a:spcBef>
                <a:spcPts val="300"/>
              </a:spcBef>
              <a:buNone/>
            </a:pPr>
            <a:r>
              <a:rPr lang="zh-CN" altLang="en-US" sz="2400">
                <a:latin typeface="+mn-lt"/>
                <a:cs typeface="+mn-lt"/>
              </a:rPr>
              <a:t>| PROCEDURE</a:t>
            </a:r>
            <a:r>
              <a:rPr lang="en-US" altLang="zh-CN" sz="2400">
                <a:latin typeface="+mn-lt"/>
                <a:cs typeface="+mn-lt"/>
              </a:rPr>
              <a:t> </a:t>
            </a:r>
          </a:p>
          <a:p>
            <a:pPr marL="0" lvl="0" indent="0">
              <a:lnSpc>
                <a:spcPct val="100000"/>
              </a:lnSpc>
              <a:spcBef>
                <a:spcPts val="300"/>
              </a:spcBef>
              <a:buNone/>
            </a:pPr>
            <a:r>
              <a:rPr lang="zh-CN" altLang="en-US" sz="2400">
                <a:latin typeface="+mn-lt"/>
                <a:cs typeface="+mn-lt"/>
              </a:rPr>
              <a:t>}</a:t>
            </a:r>
          </a:p>
        </p:txBody>
      </p:sp>
      <p:sp>
        <p:nvSpPr>
          <p:cNvPr id="6" name="内容占位符 2"/>
          <p:cNvSpPr>
            <a:spLocks noGrp="1"/>
          </p:cNvSpPr>
          <p:nvPr/>
        </p:nvSpPr>
        <p:spPr>
          <a:xfrm>
            <a:off x="6096000" y="3821430"/>
            <a:ext cx="5473700" cy="2907665"/>
          </a:xfrm>
          <a:prstGeom prst="rect">
            <a:avLst/>
          </a:prstGeom>
        </p:spPr>
        <p:txBody>
          <a:bodyPr vert="horz" wrap="square"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300"/>
              </a:spcBef>
              <a:buNone/>
            </a:pPr>
            <a:r>
              <a:rPr lang="en-US" altLang="zh-CN" sz="2400">
                <a:solidFill>
                  <a:srgbClr val="C00000"/>
                </a:solidFill>
                <a:latin typeface="+mn-lt"/>
                <a:cs typeface="+mn-lt"/>
              </a:rPr>
              <a:t>priv</a:t>
            </a:r>
            <a:r>
              <a:rPr lang="zh-CN" altLang="en-US" sz="2400">
                <a:latin typeface="+mn-lt"/>
                <a:cs typeface="+mn-lt"/>
              </a:rPr>
              <a:t>_</a:t>
            </a:r>
            <a:r>
              <a:rPr lang="en-US" altLang="zh-CN" sz="2400">
                <a:solidFill>
                  <a:srgbClr val="C00000"/>
                </a:solidFill>
                <a:latin typeface="+mn-lt"/>
                <a:cs typeface="+mn-lt"/>
              </a:rPr>
              <a:t>level</a:t>
            </a:r>
            <a:r>
              <a:rPr lang="zh-CN" altLang="en-US" sz="2400">
                <a:latin typeface="+mn-lt"/>
                <a:cs typeface="+mn-lt"/>
              </a:rPr>
              <a:t>: {   </a:t>
            </a:r>
            <a:r>
              <a:rPr lang="en-US" altLang="zh-CN" sz="2400">
                <a:latin typeface="+mn-lt"/>
                <a:cs typeface="+mn-lt"/>
              </a:rPr>
              <a:t> </a:t>
            </a:r>
            <a:r>
              <a:rPr lang="zh-CN" altLang="en-US" sz="2400">
                <a:latin typeface="+mn-lt"/>
                <a:cs typeface="+mn-lt"/>
              </a:rPr>
              <a:t> *</a:t>
            </a:r>
          </a:p>
          <a:p>
            <a:pPr marL="457200" lvl="1" indent="1082040">
              <a:lnSpc>
                <a:spcPct val="100000"/>
              </a:lnSpc>
              <a:spcBef>
                <a:spcPts val="300"/>
              </a:spcBef>
              <a:buNone/>
            </a:pPr>
            <a:r>
              <a:rPr lang="zh-CN" altLang="en-US" sz="2400">
                <a:latin typeface="+mn-lt"/>
                <a:cs typeface="+mn-lt"/>
              </a:rPr>
              <a:t>  | *.*</a:t>
            </a:r>
          </a:p>
          <a:p>
            <a:pPr marL="457200" lvl="1" indent="1082040">
              <a:lnSpc>
                <a:spcPct val="100000"/>
              </a:lnSpc>
              <a:spcBef>
                <a:spcPts val="300"/>
              </a:spcBef>
              <a:buNone/>
            </a:pPr>
            <a:r>
              <a:rPr lang="zh-CN" altLang="en-US" sz="2400">
                <a:latin typeface="+mn-lt"/>
                <a:cs typeface="+mn-lt"/>
              </a:rPr>
              <a:t>  | db_name.*</a:t>
            </a:r>
          </a:p>
          <a:p>
            <a:pPr marL="457200" lvl="1" indent="1082040">
              <a:lnSpc>
                <a:spcPct val="100000"/>
              </a:lnSpc>
              <a:spcBef>
                <a:spcPts val="300"/>
              </a:spcBef>
              <a:buNone/>
            </a:pPr>
            <a:r>
              <a:rPr lang="zh-CN" altLang="en-US" sz="2400">
                <a:latin typeface="+mn-lt"/>
                <a:cs typeface="+mn-lt"/>
              </a:rPr>
              <a:t>  | db_name.tbl_name</a:t>
            </a:r>
          </a:p>
          <a:p>
            <a:pPr marL="457200" lvl="1" indent="1082040">
              <a:lnSpc>
                <a:spcPct val="100000"/>
              </a:lnSpc>
              <a:spcBef>
                <a:spcPts val="300"/>
              </a:spcBef>
              <a:buNone/>
            </a:pPr>
            <a:r>
              <a:rPr lang="zh-CN" altLang="en-US" sz="2400">
                <a:latin typeface="+mn-lt"/>
                <a:cs typeface="+mn-lt"/>
              </a:rPr>
              <a:t>  | tbl_name</a:t>
            </a:r>
          </a:p>
          <a:p>
            <a:pPr marL="457200" lvl="1" indent="1082040">
              <a:lnSpc>
                <a:spcPct val="100000"/>
              </a:lnSpc>
              <a:spcBef>
                <a:spcPts val="300"/>
              </a:spcBef>
              <a:buNone/>
            </a:pPr>
            <a:r>
              <a:rPr lang="zh-CN" altLang="en-US" sz="2400">
                <a:latin typeface="+mn-lt"/>
                <a:cs typeface="+mn-lt"/>
              </a:rPr>
              <a:t>  | db_name.routine_name</a:t>
            </a:r>
          </a:p>
          <a:p>
            <a:pPr marL="0" indent="0">
              <a:lnSpc>
                <a:spcPct val="100000"/>
              </a:lnSpc>
              <a:spcBef>
                <a:spcPts val="300"/>
              </a:spcBef>
              <a:buNone/>
            </a:pPr>
            <a:r>
              <a:rPr lang="zh-CN" altLang="en-US" sz="2400">
                <a:latin typeface="+mn-lt"/>
                <a:cs typeface="+mn-lt"/>
              </a:rPr>
              <a:t>}</a:t>
            </a:r>
          </a:p>
        </p:txBody>
      </p:sp>
      <p:sp>
        <p:nvSpPr>
          <p:cNvPr id="7" name="页脚占位符 6"/>
          <p:cNvSpPr>
            <a:spLocks noGrp="1"/>
          </p:cNvSpPr>
          <p:nvPr>
            <p:ph type="ftr" sz="quarter" idx="11"/>
          </p:nvPr>
        </p:nvSpPr>
        <p:spPr/>
        <p:txBody>
          <a:bodyPr/>
          <a:lstStyle/>
          <a:p>
            <a:r>
              <a:rPr lang="zh-CN" altLang="en-US"/>
              <a:t>ch04_数据库安全性</a:t>
            </a:r>
          </a:p>
        </p:txBody>
      </p:sp>
      <p:sp>
        <p:nvSpPr>
          <p:cNvPr id="8" name="内容占位符 2"/>
          <p:cNvSpPr>
            <a:spLocks noGrp="1"/>
          </p:cNvSpPr>
          <p:nvPr/>
        </p:nvSpPr>
        <p:spPr>
          <a:xfrm>
            <a:off x="424180" y="2651125"/>
            <a:ext cx="11343005" cy="953135"/>
          </a:xfrm>
          <a:prstGeom prst="rect">
            <a:avLst/>
          </a:prstGeom>
          <a:solidFill>
            <a:schemeClr val="accent3">
              <a:lumMod val="20000"/>
              <a:lumOff val="80000"/>
              <a:alpha val="50000"/>
            </a:schemeClr>
          </a:solidFill>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00000"/>
              </a:lnSpc>
              <a:buNone/>
            </a:pPr>
            <a:r>
              <a:rPr lang="zh-CN" altLang="en-US">
                <a:latin typeface="+mn-lt"/>
                <a:cs typeface="+mn-lt"/>
              </a:rPr>
              <a:t>GRANT role [, role] ... TO user_or_role [, user_or_role] ... </a:t>
            </a:r>
          </a:p>
          <a:p>
            <a:pPr marL="914400" lvl="2" indent="0">
              <a:lnSpc>
                <a:spcPct val="100000"/>
              </a:lnSpc>
              <a:buNone/>
            </a:pPr>
            <a:r>
              <a:rPr lang="zh-CN" altLang="en-US">
                <a:latin typeface="+mn-lt"/>
                <a:cs typeface="+mn-lt"/>
              </a:rPr>
              <a:t>[WITH ADMIN OPTION]</a:t>
            </a:r>
            <a:r>
              <a:rPr lang="en-US" altLang="zh-CN">
                <a:latin typeface="+mn-lt"/>
                <a:cs typeface="+mn-lt"/>
              </a:rPr>
              <a:t>;</a:t>
            </a:r>
            <a:endParaRPr lang="zh-CN" altLang="en-US">
              <a:latin typeface="+mn-lt"/>
              <a:cs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REVOKE </a:t>
            </a:r>
            <a:r>
              <a:rPr lang="zh-CN" altLang="en-US"/>
              <a:t>权限回收命令</a:t>
            </a:r>
          </a:p>
        </p:txBody>
      </p:sp>
      <p:sp>
        <p:nvSpPr>
          <p:cNvPr id="3" name="内容占位符 2"/>
          <p:cNvSpPr>
            <a:spLocks noGrp="1"/>
          </p:cNvSpPr>
          <p:nvPr>
            <p:ph idx="1"/>
          </p:nvPr>
        </p:nvSpPr>
        <p:spPr>
          <a:xfrm>
            <a:off x="424180" y="687070"/>
            <a:ext cx="11343005" cy="2245360"/>
          </a:xfrm>
          <a:solidFill>
            <a:schemeClr val="accent3">
              <a:lumMod val="20000"/>
              <a:lumOff val="80000"/>
              <a:alpha val="50000"/>
            </a:schemeClr>
          </a:solidFill>
        </p:spPr>
        <p:txBody>
          <a:bodyPr lIns="269875">
            <a:noAutofit/>
          </a:bodyPr>
          <a:lstStyle/>
          <a:p>
            <a:pPr marL="0" indent="0">
              <a:lnSpc>
                <a:spcPct val="100000"/>
              </a:lnSpc>
              <a:spcBef>
                <a:spcPts val="0"/>
              </a:spcBef>
              <a:buNone/>
            </a:pPr>
            <a:r>
              <a:rPr lang="zh-CN" altLang="en-US" sz="2800">
                <a:latin typeface="Calibri" panose="020F0502020204030204" charset="0"/>
                <a:cs typeface="Calibri" panose="020F0502020204030204" charset="0"/>
              </a:rPr>
              <a:t>REVOKE [IF EXISTS]</a:t>
            </a:r>
            <a:r>
              <a:rPr lang="en-US" altLang="zh-CN" sz="2800">
                <a:latin typeface="Calibri" panose="020F0502020204030204" charset="0"/>
                <a:cs typeface="Calibri" panose="020F0502020204030204" charset="0"/>
              </a:rPr>
              <a:t> </a:t>
            </a:r>
            <a:endParaRPr lang="zh-CN" altLang="en-US" sz="2800">
              <a:latin typeface="Calibri" panose="020F0502020204030204" charset="0"/>
              <a:cs typeface="Calibri" panose="020F0502020204030204" charset="0"/>
            </a:endParaRPr>
          </a:p>
          <a:p>
            <a:pPr marL="457200" lvl="1" indent="0">
              <a:lnSpc>
                <a:spcPct val="100000"/>
              </a:lnSpc>
              <a:spcBef>
                <a:spcPts val="0"/>
              </a:spcBef>
              <a:buNone/>
            </a:pPr>
            <a:r>
              <a:rPr lang="zh-CN" altLang="en-US" sz="2800">
                <a:latin typeface="Calibri" panose="020F0502020204030204" charset="0"/>
                <a:cs typeface="Calibri" panose="020F0502020204030204" charset="0"/>
              </a:rPr>
              <a:t>priv_type [(column_list)] [, priv_type [(column_list)]] ...</a:t>
            </a:r>
            <a:r>
              <a:rPr lang="en-US" altLang="zh-CN" sz="2800">
                <a:latin typeface="Calibri" panose="020F0502020204030204" charset="0"/>
                <a:cs typeface="Calibri" panose="020F0502020204030204" charset="0"/>
              </a:rPr>
              <a:t> </a:t>
            </a:r>
          </a:p>
          <a:p>
            <a:pPr marL="457200" lvl="1" indent="0">
              <a:lnSpc>
                <a:spcPct val="100000"/>
              </a:lnSpc>
              <a:spcBef>
                <a:spcPts val="0"/>
              </a:spcBef>
              <a:buNone/>
            </a:pPr>
            <a:r>
              <a:rPr lang="zh-CN" altLang="en-US" sz="2800">
                <a:latin typeface="Calibri" panose="020F0502020204030204" charset="0"/>
                <a:cs typeface="Calibri" panose="020F0502020204030204" charset="0"/>
              </a:rPr>
              <a:t>ON [object_type] priv_level</a:t>
            </a:r>
          </a:p>
          <a:p>
            <a:pPr marL="457200" lvl="1" indent="0">
              <a:lnSpc>
                <a:spcPct val="100000"/>
              </a:lnSpc>
              <a:spcBef>
                <a:spcPts val="0"/>
              </a:spcBef>
              <a:buNone/>
            </a:pPr>
            <a:r>
              <a:rPr lang="zh-CN" altLang="en-US" sz="2800">
                <a:latin typeface="Calibri" panose="020F0502020204030204" charset="0"/>
                <a:cs typeface="Calibri" panose="020F0502020204030204" charset="0"/>
              </a:rPr>
              <a:t>FROM user_or_role [, user_or_role] ...</a:t>
            </a:r>
          </a:p>
          <a:p>
            <a:pPr marL="457200" lvl="1" indent="0">
              <a:lnSpc>
                <a:spcPct val="100000"/>
              </a:lnSpc>
              <a:spcBef>
                <a:spcPts val="0"/>
              </a:spcBef>
              <a:buNone/>
            </a:pPr>
            <a:r>
              <a:rPr lang="zh-CN" altLang="en-US" sz="2800">
                <a:latin typeface="Calibri" panose="020F0502020204030204" charset="0"/>
                <a:cs typeface="Calibri" panose="020F0502020204030204" charset="0"/>
              </a:rPr>
              <a:t>[IGNORE UNKNOWN USER]</a:t>
            </a:r>
            <a:r>
              <a:rPr lang="en-US" altLang="zh-CN" sz="2800">
                <a:latin typeface="Calibri" panose="020F0502020204030204" charset="0"/>
                <a:cs typeface="Calibri" panose="020F0502020204030204" charset="0"/>
              </a:rPr>
              <a:t> ;</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74</a:t>
            </a:fld>
            <a:endParaRPr lang="zh-CN" altLang="en-US"/>
          </a:p>
        </p:txBody>
      </p:sp>
      <p:sp>
        <p:nvSpPr>
          <p:cNvPr id="5" name="页脚占位符 4"/>
          <p:cNvSpPr>
            <a:spLocks noGrp="1"/>
          </p:cNvSpPr>
          <p:nvPr>
            <p:ph type="ftr" sz="quarter" idx="11"/>
          </p:nvPr>
        </p:nvSpPr>
        <p:spPr/>
        <p:txBody>
          <a:bodyPr/>
          <a:lstStyle/>
          <a:p>
            <a:r>
              <a:rPr lang="zh-CN" altLang="en-US"/>
              <a:t>ch04_数据库安全性</a:t>
            </a:r>
          </a:p>
        </p:txBody>
      </p:sp>
      <p:sp>
        <p:nvSpPr>
          <p:cNvPr id="6" name="内容占位符 2"/>
          <p:cNvSpPr>
            <a:spLocks noGrp="1"/>
          </p:cNvSpPr>
          <p:nvPr/>
        </p:nvSpPr>
        <p:spPr>
          <a:xfrm>
            <a:off x="424180" y="3216275"/>
            <a:ext cx="11343005" cy="1383665"/>
          </a:xfrm>
          <a:prstGeom prst="rect">
            <a:avLst/>
          </a:prstGeom>
          <a:solidFill>
            <a:schemeClr val="accent3">
              <a:lumMod val="20000"/>
              <a:lumOff val="80000"/>
              <a:alpha val="50000"/>
            </a:schemeClr>
          </a:solidFill>
        </p:spPr>
        <p:txBody>
          <a:bodyPr vert="horz" lIns="269875"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zh-CN" altLang="en-US" sz="2800">
                <a:latin typeface="Calibri" panose="020F0502020204030204" charset="0"/>
                <a:cs typeface="Calibri" panose="020F0502020204030204" charset="0"/>
              </a:rPr>
              <a:t>REVOKE [IF EXISTS] ALL [PRIVILEGES], GRANT OPTION</a:t>
            </a:r>
            <a:r>
              <a:rPr lang="en-US" altLang="zh-CN" sz="2800">
                <a:latin typeface="Calibri" panose="020F0502020204030204" charset="0"/>
                <a:cs typeface="Calibri" panose="020F0502020204030204" charset="0"/>
              </a:rPr>
              <a:t> </a:t>
            </a:r>
            <a:endParaRPr lang="zh-CN" altLang="en-US" sz="2800">
              <a:latin typeface="Calibri" panose="020F0502020204030204" charset="0"/>
              <a:cs typeface="Calibri" panose="020F0502020204030204" charset="0"/>
            </a:endParaRPr>
          </a:p>
          <a:p>
            <a:pPr marL="457200" lvl="1" indent="0">
              <a:lnSpc>
                <a:spcPct val="100000"/>
              </a:lnSpc>
              <a:spcBef>
                <a:spcPts val="0"/>
              </a:spcBef>
              <a:buNone/>
            </a:pPr>
            <a:r>
              <a:rPr lang="zh-CN" altLang="en-US" sz="2800">
                <a:latin typeface="Calibri" panose="020F0502020204030204" charset="0"/>
                <a:cs typeface="Calibri" panose="020F0502020204030204" charset="0"/>
              </a:rPr>
              <a:t>FROM user_or_role [, user_or_role] ...</a:t>
            </a:r>
            <a:r>
              <a:rPr lang="en-US" altLang="zh-CN" sz="2800">
                <a:latin typeface="Calibri" panose="020F0502020204030204" charset="0"/>
                <a:cs typeface="Calibri" panose="020F0502020204030204" charset="0"/>
              </a:rPr>
              <a:t> </a:t>
            </a:r>
            <a:endParaRPr lang="zh-CN" altLang="en-US" sz="2800">
              <a:latin typeface="Calibri" panose="020F0502020204030204" charset="0"/>
              <a:cs typeface="Calibri" panose="020F0502020204030204" charset="0"/>
            </a:endParaRPr>
          </a:p>
          <a:p>
            <a:pPr marL="457200" lvl="1" indent="0">
              <a:lnSpc>
                <a:spcPct val="100000"/>
              </a:lnSpc>
              <a:spcBef>
                <a:spcPts val="0"/>
              </a:spcBef>
              <a:buNone/>
            </a:pPr>
            <a:r>
              <a:rPr lang="zh-CN" altLang="en-US" sz="2800">
                <a:latin typeface="Calibri" panose="020F0502020204030204" charset="0"/>
                <a:cs typeface="Calibri" panose="020F0502020204030204" charset="0"/>
              </a:rPr>
              <a:t>[IGNORE UNKNOWN USER]</a:t>
            </a:r>
            <a:r>
              <a:rPr lang="en-US" altLang="zh-CN" sz="2800">
                <a:latin typeface="Calibri" panose="020F0502020204030204" charset="0"/>
                <a:cs typeface="Calibri" panose="020F0502020204030204" charset="0"/>
              </a:rPr>
              <a:t> ;</a:t>
            </a:r>
          </a:p>
        </p:txBody>
      </p:sp>
      <p:sp>
        <p:nvSpPr>
          <p:cNvPr id="7" name="内容占位符 2"/>
          <p:cNvSpPr>
            <a:spLocks noGrp="1"/>
          </p:cNvSpPr>
          <p:nvPr/>
        </p:nvSpPr>
        <p:spPr>
          <a:xfrm>
            <a:off x="424180" y="4875530"/>
            <a:ext cx="11343005" cy="1383665"/>
          </a:xfrm>
          <a:prstGeom prst="rect">
            <a:avLst/>
          </a:prstGeom>
          <a:solidFill>
            <a:schemeClr val="accent3">
              <a:lumMod val="20000"/>
              <a:lumOff val="80000"/>
              <a:alpha val="50000"/>
            </a:schemeClr>
          </a:solidFill>
        </p:spPr>
        <p:txBody>
          <a:bodyPr vert="horz" lIns="269875"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zh-CN" altLang="en-US" sz="2800">
                <a:latin typeface="Calibri" panose="020F0502020204030204" charset="0"/>
                <a:cs typeface="Calibri" panose="020F0502020204030204" charset="0"/>
              </a:rPr>
              <a:t>REVOKE [IF EXISTS] role [, role ] ...</a:t>
            </a:r>
          </a:p>
          <a:p>
            <a:pPr marL="457200" lvl="1" indent="0">
              <a:lnSpc>
                <a:spcPct val="100000"/>
              </a:lnSpc>
              <a:spcBef>
                <a:spcPts val="0"/>
              </a:spcBef>
              <a:buNone/>
            </a:pPr>
            <a:r>
              <a:rPr lang="zh-CN" altLang="en-US" sz="2800">
                <a:latin typeface="Calibri" panose="020F0502020204030204" charset="0"/>
                <a:cs typeface="Calibri" panose="020F0502020204030204" charset="0"/>
              </a:rPr>
              <a:t>FROM user_or_role [, user_or_role ] ...</a:t>
            </a:r>
          </a:p>
          <a:p>
            <a:pPr marL="457200" lvl="1" indent="0">
              <a:lnSpc>
                <a:spcPct val="100000"/>
              </a:lnSpc>
              <a:spcBef>
                <a:spcPts val="0"/>
              </a:spcBef>
              <a:buNone/>
            </a:pPr>
            <a:r>
              <a:rPr lang="zh-CN" altLang="en-US" sz="2800">
                <a:latin typeface="Calibri" panose="020F0502020204030204" charset="0"/>
                <a:cs typeface="Calibri" panose="020F0502020204030204" charset="0"/>
              </a:rPr>
              <a:t>[IGNORE UNKNOWN USER]</a:t>
            </a:r>
            <a:r>
              <a:rPr lang="en-US" altLang="zh-CN" sz="2800">
                <a:latin typeface="Calibri" panose="020F0502020204030204" charset="0"/>
                <a:cs typeface="Calibri" panose="020F0502020204030204"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DM3MTJmZWYzNGY4YmRiNTYxOWVmNTczZTFmNjFmODMifQ=="/>
  <p:tag name="RESOURCE_RECORD_KEY" val="{&quot;70&quot;:[3314500]}"/>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TABLE_ENDDRAG_ORIGIN_RECT" val="893*292"/>
  <p:tag name="TABLE_ENDDRAG_RECT" val="33*126*893*292"/>
</p:tagLst>
</file>

<file path=ppt/tags/tag8.xml><?xml version="1.0" encoding="utf-8"?>
<p:tagLst xmlns:a="http://schemas.openxmlformats.org/drawingml/2006/main" xmlns:r="http://schemas.openxmlformats.org/officeDocument/2006/relationships" xmlns:p="http://schemas.openxmlformats.org/presentationml/2006/main">
  <p:tag name="TABLE_ENDDRAG_ORIGIN_RECT" val="850*346"/>
  <p:tag name="TABLE_ENDDRAG_RECT" val="33*103*850*346"/>
</p:tagLst>
</file>

<file path=ppt/tags/tag9.xml><?xml version="1.0" encoding="utf-8"?>
<p:tagLst xmlns:a="http://schemas.openxmlformats.org/drawingml/2006/main" xmlns:r="http://schemas.openxmlformats.org/officeDocument/2006/relationships" xmlns:p="http://schemas.openxmlformats.org/presentationml/2006/main">
  <p:tag name="TABLE_ENDDRAG_ORIGIN_RECT" val="893*278"/>
  <p:tag name="TABLE_ENDDRAG_RECT" val="33*130*893*278"/>
</p:tagLst>
</file>

<file path=ppt/tags/tag10.xml><?xml version="1.0" encoding="utf-8"?>
<p:tagLst xmlns:a="http://schemas.openxmlformats.org/drawingml/2006/main" xmlns:r="http://schemas.openxmlformats.org/officeDocument/2006/relationships" xmlns:p="http://schemas.openxmlformats.org/presentationml/2006/main">
  <p:tag name="TABLE_ENDDRAG_ORIGIN_RECT" val="869*407"/>
  <p:tag name="TABLE_ENDDRAG_RECT" val="46*65*869*407"/>
</p:tagLst>
</file>

<file path=ppt/tags/tag11.xml><?xml version="1.0" encoding="utf-8"?>
<p:tagLst xmlns:a="http://schemas.openxmlformats.org/drawingml/2006/main" xmlns:r="http://schemas.openxmlformats.org/officeDocument/2006/relationships" xmlns:p="http://schemas.openxmlformats.org/presentationml/2006/main">
  <p:tag name="TABLE_ENDDRAG_ORIGIN_RECT" val="874*451"/>
  <p:tag name="TABLE_ENDDRAG_RECT" val="50*54*874*45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7053</Words>
  <Application>Microsoft Macintosh PowerPoint</Application>
  <PresentationFormat>宽屏</PresentationFormat>
  <Paragraphs>1086</Paragraphs>
  <Slides>74</Slides>
  <Notes>2</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74</vt:i4>
      </vt:variant>
    </vt:vector>
  </HeadingPairs>
  <TitlesOfParts>
    <vt:vector size="86" baseType="lpstr">
      <vt:lpstr>楷体</vt:lpstr>
      <vt:lpstr>宋体</vt:lpstr>
      <vt:lpstr>Wingdings</vt:lpstr>
      <vt:lpstr>Arial</vt:lpstr>
      <vt:lpstr>Times New Roman</vt:lpstr>
      <vt:lpstr>微软雅黑</vt:lpstr>
      <vt:lpstr>Cambria Math</vt:lpstr>
      <vt:lpstr>华文楷体</vt:lpstr>
      <vt:lpstr>Calibri</vt:lpstr>
      <vt:lpstr>Open Sans</vt:lpstr>
      <vt:lpstr>WPS</vt:lpstr>
      <vt:lpstr>Word.Picture.8</vt:lpstr>
      <vt:lpstr>PowerPoint 演示文稿</vt:lpstr>
      <vt:lpstr> 数据库安全性</vt:lpstr>
      <vt:lpstr> 数据库安全性</vt:lpstr>
      <vt:lpstr>第4章  数据库安全性</vt:lpstr>
      <vt:lpstr>4.1  数据库安全性概述</vt:lpstr>
      <vt:lpstr>4.1.1  数据库的不安全因素</vt:lpstr>
      <vt:lpstr>4.1.2  安全标准简介</vt:lpstr>
      <vt:lpstr>图4.1  信息安全标准的发展历史</vt:lpstr>
      <vt:lpstr>表4.1  TCSEC/TDI安全级别划分 1</vt:lpstr>
      <vt:lpstr>TCSEC/TDI安全级别划分 2</vt:lpstr>
      <vt:lpstr>CC标准</vt:lpstr>
      <vt:lpstr>表4.2  CC评估保证级（EAL）划分 </vt:lpstr>
      <vt:lpstr>4.1.3  中国计算机安全标准制订历史</vt:lpstr>
      <vt:lpstr>4.1.3  中国计算机安全标准制订历史</vt:lpstr>
      <vt:lpstr>4.1.3  中国计算机安全标准制订历史</vt:lpstr>
      <vt:lpstr>4.1.3  中国计算机安全标准制订历史</vt:lpstr>
      <vt:lpstr>数据库安全标准 - 安全功能要求</vt:lpstr>
      <vt:lpstr>第4章  数据库安全性</vt:lpstr>
      <vt:lpstr>4.2  数据库安全性控制</vt:lpstr>
      <vt:lpstr>图4.2  计算机系统的安全模型 </vt:lpstr>
      <vt:lpstr>图4.3  数据库管理系统安全性控制模型</vt:lpstr>
      <vt:lpstr>4.2  数据库安全性控制</vt:lpstr>
      <vt:lpstr>4.2  数据库安全性控制</vt:lpstr>
      <vt:lpstr>4.2.1 用户身份鉴别</vt:lpstr>
      <vt:lpstr>4.2.2  存取控制</vt:lpstr>
      <vt:lpstr>常用存取控制方法</vt:lpstr>
      <vt:lpstr>4.2.3  自主存取控制方法 1</vt:lpstr>
      <vt:lpstr>4.2.3  自主存取控制方法 2</vt:lpstr>
      <vt:lpstr>4.2.3  自主存取控制方法 3</vt:lpstr>
      <vt:lpstr>4.2.3  自主存取控制方法 4</vt:lpstr>
      <vt:lpstr>4.2.4  授权：授予 与 收回</vt:lpstr>
      <vt:lpstr>GRANT 1</vt:lpstr>
      <vt:lpstr>GRANT 2</vt:lpstr>
      <vt:lpstr>GRANT 3</vt:lpstr>
      <vt:lpstr>GRANT 4</vt:lpstr>
      <vt:lpstr>GRANT 5</vt:lpstr>
      <vt:lpstr>传播权限</vt:lpstr>
      <vt:lpstr>REVOKE 1</vt:lpstr>
      <vt:lpstr>REVOKE 2</vt:lpstr>
      <vt:lpstr>REVOKE 3</vt:lpstr>
      <vt:lpstr>REVOKE 4</vt:lpstr>
      <vt:lpstr>创建数据库模式的权限 1 </vt:lpstr>
      <vt:lpstr>创建数据库模式的权限 2 </vt:lpstr>
      <vt:lpstr>表4.6  权限与可执行操作的对照表 </vt:lpstr>
      <vt:lpstr>4.2.5  数据库角色 1</vt:lpstr>
      <vt:lpstr>4.2.5  数据库角色 2</vt:lpstr>
      <vt:lpstr>4.2.5  数据库角色 3</vt:lpstr>
      <vt:lpstr>4.2.5  数据库角色 4</vt:lpstr>
      <vt:lpstr>4.2.5  数据库角色 5</vt:lpstr>
      <vt:lpstr>4.2.5  数据库角色 6</vt:lpstr>
      <vt:lpstr>自主存取控制缺点</vt:lpstr>
      <vt:lpstr>4.2.6  强制存取控制</vt:lpstr>
      <vt:lpstr>强制存取控制方法 - 实体</vt:lpstr>
      <vt:lpstr>强制存取控制方法 - 敏感度标记</vt:lpstr>
      <vt:lpstr>强制存取控制方法 - 强制存取控制规则</vt:lpstr>
      <vt:lpstr>DAC + MAC</vt:lpstr>
      <vt:lpstr>第4章  数据库安全性</vt:lpstr>
      <vt:lpstr>4.3  视图机制 1</vt:lpstr>
      <vt:lpstr>4.3  视图机制 2</vt:lpstr>
      <vt:lpstr>4.4  审计</vt:lpstr>
      <vt:lpstr>审计事件</vt:lpstr>
      <vt:lpstr>审计功能</vt:lpstr>
      <vt:lpstr>审计级别</vt:lpstr>
      <vt:lpstr>审计语句</vt:lpstr>
      <vt:lpstr>4.5  数据加密</vt:lpstr>
      <vt:lpstr>存储加密</vt:lpstr>
      <vt:lpstr>传输加密</vt:lpstr>
      <vt:lpstr>4.6  其他安全性保护</vt:lpstr>
      <vt:lpstr>4.7  小结</vt:lpstr>
      <vt:lpstr>MySQL中安全性管理相关的SQL命令</vt:lpstr>
      <vt:lpstr>Permissible Static Privileges for GRANT and REVOKE (Global &amp; Database)</vt:lpstr>
      <vt:lpstr>Static Privileges for GRANT and REVOKE (Global &amp; Database &amp; Table &amp; Column)</vt:lpstr>
      <vt:lpstr>MySQL 授权命令</vt:lpstr>
      <vt:lpstr>REVOKE 权限回收命令</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pc403</dc:creator>
  <cp:lastModifiedBy>Wei Hu</cp:lastModifiedBy>
  <cp:revision>297</cp:revision>
  <dcterms:created xsi:type="dcterms:W3CDTF">2023-08-09T12:44:00Z</dcterms:created>
  <dcterms:modified xsi:type="dcterms:W3CDTF">2026-04-19T01:01:52Z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8DA7850B498F4A68811A3B4F97CD528F_13</vt:lpwstr>
  </property>
  <property fmtid="{D5CDD505-2E9C-101B-9397-08002B2CF9AE}" pid="3" name="KSOProductBuildVer">
    <vt:lpwstr>2052-12.1.0.20305</vt:lpwstr>
  </property>
</Properties>
</file>