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81"/>
  </p:notesMasterIdLst>
  <p:handoutMasterIdLst>
    <p:handoutMasterId r:id="rId82"/>
  </p:handoutMasterIdLst>
  <p:sldIdLst>
    <p:sldId id="687" r:id="rId2"/>
    <p:sldId id="1181" r:id="rId3"/>
    <p:sldId id="1182" r:id="rId4"/>
    <p:sldId id="1183" r:id="rId5"/>
    <p:sldId id="1225" r:id="rId6"/>
    <p:sldId id="1226" r:id="rId7"/>
    <p:sldId id="1227" r:id="rId8"/>
    <p:sldId id="1357" r:id="rId9"/>
    <p:sldId id="1358" r:id="rId10"/>
    <p:sldId id="1481" r:id="rId11"/>
    <p:sldId id="1360" r:id="rId12"/>
    <p:sldId id="1361" r:id="rId13"/>
    <p:sldId id="1362" r:id="rId14"/>
    <p:sldId id="1228" r:id="rId15"/>
    <p:sldId id="1271" r:id="rId16"/>
    <p:sldId id="1185" r:id="rId17"/>
    <p:sldId id="1186" r:id="rId18"/>
    <p:sldId id="1187" r:id="rId19"/>
    <p:sldId id="1188" r:id="rId20"/>
    <p:sldId id="1189" r:id="rId21"/>
    <p:sldId id="1190" r:id="rId22"/>
    <p:sldId id="1229" r:id="rId23"/>
    <p:sldId id="1273" r:id="rId24"/>
    <p:sldId id="1192" r:id="rId25"/>
    <p:sldId id="1193" r:id="rId26"/>
    <p:sldId id="1194" r:id="rId27"/>
    <p:sldId id="1195" r:id="rId28"/>
    <p:sldId id="1420" r:id="rId29"/>
    <p:sldId id="1196" r:id="rId30"/>
    <p:sldId id="1197" r:id="rId31"/>
    <p:sldId id="1432" r:id="rId32"/>
    <p:sldId id="1433" r:id="rId33"/>
    <p:sldId id="1434" r:id="rId34"/>
    <p:sldId id="1435" r:id="rId35"/>
    <p:sldId id="1230" r:id="rId36"/>
    <p:sldId id="1199" r:id="rId37"/>
    <p:sldId id="1315" r:id="rId38"/>
    <p:sldId id="1200" r:id="rId39"/>
    <p:sldId id="1201" r:id="rId40"/>
    <p:sldId id="1202" r:id="rId41"/>
    <p:sldId id="1203" r:id="rId42"/>
    <p:sldId id="1204" r:id="rId43"/>
    <p:sldId id="1231" r:id="rId44"/>
    <p:sldId id="1205" r:id="rId45"/>
    <p:sldId id="1206" r:id="rId46"/>
    <p:sldId id="1207" r:id="rId47"/>
    <p:sldId id="1208" r:id="rId48"/>
    <p:sldId id="1421" r:id="rId49"/>
    <p:sldId id="1422" r:id="rId50"/>
    <p:sldId id="1232" r:id="rId51"/>
    <p:sldId id="1210" r:id="rId52"/>
    <p:sldId id="1211" r:id="rId53"/>
    <p:sldId id="1212" r:id="rId54"/>
    <p:sldId id="1213" r:id="rId55"/>
    <p:sldId id="1214" r:id="rId56"/>
    <p:sldId id="1423" r:id="rId57"/>
    <p:sldId id="1233" r:id="rId58"/>
    <p:sldId id="1216" r:id="rId59"/>
    <p:sldId id="1217" r:id="rId60"/>
    <p:sldId id="1424" r:id="rId61"/>
    <p:sldId id="1427" r:id="rId62"/>
    <p:sldId id="1218" r:id="rId63"/>
    <p:sldId id="1426" r:id="rId64"/>
    <p:sldId id="1343" r:id="rId65"/>
    <p:sldId id="1219" r:id="rId66"/>
    <p:sldId id="1220" r:id="rId67"/>
    <p:sldId id="1221" r:id="rId68"/>
    <p:sldId id="1222" r:id="rId69"/>
    <p:sldId id="1436" r:id="rId70"/>
    <p:sldId id="1223" r:id="rId71"/>
    <p:sldId id="1224" r:id="rId72"/>
    <p:sldId id="1351" r:id="rId73"/>
    <p:sldId id="1128" r:id="rId74"/>
    <p:sldId id="1475" r:id="rId75"/>
    <p:sldId id="1476" r:id="rId76"/>
    <p:sldId id="1477" r:id="rId77"/>
    <p:sldId id="1478" r:id="rId78"/>
    <p:sldId id="1479" r:id="rId79"/>
    <p:sldId id="1480" r:id="rId80"/>
  </p:sldIdLst>
  <p:sldSz cx="12192000" cy="6858000"/>
  <p:notesSz cx="6858000" cy="9144000"/>
  <p:embeddedFontLst>
    <p:embeddedFont>
      <p:font typeface="宋体" panose="02010600030101010101" pitchFamily="2" charset="-122"/>
      <p:regular r:id="rId83"/>
    </p:embeddedFont>
    <p:embeddedFont>
      <p:font typeface="华文楷体" panose="02010600040101010101" pitchFamily="2" charset="-122"/>
      <p:regular r:id="rId84"/>
    </p:embeddedFont>
    <p:embeddedFont>
      <p:font typeface="楷体" panose="02010609060101010101" pitchFamily="49" charset="-122"/>
      <p:regular r:id="rId85"/>
    </p:embeddedFont>
    <p:embeddedFont>
      <p:font typeface="微软雅黑" panose="020B0503020204020204" pitchFamily="34" charset="-122"/>
      <p:regular r:id="rId86"/>
      <p:bold r:id="rId87"/>
    </p:embeddedFont>
  </p:embeddedFontLst>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C8"/>
    <a:srgbClr val="FF0000"/>
    <a:srgbClr val="1F2DA8"/>
    <a:srgbClr val="B2B2B2"/>
    <a:srgbClr val="808080"/>
    <a:srgbClr val="E9E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8" d="100"/>
          <a:sy n="128" d="100"/>
        </p:scale>
        <p:origin x="4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2024.04.16  13:43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not exists(select Cno from SC group by Cno having count(*)&gt;60);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not exists(select Cno, TERM  from SC group by Cno, TERM  having count(*)&gt;60);</a:t>
            </a:r>
            <a:endParaRPr lang="en-US" altLang="zh-CN"/>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5" name="页脚占位符 4"/>
          <p:cNvSpPr>
            <a:spLocks noGrp="1"/>
          </p:cNvSpPr>
          <p:nvPr>
            <p:ph type="ftr" sz="quarter" idx="11"/>
          </p:nvPr>
        </p:nvSpPr>
        <p:spPr/>
        <p:txBody>
          <a:bodyPr/>
          <a:lstStyle/>
          <a:p>
            <a:r>
              <a:rPr lang="zh-CN" altLang="en-US"/>
              <a:t>ch05_数据库完整性</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p>
            <a:r>
              <a:rPr lang="zh-CN" altLang="en-US"/>
              <a:t>ch05_数据库完整性</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24815" y="615950"/>
            <a:ext cx="557974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615950"/>
            <a:ext cx="5588635" cy="598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p>
            <a:r>
              <a:rPr lang="zh-CN" altLang="en-US"/>
              <a:t>ch05_数据库完整性</a:t>
            </a:r>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a:t>单击此处编辑母版标题样式</a:t>
            </a:r>
          </a:p>
        </p:txBody>
      </p:sp>
      <p:sp>
        <p:nvSpPr>
          <p:cNvPr id="3" name="文本占位符 2"/>
          <p:cNvSpPr>
            <a:spLocks noGrp="1"/>
          </p:cNvSpPr>
          <p:nvPr>
            <p:ph type="body" idx="1"/>
          </p:nvPr>
        </p:nvSpPr>
        <p:spPr>
          <a:xfrm>
            <a:off x="424800" y="604203"/>
            <a:ext cx="5580000" cy="823912"/>
          </a:xfrm>
        </p:spPr>
        <p:txBody>
          <a:bodyPr anchor="ctr" anchorCtr="0"/>
          <a:lstStyle>
            <a:lvl1pPr marL="0" indent="0">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24815" y="1428115"/>
            <a:ext cx="5579745" cy="5186680"/>
          </a:xfrm>
        </p:spPr>
        <p:txBody>
          <a:bodyPr/>
          <a:lstStyle>
            <a:lvl1pPr>
              <a:defRPr sz="2800"/>
            </a:lvl1pPr>
            <a:lvl2pPr>
              <a:defRPr sz="2800"/>
            </a:lvl2pPr>
            <a:lvl3pPr>
              <a:defRPr sz="2800"/>
            </a:lvl3pPr>
            <a:lvl4pPr>
              <a:defRPr sz="2800"/>
            </a:lvl4pPr>
            <a:lvl5pPr>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604520"/>
            <a:ext cx="5589270" cy="823595"/>
          </a:xfrm>
        </p:spPr>
        <p:txBody>
          <a:bodyPr anchor="ctr" anchorCtr="0"/>
          <a:lstStyle>
            <a:lvl1pPr marL="0" indent="0">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428115"/>
            <a:ext cx="5589270" cy="5186680"/>
          </a:xfrm>
        </p:spPr>
        <p:txBody>
          <a:bodyPr/>
          <a:lstStyle>
            <a:lvl1pPr>
              <a:defRPr sz="2800"/>
            </a:lvl1pPr>
            <a:lvl2pPr>
              <a:defRPr sz="2800"/>
            </a:lvl2pPr>
            <a:lvl3pPr>
              <a:defRPr sz="2800"/>
            </a:lvl3pPr>
            <a:lvl4pPr>
              <a:defRPr sz="2800"/>
            </a:lvl4pPr>
            <a:lvl5pPr>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p>
            <a:r>
              <a:rPr lang="zh-CN" altLang="en-US"/>
              <a:t>ch05_数据库完整性</a:t>
            </a:r>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r>
              <a:rPr lang="zh-CN" altLang="en-US"/>
              <a:t>ch05_数据库完整性</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6" name="文本占位符 5"/>
          <p:cNvSpPr>
            <a:spLocks noGrp="1"/>
          </p:cNvSpPr>
          <p:nvPr>
            <p:ph type="body" idx="1"/>
          </p:nvPr>
        </p:nvSpPr>
        <p:spPr>
          <a:xfrm>
            <a:off x="424815" y="684000"/>
            <a:ext cx="11336655" cy="521970"/>
          </a:xfrm>
        </p:spPr>
        <p:txBody>
          <a:bodyPr anchor="ctr" anchorCtr="0">
            <a:spAutoFit/>
          </a:bodyPr>
          <a:lstStyle>
            <a:lvl1pPr marL="0" indent="0">
              <a:lnSpc>
                <a:spcPct val="100000"/>
              </a:lnSpc>
              <a:spcBef>
                <a:spcPts val="0"/>
              </a:spcBef>
              <a:spcAft>
                <a:spcPts val="0"/>
              </a:spcAft>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内容占位符 6"/>
          <p:cNvSpPr>
            <a:spLocks noGrp="1"/>
          </p:cNvSpPr>
          <p:nvPr>
            <p:ph sz="half" idx="2"/>
          </p:nvPr>
        </p:nvSpPr>
        <p:spPr>
          <a:xfrm>
            <a:off x="424815" y="1326515"/>
            <a:ext cx="5579745" cy="5186680"/>
          </a:xfrm>
        </p:spPr>
        <p:txBody>
          <a:bodyPr/>
          <a:lstStyle>
            <a:lvl1pPr>
              <a:lnSpc>
                <a:spcPct val="110000"/>
              </a:lnSpc>
              <a:spcBef>
                <a:spcPts val="0"/>
              </a:spcBef>
              <a:spcAft>
                <a:spcPts val="0"/>
              </a:spcAft>
              <a:defRPr sz="2800"/>
            </a:lvl1pPr>
            <a:lvl2pPr>
              <a:lnSpc>
                <a:spcPct val="110000"/>
              </a:lnSpc>
              <a:spcBef>
                <a:spcPts val="0"/>
              </a:spcBef>
              <a:spcAft>
                <a:spcPts val="0"/>
              </a:spcAft>
              <a:defRPr sz="2800"/>
            </a:lvl2pPr>
            <a:lvl3pPr>
              <a:lnSpc>
                <a:spcPct val="110000"/>
              </a:lnSpc>
              <a:spcBef>
                <a:spcPts val="0"/>
              </a:spcBef>
              <a:spcAft>
                <a:spcPts val="0"/>
              </a:spcAft>
              <a:defRPr sz="2800"/>
            </a:lvl3pPr>
            <a:lvl4pPr>
              <a:lnSpc>
                <a:spcPct val="110000"/>
              </a:lnSpc>
              <a:spcBef>
                <a:spcPts val="0"/>
              </a:spcBef>
              <a:spcAft>
                <a:spcPts val="0"/>
              </a:spcAft>
              <a:defRPr sz="2800"/>
            </a:lvl4pPr>
            <a:lvl5pPr>
              <a:lnSpc>
                <a:spcPct val="110000"/>
              </a:lnSpc>
              <a:spcBef>
                <a:spcPts val="0"/>
              </a:spcBef>
              <a:spcAft>
                <a:spcPts val="0"/>
              </a:spcAft>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内容占位符 7"/>
          <p:cNvSpPr>
            <a:spLocks noGrp="1"/>
          </p:cNvSpPr>
          <p:nvPr>
            <p:ph sz="quarter" idx="4"/>
          </p:nvPr>
        </p:nvSpPr>
        <p:spPr>
          <a:xfrm>
            <a:off x="6172200" y="1326515"/>
            <a:ext cx="5589270" cy="5186680"/>
          </a:xfrm>
        </p:spPr>
        <p:txBody>
          <a:bodyPr/>
          <a:lstStyle>
            <a:lvl1pPr>
              <a:lnSpc>
                <a:spcPct val="110000"/>
              </a:lnSpc>
              <a:spcBef>
                <a:spcPts val="0"/>
              </a:spcBef>
              <a:spcAft>
                <a:spcPts val="0"/>
              </a:spcAft>
              <a:defRPr sz="2800"/>
            </a:lvl1pPr>
            <a:lvl2pPr>
              <a:lnSpc>
                <a:spcPct val="110000"/>
              </a:lnSpc>
              <a:spcBef>
                <a:spcPts val="0"/>
              </a:spcBef>
              <a:spcAft>
                <a:spcPts val="0"/>
              </a:spcAft>
              <a:defRPr sz="2800"/>
            </a:lvl2pPr>
            <a:lvl3pPr>
              <a:lnSpc>
                <a:spcPct val="110000"/>
              </a:lnSpc>
              <a:spcBef>
                <a:spcPts val="0"/>
              </a:spcBef>
              <a:spcAft>
                <a:spcPts val="0"/>
              </a:spcAft>
              <a:defRPr sz="2800"/>
            </a:lvl3pPr>
            <a:lvl4pPr>
              <a:lnSpc>
                <a:spcPct val="110000"/>
              </a:lnSpc>
              <a:spcBef>
                <a:spcPts val="0"/>
              </a:spcBef>
              <a:spcAft>
                <a:spcPts val="0"/>
              </a:spcAft>
              <a:defRPr sz="2800"/>
            </a:lvl4pPr>
            <a:lvl5pPr>
              <a:lnSpc>
                <a:spcPct val="110000"/>
              </a:lnSpc>
              <a:spcBef>
                <a:spcPts val="0"/>
              </a:spcBef>
              <a:spcAft>
                <a:spcPts val="0"/>
              </a:spcAft>
              <a:defRPr sz="2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p>
            <a:r>
              <a:rPr lang="zh-CN" altLang="en-US"/>
              <a:t>ch05_数据库完整性</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ch05_数据库完整性</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horz"/>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1"/>
            <p:custDataLst>
              <p:tags r:id="rId1"/>
            </p:custDataLst>
          </p:nvPr>
        </p:nvSpPr>
        <p:spPr/>
        <p:txBody>
          <a:bodyPr/>
          <a:lstStyle/>
          <a:p>
            <a:r>
              <a:rPr lang="zh-CN" altLang="en-US"/>
              <a:t>ch05_数据库完整性</a:t>
            </a:r>
          </a:p>
        </p:txBody>
      </p:sp>
      <p:sp>
        <p:nvSpPr>
          <p:cNvPr id="7" name="灯片编号占位符 6"/>
          <p:cNvSpPr>
            <a:spLocks noGrp="1"/>
          </p:cNvSpPr>
          <p:nvPr>
            <p:ph type="sldNum" sz="quarter" idx="12"/>
            <p:custDataLst>
              <p:tags r:id="rId2"/>
            </p:custDataLst>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a:t>单击此处编辑母版标题样式</a:t>
            </a:r>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panose="02010609060101010101" charset="-122"/>
                <a:ea typeface="楷体" panose="02010609060101010101" charset="-122"/>
              </a:defRPr>
            </a:lvl1pPr>
          </a:lstStyle>
          <a:p>
            <a:r>
              <a:rPr lang="zh-CN" altLang="en-US"/>
              <a:t>ch05_数据库完整性</a:t>
            </a:r>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lstStyle/>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a:t>
            </a:r>
            <a:r>
              <a:rPr kumimoji="1" lang="en-US" altLang="zh-CN"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2026 </a:t>
            </a: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春季）</a:t>
            </a:r>
          </a:p>
        </p:txBody>
      </p:sp>
      <p:sp>
        <p:nvSpPr>
          <p:cNvPr id="8" name="文本框 7"/>
          <p:cNvSpPr txBox="1"/>
          <p:nvPr>
            <p:custDataLst>
              <p:tags r:id="rId3"/>
            </p:custDataLst>
          </p:nvPr>
        </p:nvSpPr>
        <p:spPr>
          <a:xfrm>
            <a:off x="0" y="1924685"/>
            <a:ext cx="12192635" cy="1014730"/>
          </a:xfrm>
          <a:prstGeom prst="rect">
            <a:avLst/>
          </a:prstGeom>
          <a:noFill/>
        </p:spPr>
        <p:txBody>
          <a:bodyPr wrap="square" rtlCol="0">
            <a:spAutoFit/>
          </a:bodyPr>
          <a:lstStyle/>
          <a:p>
            <a:pPr algn="ctr"/>
            <a:r>
              <a:rPr lang="zh-CN" altLang="en-US" sz="60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第</a:t>
            </a:r>
            <a:r>
              <a:rPr lang="en-US" altLang="zh-CN" sz="60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5</a:t>
            </a:r>
            <a:r>
              <a:rPr lang="zh-CN" altLang="en-US" sz="60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章</a:t>
            </a:r>
            <a:r>
              <a:rPr lang="en-US" altLang="zh-CN" sz="60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  </a:t>
            </a:r>
            <a:r>
              <a:rPr lang="zh-CN" altLang="en-US" sz="6000" b="1" spc="300" dirty="0">
                <a:solidFill>
                  <a:schemeClr val="bg1"/>
                </a:solidFill>
                <a:effectLst>
                  <a:outerShdw blurRad="38100" dist="38100" dir="2700000" algn="tl">
                    <a:srgbClr val="000000">
                      <a:alpha val="43137"/>
                    </a:srgbClr>
                  </a:outerShdw>
                </a:effectLst>
                <a:uFillTx/>
                <a:latin typeface="+mj-lt"/>
                <a:ea typeface="微软雅黑" panose="020B0503020204020204" charset="-122"/>
                <a:cs typeface="+mj-lt"/>
                <a:sym typeface="+mn-ea"/>
              </a:rPr>
              <a:t>数据库完整性</a:t>
            </a:r>
            <a:endParaRPr lang="zh-CN" altLang="en-US" sz="6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zh-CN"/>
              <a:t>数据库完整性</a:t>
            </a:r>
          </a:p>
        </p:txBody>
      </p:sp>
      <p:sp>
        <p:nvSpPr>
          <p:cNvPr id="3075" name="Rectangle 3"/>
          <p:cNvSpPr>
            <a:spLocks noGrp="1" noChangeArrowheads="1"/>
          </p:cNvSpPr>
          <p:nvPr>
            <p:ph idx="1"/>
          </p:nvPr>
        </p:nvSpPr>
        <p:spPr/>
        <p:txBody>
          <a:bodyPr>
            <a:noAutofit/>
          </a:bodyPr>
          <a:lstStyle/>
          <a:p>
            <a:pPr>
              <a:lnSpc>
                <a:spcPct val="100000"/>
              </a:lnSpc>
              <a:spcBef>
                <a:spcPts val="600"/>
              </a:spcBef>
            </a:pPr>
            <a:r>
              <a:rPr lang="zh-CN" altLang="en-US" dirty="0">
                <a:solidFill>
                  <a:srgbClr val="C00000"/>
                </a:solidFill>
              </a:rPr>
              <a:t>数据库的完整性</a:t>
            </a:r>
            <a:endParaRPr lang="zh-CN" altLang="en-US" dirty="0"/>
          </a:p>
          <a:p>
            <a:pPr lvl="1">
              <a:lnSpc>
                <a:spcPct val="100000"/>
              </a:lnSpc>
              <a:spcBef>
                <a:spcPts val="600"/>
              </a:spcBef>
            </a:pPr>
            <a:r>
              <a:rPr lang="zh-CN" altLang="en-US" dirty="0"/>
              <a:t>数据的正确性：数据符合现实世界语义，反映了当前的实际状况</a:t>
            </a:r>
          </a:p>
          <a:p>
            <a:pPr lvl="1">
              <a:lnSpc>
                <a:spcPct val="100000"/>
              </a:lnSpc>
              <a:spcBef>
                <a:spcPts val="600"/>
              </a:spcBef>
            </a:pPr>
            <a:r>
              <a:rPr lang="zh-CN" altLang="en-US" dirty="0"/>
              <a:t>数据的相容性：数据库中的同一对象在不同关系表中的数据是符合逻辑的</a:t>
            </a:r>
            <a:endParaRPr lang="en-US" altLang="zh-CN" dirty="0"/>
          </a:p>
          <a:p>
            <a:pPr lvl="0">
              <a:lnSpc>
                <a:spcPct val="100000"/>
              </a:lnSpc>
              <a:spcBef>
                <a:spcPts val="1600"/>
              </a:spcBef>
            </a:pPr>
            <a:r>
              <a:rPr lang="zh-CN" altLang="en-US" dirty="0"/>
              <a:t>例如，</a:t>
            </a:r>
            <a:endParaRPr lang="en-US" altLang="zh-CN" dirty="0"/>
          </a:p>
          <a:p>
            <a:pPr lvl="1">
              <a:lnSpc>
                <a:spcPct val="100000"/>
              </a:lnSpc>
              <a:spcBef>
                <a:spcPts val="600"/>
              </a:spcBef>
            </a:pPr>
            <a:r>
              <a:rPr lang="zh-CN" altLang="en-US" dirty="0">
                <a:solidFill>
                  <a:srgbClr val="C00000"/>
                </a:solidFill>
              </a:rPr>
              <a:t>学生的学号必须唯一</a:t>
            </a:r>
            <a:endParaRPr lang="en-US" altLang="zh-CN" dirty="0">
              <a:solidFill>
                <a:srgbClr val="C00000"/>
              </a:solidFill>
            </a:endParaRPr>
          </a:p>
          <a:p>
            <a:pPr lvl="1">
              <a:lnSpc>
                <a:spcPct val="100000"/>
              </a:lnSpc>
              <a:spcBef>
                <a:spcPts val="600"/>
              </a:spcBef>
            </a:pPr>
            <a:r>
              <a:rPr lang="zh-CN" altLang="en-US" dirty="0">
                <a:solidFill>
                  <a:srgbClr val="C00000"/>
                </a:solidFill>
              </a:rPr>
              <a:t>性别只能是男或女</a:t>
            </a:r>
            <a:endParaRPr lang="en-US" altLang="zh-CN" dirty="0">
              <a:solidFill>
                <a:srgbClr val="C00000"/>
              </a:solidFill>
            </a:endParaRPr>
          </a:p>
          <a:p>
            <a:pPr lvl="1">
              <a:lnSpc>
                <a:spcPct val="100000"/>
              </a:lnSpc>
              <a:spcBef>
                <a:spcPts val="600"/>
              </a:spcBef>
            </a:pPr>
            <a:r>
              <a:rPr lang="zh-CN" altLang="en-US" dirty="0">
                <a:solidFill>
                  <a:srgbClr val="C00000"/>
                </a:solidFill>
              </a:rPr>
              <a:t>本科学生年龄的取值范围为</a:t>
            </a:r>
            <a:r>
              <a:rPr lang="en-US" altLang="zh-CN" dirty="0">
                <a:solidFill>
                  <a:srgbClr val="C00000"/>
                </a:solidFill>
              </a:rPr>
              <a:t>14~50</a:t>
            </a:r>
            <a:r>
              <a:rPr lang="zh-CN" altLang="en-US" dirty="0">
                <a:solidFill>
                  <a:srgbClr val="C00000"/>
                </a:solidFill>
              </a:rPr>
              <a:t>的整数</a:t>
            </a:r>
            <a:endParaRPr lang="en-US" altLang="zh-CN" dirty="0">
              <a:solidFill>
                <a:srgbClr val="C00000"/>
              </a:solidFill>
            </a:endParaRPr>
          </a:p>
          <a:p>
            <a:pPr lvl="1">
              <a:lnSpc>
                <a:spcPct val="100000"/>
              </a:lnSpc>
              <a:spcBef>
                <a:spcPts val="600"/>
              </a:spcBef>
            </a:pPr>
            <a:r>
              <a:rPr lang="zh-CN" altLang="en-US" dirty="0">
                <a:solidFill>
                  <a:srgbClr val="C00000"/>
                </a:solidFill>
              </a:rPr>
              <a:t>学生所选的课程必须是学校开设的课程，学生所在的院系必须是学校已成立的院系</a:t>
            </a:r>
            <a:endParaRPr lang="en-US" altLang="zh-CN" dirty="0">
              <a:solidFill>
                <a:srgbClr val="C00000"/>
              </a:solidFill>
            </a:endParaRPr>
          </a:p>
          <a:p>
            <a:pPr lvl="1">
              <a:lnSpc>
                <a:spcPct val="100000"/>
              </a:lnSpc>
              <a:spcBef>
                <a:spcPts val="600"/>
              </a:spcBef>
            </a:pPr>
            <a:r>
              <a:rPr lang="en-US" altLang="zh-CN" dirty="0">
                <a:solidFill>
                  <a:srgbClr val="C00000"/>
                </a:solidFill>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3" end="3"/>
                                            </p:txEl>
                                          </p:spTgt>
                                        </p:tgtEl>
                                        <p:attrNameLst>
                                          <p:attrName>style.visibility</p:attrName>
                                        </p:attrNameLst>
                                      </p:cBhvr>
                                      <p:to>
                                        <p:strVal val="visible"/>
                                      </p:to>
                                    </p:set>
                                    <p:anim calcmode="lin" valueType="num">
                                      <p:cBhvr additive="base">
                                        <p:cTn id="7" dur="500" fill="hold"/>
                                        <p:tgtEl>
                                          <p:spTgt spid="307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3" end="3"/>
                                            </p:txEl>
                                          </p:spTgt>
                                        </p:tgtEl>
                                        <p:attrNameLst>
                                          <p:attrName>ppt_c</p:attrName>
                                        </p:attrNameLst>
                                      </p:cBhvr>
                                      <p:to>
                                        <a:srgbClr val="1F2DA8"/>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4" end="4"/>
                                            </p:txEl>
                                          </p:spTgt>
                                        </p:tgtEl>
                                        <p:attrNameLst>
                                          <p:attrName>style.visibility</p:attrName>
                                        </p:attrNameLst>
                                      </p:cBhvr>
                                      <p:to>
                                        <p:strVal val="visible"/>
                                      </p:to>
                                    </p:set>
                                    <p:anim calcmode="lin" valueType="num">
                                      <p:cBhvr additive="base">
                                        <p:cTn id="13"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4" end="4"/>
                                            </p:txEl>
                                          </p:spTgt>
                                        </p:tgtEl>
                                        <p:attrNameLst>
                                          <p:attrName>ppt_c</p:attrName>
                                        </p:attrNameLst>
                                      </p:cBhvr>
                                      <p:to>
                                        <a:srgbClr val="1F2DA8"/>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xEl>
                                              <p:pRg st="5" end="5"/>
                                            </p:txEl>
                                          </p:spTgt>
                                        </p:tgtEl>
                                        <p:attrNameLst>
                                          <p:attrName>style.visibility</p:attrName>
                                        </p:attrNameLst>
                                      </p:cBhvr>
                                      <p:to>
                                        <p:strVal val="visible"/>
                                      </p:to>
                                    </p:set>
                                    <p:anim calcmode="lin" valueType="num">
                                      <p:cBhvr additive="base">
                                        <p:cTn id="19"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5" end="5"/>
                                            </p:txEl>
                                          </p:spTgt>
                                        </p:tgtEl>
                                        <p:attrNameLst>
                                          <p:attrName>ppt_c</p:attrName>
                                        </p:attrNameLst>
                                      </p:cBhvr>
                                      <p:to>
                                        <a:srgbClr val="1F2DA8"/>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xEl>
                                              <p:pRg st="6" end="6"/>
                                            </p:txEl>
                                          </p:spTgt>
                                        </p:tgtEl>
                                        <p:attrNameLst>
                                          <p:attrName>style.visibility</p:attrName>
                                        </p:attrNameLst>
                                      </p:cBhvr>
                                      <p:to>
                                        <p:strVal val="visible"/>
                                      </p:to>
                                    </p:set>
                                    <p:anim calcmode="lin" valueType="num">
                                      <p:cBhvr additive="base">
                                        <p:cTn id="25" dur="500" fill="hold"/>
                                        <p:tgtEl>
                                          <p:spTgt spid="307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6" end="6"/>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6" end="6"/>
                                            </p:txEl>
                                          </p:spTgt>
                                        </p:tgtEl>
                                        <p:attrNameLst>
                                          <p:attrName>ppt_c</p:attrName>
                                        </p:attrNameLst>
                                      </p:cBhvr>
                                      <p:to>
                                        <a:srgbClr val="1F2DA8"/>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5">
                                            <p:txEl>
                                              <p:pRg st="7" end="7"/>
                                            </p:txEl>
                                          </p:spTgt>
                                        </p:tgtEl>
                                        <p:attrNameLst>
                                          <p:attrName>style.visibility</p:attrName>
                                        </p:attrNameLst>
                                      </p:cBhvr>
                                      <p:to>
                                        <p:strVal val="visible"/>
                                      </p:to>
                                    </p:set>
                                    <p:anim calcmode="lin" valueType="num">
                                      <p:cBhvr additive="base">
                                        <p:cTn id="31" dur="500" fill="hold"/>
                                        <p:tgtEl>
                                          <p:spTgt spid="307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7" end="7"/>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7" end="7"/>
                                            </p:txEl>
                                          </p:spTgt>
                                        </p:tgtEl>
                                        <p:attrNameLst>
                                          <p:attrName>ppt_c</p:attrName>
                                        </p:attrNameLst>
                                      </p:cBhvr>
                                      <p:to>
                                        <a:srgbClr val="1F2DA8"/>
                                      </p:to>
                                    </p:animClr>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75">
                                            <p:txEl>
                                              <p:pRg st="8" end="8"/>
                                            </p:txEl>
                                          </p:spTgt>
                                        </p:tgtEl>
                                        <p:attrNameLst>
                                          <p:attrName>style.visibility</p:attrName>
                                        </p:attrNameLst>
                                      </p:cBhvr>
                                      <p:to>
                                        <p:strVal val="visible"/>
                                      </p:to>
                                    </p:set>
                                    <p:anim calcmode="lin" valueType="num">
                                      <p:cBhvr additive="base">
                                        <p:cTn id="37" dur="500" fill="hold"/>
                                        <p:tgtEl>
                                          <p:spTgt spid="307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5">
                                            <p:txEl>
                                              <p:pRg st="8" end="8"/>
                                            </p:txEl>
                                          </p:spTgt>
                                        </p:tgtEl>
                                        <p:attrNameLst>
                                          <p:attrName>ppt_y</p:attrName>
                                        </p:attrNameLst>
                                      </p:cBhvr>
                                      <p:tavLst>
                                        <p:tav tm="0">
                                          <p:val>
                                            <p:strVal val="1+#ppt_h/2"/>
                                          </p:val>
                                        </p:tav>
                                        <p:tav tm="100000">
                                          <p:val>
                                            <p:strVal val="#ppt_y"/>
                                          </p:val>
                                        </p:tav>
                                      </p:tavLst>
                                    </p:anim>
                                  </p:childTnLst>
                                  <p:subTnLst>
                                    <p:animClr clrSpc="rgb" dir="cw">
                                      <p:cBhvr override="childStyle">
                                        <p:cTn dur="65" fill="hold" display="1" masterRel="nextClick" afterEffect="1"/>
                                        <p:tgtEl>
                                          <p:spTgt spid="3075">
                                            <p:txEl>
                                              <p:pRg st="8" end="8"/>
                                            </p:txEl>
                                          </p:spTgt>
                                        </p:tgtEl>
                                        <p:attrNameLst>
                                          <p:attrName>ppt_c</p:attrName>
                                        </p:attrNameLst>
                                      </p:cBhvr>
                                      <p:to>
                                        <a:srgbClr val="1F2DA8"/>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dirty="0"/>
              <a:t>完整性 </a:t>
            </a:r>
            <a:r>
              <a:rPr lang="en-US" altLang="zh-CN" dirty="0"/>
              <a:t>vs. </a:t>
            </a:r>
            <a:r>
              <a:rPr lang="zh-CN" altLang="en-US" dirty="0"/>
              <a:t>安全性</a:t>
            </a:r>
          </a:p>
        </p:txBody>
      </p:sp>
      <p:sp>
        <p:nvSpPr>
          <p:cNvPr id="4099" name="Rectangle 3"/>
          <p:cNvSpPr>
            <a:spLocks noGrp="1" noChangeArrowheads="1"/>
          </p:cNvSpPr>
          <p:nvPr>
            <p:ph idx="1"/>
          </p:nvPr>
        </p:nvSpPr>
        <p:spPr/>
        <p:txBody>
          <a:bodyPr>
            <a:noAutofit/>
          </a:bodyPr>
          <a:lstStyle/>
          <a:p>
            <a:pPr eaLnBrk="1" hangingPunct="1">
              <a:lnSpc>
                <a:spcPct val="110000"/>
              </a:lnSpc>
              <a:spcBef>
                <a:spcPts val="1000"/>
              </a:spcBef>
            </a:pPr>
            <a:r>
              <a:rPr lang="zh-CN" altLang="en-US" dirty="0"/>
              <a:t>数据的完整性和安全性是两个不同概念</a:t>
            </a:r>
          </a:p>
          <a:p>
            <a:pPr lvl="1" eaLnBrk="1" hangingPunct="1">
              <a:lnSpc>
                <a:spcPct val="110000"/>
              </a:lnSpc>
              <a:spcBef>
                <a:spcPts val="1000"/>
              </a:spcBef>
            </a:pPr>
            <a:r>
              <a:rPr lang="zh-CN" altLang="en-US" dirty="0"/>
              <a:t>数据的完整性</a:t>
            </a:r>
          </a:p>
          <a:p>
            <a:pPr lvl="2" eaLnBrk="1" hangingPunct="1">
              <a:lnSpc>
                <a:spcPct val="110000"/>
              </a:lnSpc>
              <a:spcBef>
                <a:spcPts val="1000"/>
              </a:spcBef>
              <a:buSzPct val="87000"/>
              <a:buFont typeface="Wingdings" panose="05000000000000000000" pitchFamily="2" charset="2"/>
              <a:buChar char="l"/>
            </a:pPr>
            <a:r>
              <a:rPr lang="zh-CN" altLang="en-US" dirty="0"/>
              <a:t>防止数据库中存在不符合语义的数据，也就是防止数据库中存在不正确的数据</a:t>
            </a:r>
          </a:p>
          <a:p>
            <a:pPr lvl="2" eaLnBrk="1" hangingPunct="1">
              <a:lnSpc>
                <a:spcPct val="110000"/>
              </a:lnSpc>
              <a:spcBef>
                <a:spcPts val="1000"/>
              </a:spcBef>
              <a:buSzPct val="87000"/>
              <a:buFont typeface="Wingdings" panose="05000000000000000000" pitchFamily="2" charset="2"/>
              <a:buChar char="l"/>
            </a:pPr>
            <a:r>
              <a:rPr lang="zh-CN" altLang="en-US" dirty="0"/>
              <a:t>防范对象：不合语义的、不正确的数据</a:t>
            </a:r>
          </a:p>
          <a:p>
            <a:pPr lvl="2" eaLnBrk="1" hangingPunct="1">
              <a:lnSpc>
                <a:spcPct val="110000"/>
              </a:lnSpc>
              <a:spcBef>
                <a:spcPts val="1000"/>
              </a:spcBef>
              <a:buSzPct val="87000"/>
              <a:buFont typeface="Wingdings" panose="05000000000000000000" pitchFamily="2" charset="2"/>
              <a:buChar char="l"/>
            </a:pPr>
            <a:endParaRPr lang="zh-CN" altLang="en-US" dirty="0"/>
          </a:p>
          <a:p>
            <a:pPr lvl="1" eaLnBrk="1" hangingPunct="1">
              <a:lnSpc>
                <a:spcPct val="110000"/>
              </a:lnSpc>
              <a:spcBef>
                <a:spcPts val="1000"/>
              </a:spcBef>
            </a:pPr>
            <a:r>
              <a:rPr lang="zh-CN" altLang="en-US" dirty="0"/>
              <a:t>数据的安全性</a:t>
            </a:r>
          </a:p>
          <a:p>
            <a:pPr lvl="2" eaLnBrk="1" hangingPunct="1">
              <a:lnSpc>
                <a:spcPct val="110000"/>
              </a:lnSpc>
              <a:spcBef>
                <a:spcPts val="1000"/>
              </a:spcBef>
              <a:buSzPct val="87000"/>
              <a:buFont typeface="Wingdings" panose="05000000000000000000" pitchFamily="2" charset="2"/>
              <a:buChar char="l"/>
            </a:pPr>
            <a:r>
              <a:rPr lang="zh-CN" altLang="en-US" dirty="0"/>
              <a:t>保护数据库，防止恶意的破坏和非法的存取</a:t>
            </a:r>
          </a:p>
          <a:p>
            <a:pPr lvl="2" eaLnBrk="1" hangingPunct="1">
              <a:lnSpc>
                <a:spcPct val="110000"/>
              </a:lnSpc>
              <a:spcBef>
                <a:spcPts val="1000"/>
              </a:spcBef>
              <a:buSzPct val="87000"/>
              <a:buFont typeface="Wingdings" panose="05000000000000000000" pitchFamily="2" charset="2"/>
              <a:buChar char="l"/>
            </a:pPr>
            <a:r>
              <a:rPr lang="zh-CN" altLang="en-US" dirty="0"/>
              <a:t>防范对象：非法用户和非法操作</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zh-CN" altLang="en-US" dirty="0"/>
              <a:t>完整性机制</a:t>
            </a:r>
            <a:r>
              <a:rPr lang="en-US" altLang="zh-CN" dirty="0"/>
              <a:t>  1</a:t>
            </a:r>
          </a:p>
        </p:txBody>
      </p:sp>
      <p:sp>
        <p:nvSpPr>
          <p:cNvPr id="5123" name="Rectangle 3"/>
          <p:cNvSpPr>
            <a:spLocks noGrp="1" noChangeArrowheads="1"/>
          </p:cNvSpPr>
          <p:nvPr>
            <p:ph idx="1"/>
          </p:nvPr>
        </p:nvSpPr>
        <p:spPr/>
        <p:txBody>
          <a:bodyPr>
            <a:noAutofit/>
          </a:bodyPr>
          <a:lstStyle/>
          <a:p>
            <a:pPr marL="514350" indent="-514350">
              <a:lnSpc>
                <a:spcPct val="150000"/>
              </a:lnSpc>
              <a:buFont typeface="+mj-ea"/>
              <a:buAutoNum type="circleNumDbPlain"/>
            </a:pPr>
            <a:r>
              <a:rPr lang="zh-CN" altLang="en-US" sz="2800" dirty="0"/>
              <a:t>提供定义完整性约束条件的机制</a:t>
            </a:r>
            <a:endParaRPr lang="en-US" altLang="zh-CN" sz="2800" dirty="0"/>
          </a:p>
          <a:p>
            <a:pPr marL="514350" indent="-514350">
              <a:lnSpc>
                <a:spcPct val="150000"/>
              </a:lnSpc>
              <a:buFont typeface="+mj-ea"/>
              <a:buAutoNum type="circleNumDbPlain"/>
            </a:pPr>
            <a:r>
              <a:rPr lang="zh-CN" altLang="en-US" sz="2800" dirty="0"/>
              <a:t>提供完整性检查的方法</a:t>
            </a:r>
          </a:p>
          <a:p>
            <a:pPr marL="514350" indent="-514350">
              <a:lnSpc>
                <a:spcPct val="150000"/>
              </a:lnSpc>
              <a:buFont typeface="+mj-ea"/>
              <a:buAutoNum type="circleNumDbPlain"/>
            </a:pPr>
            <a:r>
              <a:rPr lang="zh-CN" altLang="en-US" sz="2800"/>
              <a:t>违约</a:t>
            </a:r>
            <a:r>
              <a:rPr lang="zh-CN" altLang="en-US" sz="2800" dirty="0"/>
              <a:t>处理</a:t>
            </a:r>
            <a:endParaRPr lang="zh-CN" altLang="en-US"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t>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zh-CN" altLang="en-US" dirty="0"/>
              <a:t>完整性机制</a:t>
            </a:r>
            <a:r>
              <a:rPr lang="en-US" altLang="zh-CN" dirty="0"/>
              <a:t>  2</a:t>
            </a:r>
          </a:p>
        </p:txBody>
      </p:sp>
      <p:sp>
        <p:nvSpPr>
          <p:cNvPr id="5123" name="Rectangle 3"/>
          <p:cNvSpPr>
            <a:spLocks noGrp="1" noChangeArrowheads="1"/>
          </p:cNvSpPr>
          <p:nvPr>
            <p:ph idx="1"/>
          </p:nvPr>
        </p:nvSpPr>
        <p:spPr/>
        <p:txBody>
          <a:bodyPr>
            <a:noAutofit/>
          </a:bodyPr>
          <a:lstStyle/>
          <a:p>
            <a:pPr marL="514350" indent="-514350">
              <a:lnSpc>
                <a:spcPct val="110000"/>
              </a:lnSpc>
              <a:spcBef>
                <a:spcPts val="2000"/>
              </a:spcBef>
              <a:buFont typeface="+mj-ea"/>
              <a:buAutoNum type="circleNumDbPlain"/>
            </a:pPr>
            <a:r>
              <a:rPr lang="zh-CN" altLang="en-US" sz="2800" dirty="0">
                <a:solidFill>
                  <a:srgbClr val="C00000"/>
                </a:solidFill>
              </a:rPr>
              <a:t>提供定义完整性约束条件的机制</a:t>
            </a:r>
            <a:endParaRPr lang="en-US" altLang="zh-CN" sz="2800" dirty="0">
              <a:solidFill>
                <a:srgbClr val="C00000"/>
              </a:solidFill>
            </a:endParaRPr>
          </a:p>
          <a:p>
            <a:pPr lvl="1">
              <a:lnSpc>
                <a:spcPct val="110000"/>
              </a:lnSpc>
              <a:spcBef>
                <a:spcPts val="2000"/>
              </a:spcBef>
            </a:pPr>
            <a:r>
              <a:rPr lang="zh-CN" altLang="en-US" dirty="0"/>
              <a:t>完整性约束条件也称为完整性规则，是数据库中的数据必须满足的语义约束条件</a:t>
            </a:r>
          </a:p>
          <a:p>
            <a:pPr lvl="1">
              <a:lnSpc>
                <a:spcPct val="110000"/>
              </a:lnSpc>
              <a:spcBef>
                <a:spcPts val="2000"/>
              </a:spcBef>
            </a:pPr>
            <a:r>
              <a:rPr lang="en-US" altLang="zh-CN" dirty="0"/>
              <a:t>SQL</a:t>
            </a:r>
            <a:r>
              <a:rPr lang="zh-CN" altLang="en-US" dirty="0"/>
              <a:t>标准使用了一系列概念来描述完整性，包括关系模型的实体完整性、参照完整性和用户定义完整性</a:t>
            </a:r>
          </a:p>
          <a:p>
            <a:pPr lvl="1">
              <a:lnSpc>
                <a:spcPct val="110000"/>
              </a:lnSpc>
              <a:spcBef>
                <a:spcPts val="2000"/>
              </a:spcBef>
            </a:pPr>
            <a:r>
              <a:rPr lang="zh-CN" altLang="en-US" dirty="0"/>
              <a:t>完整性约束条件的定义，一般由</a:t>
            </a:r>
            <a:r>
              <a:rPr lang="en-US" altLang="zh-CN" dirty="0"/>
              <a:t>SQL</a:t>
            </a:r>
            <a:r>
              <a:rPr lang="zh-CN" altLang="en-US" dirty="0"/>
              <a:t>的数据定义语句来实现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zh-CN" altLang="en-US" dirty="0"/>
              <a:t>完整性机制</a:t>
            </a:r>
            <a:r>
              <a:rPr lang="en-US" altLang="zh-CN" dirty="0"/>
              <a:t>  3</a:t>
            </a:r>
          </a:p>
        </p:txBody>
      </p:sp>
      <p:sp>
        <p:nvSpPr>
          <p:cNvPr id="5123" name="Rectangle 3"/>
          <p:cNvSpPr>
            <a:spLocks noGrp="1" noChangeArrowheads="1"/>
          </p:cNvSpPr>
          <p:nvPr>
            <p:ph idx="1"/>
          </p:nvPr>
        </p:nvSpPr>
        <p:spPr/>
        <p:txBody>
          <a:bodyPr>
            <a:noAutofit/>
          </a:bodyPr>
          <a:lstStyle/>
          <a:p>
            <a:pPr marL="514350" indent="-514350">
              <a:lnSpc>
                <a:spcPct val="110000"/>
              </a:lnSpc>
              <a:spcBef>
                <a:spcPts val="2000"/>
              </a:spcBef>
              <a:buFont typeface="+mj-ea"/>
              <a:buAutoNum type="circleNumDbPlain" startAt="2"/>
            </a:pPr>
            <a:r>
              <a:rPr lang="zh-CN" altLang="en-US" sz="2800" dirty="0">
                <a:solidFill>
                  <a:srgbClr val="C00000"/>
                </a:solidFill>
              </a:rPr>
              <a:t>提供完整性检查的方法</a:t>
            </a:r>
          </a:p>
          <a:p>
            <a:pPr lvl="1">
              <a:lnSpc>
                <a:spcPct val="110000"/>
              </a:lnSpc>
              <a:spcBef>
                <a:spcPts val="2000"/>
              </a:spcBef>
            </a:pPr>
            <a:r>
              <a:rPr lang="zh-CN" altLang="en-US" dirty="0"/>
              <a:t>数据库管理系统中检查数据是否满足完整性约束条件的机制称为完整性检查。</a:t>
            </a:r>
          </a:p>
          <a:p>
            <a:pPr lvl="1">
              <a:lnSpc>
                <a:spcPct val="110000"/>
              </a:lnSpc>
              <a:spcBef>
                <a:spcPts val="2000"/>
              </a:spcBef>
            </a:pPr>
            <a:r>
              <a:rPr lang="zh-CN" altLang="en-US" dirty="0"/>
              <a:t>一般在</a:t>
            </a:r>
            <a:r>
              <a:rPr lang="en-US" altLang="zh-CN" dirty="0"/>
              <a:t>INSERT</a:t>
            </a:r>
            <a:r>
              <a:rPr lang="zh-CN" altLang="en-US" dirty="0"/>
              <a:t>、</a:t>
            </a:r>
            <a:r>
              <a:rPr lang="en-US" altLang="zh-CN" dirty="0"/>
              <a:t>UPDATE</a:t>
            </a:r>
            <a:r>
              <a:rPr lang="zh-CN" altLang="en-US" dirty="0"/>
              <a:t>、</a:t>
            </a:r>
            <a:r>
              <a:rPr lang="en-US" altLang="zh-CN" dirty="0"/>
              <a:t>DELETE</a:t>
            </a:r>
            <a:r>
              <a:rPr lang="zh-CN" altLang="en-US" dirty="0"/>
              <a:t>语句执行后开始检查，也可以在</a:t>
            </a:r>
            <a:r>
              <a:rPr lang="zh-CN" altLang="en-US" dirty="0">
                <a:solidFill>
                  <a:srgbClr val="C00000"/>
                </a:solidFill>
              </a:rPr>
              <a:t>事务</a:t>
            </a:r>
            <a:r>
              <a:rPr lang="zh-CN" altLang="en-US" dirty="0"/>
              <a:t>提交时检查</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r>
              <a:rPr lang="zh-CN" altLang="en-US" dirty="0"/>
              <a:t>完整性机制</a:t>
            </a:r>
            <a:r>
              <a:rPr lang="en-US" altLang="zh-CN" dirty="0"/>
              <a:t>  4</a:t>
            </a:r>
          </a:p>
        </p:txBody>
      </p:sp>
      <p:sp>
        <p:nvSpPr>
          <p:cNvPr id="5123" name="Rectangle 3"/>
          <p:cNvSpPr>
            <a:spLocks noGrp="1" noChangeArrowheads="1"/>
          </p:cNvSpPr>
          <p:nvPr>
            <p:ph idx="1"/>
          </p:nvPr>
        </p:nvSpPr>
        <p:spPr/>
        <p:txBody>
          <a:bodyPr>
            <a:noAutofit/>
          </a:bodyPr>
          <a:lstStyle/>
          <a:p>
            <a:pPr marL="514350" indent="-514350">
              <a:lnSpc>
                <a:spcPct val="110000"/>
              </a:lnSpc>
              <a:spcBef>
                <a:spcPts val="2000"/>
              </a:spcBef>
              <a:buFont typeface="+mj-ea"/>
              <a:buAutoNum type="circleNumDbPlain" startAt="3"/>
            </a:pPr>
            <a:r>
              <a:rPr lang="zh-CN" altLang="en-US" sz="2800">
                <a:solidFill>
                  <a:srgbClr val="C00000"/>
                </a:solidFill>
              </a:rPr>
              <a:t>违约</a:t>
            </a:r>
            <a:r>
              <a:rPr lang="zh-CN" altLang="en-US" sz="2800" dirty="0">
                <a:solidFill>
                  <a:srgbClr val="C00000"/>
                </a:solidFill>
              </a:rPr>
              <a:t>处理 </a:t>
            </a:r>
          </a:p>
          <a:p>
            <a:pPr lvl="1">
              <a:lnSpc>
                <a:spcPct val="110000"/>
              </a:lnSpc>
              <a:spcBef>
                <a:spcPts val="2000"/>
              </a:spcBef>
            </a:pPr>
            <a:r>
              <a:rPr lang="zh-CN" altLang="en-US" dirty="0"/>
              <a:t>数据库管理系统若发现用户的操作违背了完整性约束条件，就采取一定的动作</a:t>
            </a:r>
          </a:p>
          <a:p>
            <a:pPr lvl="2">
              <a:lnSpc>
                <a:spcPct val="110000"/>
              </a:lnSpc>
              <a:spcBef>
                <a:spcPts val="2000"/>
              </a:spcBef>
            </a:pPr>
            <a:r>
              <a:rPr lang="zh-CN" altLang="en-US" dirty="0">
                <a:solidFill>
                  <a:srgbClr val="C00000"/>
                </a:solidFill>
              </a:rPr>
              <a:t>拒绝</a:t>
            </a:r>
            <a:r>
              <a:rPr lang="en-US" altLang="zh-CN" dirty="0">
                <a:solidFill>
                  <a:srgbClr val="C00000"/>
                </a:solidFill>
              </a:rPr>
              <a:t>（NO ACTION）</a:t>
            </a:r>
            <a:r>
              <a:rPr lang="zh-CN" altLang="en-US" dirty="0"/>
              <a:t>执行该操作</a:t>
            </a:r>
          </a:p>
          <a:p>
            <a:pPr lvl="2">
              <a:lnSpc>
                <a:spcPct val="110000"/>
              </a:lnSpc>
              <a:spcBef>
                <a:spcPts val="2000"/>
              </a:spcBef>
            </a:pPr>
            <a:r>
              <a:rPr lang="zh-CN" altLang="en-US" dirty="0">
                <a:solidFill>
                  <a:srgbClr val="C00000"/>
                </a:solidFill>
              </a:rPr>
              <a:t>级连</a:t>
            </a:r>
            <a:r>
              <a:rPr lang="en-US" altLang="zh-CN" dirty="0">
                <a:solidFill>
                  <a:srgbClr val="C00000"/>
                </a:solidFill>
              </a:rPr>
              <a:t>（CASCADE）</a:t>
            </a:r>
            <a:r>
              <a:rPr lang="zh-CN" altLang="en-US" dirty="0"/>
              <a:t>执行其他操作</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完整性约束定义的分类</a:t>
            </a:r>
            <a:r>
              <a:rPr lang="en-US" altLang="zh-CN"/>
              <a:t>  1</a:t>
            </a:r>
          </a:p>
        </p:txBody>
      </p:sp>
      <p:sp>
        <p:nvSpPr>
          <p:cNvPr id="3" name="内容占位符 2"/>
          <p:cNvSpPr>
            <a:spLocks noGrp="1"/>
          </p:cNvSpPr>
          <p:nvPr>
            <p:ph idx="1"/>
          </p:nvPr>
        </p:nvSpPr>
        <p:spPr/>
        <p:txBody>
          <a:bodyPr/>
          <a:lstStyle/>
          <a:p>
            <a:pPr>
              <a:lnSpc>
                <a:spcPct val="100000"/>
              </a:lnSpc>
              <a:spcBef>
                <a:spcPct val="0"/>
              </a:spcBef>
            </a:pPr>
            <a:r>
              <a:rPr lang="zh-CN" altLang="en-US" sz="2800">
                <a:latin typeface="Calibri" panose="020F0502020204030204" charset="0"/>
                <a:cs typeface="Calibri" panose="020F0502020204030204" charset="0"/>
                <a:sym typeface="+mn-ea"/>
              </a:rPr>
              <a:t>按照定义对象可分为三种类型：与表有关的约束、域（Domain）约束、断言（Assertion）</a:t>
            </a:r>
            <a:endParaRPr lang="zh-CN" altLang="en-US" sz="2800">
              <a:latin typeface="Calibri" panose="020F0502020204030204" charset="0"/>
              <a:cs typeface="Calibri" panose="020F0502020204030204" charset="0"/>
            </a:endParaRPr>
          </a:p>
          <a:p>
            <a:pPr marL="514350" lvl="0" indent="-514350">
              <a:lnSpc>
                <a:spcPct val="100000"/>
              </a:lnSpc>
              <a:buFont typeface="+mj-lt"/>
              <a:buAutoNum type="arabicPeriod"/>
            </a:pPr>
            <a:r>
              <a:rPr lang="zh-CN" altLang="en-US" sz="2800">
                <a:solidFill>
                  <a:srgbClr val="C00000"/>
                </a:solidFill>
                <a:latin typeface="Calibri" panose="020F0502020204030204" charset="0"/>
                <a:cs typeface="Calibri" panose="020F0502020204030204" charset="0"/>
                <a:sym typeface="+mn-ea"/>
              </a:rPr>
              <a:t>与表有关的约束</a:t>
            </a:r>
            <a:r>
              <a:rPr lang="zh-CN" altLang="en-US" sz="2800">
                <a:latin typeface="Calibri" panose="020F0502020204030204" charset="0"/>
                <a:cs typeface="Calibri" panose="020F0502020204030204" charset="0"/>
                <a:sym typeface="+mn-ea"/>
              </a:rPr>
              <a:t>：</a:t>
            </a:r>
          </a:p>
          <a:p>
            <a:pPr lvl="1">
              <a:lnSpc>
                <a:spcPct val="100000"/>
              </a:lnSpc>
              <a:spcBef>
                <a:spcPct val="0"/>
              </a:spcBef>
            </a:pPr>
            <a:r>
              <a:rPr lang="zh-CN" altLang="en-US" sz="2600">
                <a:latin typeface="Calibri" panose="020F0502020204030204" charset="0"/>
                <a:cs typeface="Calibri" panose="020F0502020204030204" charset="0"/>
                <a:sym typeface="+mn-ea"/>
              </a:rPr>
              <a:t>在</a:t>
            </a:r>
            <a:r>
              <a:rPr lang="en-US" altLang="zh-CN" sz="2600">
                <a:latin typeface="Calibri" panose="020F0502020204030204" charset="0"/>
                <a:cs typeface="Calibri" panose="020F0502020204030204" charset="0"/>
                <a:sym typeface="+mn-ea"/>
              </a:rPr>
              <a:t>CREATE TABLE</a:t>
            </a:r>
            <a:r>
              <a:rPr lang="zh-CN" altLang="en-US" sz="2600">
                <a:latin typeface="Calibri" panose="020F0502020204030204" charset="0"/>
                <a:cs typeface="Calibri" panose="020F0502020204030204" charset="0"/>
                <a:sym typeface="+mn-ea"/>
              </a:rPr>
              <a:t>命令中定义的完整性约束，是单张表中的数据取值约束，包括</a:t>
            </a:r>
            <a:r>
              <a:rPr lang="en-US" altLang="zh-CN" sz="2600">
                <a:latin typeface="Calibri" panose="020F0502020204030204" charset="0"/>
                <a:cs typeface="Calibri" panose="020F0502020204030204" charset="0"/>
                <a:sym typeface="+mn-ea"/>
              </a:rPr>
              <a:t>PRIMARY KEY</a:t>
            </a:r>
            <a:r>
              <a:rPr lang="zh-CN" altLang="en-US" sz="2600">
                <a:latin typeface="Calibri" panose="020F0502020204030204" charset="0"/>
                <a:cs typeface="Calibri" panose="020F0502020204030204" charset="0"/>
                <a:sym typeface="+mn-ea"/>
              </a:rPr>
              <a:t>、</a:t>
            </a:r>
            <a:r>
              <a:rPr lang="en-US" altLang="zh-CN" sz="2600">
                <a:latin typeface="Calibri" panose="020F0502020204030204" charset="0"/>
                <a:cs typeface="Calibri" panose="020F0502020204030204" charset="0"/>
                <a:sym typeface="+mn-ea"/>
              </a:rPr>
              <a:t>FOREIGN KEY</a:t>
            </a:r>
            <a:r>
              <a:rPr lang="zh-CN" altLang="en-US" sz="2600">
                <a:latin typeface="Calibri" panose="020F0502020204030204" charset="0"/>
                <a:cs typeface="Calibri" panose="020F0502020204030204" charset="0"/>
                <a:sym typeface="+mn-ea"/>
              </a:rPr>
              <a:t>、</a:t>
            </a:r>
            <a:r>
              <a:rPr lang="en-US" altLang="zh-CN" sz="2600">
                <a:latin typeface="Calibri" panose="020F0502020204030204" charset="0"/>
                <a:cs typeface="Calibri" panose="020F0502020204030204" charset="0"/>
                <a:sym typeface="+mn-ea"/>
              </a:rPr>
              <a:t>UNIQUE</a:t>
            </a:r>
            <a:r>
              <a:rPr lang="zh-CN" altLang="en-US" sz="2600">
                <a:latin typeface="Calibri" panose="020F0502020204030204" charset="0"/>
                <a:cs typeface="Calibri" panose="020F0502020204030204" charset="0"/>
                <a:sym typeface="+mn-ea"/>
              </a:rPr>
              <a:t>、</a:t>
            </a:r>
            <a:r>
              <a:rPr lang="en-US" altLang="zh-CN" sz="2600">
                <a:latin typeface="Calibri" panose="020F0502020204030204" charset="0"/>
                <a:cs typeface="Calibri" panose="020F0502020204030204" charset="0"/>
                <a:sym typeface="+mn-ea"/>
              </a:rPr>
              <a:t>NOT NULL</a:t>
            </a:r>
            <a:r>
              <a:rPr lang="zh-CN" altLang="en-US" sz="2600">
                <a:latin typeface="Calibri" panose="020F0502020204030204" charset="0"/>
                <a:cs typeface="Calibri" panose="020F0502020204030204" charset="0"/>
                <a:sym typeface="+mn-ea"/>
              </a:rPr>
              <a:t>、</a:t>
            </a:r>
            <a:r>
              <a:rPr lang="en-US" altLang="zh-CN" sz="2600">
                <a:latin typeface="Calibri" panose="020F0502020204030204" charset="0"/>
                <a:cs typeface="Calibri" panose="020F0502020204030204" charset="0"/>
                <a:sym typeface="+mn-ea"/>
              </a:rPr>
              <a:t>CHECK</a:t>
            </a:r>
            <a:r>
              <a:rPr lang="zh-CN" altLang="en-US" sz="2600">
                <a:latin typeface="Calibri" panose="020F0502020204030204" charset="0"/>
                <a:cs typeface="Calibri" panose="020F0502020204030204" charset="0"/>
                <a:sym typeface="+mn-ea"/>
              </a:rPr>
              <a:t>约束、</a:t>
            </a:r>
            <a:r>
              <a:rPr lang="en-US" altLang="zh-CN" sz="2600">
                <a:latin typeface="Calibri" panose="020F0502020204030204" charset="0"/>
                <a:cs typeface="Calibri" panose="020F0502020204030204" charset="0"/>
                <a:sym typeface="+mn-ea"/>
              </a:rPr>
              <a:t>DEFAULT(</a:t>
            </a:r>
            <a:r>
              <a:rPr lang="zh-CN" altLang="en-US" sz="2600">
                <a:latin typeface="Calibri" panose="020F0502020204030204" charset="0"/>
                <a:cs typeface="Calibri" panose="020F0502020204030204" charset="0"/>
                <a:sym typeface="+mn-ea"/>
              </a:rPr>
              <a:t>缺省值</a:t>
            </a:r>
            <a:r>
              <a:rPr lang="en-US" altLang="zh-CN" sz="2600">
                <a:latin typeface="Calibri" panose="020F0502020204030204" charset="0"/>
                <a:cs typeface="Calibri" panose="020F0502020204030204" charset="0"/>
                <a:sym typeface="+mn-ea"/>
              </a:rPr>
              <a:t>)</a:t>
            </a:r>
            <a:r>
              <a:rPr lang="zh-CN" altLang="en-US" sz="2600">
                <a:latin typeface="Calibri" panose="020F0502020204030204" charset="0"/>
                <a:cs typeface="Calibri" panose="020F0502020204030204" charset="0"/>
                <a:sym typeface="+mn-ea"/>
              </a:rPr>
              <a:t>约束。</a:t>
            </a:r>
          </a:p>
          <a:p>
            <a:pPr lvl="1">
              <a:lnSpc>
                <a:spcPct val="100000"/>
              </a:lnSpc>
              <a:spcBef>
                <a:spcPct val="0"/>
              </a:spcBef>
            </a:pPr>
            <a:r>
              <a:rPr lang="zh-CN" altLang="en-US" sz="2600">
                <a:latin typeface="Calibri" panose="020F0502020204030204" charset="0"/>
                <a:cs typeface="Calibri" panose="020F0502020204030204" charset="0"/>
                <a:sym typeface="+mn-ea"/>
              </a:rPr>
              <a:t>定义方式可分为：</a:t>
            </a:r>
            <a:r>
              <a:rPr lang="zh-CN" altLang="en-US" sz="2600">
                <a:solidFill>
                  <a:srgbClr val="C00000"/>
                </a:solidFill>
                <a:latin typeface="Calibri" panose="020F0502020204030204" charset="0"/>
                <a:cs typeface="Calibri" panose="020F0502020204030204" charset="0"/>
                <a:sym typeface="+mn-ea"/>
              </a:rPr>
              <a:t>列约束</a:t>
            </a:r>
            <a:r>
              <a:rPr lang="zh-CN" altLang="en-US" sz="2600">
                <a:latin typeface="Calibri" panose="020F0502020204030204" charset="0"/>
                <a:cs typeface="Calibri" panose="020F0502020204030204" charset="0"/>
                <a:sym typeface="+mn-ea"/>
              </a:rPr>
              <a:t>（作为列的定义成分）和</a:t>
            </a:r>
            <a:r>
              <a:rPr lang="zh-CN" altLang="en-US" sz="2600">
                <a:solidFill>
                  <a:srgbClr val="C00000"/>
                </a:solidFill>
                <a:latin typeface="Calibri" panose="020F0502020204030204" charset="0"/>
                <a:cs typeface="Calibri" panose="020F0502020204030204" charset="0"/>
                <a:sym typeface="+mn-ea"/>
              </a:rPr>
              <a:t>表约束</a:t>
            </a:r>
            <a:r>
              <a:rPr lang="zh-CN" altLang="en-US" sz="2600">
                <a:latin typeface="Calibri" panose="020F0502020204030204" charset="0"/>
                <a:cs typeface="Calibri" panose="020F0502020204030204" charset="0"/>
                <a:sym typeface="+mn-ea"/>
              </a:rPr>
              <a:t>（作为表定义的组成成分单独定义）</a:t>
            </a:r>
            <a:endParaRPr lang="zh-CN" altLang="en-US" sz="2600">
              <a:latin typeface="Calibri" panose="020F0502020204030204" charset="0"/>
              <a:cs typeface="Calibri" panose="020F0502020204030204" charset="0"/>
            </a:endParaRPr>
          </a:p>
          <a:p>
            <a:pPr marL="514350" lvl="0" indent="-514350">
              <a:lnSpc>
                <a:spcPct val="100000"/>
              </a:lnSpc>
              <a:buFont typeface="+mj-lt"/>
              <a:buAutoNum type="arabicPeriod"/>
            </a:pPr>
            <a:r>
              <a:rPr lang="zh-CN" altLang="en-US" sz="2800">
                <a:solidFill>
                  <a:srgbClr val="C00000"/>
                </a:solidFill>
                <a:latin typeface="Calibri" panose="020F0502020204030204" charset="0"/>
                <a:cs typeface="Calibri" panose="020F0502020204030204" charset="0"/>
                <a:sym typeface="+mn-ea"/>
              </a:rPr>
              <a:t>域（Domain）约束</a:t>
            </a:r>
            <a:r>
              <a:rPr lang="zh-CN" altLang="en-US" sz="2800">
                <a:latin typeface="Calibri" panose="020F0502020204030204" charset="0"/>
                <a:cs typeface="Calibri" panose="020F0502020204030204" charset="0"/>
                <a:sym typeface="+mn-ea"/>
              </a:rPr>
              <a:t>：在域定义中被定义的一种约束。</a:t>
            </a:r>
            <a:endParaRPr lang="zh-CN" altLang="en-US" sz="2800">
              <a:latin typeface="Calibri" panose="020F0502020204030204" charset="0"/>
              <a:cs typeface="Calibri" panose="020F0502020204030204" charset="0"/>
            </a:endParaRPr>
          </a:p>
          <a:p>
            <a:pPr marL="514350" lvl="0" indent="-514350">
              <a:lnSpc>
                <a:spcPct val="100000"/>
              </a:lnSpc>
              <a:buFont typeface="+mj-lt"/>
              <a:buAutoNum type="arabicPeriod"/>
            </a:pPr>
            <a:r>
              <a:rPr lang="zh-CN" altLang="en-US" sz="2800">
                <a:solidFill>
                  <a:srgbClr val="C00000"/>
                </a:solidFill>
                <a:latin typeface="Calibri" panose="020F0502020204030204" charset="0"/>
                <a:cs typeface="Calibri" panose="020F0502020204030204" charset="0"/>
                <a:sym typeface="+mn-ea"/>
              </a:rPr>
              <a:t>断言（Assertion）</a:t>
            </a:r>
            <a:r>
              <a:rPr lang="zh-CN" altLang="en-US" sz="2800">
                <a:latin typeface="Calibri" panose="020F0502020204030204" charset="0"/>
                <a:cs typeface="Calibri" panose="020F0502020204030204" charset="0"/>
                <a:sym typeface="+mn-ea"/>
              </a:rPr>
              <a:t>：</a:t>
            </a:r>
          </a:p>
          <a:p>
            <a:pPr lvl="1">
              <a:lnSpc>
                <a:spcPct val="100000"/>
              </a:lnSpc>
              <a:spcBef>
                <a:spcPct val="0"/>
              </a:spcBef>
            </a:pPr>
            <a:r>
              <a:rPr lang="zh-CN" altLang="en-US" sz="2600">
                <a:latin typeface="Calibri" panose="020F0502020204030204" charset="0"/>
                <a:cs typeface="Calibri" panose="020F0502020204030204" charset="0"/>
                <a:sym typeface="+mn-ea"/>
              </a:rPr>
              <a:t>一个断言就是一个谓词表达式,它表达了希望数据库总能满足的条件</a:t>
            </a:r>
          </a:p>
          <a:p>
            <a:pPr lvl="1">
              <a:lnSpc>
                <a:spcPct val="100000"/>
              </a:lnSpc>
              <a:spcBef>
                <a:spcPct val="0"/>
              </a:spcBef>
            </a:pPr>
            <a:r>
              <a:rPr lang="zh-CN" altLang="en-US" sz="2600">
                <a:latin typeface="Calibri" panose="020F0502020204030204" charset="0"/>
                <a:cs typeface="Calibri" panose="020F0502020204030204" charset="0"/>
                <a:sym typeface="+mn-ea"/>
              </a:rPr>
              <a:t>断言可以与一个或多个表关联，可以理解为能应用于多个表的check约束</a:t>
            </a:r>
          </a:p>
          <a:p>
            <a:pPr lvl="1">
              <a:lnSpc>
                <a:spcPct val="100000"/>
              </a:lnSpc>
              <a:spcBef>
                <a:spcPct val="0"/>
              </a:spcBef>
            </a:pPr>
            <a:r>
              <a:rPr lang="zh-CN" altLang="en-US" sz="2600">
                <a:latin typeface="Calibri" panose="020F0502020204030204" charset="0"/>
                <a:cs typeface="Calibri" panose="020F0502020204030204" charset="0"/>
                <a:sym typeface="+mn-ea"/>
              </a:rPr>
              <a:t>因此，必须在表定义之外独立创建断言</a:t>
            </a:r>
            <a:endParaRPr lang="zh-CN" altLang="en-US" sz="2600">
              <a:latin typeface="Calibri" panose="020F0502020204030204" charset="0"/>
              <a:cs typeface="Calibri" panose="020F0502020204030204" charset="0"/>
            </a:endParaRPr>
          </a:p>
          <a:p>
            <a:endParaRPr lang="zh-CN" altLang="en-US" sz="2600">
              <a:latin typeface="Calibri" panose="020F0502020204030204" charset="0"/>
              <a:cs typeface="Calibri" panose="020F0502020204030204" charset="0"/>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t>8</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blinds(horizontal)">
                                      <p:cBhvr>
                                        <p:cTn id="26" dur="500"/>
                                        <p:tgtEl>
                                          <p:spTgt spid="3">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blinds(horizontal)">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完整性约束定义的分类</a:t>
            </a:r>
            <a:r>
              <a:rPr lang="en-US" altLang="zh-CN">
                <a:sym typeface="+mn-ea"/>
              </a:rPr>
              <a:t>  2</a:t>
            </a:r>
            <a:endParaRPr lang="zh-CN" altLang="en-US"/>
          </a:p>
        </p:txBody>
      </p:sp>
      <p:sp>
        <p:nvSpPr>
          <p:cNvPr id="3" name="内容占位符 2"/>
          <p:cNvSpPr>
            <a:spLocks noGrp="1"/>
          </p:cNvSpPr>
          <p:nvPr>
            <p:ph idx="1"/>
          </p:nvPr>
        </p:nvSpPr>
        <p:spPr/>
        <p:txBody>
          <a:bodyPr/>
          <a:lstStyle/>
          <a:p>
            <a:pPr>
              <a:lnSpc>
                <a:spcPct val="100000"/>
              </a:lnSpc>
            </a:pPr>
            <a:r>
              <a:rPr lang="zh-CN" altLang="en-US" sz="3000">
                <a:sym typeface="+mn-ea"/>
              </a:rPr>
              <a:t>按照约束状态分类:</a:t>
            </a:r>
            <a:endParaRPr lang="zh-CN" altLang="en-US" sz="3000"/>
          </a:p>
          <a:p>
            <a:pPr marL="971550" lvl="1" indent="-514350">
              <a:lnSpc>
                <a:spcPct val="100000"/>
              </a:lnSpc>
              <a:buFont typeface="+mj-ea"/>
              <a:buAutoNum type="circleNumDbPlain"/>
            </a:pPr>
            <a:r>
              <a:rPr lang="zh-CN" altLang="en-US" sz="3000">
                <a:solidFill>
                  <a:srgbClr val="C00000"/>
                </a:solidFill>
                <a:sym typeface="+mn-ea"/>
              </a:rPr>
              <a:t>静态约束</a:t>
            </a:r>
            <a:r>
              <a:rPr lang="zh-CN" altLang="en-US" sz="3000">
                <a:sym typeface="+mn-ea"/>
              </a:rPr>
              <a:t>: 要求数据库在任何时候都要满足的约束</a:t>
            </a:r>
            <a:endParaRPr lang="zh-CN" altLang="en-US" sz="3000"/>
          </a:p>
          <a:p>
            <a:pPr marL="971550" lvl="1" indent="-514350">
              <a:lnSpc>
                <a:spcPct val="100000"/>
              </a:lnSpc>
              <a:buFont typeface="+mj-ea"/>
              <a:buAutoNum type="circleNumDbPlain"/>
            </a:pPr>
            <a:r>
              <a:rPr lang="zh-CN" altLang="en-US" sz="3000">
                <a:solidFill>
                  <a:srgbClr val="C00000"/>
                </a:solidFill>
                <a:sym typeface="+mn-ea"/>
              </a:rPr>
              <a:t>动态动态</a:t>
            </a:r>
            <a:r>
              <a:rPr lang="zh-CN" altLang="en-US" sz="3000">
                <a:sym typeface="+mn-ea"/>
              </a:rPr>
              <a:t>: 在数据库改变状态时要满足的约束</a:t>
            </a:r>
          </a:p>
          <a:p>
            <a:pPr marL="971550" lvl="1" indent="-514350">
              <a:lnSpc>
                <a:spcPct val="100000"/>
              </a:lnSpc>
              <a:buFont typeface="+mj-lt"/>
              <a:buAutoNum type="circleNumDbPlain"/>
            </a:pPr>
            <a:endParaRPr lang="zh-CN" altLang="en-US" sz="3000">
              <a:sym typeface="+mn-ea"/>
            </a:endParaRPr>
          </a:p>
          <a:p>
            <a:pPr>
              <a:lnSpc>
                <a:spcPct val="100000"/>
              </a:lnSpc>
            </a:pPr>
            <a:r>
              <a:rPr lang="zh-CN" altLang="en-US" sz="3000">
                <a:sym typeface="+mn-ea"/>
              </a:rPr>
              <a:t>SQL支持如下几种约束: </a:t>
            </a:r>
            <a:endParaRPr lang="zh-CN" altLang="en-US" sz="3000"/>
          </a:p>
          <a:p>
            <a:pPr marL="971550" lvl="1" indent="-514350">
              <a:lnSpc>
                <a:spcPct val="100000"/>
              </a:lnSpc>
              <a:buFont typeface="+mj-ea"/>
              <a:buAutoNum type="circleNumDbPlain"/>
            </a:pPr>
            <a:r>
              <a:rPr lang="zh-CN" altLang="en-US" sz="3000">
                <a:sym typeface="+mn-ea"/>
              </a:rPr>
              <a:t>静态约束</a:t>
            </a:r>
          </a:p>
          <a:p>
            <a:pPr lvl="2">
              <a:lnSpc>
                <a:spcPct val="100000"/>
              </a:lnSpc>
            </a:pPr>
            <a:r>
              <a:rPr lang="zh-CN" altLang="en-US" sz="3000">
                <a:sym typeface="+mn-ea"/>
              </a:rPr>
              <a:t>与表有关的约束，域约束</a:t>
            </a:r>
          </a:p>
          <a:p>
            <a:pPr lvl="2">
              <a:lnSpc>
                <a:spcPct val="100000"/>
              </a:lnSpc>
            </a:pPr>
            <a:r>
              <a:rPr lang="zh-CN" altLang="en-US" sz="3000">
                <a:sym typeface="+mn-ea"/>
              </a:rPr>
              <a:t>断言（请谨慎使用）</a:t>
            </a:r>
            <a:endParaRPr lang="zh-CN" altLang="en-US" sz="3000"/>
          </a:p>
          <a:p>
            <a:pPr marL="971550" lvl="1" indent="-514350">
              <a:lnSpc>
                <a:spcPct val="100000"/>
              </a:lnSpc>
              <a:spcBef>
                <a:spcPts val="1000"/>
              </a:spcBef>
              <a:buFont typeface="+mj-ea"/>
              <a:buAutoNum type="circleNumDbPlain"/>
            </a:pPr>
            <a:r>
              <a:rPr lang="zh-CN" altLang="en-US" sz="3000">
                <a:sym typeface="+mn-ea"/>
              </a:rPr>
              <a:t>动态约束：触发器</a:t>
            </a:r>
          </a:p>
          <a:p>
            <a:pPr lvl="2">
              <a:lnSpc>
                <a:spcPct val="100000"/>
              </a:lnSpc>
            </a:pPr>
            <a:r>
              <a:rPr lang="zh-CN" altLang="en-US" sz="3000">
                <a:sym typeface="+mn-ea"/>
              </a:rPr>
              <a:t>触发器可以细分引起完整性约束检查的条件</a:t>
            </a:r>
          </a:p>
          <a:p>
            <a:pPr lvl="2">
              <a:lnSpc>
                <a:spcPct val="100000"/>
              </a:lnSpc>
            </a:pPr>
            <a:r>
              <a:rPr lang="zh-CN" altLang="en-US" sz="3000">
                <a:sym typeface="+mn-ea"/>
              </a:rPr>
              <a:t>触发器不仅可以检查数据完整性，还可以进行数据处理、实现某些业务处理逻辑。</a:t>
            </a:r>
            <a:endParaRPr lang="zh-CN" altLang="en-US" sz="3000"/>
          </a:p>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9</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linds(horizontal)">
                                      <p:cBhvr>
                                        <p:cTn id="16" dur="500"/>
                                        <p:tgtEl>
                                          <p:spTgt spid="3">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blinds(horizontal)">
                                      <p:cBhvr>
                                        <p:cTn id="19" dur="500"/>
                                        <p:tgtEl>
                                          <p:spTgt spid="3">
                                            <p:txEl>
                                              <p:pRg st="8" end="8"/>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blinds(horizontal)">
                                      <p:cBhvr>
                                        <p:cTn id="22" dur="500"/>
                                        <p:tgtEl>
                                          <p:spTgt spid="3">
                                            <p:txEl>
                                              <p:pRg st="9" end="9"/>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animEffect transition="in" filter="blinds(horizontal)">
                                      <p:cBhvr>
                                        <p:cTn id="2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p:cNvSpPr>
            <a:spLocks noGrp="1"/>
          </p:cNvSpPr>
          <p:nvPr>
            <p:ph type="title"/>
          </p:nvPr>
        </p:nvSpPr>
        <p:spPr/>
        <p:txBody>
          <a:bodyPr/>
          <a:lstStyle/>
          <a:p>
            <a:r>
              <a:rPr lang="zh-CN" altLang="en-US" b="1" dirty="0">
                <a:solidFill>
                  <a:schemeClr val="tx1"/>
                </a:solidFill>
                <a:latin typeface="Arial" panose="020B0604020202020204" pitchFamily="34" charset="0"/>
                <a:ea typeface="宋体" panose="02010600030101010101" pitchFamily="2" charset="-122"/>
                <a:cs typeface="Arial" panose="020B0604020202020204" pitchFamily="34" charset="0"/>
                <a:sym typeface="+mn-ea"/>
              </a:rPr>
              <a:t>Basic SQL Syntax for</a:t>
            </a:r>
            <a:r>
              <a:rPr lang="zh-CN" altLang="en-US" b="1" dirty="0">
                <a:solidFill>
                  <a:schemeClr val="accent2"/>
                </a:solidFill>
                <a:latin typeface="Arial" panose="020B0604020202020204" pitchFamily="34" charset="0"/>
                <a:ea typeface="宋体" panose="02010600030101010101" pitchFamily="2" charset="-122"/>
                <a:cs typeface="Arial" panose="020B0604020202020204" pitchFamily="34" charset="0"/>
                <a:sym typeface="+mn-ea"/>
              </a:rPr>
              <a:t> </a:t>
            </a:r>
            <a:r>
              <a:rPr lang="zh-CN" altLang="en-US" b="1" dirty="0">
                <a:solidFill>
                  <a:srgbClr val="FF0066"/>
                </a:solidFill>
                <a:latin typeface="Arial" panose="020B0604020202020204" pitchFamily="34" charset="0"/>
                <a:ea typeface="宋体" panose="02010600030101010101" pitchFamily="2" charset="-122"/>
                <a:cs typeface="Arial" panose="020B0604020202020204" pitchFamily="34" charset="0"/>
                <a:sym typeface="+mn-ea"/>
              </a:rPr>
              <a:t>Create Table</a:t>
            </a:r>
            <a:endParaRPr lang="zh-CN" altLang="en-US">
              <a:latin typeface="Arial" panose="020B0604020202020204" pitchFamily="34" charset="0"/>
              <a:cs typeface="Arial" panose="020B0604020202020204" pitchFamily="34" charset="0"/>
            </a:endParaRPr>
          </a:p>
        </p:txBody>
      </p:sp>
      <p:sp>
        <p:nvSpPr>
          <p:cNvPr id="7170" name="Rectangle 3"/>
          <p:cNvSpPr>
            <a:spLocks noGrp="1"/>
          </p:cNvSpPr>
          <p:nvPr/>
        </p:nvSpPr>
        <p:spPr>
          <a:xfrm>
            <a:off x="424180" y="688340"/>
            <a:ext cx="11343005" cy="584835"/>
          </a:xfrm>
          <a:prstGeom prst="rect">
            <a:avLst/>
          </a:prstGeom>
          <a:solidFill>
            <a:schemeClr val="bg1"/>
          </a:solidFill>
          <a:ln w="9525" cap="flat" cmpd="sng">
            <a:solidFill>
              <a:srgbClr val="800080"/>
            </a:solidFill>
            <a:prstDash val="solid"/>
            <a:miter/>
            <a:headEnd type="none" w="med" len="med"/>
            <a:tailEnd type="none" w="med" len="med"/>
          </a:ln>
        </p:spPr>
        <p:txBody>
          <a:bodyPr wrap="square" lIns="90170" tIns="107950" rIns="90170" bIns="107950" anchor="t">
            <a:noAutofit/>
          </a:bodyPr>
          <a:lstStyle/>
          <a:p>
            <a:pPr marL="742950" lvl="1" indent="-285750" algn="l" eaLnBrk="1" fontAlgn="base" latinLnBrk="0" hangingPunct="1">
              <a:lnSpc>
                <a:spcPct val="100000"/>
              </a:lnSpc>
              <a:spcBef>
                <a:spcPct val="20000"/>
              </a:spcBef>
              <a:spcAft>
                <a:spcPct val="0"/>
              </a:spcAft>
              <a:buClr>
                <a:schemeClr val="tx1"/>
              </a:buClr>
              <a:buSzTx/>
              <a:buFont typeface="Wingdings" panose="05000000000000000000" pitchFamily="2" charset="2"/>
              <a:buNone/>
            </a:pPr>
            <a:r>
              <a:rPr lang="en-US" altLang="zh-CN" sz="2400" b="1" u="none" baseline="0">
                <a:solidFill>
                  <a:srgbClr val="C00000"/>
                </a:solidFill>
                <a:latin typeface="Calibri" panose="020F0502020204030204" charset="0"/>
                <a:ea typeface="宋体" panose="02010600030101010101" pitchFamily="2" charset="-122"/>
                <a:cs typeface="Calibri" panose="020F0502020204030204" charset="0"/>
              </a:rPr>
              <a:t>CREATE  TABLE </a:t>
            </a:r>
            <a:r>
              <a:rPr lang="en-US" altLang="zh-CN" sz="2400" b="1" u="none" baseline="0">
                <a:solidFill>
                  <a:srgbClr val="0000C8"/>
                </a:solidFill>
                <a:latin typeface="Calibri" panose="020F0502020204030204" charset="0"/>
                <a:ea typeface="宋体" panose="02010600030101010101" pitchFamily="2" charset="-122"/>
                <a:cs typeface="Calibri" panose="020F0502020204030204" charset="0"/>
              </a:rPr>
              <a:t> [schema_name.]table_name  ( relational_properties );</a:t>
            </a:r>
          </a:p>
        </p:txBody>
      </p:sp>
      <p:grpSp>
        <p:nvGrpSpPr>
          <p:cNvPr id="29" name="组合 28"/>
          <p:cNvGrpSpPr/>
          <p:nvPr/>
        </p:nvGrpSpPr>
        <p:grpSpPr>
          <a:xfrm>
            <a:off x="424180" y="1470660"/>
            <a:ext cx="11343005" cy="2408555"/>
            <a:chOff x="668" y="2952"/>
            <a:chExt cx="17863" cy="3793"/>
          </a:xfrm>
        </p:grpSpPr>
        <p:sp>
          <p:nvSpPr>
            <p:cNvPr id="7173" name="文本框 7172"/>
            <p:cNvSpPr txBox="1"/>
            <p:nvPr/>
          </p:nvSpPr>
          <p:spPr>
            <a:xfrm>
              <a:off x="668" y="2952"/>
              <a:ext cx="6425" cy="725"/>
            </a:xfrm>
            <a:prstGeom prst="rect">
              <a:avLst/>
            </a:prstGeom>
            <a:noFill/>
            <a:ln w="9525">
              <a:noFill/>
            </a:ln>
          </p:spPr>
          <p:txBody>
            <a:bodyPr wrap="square" anchor="t">
              <a:noAutofit/>
            </a:bodyPr>
            <a:lstStyle/>
            <a:p>
              <a:r>
                <a:rPr lang="zh-CN" altLang="en-US" sz="2400" u="sng" dirty="0">
                  <a:solidFill>
                    <a:schemeClr val="tx1"/>
                  </a:solidFill>
                  <a:latin typeface="Calibri" panose="020F0502020204030204" charset="0"/>
                  <a:ea typeface="宋体" panose="02010600030101010101" pitchFamily="2" charset="-122"/>
                  <a:cs typeface="Calibri" panose="020F0502020204030204" charset="0"/>
                </a:rPr>
                <a:t>relational_properties:</a:t>
              </a:r>
            </a:p>
          </p:txBody>
        </p:sp>
        <p:sp>
          <p:nvSpPr>
            <p:cNvPr id="4" name="矩形 3"/>
            <p:cNvSpPr/>
            <p:nvPr/>
          </p:nvSpPr>
          <p:spPr>
            <a:xfrm>
              <a:off x="668" y="3801"/>
              <a:ext cx="17863" cy="2945"/>
            </a:xfrm>
            <a:prstGeom prst="rect">
              <a:avLst/>
            </a:prstGeom>
            <a:solidFill>
              <a:schemeClr val="bg1"/>
            </a:solidFill>
            <a:ln w="95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2000">
                <a:latin typeface="Calibri" panose="020F0502020204030204" charset="0"/>
                <a:cs typeface="Calibri" panose="020F0502020204030204" charset="0"/>
              </a:endParaRPr>
            </a:p>
          </p:txBody>
        </p:sp>
        <p:sp>
          <p:nvSpPr>
            <p:cNvPr id="3" name="Rectangle 3"/>
            <p:cNvSpPr>
              <a:spLocks noGrp="1"/>
            </p:cNvSpPr>
            <p:nvPr/>
          </p:nvSpPr>
          <p:spPr>
            <a:xfrm>
              <a:off x="669" y="5807"/>
              <a:ext cx="17863" cy="729"/>
            </a:xfrm>
            <a:prstGeom prst="rect">
              <a:avLst/>
            </a:prstGeom>
            <a:noFill/>
            <a:ln w="9525" cap="flat" cmpd="sng">
              <a:noFill/>
              <a:prstDash val="solid"/>
              <a:miter/>
              <a:headEnd type="none" w="med" len="med"/>
              <a:tailEnd type="none" w="med" len="med"/>
            </a:ln>
          </p:spPr>
          <p:txBody>
            <a:bodyPr wrap="square" lIns="90170" tIns="46990" rIns="90170" bIns="46990" anchor="t">
              <a:noAutofit/>
            </a:bodyPr>
            <a:lstStyle/>
            <a:p>
              <a:pPr marL="342900" indent="-342900">
                <a:spcBef>
                  <a:spcPct val="20000"/>
                </a:spcBef>
                <a:buClr>
                  <a:schemeClr val="tx1"/>
                </a:buClr>
                <a:buFont typeface="Wingdings" panose="05000000000000000000" pitchFamily="2" charset="2"/>
              </a:pPr>
              <a:r>
                <a:rPr lang="en-US" altLang="zh-CN" sz="2400" b="1">
                  <a:solidFill>
                    <a:srgbClr val="0000C8"/>
                  </a:solidFill>
                  <a:latin typeface="Calibri" panose="020F0502020204030204" charset="0"/>
                  <a:ea typeface="宋体" panose="02010600030101010101" pitchFamily="2" charset="-122"/>
                  <a:cs typeface="Calibri" panose="020F0502020204030204" charset="0"/>
                </a:rPr>
                <a:t> |    [ , table_constraint  </a:t>
              </a:r>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 , table_constraint  }</a:t>
              </a:r>
              <a:r>
                <a:rPr lang="en-US" altLang="zh-CN" sz="2400" b="1">
                  <a:solidFill>
                    <a:srgbClr val="0000C8"/>
                  </a:solidFill>
                  <a:latin typeface="Calibri" panose="020F0502020204030204" charset="0"/>
                  <a:ea typeface="宋体" panose="02010600030101010101" pitchFamily="2" charset="-122"/>
                  <a:cs typeface="Calibri" panose="020F0502020204030204" charset="0"/>
                </a:rPr>
                <a:t>  ] </a:t>
              </a:r>
            </a:p>
          </p:txBody>
        </p:sp>
        <p:sp>
          <p:nvSpPr>
            <p:cNvPr id="7" name="文本框 6"/>
            <p:cNvSpPr txBox="1"/>
            <p:nvPr/>
          </p:nvSpPr>
          <p:spPr>
            <a:xfrm>
              <a:off x="669" y="3931"/>
              <a:ext cx="17863" cy="725"/>
            </a:xfrm>
            <a:prstGeom prst="rect">
              <a:avLst/>
            </a:prstGeom>
            <a:noFill/>
          </p:spPr>
          <p:txBody>
            <a:bodyPr wrap="square" rtlCol="0">
              <a:noAutofit/>
            </a:bodyPr>
            <a:lstStyle/>
            <a:p>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column_name </a:t>
              </a:r>
              <a:r>
                <a:rPr lang="en-US" altLang="zh-CN" sz="2400" b="1">
                  <a:solidFill>
                    <a:srgbClr val="C00000"/>
                  </a:solidFill>
                  <a:latin typeface="Calibri" panose="020F0502020204030204" charset="0"/>
                  <a:ea typeface="宋体" panose="02010600030101010101" pitchFamily="2" charset="-122"/>
                  <a:cs typeface="Calibri" panose="020F0502020204030204" charset="0"/>
                  <a:sym typeface="+mn-ea"/>
                </a:rPr>
                <a:t>datatype  </a:t>
              </a:r>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 </a:t>
              </a:r>
              <a:r>
                <a:rPr lang="en-US" altLang="zh-CN" sz="2400" b="1">
                  <a:solidFill>
                    <a:srgbClr val="C00000"/>
                  </a:solidFill>
                  <a:latin typeface="Calibri" panose="020F0502020204030204" charset="0"/>
                  <a:ea typeface="宋体" panose="02010600030101010101" pitchFamily="2" charset="-122"/>
                  <a:cs typeface="Calibri" panose="020F0502020204030204" charset="0"/>
                  <a:sym typeface="+mn-ea"/>
                </a:rPr>
                <a:t>DEFAULT </a:t>
              </a:r>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expr ]  { col_constraint }</a:t>
              </a:r>
            </a:p>
          </p:txBody>
        </p:sp>
        <p:sp>
          <p:nvSpPr>
            <p:cNvPr id="10" name="文本框 9"/>
            <p:cNvSpPr txBox="1"/>
            <p:nvPr/>
          </p:nvSpPr>
          <p:spPr>
            <a:xfrm>
              <a:off x="668" y="4803"/>
              <a:ext cx="17863" cy="725"/>
            </a:xfrm>
            <a:prstGeom prst="rect">
              <a:avLst/>
            </a:prstGeom>
            <a:noFill/>
          </p:spPr>
          <p:txBody>
            <a:bodyPr wrap="square" rtlCol="0">
              <a:noAutofit/>
            </a:bodyPr>
            <a:lstStyle/>
            <a:p>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 , column</a:t>
              </a:r>
              <a:r>
                <a:rPr lang="en-US" altLang="zh-CN" sz="2400" b="1">
                  <a:solidFill>
                    <a:srgbClr val="0000C8"/>
                  </a:solidFill>
                  <a:latin typeface="Calibri" panose="020F0502020204030204" charset="0"/>
                  <a:cs typeface="Calibri" panose="020F0502020204030204" charset="0"/>
                  <a:sym typeface="+mn-ea"/>
                </a:rPr>
                <a:t>_name</a:t>
              </a:r>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 datatype [ </a:t>
              </a:r>
              <a:r>
                <a:rPr lang="en-US" altLang="zh-CN" sz="2400" b="1">
                  <a:solidFill>
                    <a:srgbClr val="C00000"/>
                  </a:solidFill>
                  <a:latin typeface="Calibri" panose="020F0502020204030204" charset="0"/>
                  <a:ea typeface="宋体" panose="02010600030101010101" pitchFamily="2" charset="-122"/>
                  <a:cs typeface="Calibri" panose="020F0502020204030204" charset="0"/>
                  <a:sym typeface="+mn-ea"/>
                </a:rPr>
                <a:t>DEFAULT </a:t>
              </a:r>
              <a:r>
                <a:rPr lang="en-US" altLang="zh-CN" sz="2400" b="1">
                  <a:solidFill>
                    <a:srgbClr val="0000C8"/>
                  </a:solidFill>
                  <a:latin typeface="Calibri" panose="020F0502020204030204" charset="0"/>
                  <a:ea typeface="宋体" panose="02010600030101010101" pitchFamily="2" charset="-122"/>
                  <a:cs typeface="Calibri" panose="020F0502020204030204" charset="0"/>
                  <a:sym typeface="+mn-ea"/>
                </a:rPr>
                <a:t>expr ] { col_constraint } }</a:t>
              </a:r>
            </a:p>
          </p:txBody>
        </p:sp>
      </p:grpSp>
      <p:sp>
        <p:nvSpPr>
          <p:cNvPr id="9222" name="Rectangle 3"/>
          <p:cNvSpPr>
            <a:spLocks noGrp="1"/>
          </p:cNvSpPr>
          <p:nvPr/>
        </p:nvSpPr>
        <p:spPr>
          <a:xfrm>
            <a:off x="424815" y="4234180"/>
            <a:ext cx="5763895" cy="1824355"/>
          </a:xfrm>
          <a:prstGeom prst="rect">
            <a:avLst/>
          </a:prstGeom>
          <a:noFill/>
          <a:ln w="9525">
            <a:noFill/>
          </a:ln>
        </p:spPr>
        <p:txBody>
          <a:bodyPr wrap="square" lIns="90170" tIns="46990" rIns="90170" bIns="46990" anchor="t">
            <a:noAutofit/>
          </a:bodyPr>
          <a:lstStyle/>
          <a:p>
            <a:pPr marL="400050" indent="-342900">
              <a:lnSpc>
                <a:spcPct val="110000"/>
              </a:lnSpc>
              <a:spcBef>
                <a:spcPts val="600"/>
              </a:spcBef>
              <a:buClr>
                <a:srgbClr val="C00000"/>
              </a:buClr>
              <a:buSzPct val="85000"/>
              <a:buFont typeface="Wingdings" panose="05000000000000000000" charset="0"/>
              <a:buChar char="Ø"/>
            </a:pPr>
            <a:r>
              <a:rPr lang="en-US" altLang="zh-CN" sz="2400" b="1" dirty="0">
                <a:solidFill>
                  <a:srgbClr val="0000C8"/>
                </a:solidFill>
                <a:latin typeface="Calibri" panose="020F0502020204030204" charset="0"/>
                <a:ea typeface="宋体" panose="02010600030101010101" pitchFamily="2" charset="-122"/>
                <a:cs typeface="Calibri" panose="020F0502020204030204" charset="0"/>
              </a:rPr>
              <a:t>schema name  &amp;  table name</a:t>
            </a:r>
          </a:p>
          <a:p>
            <a:pPr marL="400050" indent="-342900">
              <a:lnSpc>
                <a:spcPct val="110000"/>
              </a:lnSpc>
              <a:spcBef>
                <a:spcPts val="2000"/>
              </a:spcBef>
              <a:spcAft>
                <a:spcPts val="0"/>
              </a:spcAft>
              <a:buClr>
                <a:srgbClr val="C00000"/>
              </a:buClr>
              <a:buSzPct val="85000"/>
              <a:buFont typeface="Wingdings" panose="05000000000000000000" charset="0"/>
              <a:buChar char="Ø"/>
            </a:pPr>
            <a:r>
              <a:rPr lang="en-US" altLang="zh-CN" sz="2400" b="1" dirty="0">
                <a:solidFill>
                  <a:srgbClr val="0000C8"/>
                </a:solidFill>
                <a:latin typeface="Calibri" panose="020F0502020204030204" charset="0"/>
                <a:ea typeface="宋体" panose="02010600030101010101" pitchFamily="2" charset="-122"/>
                <a:cs typeface="Calibri" panose="020F0502020204030204" charset="0"/>
              </a:rPr>
              <a:t>column defintion</a:t>
            </a:r>
          </a:p>
          <a:p>
            <a:pPr marL="400050" indent="-342900">
              <a:lnSpc>
                <a:spcPct val="110000"/>
              </a:lnSpc>
              <a:spcBef>
                <a:spcPts val="3000"/>
              </a:spcBef>
              <a:spcAft>
                <a:spcPts val="0"/>
              </a:spcAft>
              <a:buClr>
                <a:srgbClr val="C00000"/>
              </a:buClr>
              <a:buSzPct val="85000"/>
              <a:buFont typeface="Wingdings" panose="05000000000000000000" charset="0"/>
              <a:buChar char="Ø"/>
            </a:pPr>
            <a:r>
              <a:rPr lang="en-US" altLang="zh-CN" sz="2400" b="1" dirty="0">
                <a:solidFill>
                  <a:srgbClr val="0000C8"/>
                </a:solidFill>
                <a:latin typeface="Calibri" panose="020F0502020204030204" charset="0"/>
                <a:ea typeface="宋体" panose="02010600030101010101" pitchFamily="2" charset="-122"/>
                <a:cs typeface="Calibri" panose="020F0502020204030204" charset="0"/>
              </a:rPr>
              <a:t>table  constraints</a:t>
            </a:r>
          </a:p>
        </p:txBody>
      </p:sp>
      <p:grpSp>
        <p:nvGrpSpPr>
          <p:cNvPr id="6" name="组合 5"/>
          <p:cNvGrpSpPr/>
          <p:nvPr/>
        </p:nvGrpSpPr>
        <p:grpSpPr>
          <a:xfrm>
            <a:off x="3276600" y="4526280"/>
            <a:ext cx="8011160" cy="1355090"/>
            <a:chOff x="5160" y="7128"/>
            <a:chExt cx="12616" cy="2134"/>
          </a:xfrm>
        </p:grpSpPr>
        <p:sp>
          <p:nvSpPr>
            <p:cNvPr id="16" name="Rectangle 3"/>
            <p:cNvSpPr>
              <a:spLocks noGrp="1"/>
            </p:cNvSpPr>
            <p:nvPr/>
          </p:nvSpPr>
          <p:spPr>
            <a:xfrm>
              <a:off x="8574" y="7128"/>
              <a:ext cx="9203" cy="2135"/>
            </a:xfrm>
            <a:prstGeom prst="rect">
              <a:avLst/>
            </a:prstGeom>
            <a:noFill/>
            <a:ln w="12700">
              <a:noFill/>
            </a:ln>
          </p:spPr>
          <p:txBody>
            <a:bodyPr wrap="square" lIns="90170" tIns="46990" rIns="90170" bIns="46990" anchor="t">
              <a:noAutofit/>
            </a:bodyPr>
            <a:lstStyle/>
            <a:p>
              <a:pPr>
                <a:lnSpc>
                  <a:spcPct val="100000"/>
                </a:lnSpc>
                <a:spcBef>
                  <a:spcPts val="300"/>
                </a:spcBef>
                <a:spcAft>
                  <a:spcPts val="300"/>
                </a:spcAft>
                <a:buClr>
                  <a:schemeClr val="tx1"/>
                </a:buClr>
                <a:buSzPct val="60000"/>
              </a:pPr>
              <a:r>
                <a:rPr lang="en-US" altLang="zh-CN" sz="2400" b="1" dirty="0">
                  <a:solidFill>
                    <a:srgbClr val="0000CC"/>
                  </a:solidFill>
                  <a:latin typeface="Calibri" panose="020F0502020204030204" charset="0"/>
                  <a:ea typeface="宋体" panose="02010600030101010101" pitchFamily="2" charset="-122"/>
                  <a:cs typeface="Calibri" panose="020F0502020204030204" charset="0"/>
                </a:rPr>
                <a:t>column name &amp; </a:t>
              </a:r>
              <a:r>
                <a:rPr lang="en-US" altLang="zh-CN" sz="2400" b="1" dirty="0">
                  <a:solidFill>
                    <a:srgbClr val="FF0000"/>
                  </a:solidFill>
                  <a:latin typeface="Calibri" panose="020F0502020204030204" charset="0"/>
                  <a:ea typeface="宋体" panose="02010600030101010101" pitchFamily="2" charset="-122"/>
                  <a:cs typeface="Calibri" panose="020F0502020204030204" charset="0"/>
                </a:rPr>
                <a:t>data type</a:t>
              </a:r>
              <a:endParaRPr lang="en-US" altLang="zh-CN" sz="2400" b="1" dirty="0">
                <a:solidFill>
                  <a:srgbClr val="0000CC"/>
                </a:solidFill>
                <a:latin typeface="Calibri" panose="020F0502020204030204" charset="0"/>
                <a:ea typeface="宋体" panose="02010600030101010101" pitchFamily="2" charset="-122"/>
                <a:cs typeface="Calibri" panose="020F0502020204030204" charset="0"/>
              </a:endParaRPr>
            </a:p>
            <a:p>
              <a:pPr>
                <a:lnSpc>
                  <a:spcPct val="100000"/>
                </a:lnSpc>
                <a:spcBef>
                  <a:spcPts val="300"/>
                </a:spcBef>
                <a:spcAft>
                  <a:spcPts val="300"/>
                </a:spcAft>
                <a:buClr>
                  <a:schemeClr val="tx1"/>
                </a:buClr>
                <a:buSzPct val="60000"/>
              </a:pPr>
              <a:r>
                <a:rPr lang="en-US" altLang="zh-CN" sz="2400" b="1" dirty="0">
                  <a:solidFill>
                    <a:srgbClr val="0000CC"/>
                  </a:solidFill>
                  <a:latin typeface="Calibri" panose="020F0502020204030204" charset="0"/>
                  <a:ea typeface="宋体" panose="02010600030101010101" pitchFamily="2" charset="-122"/>
                  <a:cs typeface="Calibri" panose="020F0502020204030204" charset="0"/>
                </a:rPr>
                <a:t>an optional </a:t>
              </a:r>
              <a:r>
                <a:rPr lang="en-US" altLang="zh-CN" sz="2400" b="1" dirty="0">
                  <a:solidFill>
                    <a:srgbClr val="FF0000"/>
                  </a:solidFill>
                  <a:latin typeface="Calibri" panose="020F0502020204030204" charset="0"/>
                  <a:ea typeface="宋体" panose="02010600030101010101" pitchFamily="2" charset="-122"/>
                  <a:cs typeface="Calibri" panose="020F0502020204030204" charset="0"/>
                </a:rPr>
                <a:t>DEFAULT </a:t>
              </a:r>
              <a:r>
                <a:rPr lang="en-US" altLang="zh-CN" sz="2400" b="1" dirty="0">
                  <a:solidFill>
                    <a:srgbClr val="0000CC"/>
                  </a:solidFill>
                  <a:latin typeface="Calibri" panose="020F0502020204030204" charset="0"/>
                  <a:ea typeface="宋体" panose="02010600030101010101" pitchFamily="2" charset="-122"/>
                  <a:cs typeface="Calibri" panose="020F0502020204030204" charset="0"/>
                </a:rPr>
                <a:t>clause</a:t>
              </a:r>
            </a:p>
            <a:p>
              <a:pPr>
                <a:lnSpc>
                  <a:spcPct val="100000"/>
                </a:lnSpc>
                <a:spcBef>
                  <a:spcPts val="300"/>
                </a:spcBef>
                <a:spcAft>
                  <a:spcPts val="300"/>
                </a:spcAft>
                <a:buClr>
                  <a:schemeClr val="tx1"/>
                </a:buClr>
                <a:buSzPct val="60000"/>
              </a:pPr>
              <a:r>
                <a:rPr lang="en-US" altLang="zh-CN" sz="2400" b="1" dirty="0">
                  <a:solidFill>
                    <a:srgbClr val="0000CC"/>
                  </a:solidFill>
                  <a:latin typeface="Calibri" panose="020F0502020204030204" charset="0"/>
                  <a:ea typeface="宋体" panose="02010600030101010101" pitchFamily="2" charset="-122"/>
                  <a:cs typeface="Calibri" panose="020F0502020204030204" charset="0"/>
                  <a:sym typeface="+mn-ea"/>
                </a:rPr>
                <a:t>integrity </a:t>
              </a:r>
              <a:r>
                <a:rPr lang="en-US" altLang="zh-CN" sz="2400" b="1" dirty="0">
                  <a:solidFill>
                    <a:srgbClr val="FF0000"/>
                  </a:solidFill>
                  <a:latin typeface="Calibri" panose="020F0502020204030204" charset="0"/>
                  <a:ea typeface="宋体" panose="02010600030101010101" pitchFamily="2" charset="-122"/>
                  <a:cs typeface="Calibri" panose="020F0502020204030204" charset="0"/>
                  <a:sym typeface="+mn-ea"/>
                </a:rPr>
                <a:t>constraint in a single column</a:t>
              </a:r>
              <a:endParaRPr lang="en-US" altLang="zh-CN" sz="2400" b="1" dirty="0">
                <a:solidFill>
                  <a:srgbClr val="0000CC"/>
                </a:solidFill>
                <a:latin typeface="Calibri" panose="020F0502020204030204" charset="0"/>
                <a:ea typeface="宋体" panose="02010600030101010101" pitchFamily="2" charset="-122"/>
                <a:cs typeface="Calibri" panose="020F0502020204030204" charset="0"/>
              </a:endParaRPr>
            </a:p>
          </p:txBody>
        </p:sp>
        <p:grpSp>
          <p:nvGrpSpPr>
            <p:cNvPr id="17" name="组合 16"/>
            <p:cNvGrpSpPr/>
            <p:nvPr/>
          </p:nvGrpSpPr>
          <p:grpSpPr>
            <a:xfrm>
              <a:off x="5160" y="7654"/>
              <a:ext cx="3459" cy="1204"/>
              <a:chOff x="3414" y="6060"/>
              <a:chExt cx="2200" cy="1204"/>
            </a:xfrm>
          </p:grpSpPr>
          <p:cxnSp>
            <p:nvCxnSpPr>
              <p:cNvPr id="18" name="直接箭头连接符 17"/>
              <p:cNvCxnSpPr/>
              <p:nvPr/>
            </p:nvCxnSpPr>
            <p:spPr>
              <a:xfrm flipV="1">
                <a:off x="3414" y="6060"/>
                <a:ext cx="2200" cy="495"/>
              </a:xfrm>
              <a:prstGeom prst="straightConnector1">
                <a:avLst/>
              </a:prstGeom>
              <a:ln w="12700">
                <a:solidFill>
                  <a:srgbClr val="FF0066"/>
                </a:solidFill>
                <a:prstDash val="sysDot"/>
                <a:tailEnd type="arrow"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3414" y="6548"/>
                <a:ext cx="2200" cy="106"/>
              </a:xfrm>
              <a:prstGeom prst="straightConnector1">
                <a:avLst/>
              </a:prstGeom>
              <a:ln w="12700">
                <a:solidFill>
                  <a:srgbClr val="FF0066"/>
                </a:solidFill>
                <a:prstDash val="sysDot"/>
                <a:tailEnd type="arrow" w="lg"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3414" y="6573"/>
                <a:ext cx="2200" cy="691"/>
              </a:xfrm>
              <a:prstGeom prst="straightConnector1">
                <a:avLst/>
              </a:prstGeom>
              <a:ln w="12700">
                <a:solidFill>
                  <a:srgbClr val="FF0066"/>
                </a:solidFill>
                <a:prstDash val="sysDot"/>
                <a:tailEnd type="arrow" w="lg" len="med"/>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p:nvPr/>
        </p:nvGrpSpPr>
        <p:grpSpPr>
          <a:xfrm>
            <a:off x="3275965" y="5753100"/>
            <a:ext cx="8012430" cy="720090"/>
            <a:chOff x="5159" y="9060"/>
            <a:chExt cx="12618" cy="1134"/>
          </a:xfrm>
        </p:grpSpPr>
        <p:grpSp>
          <p:nvGrpSpPr>
            <p:cNvPr id="21" name="组合 20"/>
            <p:cNvGrpSpPr/>
            <p:nvPr/>
          </p:nvGrpSpPr>
          <p:grpSpPr>
            <a:xfrm>
              <a:off x="5159" y="9060"/>
              <a:ext cx="3460" cy="831"/>
              <a:chOff x="3441" y="7176"/>
              <a:chExt cx="2635" cy="831"/>
            </a:xfrm>
          </p:grpSpPr>
          <p:cxnSp>
            <p:nvCxnSpPr>
              <p:cNvPr id="22" name="直接箭头连接符 21"/>
              <p:cNvCxnSpPr/>
              <p:nvPr/>
            </p:nvCxnSpPr>
            <p:spPr>
              <a:xfrm flipV="1">
                <a:off x="3441" y="7176"/>
                <a:ext cx="2634" cy="380"/>
              </a:xfrm>
              <a:prstGeom prst="straightConnector1">
                <a:avLst/>
              </a:prstGeom>
              <a:ln w="12700">
                <a:solidFill>
                  <a:srgbClr val="FF0066"/>
                </a:solidFill>
                <a:prstDash val="sysDot"/>
                <a:tailEnd type="arrow" w="lg"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3442" y="7582"/>
                <a:ext cx="2634" cy="425"/>
              </a:xfrm>
              <a:prstGeom prst="straightConnector1">
                <a:avLst/>
              </a:prstGeom>
              <a:ln w="12700">
                <a:solidFill>
                  <a:srgbClr val="FF0066"/>
                </a:solidFill>
                <a:prstDash val="sysDot"/>
                <a:tailEnd type="arrow" w="lg" len="med"/>
              </a:ln>
            </p:spPr>
            <p:style>
              <a:lnRef idx="1">
                <a:schemeClr val="accent1"/>
              </a:lnRef>
              <a:fillRef idx="0">
                <a:schemeClr val="accent1"/>
              </a:fillRef>
              <a:effectRef idx="0">
                <a:schemeClr val="accent1"/>
              </a:effectRef>
              <a:fontRef idx="minor">
                <a:schemeClr val="tx1"/>
              </a:fontRef>
            </p:style>
          </p:cxnSp>
        </p:grpSp>
        <p:sp>
          <p:nvSpPr>
            <p:cNvPr id="24" name="Rectangle 3"/>
            <p:cNvSpPr>
              <a:spLocks noGrp="1"/>
            </p:cNvSpPr>
            <p:nvPr/>
          </p:nvSpPr>
          <p:spPr>
            <a:xfrm>
              <a:off x="8625" y="9466"/>
              <a:ext cx="9152" cy="729"/>
            </a:xfrm>
            <a:prstGeom prst="rect">
              <a:avLst/>
            </a:prstGeom>
            <a:noFill/>
            <a:ln w="12700">
              <a:noFill/>
            </a:ln>
          </p:spPr>
          <p:txBody>
            <a:bodyPr wrap="square" lIns="90170" tIns="46990" rIns="0" bIns="46990" anchor="t">
              <a:noAutofit/>
            </a:bodyPr>
            <a:lstStyle/>
            <a:p>
              <a:pPr>
                <a:lnSpc>
                  <a:spcPct val="100000"/>
                </a:lnSpc>
                <a:spcBef>
                  <a:spcPts val="0"/>
                </a:spcBef>
                <a:spcAft>
                  <a:spcPts val="0"/>
                </a:spcAft>
                <a:buClr>
                  <a:schemeClr val="tx1"/>
                </a:buClr>
                <a:buSzPct val="60000"/>
              </a:pPr>
              <a:r>
                <a:rPr lang="en-US" altLang="zh-CN" sz="2400" b="1" dirty="0">
                  <a:solidFill>
                    <a:srgbClr val="0000CC"/>
                  </a:solidFill>
                  <a:latin typeface="Calibri" panose="020F0502020204030204" charset="0"/>
                  <a:ea typeface="宋体" panose="02010600030101010101" pitchFamily="2" charset="-122"/>
                  <a:cs typeface="Calibri" panose="020F0502020204030204" charset="0"/>
                </a:rPr>
                <a:t>integrity </a:t>
              </a:r>
              <a:r>
                <a:rPr lang="en-US" altLang="zh-CN" sz="2400" b="1" dirty="0">
                  <a:solidFill>
                    <a:srgbClr val="FF0000"/>
                  </a:solidFill>
                  <a:latin typeface="Calibri" panose="020F0502020204030204" charset="0"/>
                  <a:ea typeface="宋体" panose="02010600030101010101" pitchFamily="2" charset="-122"/>
                  <a:cs typeface="Calibri" panose="020F0502020204030204" charset="0"/>
                </a:rPr>
                <a:t>constraints in multiple columns</a:t>
              </a:r>
            </a:p>
          </p:txBody>
        </p:sp>
      </p:grpSp>
      <p:sp>
        <p:nvSpPr>
          <p:cNvPr id="5" name="灯片编号占位符 4"/>
          <p:cNvSpPr>
            <a:spLocks noGrp="1"/>
          </p:cNvSpPr>
          <p:nvPr>
            <p:ph type="sldNum" sz="quarter" idx="12"/>
          </p:nvPr>
        </p:nvSpPr>
        <p:spPr/>
        <p:txBody>
          <a:bodyPr/>
          <a:lstStyle/>
          <a:p>
            <a:fld id="{565CE74E-AB26-4998-AD42-012C4C1AD076}" type="slidenum">
              <a:rPr lang="zh-CN" altLang="en-US" smtClean="0"/>
              <a:t>10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blinds(horizontal)">
                                      <p:cBhvr>
                                        <p:cTn id="12" dur="500"/>
                                        <p:tgtEl>
                                          <p:spTgt spid="92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en-US" altLang="zh-CN" dirty="0"/>
              <a:t>SQL</a:t>
            </a:r>
            <a:r>
              <a:rPr lang="zh-CN" altLang="en-US" dirty="0"/>
              <a:t>语言对完整性约束规则的支持</a:t>
            </a:r>
          </a:p>
        </p:txBody>
      </p:sp>
      <p:sp>
        <p:nvSpPr>
          <p:cNvPr id="71684" name="Rectangle 3"/>
          <p:cNvSpPr>
            <a:spLocks noGrp="1"/>
          </p:cNvSpPr>
          <p:nvPr>
            <p:ph idx="1"/>
          </p:nvPr>
        </p:nvSpPr>
        <p:spPr/>
        <p:txBody>
          <a:bodyPr wrap="square" anchor="t"/>
          <a:lstStyle/>
          <a:p>
            <a:pPr eaLnBrk="1" hangingPunct="1">
              <a:lnSpc>
                <a:spcPct val="100000"/>
              </a:lnSpc>
            </a:pPr>
            <a:r>
              <a:rPr lang="zh-CN" altLang="en-US" sz="2800" dirty="0">
                <a:latin typeface="Calibri" panose="020F0502020204030204" charset="0"/>
                <a:cs typeface="Calibri" panose="020F0502020204030204" charset="0"/>
              </a:rPr>
              <a:t>创建基表命令 </a:t>
            </a:r>
            <a:r>
              <a:rPr lang="zh-CN" altLang="en-US" sz="2800" dirty="0">
                <a:solidFill>
                  <a:srgbClr val="1F2DA8"/>
                </a:solidFill>
                <a:latin typeface="Calibri" panose="020F0502020204030204" charset="0"/>
                <a:cs typeface="Calibri" panose="020F0502020204030204" charset="0"/>
              </a:rPr>
              <a:t>（</a:t>
            </a:r>
            <a:r>
              <a:rPr lang="en-US" altLang="zh-CN" sz="2800" dirty="0">
                <a:solidFill>
                  <a:srgbClr val="1F2DA8"/>
                </a:solidFill>
                <a:latin typeface="Calibri" panose="020F0502020204030204" charset="0"/>
                <a:cs typeface="Calibri" panose="020F0502020204030204" charset="0"/>
              </a:rPr>
              <a:t>CREATE  TABLE</a:t>
            </a:r>
            <a:r>
              <a:rPr lang="zh-CN" altLang="en-US" sz="2800" dirty="0">
                <a:solidFill>
                  <a:srgbClr val="1F2DA8"/>
                </a:solidFill>
                <a:latin typeface="Calibri" panose="020F0502020204030204" charset="0"/>
                <a:cs typeface="Calibri" panose="020F0502020204030204" charset="0"/>
              </a:rPr>
              <a:t>）</a:t>
            </a:r>
            <a:endParaRPr lang="en-US" altLang="zh-CN" sz="2800" dirty="0">
              <a:solidFill>
                <a:srgbClr val="1F2DA8"/>
              </a:solidFill>
              <a:latin typeface="Calibri" panose="020F0502020204030204" charset="0"/>
              <a:cs typeface="Calibri" panose="020F0502020204030204" charset="0"/>
            </a:endParaRPr>
          </a:p>
          <a:p>
            <a:pPr lvl="1" eaLnBrk="1" hangingPunct="1">
              <a:lnSpc>
                <a:spcPct val="100000"/>
              </a:lnSpc>
              <a:spcBef>
                <a:spcPts val="1000"/>
              </a:spcBef>
              <a:spcAft>
                <a:spcPts val="1000"/>
              </a:spcAft>
            </a:pPr>
            <a:r>
              <a:rPr lang="zh-CN" altLang="en-US" sz="2800" dirty="0">
                <a:solidFill>
                  <a:srgbClr val="1F2DA8"/>
                </a:solidFill>
                <a:latin typeface="Calibri" panose="020F0502020204030204" charset="0"/>
                <a:cs typeface="Calibri" panose="020F0502020204030204" charset="0"/>
              </a:rPr>
              <a:t>命令的组成成分：</a:t>
            </a:r>
          </a:p>
          <a:p>
            <a:pPr lvl="2" eaLnBrk="1" hangingPunct="1">
              <a:lnSpc>
                <a:spcPct val="100000"/>
              </a:lnSpc>
              <a:spcBef>
                <a:spcPts val="1000"/>
              </a:spcBef>
            </a:pPr>
            <a:r>
              <a:rPr lang="zh-CN" altLang="en-US" sz="2800" dirty="0">
                <a:solidFill>
                  <a:srgbClr val="C00000"/>
                </a:solidFill>
                <a:latin typeface="Calibri" panose="020F0502020204030204" charset="0"/>
                <a:cs typeface="Calibri" panose="020F0502020204030204" charset="0"/>
              </a:rPr>
              <a:t>模式名</a:t>
            </a:r>
            <a:r>
              <a:rPr lang="zh-CN" altLang="en-US" sz="2800" dirty="0">
                <a:latin typeface="Calibri" panose="020F0502020204030204" charset="0"/>
                <a:cs typeface="Calibri" panose="020F0502020204030204" charset="0"/>
              </a:rPr>
              <a:t>  &amp;  </a:t>
            </a:r>
            <a:r>
              <a:rPr lang="zh-CN" altLang="en-US" sz="2800" dirty="0">
                <a:solidFill>
                  <a:srgbClr val="C00000"/>
                </a:solidFill>
                <a:latin typeface="Calibri" panose="020F0502020204030204" charset="0"/>
                <a:cs typeface="Calibri" panose="020F0502020204030204" charset="0"/>
              </a:rPr>
              <a:t>表名</a:t>
            </a:r>
            <a:endParaRPr lang="en-US" altLang="zh-CN" sz="2800" dirty="0">
              <a:solidFill>
                <a:srgbClr val="C00000"/>
              </a:solidFill>
              <a:latin typeface="Calibri" panose="020F0502020204030204" charset="0"/>
              <a:cs typeface="Calibri" panose="020F0502020204030204" charset="0"/>
            </a:endParaRPr>
          </a:p>
          <a:p>
            <a:pPr lvl="2" eaLnBrk="1" hangingPunct="1">
              <a:lnSpc>
                <a:spcPct val="100000"/>
              </a:lnSpc>
              <a:spcBef>
                <a:spcPts val="2000"/>
              </a:spcBef>
              <a:spcAft>
                <a:spcPts val="0"/>
              </a:spcAft>
            </a:pPr>
            <a:r>
              <a:rPr lang="zh-CN" altLang="en-US" sz="2800" dirty="0">
                <a:solidFill>
                  <a:srgbClr val="C00000"/>
                </a:solidFill>
                <a:latin typeface="Calibri" panose="020F0502020204030204" charset="0"/>
                <a:cs typeface="Calibri" panose="020F0502020204030204" charset="0"/>
              </a:rPr>
              <a:t>列的定义</a:t>
            </a:r>
          </a:p>
          <a:p>
            <a:pPr lvl="3" eaLnBrk="1" hangingPunct="1">
              <a:lnSpc>
                <a:spcPct val="100000"/>
              </a:lnSpc>
            </a:pPr>
            <a:r>
              <a:rPr lang="zh-CN" altLang="en-US" sz="2800" dirty="0">
                <a:solidFill>
                  <a:srgbClr val="1F2DA8"/>
                </a:solidFill>
                <a:latin typeface="Calibri" panose="020F0502020204030204" charset="0"/>
                <a:cs typeface="Calibri" panose="020F0502020204030204" charset="0"/>
              </a:rPr>
              <a:t>列名  &amp;  数据类型</a:t>
            </a:r>
          </a:p>
          <a:p>
            <a:pPr lvl="3" eaLnBrk="1" hangingPunct="1">
              <a:lnSpc>
                <a:spcPct val="100000"/>
              </a:lnSpc>
              <a:spcBef>
                <a:spcPts val="1000"/>
              </a:spcBef>
              <a:spcAft>
                <a:spcPts val="0"/>
              </a:spcAft>
            </a:pPr>
            <a:r>
              <a:rPr lang="zh-CN" altLang="en-US" sz="2800" dirty="0">
                <a:solidFill>
                  <a:srgbClr val="1F2DA8"/>
                </a:solidFill>
                <a:latin typeface="Calibri" panose="020F0502020204030204" charset="0"/>
                <a:cs typeface="Calibri" panose="020F0502020204030204" charset="0"/>
              </a:rPr>
              <a:t>列的缺省值定义：</a:t>
            </a:r>
          </a:p>
          <a:p>
            <a:pPr lvl="4" eaLnBrk="1" hangingPunct="1">
              <a:lnSpc>
                <a:spcPct val="100000"/>
              </a:lnSpc>
              <a:buNone/>
            </a:pPr>
            <a:r>
              <a:rPr lang="en-US" altLang="zh-CN" sz="2800" dirty="0">
                <a:solidFill>
                  <a:srgbClr val="1F2DA8"/>
                </a:solidFill>
                <a:latin typeface="Calibri" panose="020F0502020204030204" charset="0"/>
                <a:cs typeface="Calibri" panose="020F0502020204030204" charset="0"/>
              </a:rPr>
              <a:t>DEFAULT { default_constant | </a:t>
            </a:r>
            <a:r>
              <a:rPr lang="en-US" altLang="zh-CN" sz="2800" u="sng" dirty="0">
                <a:solidFill>
                  <a:srgbClr val="1F2DA8"/>
                </a:solidFill>
                <a:latin typeface="Calibri" panose="020F0502020204030204" charset="0"/>
                <a:cs typeface="Calibri" panose="020F0502020204030204" charset="0"/>
              </a:rPr>
              <a:t>NULL</a:t>
            </a:r>
            <a:r>
              <a:rPr lang="en-US" altLang="zh-CN" sz="2800" dirty="0">
                <a:solidFill>
                  <a:srgbClr val="1F2DA8"/>
                </a:solidFill>
                <a:latin typeface="Calibri" panose="020F0502020204030204" charset="0"/>
                <a:cs typeface="Calibri" panose="020F0502020204030204" charset="0"/>
              </a:rPr>
              <a:t> }</a:t>
            </a:r>
          </a:p>
          <a:p>
            <a:pPr lvl="3" eaLnBrk="1" hangingPunct="1">
              <a:lnSpc>
                <a:spcPct val="100000"/>
              </a:lnSpc>
              <a:spcBef>
                <a:spcPts val="1000"/>
              </a:spcBef>
              <a:spcAft>
                <a:spcPts val="0"/>
              </a:spcAft>
            </a:pPr>
            <a:r>
              <a:rPr lang="zh-CN" altLang="en-US" sz="2800" dirty="0">
                <a:solidFill>
                  <a:srgbClr val="1F2DA8"/>
                </a:solidFill>
                <a:latin typeface="Calibri" panose="020F0502020204030204" charset="0"/>
                <a:cs typeface="Calibri" panose="020F0502020204030204" charset="0"/>
              </a:rPr>
              <a:t>列级约束的定义：单个</a:t>
            </a:r>
            <a:r>
              <a:rPr lang="zh-CN" altLang="en-US" sz="2800" dirty="0">
                <a:solidFill>
                  <a:srgbClr val="1F2DA8"/>
                </a:solidFill>
                <a:latin typeface="Calibri" panose="020F0502020204030204" charset="0"/>
                <a:cs typeface="Calibri" panose="020F0502020204030204" charset="0"/>
                <a:sym typeface="+mn-ea"/>
              </a:rPr>
              <a:t>列</a:t>
            </a:r>
            <a:r>
              <a:rPr lang="zh-CN" altLang="en-US" sz="2800" dirty="0">
                <a:solidFill>
                  <a:srgbClr val="1F2DA8"/>
                </a:solidFill>
                <a:latin typeface="Calibri" panose="020F0502020204030204" charset="0"/>
                <a:cs typeface="Calibri" panose="020F0502020204030204" charset="0"/>
              </a:rPr>
              <a:t>上的数据完整性约束定义</a:t>
            </a:r>
            <a:endParaRPr lang="en-US" altLang="zh-CN" sz="2800" dirty="0">
              <a:solidFill>
                <a:srgbClr val="1F2DA8"/>
              </a:solidFill>
              <a:latin typeface="Calibri" panose="020F0502020204030204" charset="0"/>
              <a:cs typeface="Calibri" panose="020F0502020204030204" charset="0"/>
            </a:endParaRPr>
          </a:p>
          <a:p>
            <a:pPr lvl="2" eaLnBrk="1" hangingPunct="1">
              <a:lnSpc>
                <a:spcPct val="100000"/>
              </a:lnSpc>
              <a:spcBef>
                <a:spcPts val="2000"/>
              </a:spcBef>
              <a:spcAft>
                <a:spcPts val="0"/>
              </a:spcAft>
            </a:pPr>
            <a:r>
              <a:rPr lang="zh-CN" altLang="en-US" sz="2800" dirty="0">
                <a:solidFill>
                  <a:srgbClr val="C00000"/>
                </a:solidFill>
                <a:latin typeface="Calibri" panose="020F0502020204030204" charset="0"/>
                <a:cs typeface="Calibri" panose="020F0502020204030204" charset="0"/>
              </a:rPr>
              <a:t>表级约束的定义</a:t>
            </a:r>
          </a:p>
          <a:p>
            <a:pPr lvl="3" eaLnBrk="1" hangingPunct="1">
              <a:lnSpc>
                <a:spcPct val="100000"/>
              </a:lnSpc>
              <a:spcBef>
                <a:spcPts val="1000"/>
              </a:spcBef>
            </a:pPr>
            <a:r>
              <a:rPr lang="zh-CN" altLang="en-US" sz="2800" dirty="0">
                <a:latin typeface="Calibri" panose="020F0502020204030204" charset="0"/>
                <a:cs typeface="Calibri" panose="020F0502020204030204" charset="0"/>
              </a:rPr>
              <a:t>多个列之间的</a:t>
            </a:r>
            <a:r>
              <a:rPr lang="zh-CN" altLang="en-US" sz="2800" dirty="0">
                <a:latin typeface="Calibri" panose="020F0502020204030204" charset="0"/>
                <a:cs typeface="Calibri" panose="020F0502020204030204" charset="0"/>
                <a:sym typeface="+mn-ea"/>
              </a:rPr>
              <a:t>数据完整性约束定义</a:t>
            </a:r>
            <a:endParaRPr lang="zh-CN" altLang="en-US" sz="2800" dirty="0">
              <a:latin typeface="Calibri" panose="020F0502020204030204" charset="0"/>
              <a:cs typeface="Calibri" panose="020F0502020204030204" charset="0"/>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t>11</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en-US" altLang="zh-CN" dirty="0"/>
              <a:t>SQL</a:t>
            </a:r>
            <a:r>
              <a:rPr lang="zh-CN" altLang="en-US" dirty="0"/>
              <a:t>语言对完整性约束规则的支持</a:t>
            </a:r>
          </a:p>
        </p:txBody>
      </p:sp>
      <p:sp>
        <p:nvSpPr>
          <p:cNvPr id="72710" name="Text Box 4"/>
          <p:cNvSpPr txBox="1"/>
          <p:nvPr/>
        </p:nvSpPr>
        <p:spPr>
          <a:xfrm>
            <a:off x="424180" y="803910"/>
            <a:ext cx="11344275" cy="4436110"/>
          </a:xfrm>
          <a:prstGeom prst="rect">
            <a:avLst/>
          </a:prstGeom>
          <a:solidFill>
            <a:schemeClr val="bg1"/>
          </a:solidFill>
          <a:ln w="19050">
            <a:solidFill>
              <a:schemeClr val="tx1"/>
            </a:solidFill>
          </a:ln>
        </p:spPr>
        <p:txBody>
          <a:bodyPr wrap="square" lIns="252095" anchor="t">
            <a:noAutofit/>
          </a:bodyPr>
          <a:lstStyle/>
          <a:p>
            <a:pPr indent="0" fontAlgn="auto">
              <a:lnSpc>
                <a:spcPct val="100000"/>
              </a:lnSpc>
              <a:spcBef>
                <a:spcPts val="1000"/>
              </a:spcBef>
              <a:spcAft>
                <a:spcPts val="0"/>
              </a:spcAft>
              <a:buClr>
                <a:schemeClr val="accent2"/>
              </a:buClr>
              <a:buFont typeface="Wingdings" panose="05000000000000000000" pitchFamily="2" charset="2"/>
            </a:pPr>
            <a:r>
              <a:rPr lang="zh-CN" altLang="en-US" sz="2800" b="1" dirty="0">
                <a:solidFill>
                  <a:srgbClr val="FF0066"/>
                </a:solidFill>
                <a:latin typeface="Calibri" panose="020F0502020204030204" charset="0"/>
                <a:cs typeface="Calibri" panose="020F0502020204030204" charset="0"/>
              </a:rPr>
              <a:t>{</a:t>
            </a:r>
            <a:r>
              <a:rPr lang="zh-CN" altLang="en-US" sz="2800" b="1" dirty="0">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NOT NULL   </a:t>
            </a:r>
            <a:r>
              <a:rPr lang="en-US" altLang="zh-CN" sz="2800" b="1" dirty="0">
                <a:solidFill>
                  <a:srgbClr val="FF0066"/>
                </a:solidFill>
                <a:latin typeface="Calibri" panose="020F0502020204030204" charset="0"/>
                <a:cs typeface="Calibri" panose="020F0502020204030204" charset="0"/>
              </a:rPr>
              <a:t>|</a:t>
            </a:r>
            <a:endParaRPr lang="en-US" altLang="zh-CN" sz="2800" b="1" dirty="0">
              <a:latin typeface="Calibri" panose="020F0502020204030204" charset="0"/>
              <a:cs typeface="Calibri" panose="020F0502020204030204" charset="0"/>
            </a:endParaRPr>
          </a:p>
          <a:p>
            <a:pPr indent="0" fontAlgn="auto">
              <a:lnSpc>
                <a:spcPct val="100000"/>
              </a:lnSpc>
              <a:spcBef>
                <a:spcPts val="1000"/>
              </a:spcBef>
              <a:spcAft>
                <a:spcPts val="0"/>
              </a:spcAft>
              <a:buClr>
                <a:schemeClr val="accent2"/>
              </a:buClr>
              <a:buFont typeface="Wingdings" panose="05000000000000000000" pitchFamily="2" charset="2"/>
            </a:pP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CONSTRAINT </a:t>
            </a:r>
            <a:r>
              <a:rPr lang="en-US" altLang="zh-CN" sz="2800" b="1" dirty="0">
                <a:solidFill>
                  <a:srgbClr val="0000C8"/>
                </a:solidFill>
                <a:latin typeface="Calibri" panose="020F0502020204030204" charset="0"/>
                <a:cs typeface="Calibri" panose="020F0502020204030204" charset="0"/>
              </a:rPr>
              <a:t>constraint_name</a:t>
            </a:r>
            <a:r>
              <a:rPr lang="en-US" altLang="zh-CN" sz="2800" b="1" dirty="0">
                <a:solidFill>
                  <a:srgbClr val="C00000"/>
                </a:solidFill>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p>
          <a:p>
            <a:pPr lvl="2"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latin typeface="Calibri" panose="020F0502020204030204" charset="0"/>
                <a:cs typeface="Calibri" panose="020F0502020204030204" charset="0"/>
              </a:rPr>
              <a:t>  UNIQUE</a:t>
            </a:r>
          </a:p>
          <a:p>
            <a:pPr lvl="2"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PRIMARY KEY</a:t>
            </a:r>
          </a:p>
          <a:p>
            <a:pPr lvl="2"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CHECK (</a:t>
            </a:r>
            <a:r>
              <a:rPr lang="en-US" altLang="zh-CN" sz="2800" b="1" dirty="0">
                <a:solidFill>
                  <a:srgbClr val="C00000"/>
                </a:solidFill>
                <a:latin typeface="Calibri" panose="020F0502020204030204" charset="0"/>
                <a:cs typeface="Calibri" panose="020F0502020204030204" charset="0"/>
              </a:rPr>
              <a:t> </a:t>
            </a:r>
            <a:r>
              <a:rPr lang="en-US" altLang="zh-CN" sz="2800" b="1" dirty="0">
                <a:solidFill>
                  <a:srgbClr val="0000C8"/>
                </a:solidFill>
                <a:latin typeface="Calibri" panose="020F0502020204030204" charset="0"/>
                <a:cs typeface="Calibri" panose="020F0502020204030204" charset="0"/>
              </a:rPr>
              <a:t>search_condition</a:t>
            </a:r>
            <a:r>
              <a:rPr lang="en-US" altLang="zh-CN" sz="2800" b="1" dirty="0">
                <a:latin typeface="Calibri" panose="020F0502020204030204" charset="0"/>
                <a:cs typeface="Calibri" panose="020F0502020204030204" charset="0"/>
              </a:rPr>
              <a:t> )</a:t>
            </a:r>
          </a:p>
          <a:p>
            <a:pPr lvl="2"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REFERENCES </a:t>
            </a:r>
            <a:r>
              <a:rPr lang="en-US" altLang="zh-CN" sz="2800" b="1" dirty="0">
                <a:solidFill>
                  <a:srgbClr val="0000C8"/>
                </a:solidFill>
                <a:latin typeface="Calibri" panose="020F0502020204030204" charset="0"/>
                <a:cs typeface="Calibri" panose="020F0502020204030204" charset="0"/>
              </a:rPr>
              <a:t>table_name</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 </a:t>
            </a:r>
            <a:r>
              <a:rPr lang="en-US" altLang="zh-CN" sz="2800" b="1" dirty="0">
                <a:solidFill>
                  <a:srgbClr val="0000C8"/>
                </a:solidFill>
                <a:latin typeface="Calibri" panose="020F0502020204030204" charset="0"/>
                <a:cs typeface="Calibri" panose="020F0502020204030204" charset="0"/>
              </a:rPr>
              <a:t>column_name</a:t>
            </a:r>
            <a:r>
              <a:rPr lang="en-US" altLang="zh-CN" sz="2800" b="1" dirty="0">
                <a:latin typeface="Calibri" panose="020F0502020204030204" charset="0"/>
                <a:cs typeface="Calibri" panose="020F0502020204030204" charset="0"/>
              </a:rPr>
              <a:t> ) </a:t>
            </a:r>
            <a:r>
              <a:rPr lang="en-US" altLang="zh-CN" sz="2800" b="1" dirty="0">
                <a:solidFill>
                  <a:srgbClr val="FF0066"/>
                </a:solidFill>
                <a:latin typeface="Calibri" panose="020F0502020204030204" charset="0"/>
                <a:cs typeface="Calibri" panose="020F0502020204030204" charset="0"/>
              </a:rPr>
              <a:t>]</a:t>
            </a:r>
          </a:p>
          <a:p>
            <a:pPr lvl="3"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ON DELETE CASCADE </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RESTRICT </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SET NULL</a:t>
            </a:r>
            <a:r>
              <a:rPr lang="en-US" altLang="zh-CN" sz="2800" b="1" dirty="0">
                <a:solidFill>
                  <a:srgbClr val="FF0066"/>
                </a:solidFill>
                <a:latin typeface="Calibri" panose="020F0502020204030204" charset="0"/>
                <a:cs typeface="Calibri" panose="020F0502020204030204" charset="0"/>
              </a:rPr>
              <a:t> ]</a:t>
            </a:r>
          </a:p>
          <a:p>
            <a:pPr lvl="3" indent="0" algn="l" fontAlgn="auto">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zh-CN" altLang="en-US"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ON UPDATE CASCADE </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RESTRICT </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SET NULL</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p>
        </p:txBody>
      </p:sp>
      <p:sp>
        <p:nvSpPr>
          <p:cNvPr id="72711" name="Text Box 5"/>
          <p:cNvSpPr txBox="1"/>
          <p:nvPr/>
        </p:nvSpPr>
        <p:spPr>
          <a:xfrm>
            <a:off x="425450" y="5370195"/>
            <a:ext cx="11407775" cy="953135"/>
          </a:xfrm>
          <a:prstGeom prst="rect">
            <a:avLst/>
          </a:prstGeom>
          <a:noFill/>
          <a:ln w="9525">
            <a:noFill/>
          </a:ln>
        </p:spPr>
        <p:txBody>
          <a:bodyPr wrap="square" anchor="t">
            <a:noAutofit/>
          </a:bodyPr>
          <a:lstStyle/>
          <a:p>
            <a:pPr algn="ctr">
              <a:lnSpc>
                <a:spcPct val="100000"/>
              </a:lnSpc>
              <a:spcBef>
                <a:spcPts val="0"/>
              </a:spcBef>
              <a:spcAft>
                <a:spcPts val="0"/>
              </a:spcAft>
            </a:pPr>
            <a:r>
              <a:rPr lang="zh-CN" altLang="en-US" sz="2800" b="1" dirty="0">
                <a:solidFill>
                  <a:srgbClr val="1F2DA8"/>
                </a:solidFill>
                <a:latin typeface="Calibri" panose="020F0502020204030204" charset="0"/>
                <a:ea typeface="楷体" panose="02010609060101010101" charset="-122"/>
                <a:cs typeface="Calibri" panose="020F0502020204030204" charset="0"/>
              </a:rPr>
              <a:t>图</a:t>
            </a:r>
            <a:r>
              <a:rPr lang="en-US" altLang="zh-CN" sz="2800" b="1" dirty="0">
                <a:solidFill>
                  <a:srgbClr val="1F2DA8"/>
                </a:solidFill>
                <a:latin typeface="Calibri" panose="020F0502020204030204" charset="0"/>
                <a:ea typeface="楷体" panose="02010609060101010101" charset="-122"/>
                <a:cs typeface="Calibri" panose="020F0502020204030204" charset="0"/>
              </a:rPr>
              <a:t>(a) </a:t>
            </a:r>
            <a:r>
              <a:rPr lang="zh-CN" altLang="en-US" sz="2800" b="1" dirty="0">
                <a:solidFill>
                  <a:srgbClr val="1F2DA8"/>
                </a:solidFill>
                <a:latin typeface="Calibri" panose="020F0502020204030204" charset="0"/>
                <a:ea typeface="楷体" panose="02010609060101010101" charset="-122"/>
                <a:cs typeface="Calibri" panose="020F0502020204030204" charset="0"/>
              </a:rPr>
              <a:t>基于</a:t>
            </a:r>
            <a:r>
              <a:rPr lang="en-US" altLang="zh-CN" sz="2800" b="1" dirty="0">
                <a:solidFill>
                  <a:srgbClr val="1F2DA8"/>
                </a:solidFill>
                <a:latin typeface="Calibri" panose="020F0502020204030204" charset="0"/>
                <a:ea typeface="楷体" panose="02010609060101010101" charset="-122"/>
                <a:cs typeface="Calibri" panose="020F0502020204030204" charset="0"/>
              </a:rPr>
              <a:t>‘</a:t>
            </a:r>
            <a:r>
              <a:rPr lang="zh-CN" altLang="en-US" sz="2800" b="1" dirty="0">
                <a:solidFill>
                  <a:srgbClr val="1F2DA8"/>
                </a:solidFill>
                <a:latin typeface="Calibri" panose="020F0502020204030204" charset="0"/>
                <a:ea typeface="楷体" panose="02010609060101010101" charset="-122"/>
                <a:cs typeface="Calibri" panose="020F0502020204030204" charset="0"/>
              </a:rPr>
              <a:t>单个列</a:t>
            </a:r>
            <a:r>
              <a:rPr lang="en-US" altLang="zh-CN" sz="2800" b="1" dirty="0">
                <a:solidFill>
                  <a:srgbClr val="1F2DA8"/>
                </a:solidFill>
                <a:latin typeface="Calibri" panose="020F0502020204030204" charset="0"/>
                <a:ea typeface="楷体" panose="02010609060101010101" charset="-122"/>
                <a:cs typeface="Calibri" panose="020F0502020204030204" charset="0"/>
              </a:rPr>
              <a:t>’</a:t>
            </a:r>
            <a:r>
              <a:rPr lang="zh-CN" altLang="en-US" sz="2800" b="1" dirty="0">
                <a:solidFill>
                  <a:srgbClr val="1F2DA8"/>
                </a:solidFill>
                <a:latin typeface="Calibri" panose="020F0502020204030204" charset="0"/>
                <a:ea typeface="楷体" panose="02010609060101010101" charset="-122"/>
                <a:cs typeface="Calibri" panose="020F0502020204030204" charset="0"/>
              </a:rPr>
              <a:t>的取值约束</a:t>
            </a:r>
          </a:p>
          <a:p>
            <a:pPr algn="ctr">
              <a:lnSpc>
                <a:spcPct val="100000"/>
              </a:lnSpc>
              <a:spcBef>
                <a:spcPts val="0"/>
              </a:spcBef>
              <a:spcAft>
                <a:spcPts val="0"/>
              </a:spcAft>
            </a:pPr>
            <a:r>
              <a:rPr lang="en-US" altLang="zh-CN" sz="2800" b="1" dirty="0">
                <a:solidFill>
                  <a:srgbClr val="1F2DA8"/>
                </a:solidFill>
                <a:latin typeface="Calibri" panose="020F0502020204030204" charset="0"/>
                <a:ea typeface="楷体" panose="02010609060101010101" charset="-122"/>
                <a:cs typeface="Calibri" panose="020F0502020204030204" charset="0"/>
              </a:rPr>
              <a:t>(</a:t>
            </a:r>
            <a:r>
              <a:rPr lang="zh-CN" altLang="en-US" sz="2800" b="1" dirty="0">
                <a:solidFill>
                  <a:srgbClr val="1F2DA8"/>
                </a:solidFill>
                <a:latin typeface="Calibri" panose="020F0502020204030204" charset="0"/>
                <a:ea typeface="楷体" panose="02010609060101010101" charset="-122"/>
                <a:cs typeface="Calibri" panose="020F0502020204030204" charset="0"/>
              </a:rPr>
              <a:t>可作为列定义的组成成分</a:t>
            </a:r>
            <a:r>
              <a:rPr lang="en-US" altLang="zh-CN" sz="2800" b="1" dirty="0">
                <a:solidFill>
                  <a:srgbClr val="1F2DA8"/>
                </a:solidFill>
                <a:latin typeface="Calibri" panose="020F0502020204030204" charset="0"/>
                <a:ea typeface="楷体" panose="02010609060101010101" charset="-122"/>
                <a:cs typeface="Calibri" panose="020F0502020204030204" charset="0"/>
              </a:rPr>
              <a:t>)</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12</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en-US" altLang="zh-CN" dirty="0"/>
              <a:t>SQL</a:t>
            </a:r>
            <a:r>
              <a:rPr lang="zh-CN" altLang="en-US" dirty="0"/>
              <a:t>语言对完整性约束规则的支持</a:t>
            </a:r>
          </a:p>
        </p:txBody>
      </p:sp>
      <p:sp>
        <p:nvSpPr>
          <p:cNvPr id="5" name="内容占位符 4"/>
          <p:cNvSpPr>
            <a:spLocks noGrp="1"/>
          </p:cNvSpPr>
          <p:nvPr>
            <p:ph idx="1"/>
          </p:nvPr>
        </p:nvSpPr>
        <p:spPr/>
        <p:txBody>
          <a:bodyPr/>
          <a:lstStyle/>
          <a:p>
            <a:endParaRPr lang="zh-CN" altLang="en-US"/>
          </a:p>
        </p:txBody>
      </p:sp>
      <p:sp>
        <p:nvSpPr>
          <p:cNvPr id="73732" name="Text Box 4"/>
          <p:cNvSpPr txBox="1"/>
          <p:nvPr/>
        </p:nvSpPr>
        <p:spPr>
          <a:xfrm>
            <a:off x="424180" y="710565"/>
            <a:ext cx="11343005" cy="4498340"/>
          </a:xfrm>
          <a:prstGeom prst="rect">
            <a:avLst/>
          </a:prstGeom>
          <a:solidFill>
            <a:schemeClr val="bg1"/>
          </a:solidFill>
          <a:ln w="19050">
            <a:solidFill>
              <a:schemeClr val="tx1"/>
            </a:solidFill>
          </a:ln>
        </p:spPr>
        <p:txBody>
          <a:bodyPr wrap="square" lIns="252095" bIns="107950" anchor="t">
            <a:noAutofit/>
          </a:bodyPr>
          <a:lstStyle/>
          <a:p>
            <a:pPr>
              <a:lnSpc>
                <a:spcPct val="100000"/>
              </a:lnSpc>
              <a:spcBef>
                <a:spcPts val="1000"/>
              </a:spcBef>
              <a:spcAft>
                <a:spcPts val="0"/>
              </a:spcAft>
              <a:buClr>
                <a:schemeClr val="accent2"/>
              </a:buClr>
              <a:buFont typeface="Wingdings" panose="05000000000000000000" pitchFamily="2" charset="2"/>
            </a:pPr>
            <a:r>
              <a:rPr lang="zh-CN" altLang="en-US" sz="2800" b="1" dirty="0">
                <a:solidFill>
                  <a:srgbClr val="FF0066"/>
                </a:solidFill>
                <a:latin typeface="Calibri" panose="020F0502020204030204" charset="0"/>
                <a:cs typeface="Calibri" panose="020F0502020204030204" charset="0"/>
              </a:rPr>
              <a:t>[</a:t>
            </a:r>
            <a:r>
              <a:rPr lang="zh-CN" altLang="en-US" sz="2800" b="1" dirty="0">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CONSTRAINT </a:t>
            </a:r>
            <a:r>
              <a:rPr lang="en-US" altLang="zh-CN" sz="2800" b="1" dirty="0">
                <a:solidFill>
                  <a:srgbClr val="0000C8"/>
                </a:solidFill>
                <a:latin typeface="Calibri" panose="020F0502020204030204" charset="0"/>
                <a:cs typeface="Calibri" panose="020F0502020204030204" charset="0"/>
              </a:rPr>
              <a:t>constraint_name</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p>
          <a:p>
            <a:pPr>
              <a:lnSpc>
                <a:spcPct val="100000"/>
              </a:lnSpc>
              <a:spcBef>
                <a:spcPts val="1000"/>
              </a:spcBef>
              <a:spcAft>
                <a:spcPts val="0"/>
              </a:spcAft>
              <a:buClr>
                <a:srgbClr val="FF0066"/>
              </a:buClr>
              <a:buFont typeface="Wingdings" panose="05000000000000000000" pitchFamily="2" charset="2"/>
            </a:pPr>
            <a:r>
              <a:rPr lang="en-US" altLang="zh-CN" sz="2800" b="1" dirty="0">
                <a:solidFill>
                  <a:srgbClr val="FF0066"/>
                </a:solidFill>
                <a:latin typeface="Calibri" panose="020F0502020204030204" charset="0"/>
                <a:cs typeface="Calibri" panose="020F0502020204030204" charset="0"/>
              </a:rPr>
              <a:t>   {   </a:t>
            </a:r>
            <a:r>
              <a:rPr lang="en-US" altLang="zh-CN" sz="2800" b="1" dirty="0">
                <a:latin typeface="Calibri" panose="020F0502020204030204" charset="0"/>
                <a:cs typeface="Calibri" panose="020F0502020204030204" charset="0"/>
              </a:rPr>
              <a:t>UNIQUE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p>
          <a:p>
            <a:pPr lvl="1"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PRIMARY KEY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p>
          <a:p>
            <a:pPr lvl="1"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CHECK ( </a:t>
            </a:r>
            <a:r>
              <a:rPr lang="en-US" altLang="zh-CN" sz="2800" b="1" dirty="0">
                <a:solidFill>
                  <a:srgbClr val="0000C8"/>
                </a:solidFill>
                <a:latin typeface="Calibri" panose="020F0502020204030204" charset="0"/>
                <a:cs typeface="Calibri" panose="020F0502020204030204" charset="0"/>
              </a:rPr>
              <a:t>search_condition</a:t>
            </a:r>
            <a:r>
              <a:rPr lang="en-US" altLang="zh-CN" sz="2800" b="1" dirty="0">
                <a:latin typeface="Calibri" panose="020F0502020204030204" charset="0"/>
                <a:cs typeface="Calibri" panose="020F0502020204030204" charset="0"/>
              </a:rPr>
              <a:t> )</a:t>
            </a:r>
          </a:p>
          <a:p>
            <a:pPr lvl="1"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FOREIGN KEY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 )</a:t>
            </a:r>
          </a:p>
          <a:p>
            <a:pPr lvl="2"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latin typeface="Calibri" panose="020F0502020204030204" charset="0"/>
                <a:cs typeface="Calibri" panose="020F0502020204030204" charset="0"/>
              </a:rPr>
              <a:t>REFERENCES </a:t>
            </a:r>
            <a:r>
              <a:rPr lang="en-US" altLang="zh-CN" sz="2800" b="1" dirty="0">
                <a:solidFill>
                  <a:srgbClr val="0000C8"/>
                </a:solidFill>
                <a:latin typeface="Calibri" panose="020F0502020204030204" charset="0"/>
                <a:cs typeface="Calibri" panose="020F0502020204030204" charset="0"/>
              </a:rPr>
              <a:t>table_name</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 </a:t>
            </a:r>
            <a:r>
              <a:rPr lang="en-US" altLang="zh-CN" sz="2800" b="1" dirty="0">
                <a:solidFill>
                  <a:srgbClr val="0000C8"/>
                </a:solidFill>
                <a:latin typeface="Calibri" panose="020F0502020204030204" charset="0"/>
                <a:cs typeface="Calibri" panose="020F0502020204030204" charset="0"/>
              </a:rPr>
              <a:t>colname </a:t>
            </a:r>
            <a:r>
              <a:rPr lang="en-US" altLang="zh-CN" sz="2800" b="1" dirty="0">
                <a:latin typeface="Calibri" panose="020F0502020204030204" charset="0"/>
                <a:cs typeface="Calibri" panose="020F0502020204030204" charset="0"/>
              </a:rPr>
              <a:t>{ ,</a:t>
            </a:r>
            <a:r>
              <a:rPr lang="en-US" altLang="zh-CN" sz="2800" b="1" dirty="0">
                <a:solidFill>
                  <a:srgbClr val="0000C8"/>
                </a:solidFill>
                <a:latin typeface="Calibri" panose="020F0502020204030204" charset="0"/>
                <a:cs typeface="Calibri" panose="020F0502020204030204" charset="0"/>
              </a:rPr>
              <a:t>colname</a:t>
            </a:r>
            <a:r>
              <a:rPr lang="en-US" altLang="zh-CN" sz="2800" b="1" dirty="0">
                <a:latin typeface="Calibri" panose="020F0502020204030204" charset="0"/>
                <a:cs typeface="Calibri" panose="020F0502020204030204" charset="0"/>
              </a:rPr>
              <a:t>... } ) </a:t>
            </a:r>
            <a:r>
              <a:rPr lang="en-US" altLang="zh-CN" sz="2800" b="1" dirty="0">
                <a:solidFill>
                  <a:srgbClr val="FF0066"/>
                </a:solidFill>
                <a:latin typeface="Calibri" panose="020F0502020204030204" charset="0"/>
                <a:cs typeface="Calibri" panose="020F0502020204030204" charset="0"/>
              </a:rPr>
              <a:t>]</a:t>
            </a:r>
          </a:p>
          <a:p>
            <a:pPr lvl="3"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ON DELETE CASCADE </a:t>
            </a:r>
            <a:r>
              <a:rPr lang="en-US" altLang="zh-CN" sz="2800" b="1" dirty="0">
                <a:solidFill>
                  <a:srgbClr val="FF0066"/>
                </a:solidFill>
                <a:latin typeface="Calibri" panose="020F0502020204030204" charset="0"/>
                <a:cs typeface="Calibri" panose="020F0502020204030204" charset="0"/>
              </a:rPr>
              <a:t>| </a:t>
            </a:r>
            <a:r>
              <a:rPr lang="en-US" altLang="zh-CN" sz="2800" b="1" u="sng" dirty="0">
                <a:latin typeface="Calibri" panose="020F0502020204030204" charset="0"/>
                <a:cs typeface="Calibri" panose="020F0502020204030204" charset="0"/>
              </a:rPr>
              <a:t>RESTRICT</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SET NULL</a:t>
            </a:r>
            <a:r>
              <a:rPr lang="en-US" altLang="zh-CN" sz="2800" b="1" dirty="0">
                <a:solidFill>
                  <a:srgbClr val="FF0066"/>
                </a:solidFill>
                <a:latin typeface="Calibri" panose="020F0502020204030204" charset="0"/>
                <a:cs typeface="Calibri" panose="020F0502020204030204" charset="0"/>
              </a:rPr>
              <a:t> ]</a:t>
            </a:r>
          </a:p>
          <a:p>
            <a:pPr lvl="3" indent="0" algn="l" eaLnBrk="1" hangingPunct="1">
              <a:lnSpc>
                <a:spcPct val="100000"/>
              </a:lnSpc>
              <a:spcBef>
                <a:spcPts val="1000"/>
              </a:spcBef>
              <a:spcAft>
                <a:spcPts val="0"/>
              </a:spcAft>
              <a:buClr>
                <a:srgbClr val="FF0066"/>
              </a:buClr>
              <a:buFont typeface="Wingdings" panose="05000000000000000000" pitchFamily="2" charset="2"/>
              <a:buNone/>
            </a:pP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 ON UPDATE CASCADE</a:t>
            </a:r>
            <a:r>
              <a:rPr lang="en-US" altLang="zh-CN" sz="2800" b="1" dirty="0">
                <a:solidFill>
                  <a:srgbClr val="FF0066"/>
                </a:solidFill>
                <a:latin typeface="Calibri" panose="020F0502020204030204" charset="0"/>
                <a:cs typeface="Calibri" panose="020F0502020204030204" charset="0"/>
              </a:rPr>
              <a:t>|</a:t>
            </a:r>
            <a:r>
              <a:rPr lang="en-US" altLang="zh-CN" sz="2800" b="1" u="sng" dirty="0">
                <a:latin typeface="Calibri" panose="020F0502020204030204" charset="0"/>
                <a:cs typeface="Calibri" panose="020F0502020204030204" charset="0"/>
              </a:rPr>
              <a:t>RESTRICT</a:t>
            </a:r>
            <a:r>
              <a:rPr lang="en-US" altLang="zh-CN" sz="2800" b="1" dirty="0">
                <a:solidFill>
                  <a:srgbClr val="FF0066"/>
                </a:solidFill>
                <a:latin typeface="Calibri" panose="020F0502020204030204" charset="0"/>
                <a:cs typeface="Calibri" panose="020F0502020204030204" charset="0"/>
              </a:rPr>
              <a:t>|</a:t>
            </a:r>
            <a:r>
              <a:rPr lang="en-US" altLang="zh-CN" sz="2800" b="1" dirty="0">
                <a:latin typeface="Calibri" panose="020F0502020204030204" charset="0"/>
                <a:cs typeface="Calibri" panose="020F0502020204030204" charset="0"/>
              </a:rPr>
              <a:t>SET NULL</a:t>
            </a:r>
            <a:r>
              <a:rPr lang="en-US" altLang="zh-CN" sz="2800" b="1" dirty="0">
                <a:solidFill>
                  <a:srgbClr val="FF0066"/>
                </a:solidFill>
                <a:latin typeface="Calibri" panose="020F0502020204030204" charset="0"/>
                <a:cs typeface="Calibri" panose="020F0502020204030204" charset="0"/>
              </a:rPr>
              <a:t> ]</a:t>
            </a:r>
            <a:r>
              <a:rPr lang="en-US" altLang="zh-CN" sz="2800" b="1" dirty="0">
                <a:latin typeface="Calibri" panose="020F0502020204030204" charset="0"/>
                <a:cs typeface="Calibri" panose="020F0502020204030204" charset="0"/>
              </a:rPr>
              <a:t>   </a:t>
            </a:r>
            <a:r>
              <a:rPr lang="en-US" altLang="zh-CN" sz="2800" b="1" dirty="0">
                <a:solidFill>
                  <a:srgbClr val="FF0066"/>
                </a:solidFill>
                <a:latin typeface="Calibri" panose="020F0502020204030204" charset="0"/>
                <a:cs typeface="Calibri" panose="020F0502020204030204" charset="0"/>
              </a:rPr>
              <a:t>}</a:t>
            </a:r>
          </a:p>
        </p:txBody>
      </p:sp>
      <p:sp>
        <p:nvSpPr>
          <p:cNvPr id="73733" name="Text Box 5"/>
          <p:cNvSpPr txBox="1"/>
          <p:nvPr/>
        </p:nvSpPr>
        <p:spPr>
          <a:xfrm>
            <a:off x="424180" y="5323840"/>
            <a:ext cx="11343005" cy="959485"/>
          </a:xfrm>
          <a:prstGeom prst="rect">
            <a:avLst/>
          </a:prstGeom>
          <a:noFill/>
          <a:ln w="9525">
            <a:noFill/>
          </a:ln>
        </p:spPr>
        <p:txBody>
          <a:bodyPr wrap="square" anchor="t">
            <a:noAutofit/>
          </a:bodyPr>
          <a:lstStyle/>
          <a:p>
            <a:pPr algn="ctr">
              <a:lnSpc>
                <a:spcPct val="100000"/>
              </a:lnSpc>
              <a:spcBef>
                <a:spcPts val="50"/>
              </a:spcBef>
            </a:pPr>
            <a:r>
              <a:rPr lang="zh-CN" altLang="en-US" sz="2800" b="1" dirty="0">
                <a:solidFill>
                  <a:srgbClr val="0000C8"/>
                </a:solidFill>
                <a:latin typeface="Calibri" panose="020F0502020204030204" charset="0"/>
                <a:ea typeface="楷体" panose="02010609060101010101" charset="-122"/>
                <a:cs typeface="Calibri" panose="020F0502020204030204" charset="0"/>
                <a:sym typeface="+mn-ea"/>
              </a:rPr>
              <a:t>图</a:t>
            </a:r>
            <a:r>
              <a:rPr lang="en-US" altLang="zh-CN" sz="2800" b="1" dirty="0">
                <a:solidFill>
                  <a:srgbClr val="0000C8"/>
                </a:solidFill>
                <a:latin typeface="Calibri" panose="020F0502020204030204" charset="0"/>
                <a:ea typeface="楷体" panose="02010609060101010101" charset="-122"/>
                <a:cs typeface="Calibri" panose="020F0502020204030204" charset="0"/>
                <a:sym typeface="+mn-ea"/>
              </a:rPr>
              <a:t>(b) </a:t>
            </a:r>
            <a:r>
              <a:rPr lang="zh-CN" altLang="en-US" sz="2800" b="1" dirty="0">
                <a:solidFill>
                  <a:srgbClr val="0000C8"/>
                </a:solidFill>
                <a:latin typeface="Calibri" panose="020F0502020204030204" charset="0"/>
                <a:ea typeface="楷体" panose="02010609060101010101" charset="-122"/>
                <a:cs typeface="Calibri" panose="020F0502020204030204" charset="0"/>
              </a:rPr>
              <a:t>基于</a:t>
            </a:r>
            <a:r>
              <a:rPr lang="en-US" altLang="zh-CN" sz="2800" b="1" dirty="0">
                <a:solidFill>
                  <a:srgbClr val="0000C8"/>
                </a:solidFill>
                <a:latin typeface="Calibri" panose="020F0502020204030204" charset="0"/>
                <a:ea typeface="楷体" panose="02010609060101010101" charset="-122"/>
                <a:cs typeface="Calibri" panose="020F0502020204030204" charset="0"/>
              </a:rPr>
              <a:t>‘</a:t>
            </a:r>
            <a:r>
              <a:rPr lang="zh-CN" altLang="en-US" sz="2800" b="1" dirty="0">
                <a:solidFill>
                  <a:srgbClr val="0000C8"/>
                </a:solidFill>
                <a:latin typeface="Calibri" panose="020F0502020204030204" charset="0"/>
                <a:ea typeface="楷体" panose="02010609060101010101" charset="-122"/>
                <a:cs typeface="Calibri" panose="020F0502020204030204" charset="0"/>
              </a:rPr>
              <a:t>多个列</a:t>
            </a:r>
            <a:r>
              <a:rPr lang="en-US" altLang="zh-CN" sz="2800" b="1" dirty="0">
                <a:solidFill>
                  <a:srgbClr val="0000C8"/>
                </a:solidFill>
                <a:latin typeface="Calibri" panose="020F0502020204030204" charset="0"/>
                <a:ea typeface="楷体" panose="02010609060101010101" charset="-122"/>
                <a:cs typeface="Calibri" panose="020F0502020204030204" charset="0"/>
              </a:rPr>
              <a:t>’</a:t>
            </a:r>
            <a:r>
              <a:rPr lang="zh-CN" altLang="en-US" sz="2800" b="1" dirty="0">
                <a:solidFill>
                  <a:srgbClr val="0000C8"/>
                </a:solidFill>
                <a:latin typeface="Calibri" panose="020F0502020204030204" charset="0"/>
                <a:ea typeface="楷体" panose="02010609060101010101" charset="-122"/>
                <a:cs typeface="Calibri" panose="020F0502020204030204" charset="0"/>
              </a:rPr>
              <a:t>的取值约束</a:t>
            </a:r>
          </a:p>
          <a:p>
            <a:pPr algn="ctr">
              <a:lnSpc>
                <a:spcPct val="100000"/>
              </a:lnSpc>
              <a:spcBef>
                <a:spcPts val="50"/>
              </a:spcBef>
            </a:pPr>
            <a:r>
              <a:rPr lang="zh-CN" altLang="en-US" sz="2800" b="1" dirty="0">
                <a:solidFill>
                  <a:srgbClr val="0000C8"/>
                </a:solidFill>
                <a:latin typeface="Calibri" panose="020F0502020204030204" charset="0"/>
                <a:ea typeface="楷体" panose="02010609060101010101" charset="-122"/>
                <a:cs typeface="Calibri" panose="020F0502020204030204" charset="0"/>
              </a:rPr>
              <a:t>（作为表级约束，需另起一行单独定义）</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solidFill>
                  <a:srgbClr val="FF0000"/>
                </a:solidFill>
                <a:latin typeface="Arial" panose="020B0604020202020204" pitchFamily="34" charset="0"/>
                <a:cs typeface="Arial" panose="020B0604020202020204" pitchFamily="34" charset="0"/>
              </a:rPr>
              <a:t>5.1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latin typeface="Arial" panose="020B0604020202020204" pitchFamily="34" charset="0"/>
                <a:cs typeface="Arial" panose="020B0604020202020204" pitchFamily="34" charset="0"/>
              </a:rPr>
              <a:t>5.6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14</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5.1  </a:t>
            </a:r>
            <a:r>
              <a:rPr lang="zh-CN" altLang="en-US"/>
              <a:t>实体完整性</a:t>
            </a:r>
          </a:p>
        </p:txBody>
      </p:sp>
      <p:sp>
        <p:nvSpPr>
          <p:cNvPr id="3" name="内容占位符 2"/>
          <p:cNvSpPr>
            <a:spLocks noGrp="1"/>
          </p:cNvSpPr>
          <p:nvPr>
            <p:ph idx="1"/>
          </p:nvPr>
        </p:nvSpPr>
        <p:spPr/>
        <p:txBody>
          <a:bodyPr/>
          <a:lstStyle/>
          <a:p>
            <a:pPr marL="0" indent="0">
              <a:lnSpc>
                <a:spcPct val="100000"/>
              </a:lnSpc>
              <a:spcBef>
                <a:spcPts val="800"/>
              </a:spcBef>
              <a:buNone/>
            </a:pPr>
            <a:r>
              <a:rPr lang="zh-CN" altLang="en-US" sz="2800">
                <a:solidFill>
                  <a:srgbClr val="C00000"/>
                </a:solidFill>
                <a:latin typeface="Calibri" panose="020F0502020204030204" charset="0"/>
                <a:cs typeface="Calibri" panose="020F0502020204030204" charset="0"/>
              </a:rPr>
              <a:t>5.1.1 实体完整性定义</a:t>
            </a:r>
          </a:p>
          <a:p>
            <a:pPr lvl="1">
              <a:lnSpc>
                <a:spcPct val="100000"/>
              </a:lnSpc>
              <a:spcBef>
                <a:spcPts val="800"/>
              </a:spcBef>
            </a:pPr>
            <a:r>
              <a:rPr lang="zh-CN" altLang="en-US" sz="2800" dirty="0">
                <a:latin typeface="Calibri" panose="020F0502020204030204" charset="0"/>
                <a:cs typeface="Calibri" panose="020F0502020204030204" charset="0"/>
                <a:sym typeface="+mn-ea"/>
              </a:rPr>
              <a:t>在</a:t>
            </a:r>
            <a:r>
              <a:rPr lang="en-US" altLang="zh-CN" sz="2800" dirty="0">
                <a:latin typeface="Calibri" panose="020F0502020204030204" charset="0"/>
                <a:cs typeface="Calibri" panose="020F0502020204030204" charset="0"/>
                <a:sym typeface="+mn-ea"/>
              </a:rPr>
              <a:t> CREATE TABLE </a:t>
            </a:r>
            <a:r>
              <a:rPr lang="zh-CN" altLang="en-US" sz="2800" dirty="0">
                <a:latin typeface="Calibri" panose="020F0502020204030204" charset="0"/>
                <a:cs typeface="Calibri" panose="020F0502020204030204" charset="0"/>
                <a:sym typeface="+mn-ea"/>
              </a:rPr>
              <a:t>命令中</a:t>
            </a:r>
          </a:p>
          <a:p>
            <a:pPr lvl="2">
              <a:lnSpc>
                <a:spcPct val="100000"/>
              </a:lnSpc>
              <a:spcBef>
                <a:spcPts val="800"/>
              </a:spcBef>
            </a:pPr>
            <a:r>
              <a:rPr lang="zh-CN" altLang="en-US" sz="2800" dirty="0">
                <a:latin typeface="Calibri" panose="020F0502020204030204" charset="0"/>
                <a:cs typeface="Calibri" panose="020F0502020204030204" charset="0"/>
                <a:sym typeface="+mn-ea"/>
              </a:rPr>
              <a:t>用</a:t>
            </a:r>
            <a:r>
              <a:rPr lang="en-US" altLang="zh-CN" sz="2800" dirty="0">
                <a:latin typeface="Calibri" panose="020F0502020204030204" charset="0"/>
                <a:cs typeface="Calibri" panose="020F0502020204030204" charset="0"/>
                <a:sym typeface="+mn-ea"/>
              </a:rPr>
              <a:t> PRIMARY KEY </a:t>
            </a:r>
            <a:r>
              <a:rPr lang="zh-CN" altLang="en-US" sz="2800" dirty="0">
                <a:latin typeface="Calibri" panose="020F0502020204030204" charset="0"/>
                <a:cs typeface="Calibri" panose="020F0502020204030204" charset="0"/>
                <a:sym typeface="+mn-ea"/>
              </a:rPr>
              <a:t>定义主码</a:t>
            </a:r>
          </a:p>
          <a:p>
            <a:pPr lvl="2">
              <a:lnSpc>
                <a:spcPct val="100000"/>
              </a:lnSpc>
              <a:spcBef>
                <a:spcPts val="800"/>
              </a:spcBef>
            </a:pPr>
            <a:r>
              <a:rPr lang="zh-CN" altLang="en-US" sz="2800" dirty="0">
                <a:latin typeface="Calibri" panose="020F0502020204030204" charset="0"/>
                <a:cs typeface="Calibri" panose="020F0502020204030204" charset="0"/>
                <a:sym typeface="+mn-ea"/>
              </a:rPr>
              <a:t>或者，用</a:t>
            </a:r>
            <a:r>
              <a:rPr lang="en-US" altLang="zh-CN" sz="2800" dirty="0">
                <a:latin typeface="Calibri" panose="020F0502020204030204" charset="0"/>
                <a:cs typeface="Calibri" panose="020F0502020204030204" charset="0"/>
                <a:sym typeface="+mn-ea"/>
              </a:rPr>
              <a:t> UNIQUE + NOT NULL </a:t>
            </a:r>
            <a:r>
              <a:rPr lang="zh-CN" altLang="en-US" sz="2800" dirty="0">
                <a:latin typeface="Calibri" panose="020F0502020204030204" charset="0"/>
                <a:cs typeface="Calibri" panose="020F0502020204030204" charset="0"/>
                <a:sym typeface="+mn-ea"/>
              </a:rPr>
              <a:t>定义唯一码</a:t>
            </a:r>
          </a:p>
          <a:p>
            <a:pPr lvl="1">
              <a:lnSpc>
                <a:spcPct val="100000"/>
              </a:lnSpc>
              <a:spcBef>
                <a:spcPts val="800"/>
              </a:spcBef>
            </a:pPr>
            <a:endParaRPr lang="zh-CN" altLang="en-US" sz="2800">
              <a:solidFill>
                <a:srgbClr val="1F2DA8"/>
              </a:solidFill>
              <a:latin typeface="Calibri" panose="020F0502020204030204" charset="0"/>
              <a:cs typeface="Calibri" panose="020F0502020204030204" charset="0"/>
            </a:endParaRPr>
          </a:p>
          <a:p>
            <a:pPr marL="0" indent="0">
              <a:lnSpc>
                <a:spcPct val="100000"/>
              </a:lnSpc>
              <a:spcBef>
                <a:spcPts val="800"/>
              </a:spcBef>
              <a:buNone/>
            </a:pPr>
            <a:r>
              <a:rPr lang="zh-CN" altLang="en-US" sz="2800">
                <a:solidFill>
                  <a:srgbClr val="C00000"/>
                </a:solidFill>
                <a:latin typeface="Calibri" panose="020F0502020204030204" charset="0"/>
                <a:cs typeface="Calibri" panose="020F0502020204030204" charset="0"/>
              </a:rPr>
              <a:t>5.1.2 实体完整性检查和违约处理</a:t>
            </a:r>
          </a:p>
          <a:p>
            <a:pPr lvl="1">
              <a:lnSpc>
                <a:spcPct val="100000"/>
              </a:lnSpc>
              <a:spcBef>
                <a:spcPts val="800"/>
              </a:spcBef>
            </a:pPr>
            <a:r>
              <a:rPr lang="zh-CN" altLang="en-US" sz="2800" dirty="0">
                <a:latin typeface="Calibri" panose="020F0502020204030204" charset="0"/>
                <a:cs typeface="Calibri" panose="020F0502020204030204" charset="0"/>
                <a:sym typeface="+mn-ea"/>
              </a:rPr>
              <a:t>插入或对主码列进行更新操作时，关系数据库管理系统按照实体完整性规则自动进行检查。包括：</a:t>
            </a:r>
            <a:endParaRPr lang="zh-CN" altLang="en-US" sz="2800" dirty="0">
              <a:latin typeface="Calibri" panose="020F0502020204030204" charset="0"/>
              <a:cs typeface="Calibri" panose="020F0502020204030204" charset="0"/>
            </a:endParaRPr>
          </a:p>
          <a:p>
            <a:pPr lvl="2">
              <a:lnSpc>
                <a:spcPct val="100000"/>
              </a:lnSpc>
              <a:spcBef>
                <a:spcPts val="800"/>
              </a:spcBef>
            </a:pPr>
            <a:r>
              <a:rPr lang="zh-CN" altLang="en-US" sz="2800" dirty="0">
                <a:latin typeface="Calibri" panose="020F0502020204030204" charset="0"/>
                <a:cs typeface="Calibri" panose="020F0502020204030204" charset="0"/>
                <a:sym typeface="+mn-ea"/>
              </a:rPr>
              <a:t>检查主码值是否唯一，如果不唯一则拒绝插入或修改</a:t>
            </a:r>
            <a:endParaRPr lang="zh-CN" altLang="en-US" sz="2800" dirty="0">
              <a:latin typeface="Calibri" panose="020F0502020204030204" charset="0"/>
              <a:cs typeface="Calibri" panose="020F0502020204030204" charset="0"/>
            </a:endParaRPr>
          </a:p>
          <a:p>
            <a:pPr lvl="2">
              <a:lnSpc>
                <a:spcPct val="100000"/>
              </a:lnSpc>
              <a:spcBef>
                <a:spcPts val="800"/>
              </a:spcBef>
            </a:pPr>
            <a:r>
              <a:rPr lang="zh-CN" altLang="en-US" sz="2800" dirty="0">
                <a:latin typeface="Calibri" panose="020F0502020204030204" charset="0"/>
                <a:cs typeface="Calibri" panose="020F0502020204030204" charset="0"/>
                <a:sym typeface="+mn-ea"/>
              </a:rPr>
              <a:t>检查主码的各个列是否为空，只要有一个为空就拒绝插入或修改</a:t>
            </a:r>
            <a:endParaRPr lang="zh-CN" altLang="en-US" sz="2800">
              <a:solidFill>
                <a:srgbClr val="1F2DA8"/>
              </a:solidFill>
              <a:latin typeface="Calibri" panose="020F0502020204030204" charset="0"/>
              <a:cs typeface="Calibri" panose="020F0502020204030204" charset="0"/>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15</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linds(horizontal)">
                                      <p:cBhvr>
                                        <p:cTn id="10" dur="500"/>
                                        <p:tgtEl>
                                          <p:spTgt spid="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blinds(horizontal)">
                                      <p:cBhvr>
                                        <p:cTn id="13" dur="500"/>
                                        <p:tgtEl>
                                          <p:spTgt spid="3">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blinds(horizontal)">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实体完整性定义 </a:t>
            </a:r>
            <a:r>
              <a:rPr lang="en-US" altLang="zh-CN" sz="3200" dirty="0"/>
              <a:t>1</a:t>
            </a:r>
            <a:endParaRPr lang="zh-CN" altLang="en-US" dirty="0"/>
          </a:p>
        </p:txBody>
      </p:sp>
      <p:sp>
        <p:nvSpPr>
          <p:cNvPr id="3" name="内容占位符 2"/>
          <p:cNvSpPr>
            <a:spLocks noGrp="1"/>
          </p:cNvSpPr>
          <p:nvPr>
            <p:ph idx="1"/>
          </p:nvPr>
        </p:nvSpPr>
        <p:spPr/>
        <p:txBody>
          <a:bodyPr/>
          <a:lstStyle/>
          <a:p>
            <a:pPr eaLnBrk="1" hangingPunct="1">
              <a:lnSpc>
                <a:spcPct val="140000"/>
              </a:lnSpc>
            </a:pPr>
            <a:r>
              <a:rPr lang="zh-CN" altLang="en-US" dirty="0">
                <a:latin typeface="Calibri" panose="020F0502020204030204" charset="0"/>
                <a:cs typeface="Calibri" panose="020F0502020204030204" charset="0"/>
              </a:rPr>
              <a:t>关系模型的实体完整性定义</a:t>
            </a:r>
          </a:p>
          <a:p>
            <a:pPr lvl="1" eaLnBrk="1" hangingPunct="1">
              <a:lnSpc>
                <a:spcPct val="140000"/>
              </a:lnSpc>
            </a:pPr>
            <a:r>
              <a:rPr lang="zh-CN" altLang="en-US" dirty="0">
                <a:latin typeface="Calibri" panose="020F0502020204030204" charset="0"/>
                <a:cs typeface="Calibri" panose="020F0502020204030204" charset="0"/>
              </a:rPr>
              <a:t>在</a:t>
            </a:r>
            <a:r>
              <a:rPr lang="en-US" altLang="zh-CN" dirty="0">
                <a:latin typeface="Calibri" panose="020F0502020204030204" charset="0"/>
                <a:cs typeface="Calibri" panose="020F0502020204030204" charset="0"/>
              </a:rPr>
              <a:t> CREATE TABLE </a:t>
            </a:r>
            <a:r>
              <a:rPr lang="zh-CN" altLang="en-US" dirty="0">
                <a:latin typeface="Calibri" panose="020F0502020204030204" charset="0"/>
                <a:cs typeface="Calibri" panose="020F0502020204030204" charset="0"/>
              </a:rPr>
              <a:t>命令中</a:t>
            </a:r>
            <a:r>
              <a:rPr lang="zh-CN" altLang="en-US" dirty="0">
                <a:solidFill>
                  <a:srgbClr val="C00000"/>
                </a:solidFill>
                <a:latin typeface="Calibri" panose="020F0502020204030204" charset="0"/>
                <a:cs typeface="Calibri" panose="020F0502020204030204" charset="0"/>
              </a:rPr>
              <a:t>用</a:t>
            </a:r>
            <a:r>
              <a:rPr lang="en-US" altLang="zh-CN" dirty="0">
                <a:solidFill>
                  <a:srgbClr val="C00000"/>
                </a:solidFill>
                <a:latin typeface="Calibri" panose="020F0502020204030204" charset="0"/>
                <a:cs typeface="Calibri" panose="020F0502020204030204" charset="0"/>
              </a:rPr>
              <a:t> PRIMARY KEY </a:t>
            </a:r>
            <a:r>
              <a:rPr lang="zh-CN" altLang="en-US" dirty="0">
                <a:solidFill>
                  <a:srgbClr val="C00000"/>
                </a:solidFill>
                <a:latin typeface="Calibri" panose="020F0502020204030204" charset="0"/>
                <a:cs typeface="Calibri" panose="020F0502020204030204" charset="0"/>
              </a:rPr>
              <a:t>定义主码</a:t>
            </a:r>
          </a:p>
          <a:p>
            <a:pPr lvl="1" eaLnBrk="1" hangingPunct="1">
              <a:lnSpc>
                <a:spcPct val="140000"/>
              </a:lnSpc>
            </a:pPr>
            <a:r>
              <a:rPr lang="zh-CN" altLang="en-US" dirty="0">
                <a:latin typeface="Calibri" panose="020F0502020204030204" charset="0"/>
                <a:cs typeface="Calibri" panose="020F0502020204030204" charset="0"/>
              </a:rPr>
              <a:t>或者</a:t>
            </a:r>
            <a:r>
              <a:rPr lang="en-US" altLang="zh-CN" dirty="0">
                <a:latin typeface="Calibri" panose="020F0502020204030204" charset="0"/>
                <a:cs typeface="Calibri" panose="020F0502020204030204" charset="0"/>
              </a:rPr>
              <a:t> </a:t>
            </a:r>
            <a:r>
              <a:rPr lang="zh-CN" altLang="en-US" dirty="0">
                <a:solidFill>
                  <a:srgbClr val="C00000"/>
                </a:solidFill>
                <a:latin typeface="Calibri" panose="020F0502020204030204" charset="0"/>
                <a:cs typeface="Calibri" panose="020F0502020204030204" charset="0"/>
              </a:rPr>
              <a:t>用</a:t>
            </a:r>
            <a:r>
              <a:rPr lang="en-US" altLang="zh-CN" dirty="0">
                <a:solidFill>
                  <a:srgbClr val="C00000"/>
                </a:solidFill>
                <a:latin typeface="Calibri" panose="020F0502020204030204" charset="0"/>
                <a:cs typeface="Calibri" panose="020F0502020204030204" charset="0"/>
              </a:rPr>
              <a:t> UNIQUE + NOT NULL </a:t>
            </a:r>
            <a:r>
              <a:rPr lang="zh-CN" altLang="en-US" dirty="0">
                <a:solidFill>
                  <a:srgbClr val="C00000"/>
                </a:solidFill>
                <a:latin typeface="Calibri" panose="020F0502020204030204" charset="0"/>
                <a:cs typeface="Calibri" panose="020F0502020204030204" charset="0"/>
              </a:rPr>
              <a:t>定义唯一码</a:t>
            </a:r>
            <a:endParaRPr lang="zh-CN" altLang="en-US" dirty="0">
              <a:latin typeface="Calibri" panose="020F0502020204030204" charset="0"/>
              <a:cs typeface="Calibri" panose="020F0502020204030204" charset="0"/>
            </a:endParaRPr>
          </a:p>
          <a:p>
            <a:pPr eaLnBrk="1" hangingPunct="1">
              <a:lnSpc>
                <a:spcPct val="140000"/>
              </a:lnSpc>
              <a:spcBef>
                <a:spcPts val="3000"/>
              </a:spcBef>
            </a:pPr>
            <a:r>
              <a:rPr lang="zh-CN" altLang="en-US" dirty="0">
                <a:latin typeface="Calibri" panose="020F0502020204030204" charset="0"/>
                <a:cs typeface="Calibri" panose="020F0502020204030204" charset="0"/>
              </a:rPr>
              <a:t>单列构成的码有两种说明方法 </a:t>
            </a:r>
          </a:p>
          <a:p>
            <a:pPr lvl="1" eaLnBrk="1" hangingPunct="1">
              <a:lnSpc>
                <a:spcPct val="140000"/>
              </a:lnSpc>
            </a:pPr>
            <a:r>
              <a:rPr lang="zh-CN" altLang="en-US" dirty="0">
                <a:latin typeface="Calibri" panose="020F0502020204030204" charset="0"/>
                <a:cs typeface="Calibri" panose="020F0502020204030204" charset="0"/>
              </a:rPr>
              <a:t>定义为</a:t>
            </a:r>
            <a:r>
              <a:rPr lang="zh-CN" altLang="en-US" dirty="0">
                <a:solidFill>
                  <a:srgbClr val="C00000"/>
                </a:solidFill>
                <a:latin typeface="Calibri" panose="020F0502020204030204" charset="0"/>
                <a:cs typeface="Calibri" panose="020F0502020204030204" charset="0"/>
              </a:rPr>
              <a:t>列级约束条件</a:t>
            </a:r>
            <a:r>
              <a:rPr lang="zh-CN" altLang="en-US" dirty="0">
                <a:latin typeface="Calibri" panose="020F0502020204030204" charset="0"/>
                <a:cs typeface="Calibri" panose="020F0502020204030204" charset="0"/>
              </a:rPr>
              <a:t>（作为某一列的定义成分）</a:t>
            </a:r>
          </a:p>
          <a:p>
            <a:pPr lvl="1" eaLnBrk="1" hangingPunct="1">
              <a:lnSpc>
                <a:spcPct val="140000"/>
              </a:lnSpc>
            </a:pPr>
            <a:r>
              <a:rPr lang="zh-CN" altLang="en-US" dirty="0">
                <a:latin typeface="Calibri" panose="020F0502020204030204" charset="0"/>
                <a:cs typeface="Calibri" panose="020F0502020204030204" charset="0"/>
              </a:rPr>
              <a:t>定义为</a:t>
            </a:r>
            <a:r>
              <a:rPr lang="zh-CN" altLang="en-US" dirty="0">
                <a:solidFill>
                  <a:srgbClr val="C00000"/>
                </a:solidFill>
                <a:latin typeface="Calibri" panose="020F0502020204030204" charset="0"/>
                <a:cs typeface="Calibri" panose="020F0502020204030204" charset="0"/>
              </a:rPr>
              <a:t>表级约束条件</a:t>
            </a:r>
            <a:r>
              <a:rPr lang="zh-CN" altLang="en-US" dirty="0">
                <a:latin typeface="Calibri" panose="020F0502020204030204" charset="0"/>
                <a:cs typeface="Calibri" panose="020F0502020204030204" charset="0"/>
              </a:rPr>
              <a:t>（作为表的定义成分）</a:t>
            </a:r>
          </a:p>
          <a:p>
            <a:pPr eaLnBrk="1" hangingPunct="1">
              <a:lnSpc>
                <a:spcPct val="140000"/>
              </a:lnSpc>
              <a:spcBef>
                <a:spcPts val="3000"/>
              </a:spcBef>
            </a:pPr>
            <a:r>
              <a:rPr lang="zh-CN" altLang="en-US" dirty="0">
                <a:latin typeface="Calibri" panose="020F0502020204030204" charset="0"/>
                <a:cs typeface="Calibri" panose="020F0502020204030204" charset="0"/>
              </a:rPr>
              <a:t>对多个列构成的码只有一种说明方法</a:t>
            </a:r>
          </a:p>
          <a:p>
            <a:pPr lvl="1" eaLnBrk="1" hangingPunct="1">
              <a:lnSpc>
                <a:spcPct val="140000"/>
              </a:lnSpc>
            </a:pPr>
            <a:r>
              <a:rPr lang="zh-CN" altLang="en-US" dirty="0">
                <a:latin typeface="Calibri" panose="020F0502020204030204" charset="0"/>
                <a:cs typeface="Calibri" panose="020F0502020204030204" charset="0"/>
              </a:rPr>
              <a:t>定义为表级约束条件 </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16</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linds(horizontal)">
                                      <p:cBhvr>
                                        <p:cTn id="18" dur="500"/>
                                        <p:tgtEl>
                                          <p:spTgt spid="3">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linds(horizontal)">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zh-CN" altLang="en-US" dirty="0"/>
              <a:t>实体完整性定义 </a:t>
            </a:r>
            <a:r>
              <a:rPr lang="en-US" altLang="zh-CN" dirty="0"/>
              <a:t>2</a:t>
            </a:r>
          </a:p>
        </p:txBody>
      </p:sp>
      <p:sp>
        <p:nvSpPr>
          <p:cNvPr id="11268" name="Rectangle 3"/>
          <p:cNvSpPr>
            <a:spLocks noGrp="1" noChangeArrowheads="1"/>
          </p:cNvSpPr>
          <p:nvPr>
            <p:ph sz="half" idx="2"/>
          </p:nvPr>
        </p:nvSpPr>
        <p:spPr>
          <a:solidFill>
            <a:schemeClr val="accent3">
              <a:lumMod val="20000"/>
              <a:lumOff val="80000"/>
              <a:alpha val="50000"/>
            </a:schemeClr>
          </a:solidFill>
        </p:spPr>
        <p:txBody>
          <a:bodyPr>
            <a:noAutofit/>
          </a:bodyPr>
          <a:lstStyle/>
          <a:p>
            <a:pPr lvl="0">
              <a:lnSpc>
                <a:spcPct val="110000"/>
              </a:lnSpc>
              <a:spcBef>
                <a:spcPts val="600"/>
              </a:spcBef>
            </a:pPr>
            <a:r>
              <a:rPr lang="zh-CN" altLang="en-US" dirty="0">
                <a:latin typeface="Calibri" panose="020F0502020204030204" charset="0"/>
                <a:cs typeface="Calibri" panose="020F0502020204030204" charset="0"/>
              </a:rPr>
              <a:t>在列级定义主码              </a:t>
            </a:r>
          </a:p>
          <a:p>
            <a:pPr marL="0" lvl="0" indent="0">
              <a:lnSpc>
                <a:spcPct val="110000"/>
              </a:lnSpc>
              <a:spcBef>
                <a:spcPts val="600"/>
              </a:spcBef>
              <a:buNone/>
            </a:pPr>
            <a:r>
              <a:rPr lang="en-US" altLang="zh-CN" sz="2600" dirty="0">
                <a:latin typeface="Calibri" panose="020F0502020204030204" charset="0"/>
                <a:cs typeface="Calibri" panose="020F0502020204030204" charset="0"/>
              </a:rPr>
              <a:t>CREATE TABLE Student (</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Sno</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9</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  </a:t>
            </a:r>
            <a:r>
              <a:rPr lang="en-US" altLang="zh-CN" sz="2600" dirty="0">
                <a:solidFill>
                  <a:srgbClr val="FF0000"/>
                </a:solidFill>
                <a:latin typeface="Calibri" panose="020F0502020204030204" charset="0"/>
                <a:cs typeface="Calibri" panose="020F0502020204030204" charset="0"/>
              </a:rPr>
              <a:t>PRIMARY KEY</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Sname</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20</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 NOT NULL</a:t>
            </a:r>
            <a:r>
              <a:rPr lang="zh-CN" altLang="en-US" sz="2600" dirty="0">
                <a:latin typeface="Calibri" panose="020F0502020204030204" charset="0"/>
                <a:cs typeface="Calibri" panose="020F0502020204030204" charset="0"/>
              </a:rPr>
              <a:t>,     </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Ssex</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a:latin typeface="Calibri" panose="020F0502020204030204" charset="0"/>
                <a:cs typeface="Calibri" panose="020F0502020204030204" charset="0"/>
              </a:rPr>
              <a:t>Sage  SMALLINT</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Sdept</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20</a:t>
            </a:r>
            <a:r>
              <a:rPr lang="zh-CN" altLang="en-US" sz="2600" dirty="0">
                <a:latin typeface="Calibri" panose="020F0502020204030204" charset="0"/>
                <a:cs typeface="Calibri" panose="020F0502020204030204" charset="0"/>
              </a:rPr>
              <a:t>)</a:t>
            </a:r>
            <a:endParaRPr lang="en-US" altLang="zh-CN" sz="2600" dirty="0">
              <a:latin typeface="Calibri" panose="020F0502020204030204" charset="0"/>
              <a:cs typeface="Calibri" panose="020F0502020204030204" charset="0"/>
            </a:endParaRPr>
          </a:p>
          <a:p>
            <a:pPr marL="0" lvl="0" indent="0">
              <a:lnSpc>
                <a:spcPct val="110000"/>
              </a:lnSpc>
              <a:spcBef>
                <a:spcPts val="600"/>
              </a:spcBef>
              <a:buNone/>
            </a:pP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a:t>
            </a:r>
          </a:p>
        </p:txBody>
      </p:sp>
      <p:sp>
        <p:nvSpPr>
          <p:cNvPr id="4" name="内容占位符 3"/>
          <p:cNvSpPr>
            <a:spLocks noGrp="1"/>
          </p:cNvSpPr>
          <p:nvPr>
            <p:ph sz="quarter" idx="4"/>
          </p:nvPr>
        </p:nvSpPr>
        <p:spPr>
          <a:solidFill>
            <a:schemeClr val="accent4">
              <a:lumMod val="20000"/>
              <a:lumOff val="80000"/>
              <a:alpha val="50000"/>
            </a:schemeClr>
          </a:solidFill>
        </p:spPr>
        <p:txBody>
          <a:bodyPr>
            <a:noAutofit/>
          </a:bodyPr>
          <a:lstStyle/>
          <a:p>
            <a:pPr lvl="0">
              <a:lnSpc>
                <a:spcPct val="110000"/>
              </a:lnSpc>
              <a:spcBef>
                <a:spcPts val="600"/>
              </a:spcBef>
            </a:pPr>
            <a:r>
              <a:rPr lang="zh-CN" altLang="en-US" dirty="0">
                <a:latin typeface="Calibri" panose="020F0502020204030204" charset="0"/>
                <a:cs typeface="Calibri" panose="020F0502020204030204" charset="0"/>
              </a:rPr>
              <a:t>在表级定义主码</a:t>
            </a:r>
          </a:p>
          <a:p>
            <a:pPr marL="0" lvl="0" indent="0">
              <a:lnSpc>
                <a:spcPct val="110000"/>
              </a:lnSpc>
              <a:spcBef>
                <a:spcPts val="600"/>
              </a:spcBef>
              <a:buNone/>
            </a:pPr>
            <a:r>
              <a:rPr lang="en-US" altLang="zh-CN" sz="2600" dirty="0">
                <a:latin typeface="Calibri" panose="020F0502020204030204" charset="0"/>
                <a:cs typeface="Calibri" panose="020F0502020204030204" charset="0"/>
              </a:rPr>
              <a:t>CREATE TABLE Student (</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Sno</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9</a:t>
            </a:r>
            <a:r>
              <a:rPr lang="zh-CN" altLang="en-US" sz="2600" dirty="0">
                <a:latin typeface="Calibri" panose="020F0502020204030204" charset="0"/>
                <a:cs typeface="Calibri" panose="020F0502020204030204" charset="0"/>
              </a:rPr>
              <a:t>),  </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Sname</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20</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  NOT NULL</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Ssex</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a:latin typeface="Calibri" panose="020F0502020204030204" charset="0"/>
                <a:cs typeface="Calibri" panose="020F0502020204030204" charset="0"/>
              </a:rPr>
              <a:t>Sage  SMALLINT</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err="1">
                <a:latin typeface="Calibri" panose="020F0502020204030204" charset="0"/>
                <a:cs typeface="Calibri" panose="020F0502020204030204" charset="0"/>
              </a:rPr>
              <a:t>Sdept</a:t>
            </a:r>
            <a:r>
              <a:rPr lang="en-US" altLang="zh-CN" sz="2600" dirty="0">
                <a:latin typeface="Calibri" panose="020F0502020204030204" charset="0"/>
                <a:cs typeface="Calibri" panose="020F0502020204030204" charset="0"/>
              </a:rPr>
              <a:t>  CHAR</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20</a:t>
            </a:r>
            <a:r>
              <a:rPr lang="zh-CN" altLang="en-US" sz="2600" dirty="0">
                <a:latin typeface="Calibri" panose="020F0502020204030204" charset="0"/>
                <a:cs typeface="Calibri" panose="020F0502020204030204" charset="0"/>
              </a:rPr>
              <a:t>),</a:t>
            </a:r>
          </a:p>
          <a:p>
            <a:pPr marL="363855" lvl="1" indent="0">
              <a:lnSpc>
                <a:spcPct val="110000"/>
              </a:lnSpc>
              <a:spcBef>
                <a:spcPts val="600"/>
              </a:spcBef>
              <a:buNone/>
            </a:pPr>
            <a:r>
              <a:rPr lang="en-US" altLang="zh-CN" sz="2600" dirty="0">
                <a:solidFill>
                  <a:srgbClr val="FF0000"/>
                </a:solidFill>
                <a:latin typeface="Calibri" panose="020F0502020204030204" charset="0"/>
                <a:cs typeface="Calibri" panose="020F0502020204030204" charset="0"/>
              </a:rPr>
              <a:t>PRIMARY KEY </a:t>
            </a:r>
            <a:r>
              <a:rPr lang="zh-CN" altLang="en-US" sz="2600" dirty="0">
                <a:solidFill>
                  <a:srgbClr val="FF0000"/>
                </a:solidFill>
                <a:latin typeface="Calibri" panose="020F0502020204030204" charset="0"/>
                <a:cs typeface="Calibri" panose="020F0502020204030204" charset="0"/>
              </a:rPr>
              <a:t>(</a:t>
            </a:r>
            <a:r>
              <a:rPr lang="en-US" altLang="zh-CN" sz="2600" dirty="0" err="1">
                <a:solidFill>
                  <a:srgbClr val="FF0000"/>
                </a:solidFill>
                <a:latin typeface="Calibri" panose="020F0502020204030204" charset="0"/>
                <a:cs typeface="Calibri" panose="020F0502020204030204" charset="0"/>
              </a:rPr>
              <a:t>Sno</a:t>
            </a:r>
            <a:r>
              <a:rPr lang="zh-CN" altLang="en-US" sz="2600" dirty="0">
                <a:solidFill>
                  <a:srgbClr val="FF0000"/>
                </a:solidFill>
                <a:latin typeface="Calibri" panose="020F0502020204030204" charset="0"/>
                <a:cs typeface="Calibri" panose="020F0502020204030204" charset="0"/>
              </a:rPr>
              <a:t>)</a:t>
            </a:r>
          </a:p>
          <a:p>
            <a:pPr marL="0" lvl="0" indent="0">
              <a:lnSpc>
                <a:spcPct val="110000"/>
              </a:lnSpc>
              <a:spcBef>
                <a:spcPts val="600"/>
              </a:spcBef>
              <a:buNone/>
            </a:pP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 </a:t>
            </a:r>
          </a:p>
        </p:txBody>
      </p:sp>
      <p:sp>
        <p:nvSpPr>
          <p:cNvPr id="2" name="文本占位符 1"/>
          <p:cNvSpPr>
            <a:spLocks noGrp="1"/>
          </p:cNvSpPr>
          <p:nvPr>
            <p:ph type="body" idx="1"/>
          </p:nvPr>
        </p:nvSpPr>
        <p:spPr>
          <a:noFill/>
        </p:spPr>
        <p:txBody>
          <a:bodyPr>
            <a:noAutofit/>
          </a:body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1]</a:t>
            </a:r>
            <a:r>
              <a:rPr lang="zh-CN" altLang="en-US" sz="2800" dirty="0">
                <a:latin typeface="Calibri" panose="020F0502020204030204" charset="0"/>
                <a:cs typeface="Calibri" panose="020F0502020204030204" charset="0"/>
              </a:rPr>
              <a:t> 将</a:t>
            </a:r>
            <a:r>
              <a:rPr lang="en-US" altLang="zh-CN" sz="2800" dirty="0">
                <a:latin typeface="Calibri" panose="020F0502020204030204" charset="0"/>
                <a:cs typeface="Calibri" panose="020F0502020204030204" charset="0"/>
              </a:rPr>
              <a:t>Student</a:t>
            </a:r>
            <a:r>
              <a:rPr lang="zh-CN" altLang="en-US" sz="2800" dirty="0">
                <a:latin typeface="Calibri" panose="020F0502020204030204" charset="0"/>
                <a:cs typeface="Calibri" panose="020F0502020204030204" charset="0"/>
              </a:rPr>
              <a:t>表中的</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列定义为码</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17</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8">
                                            <p:bg/>
                                          </p:spTgt>
                                        </p:tgtEl>
                                        <p:attrNameLst>
                                          <p:attrName>style.visibility</p:attrName>
                                        </p:attrNameLst>
                                      </p:cBhvr>
                                      <p:to>
                                        <p:strVal val="visible"/>
                                      </p:to>
                                    </p:set>
                                    <p:animEffect transition="in" filter="blinds(horizontal)">
                                      <p:cBhvr>
                                        <p:cTn id="7" dur="500"/>
                                        <p:tgtEl>
                                          <p:spTgt spid="11268">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bg/>
                                          </p:spTgt>
                                        </p:tgtEl>
                                        <p:attrNameLst>
                                          <p:attrName>style.visibility</p:attrName>
                                        </p:attrNameLst>
                                      </p:cBhvr>
                                      <p:to>
                                        <p:strVal val="visible"/>
                                      </p:to>
                                    </p:set>
                                    <p:animEffect transition="in" filter="blinds(horizontal)">
                                      <p:cBhvr>
                                        <p:cTn id="12" dur="500"/>
                                        <p:tgtEl>
                                          <p:spTgt spid="4">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ldLvl="0" animBg="1"/>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rmAutofit fontScale="90000"/>
          </a:bodyPr>
          <a:lstStyle/>
          <a:p>
            <a:pPr eaLnBrk="1" hangingPunct="1"/>
            <a:r>
              <a:rPr lang="zh-CN" altLang="en-US" sz="3600" dirty="0"/>
              <a:t>实体完整性定义 </a:t>
            </a:r>
            <a:r>
              <a:rPr lang="en-US" altLang="zh-CN" sz="3600" dirty="0"/>
              <a:t>3</a:t>
            </a:r>
          </a:p>
        </p:txBody>
      </p:sp>
      <p:sp>
        <p:nvSpPr>
          <p:cNvPr id="13316" name="Rectangle 3"/>
          <p:cNvSpPr>
            <a:spLocks noGrp="1" noChangeArrowheads="1"/>
          </p:cNvSpPr>
          <p:nvPr>
            <p:ph idx="1"/>
          </p:nvPr>
        </p:nvSpPr>
        <p:spPr/>
        <p:txBody>
          <a:bodyPr>
            <a:noAutofit/>
          </a:body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2] </a:t>
            </a:r>
            <a:r>
              <a:rPr lang="zh-CN" altLang="en-US" sz="2800" dirty="0">
                <a:latin typeface="Calibri" panose="020F0502020204030204" charset="0"/>
                <a:cs typeface="Calibri" panose="020F0502020204030204" charset="0"/>
              </a:rPr>
              <a:t>将</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表中的</a:t>
            </a:r>
            <a:r>
              <a:rPr lang="en-US" altLang="zh-CN" sz="2800" dirty="0" err="1">
                <a:latin typeface="Calibri" panose="020F0502020204030204" charset="0"/>
                <a:cs typeface="Calibri" panose="020F0502020204030204" charset="0"/>
              </a:rPr>
              <a:t>Sno</a:t>
            </a:r>
            <a:r>
              <a:rPr lang="zh-CN" altLang="en-US" sz="2800" dirty="0" err="1">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列组定义为码</a:t>
            </a:r>
          </a:p>
          <a:p>
            <a:pPr lvl="1" eaLnBrk="1" hangingPunct="1">
              <a:lnSpc>
                <a:spcPct val="140000"/>
              </a:lnSpc>
              <a:buFont typeface="Wingdings" panose="05000000000000000000" pitchFamily="2" charset="2"/>
              <a:buNone/>
            </a:pPr>
            <a:endParaRPr lang="en-US" altLang="zh-CN" dirty="0">
              <a:latin typeface="Calibri" panose="020F0502020204030204" charset="0"/>
              <a:cs typeface="Calibri" panose="020F0502020204030204" charset="0"/>
            </a:endParaRPr>
          </a:p>
          <a:p>
            <a:pPr lvl="1" eaLnBrk="1" hangingPunct="1">
              <a:lnSpc>
                <a:spcPct val="140000"/>
              </a:lnSpc>
              <a:buFont typeface="Wingdings" panose="05000000000000000000" pitchFamily="2" charset="2"/>
              <a:buNone/>
            </a:pPr>
            <a:r>
              <a:rPr lang="en-US" altLang="zh-CN" dirty="0">
                <a:latin typeface="Calibri" panose="020F0502020204030204" charset="0"/>
                <a:cs typeface="Calibri" panose="020F0502020204030204" charset="0"/>
              </a:rPr>
              <a:t>CREATE TABLE SC </a:t>
            </a:r>
            <a:r>
              <a:rPr lang="zh-CN" altLang="en-US" dirty="0">
                <a:latin typeface="Calibri" panose="020F0502020204030204" charset="0"/>
                <a:cs typeface="Calibri" panose="020F0502020204030204" charset="0"/>
              </a:rPr>
              <a:t>(</a:t>
            </a:r>
          </a:p>
          <a:p>
            <a:pPr lvl="2" eaLnBrk="1" hangingPunct="1">
              <a:lnSpc>
                <a:spcPct val="140000"/>
              </a:lnSpc>
              <a:buFont typeface="Wingdings" panose="05000000000000000000" pitchFamily="2" charset="2"/>
              <a:buNone/>
            </a:pPr>
            <a:r>
              <a:rPr lang="en-US" altLang="zh-CN" dirty="0" err="1">
                <a:latin typeface="Calibri" panose="020F0502020204030204" charset="0"/>
                <a:cs typeface="Calibri" panose="020F0502020204030204" charset="0"/>
              </a:rPr>
              <a:t>Sno</a:t>
            </a:r>
            <a:r>
              <a:rPr lang="en-US" altLang="zh-CN" dirty="0">
                <a:latin typeface="Calibri" panose="020F0502020204030204" charset="0"/>
                <a:cs typeface="Calibri" panose="020F0502020204030204" charset="0"/>
              </a:rPr>
              <a:t>   CHAR</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9</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NOT NULL</a:t>
            </a:r>
            <a:r>
              <a:rPr lang="zh-CN" altLang="en-US" dirty="0">
                <a:latin typeface="Calibri" panose="020F0502020204030204" charset="0"/>
                <a:cs typeface="Calibri" panose="020F0502020204030204" charset="0"/>
              </a:rPr>
              <a:t>, </a:t>
            </a:r>
          </a:p>
          <a:p>
            <a:pPr lvl="2" eaLnBrk="1" hangingPunct="1">
              <a:lnSpc>
                <a:spcPct val="140000"/>
              </a:lnSpc>
              <a:buFont typeface="Wingdings" panose="05000000000000000000" pitchFamily="2" charset="2"/>
              <a:buNone/>
            </a:pPr>
            <a:r>
              <a:rPr lang="en-US" altLang="zh-CN" dirty="0" err="1">
                <a:latin typeface="Calibri" panose="020F0502020204030204" charset="0"/>
                <a:cs typeface="Calibri" panose="020F0502020204030204" charset="0"/>
              </a:rPr>
              <a:t>Cno</a:t>
            </a:r>
            <a:r>
              <a:rPr lang="en-US" altLang="zh-CN" dirty="0">
                <a:latin typeface="Calibri" panose="020F0502020204030204" charset="0"/>
                <a:cs typeface="Calibri" panose="020F0502020204030204" charset="0"/>
              </a:rPr>
              <a:t>  CHAR</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4</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NOT NULL</a:t>
            </a:r>
            <a:r>
              <a:rPr lang="zh-CN" altLang="en-US" dirty="0">
                <a:latin typeface="Calibri" panose="020F0502020204030204" charset="0"/>
                <a:cs typeface="Calibri" panose="020F0502020204030204" charset="0"/>
              </a:rPr>
              <a:t>,  </a:t>
            </a:r>
          </a:p>
          <a:p>
            <a:pPr lvl="2" eaLnBrk="1" hangingPunct="1">
              <a:lnSpc>
                <a:spcPct val="140000"/>
              </a:lnSpc>
              <a:buFont typeface="Wingdings" panose="05000000000000000000" pitchFamily="2" charset="2"/>
              <a:buNone/>
            </a:pPr>
            <a:r>
              <a:rPr lang="en-US" altLang="zh-CN" dirty="0">
                <a:latin typeface="Calibri" panose="020F0502020204030204" charset="0"/>
                <a:cs typeface="Calibri" panose="020F0502020204030204" charset="0"/>
              </a:rPr>
              <a:t>Grade    SMALLINT</a:t>
            </a:r>
            <a:r>
              <a:rPr lang="zh-CN" altLang="en-US" dirty="0">
                <a:latin typeface="Calibri" panose="020F0502020204030204" charset="0"/>
                <a:cs typeface="Calibri" panose="020F0502020204030204" charset="0"/>
              </a:rPr>
              <a:t>,</a:t>
            </a:r>
          </a:p>
          <a:p>
            <a:pPr lvl="2" eaLnBrk="1" hangingPunct="1">
              <a:lnSpc>
                <a:spcPct val="140000"/>
              </a:lnSpc>
              <a:buFont typeface="Wingdings" panose="05000000000000000000" pitchFamily="2" charset="2"/>
              <a:buNone/>
            </a:pPr>
            <a:r>
              <a:rPr lang="en-US" altLang="zh-CN" dirty="0">
                <a:solidFill>
                  <a:srgbClr val="FF0000"/>
                </a:solidFill>
                <a:latin typeface="Calibri" panose="020F0502020204030204" charset="0"/>
                <a:cs typeface="Calibri" panose="020F0502020204030204" charset="0"/>
              </a:rPr>
              <a:t>PRIMARY KEY </a:t>
            </a:r>
            <a:r>
              <a:rPr lang="zh-CN" altLang="en-US" dirty="0">
                <a:solidFill>
                  <a:srgbClr val="FF0000"/>
                </a:solidFill>
                <a:latin typeface="Calibri" panose="020F0502020204030204" charset="0"/>
                <a:cs typeface="Calibri" panose="020F0502020204030204" charset="0"/>
              </a:rPr>
              <a:t>(</a:t>
            </a:r>
            <a:r>
              <a:rPr lang="en-US" altLang="zh-CN" dirty="0" err="1">
                <a:solidFill>
                  <a:srgbClr val="FF0000"/>
                </a:solidFill>
                <a:latin typeface="Calibri" panose="020F0502020204030204" charset="0"/>
                <a:cs typeface="Calibri" panose="020F0502020204030204" charset="0"/>
              </a:rPr>
              <a:t>Sno</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 </a:t>
            </a:r>
            <a:r>
              <a:rPr lang="en-US" altLang="zh-CN" dirty="0" err="1">
                <a:solidFill>
                  <a:srgbClr val="FF0000"/>
                </a:solidFill>
                <a:latin typeface="Calibri" panose="020F0502020204030204" charset="0"/>
                <a:cs typeface="Calibri" panose="020F0502020204030204" charset="0"/>
              </a:rPr>
              <a:t>Cno</a:t>
            </a:r>
            <a:r>
              <a:rPr lang="zh-CN" altLang="en-US" dirty="0">
                <a:solidFill>
                  <a:srgbClr val="FF0000"/>
                </a:solidFill>
                <a:latin typeface="Calibri" panose="020F0502020204030204" charset="0"/>
                <a:cs typeface="Calibri" panose="020F0502020204030204" charset="0"/>
              </a:rPr>
              <a:t>)  </a:t>
            </a:r>
            <a:r>
              <a:rPr lang="en-US" altLang="zh-CN" dirty="0">
                <a:solidFill>
                  <a:srgbClr val="FF0000"/>
                </a:solidFill>
                <a:latin typeface="Calibri" panose="020F0502020204030204" charset="0"/>
                <a:cs typeface="Calibri" panose="020F0502020204030204" charset="0"/>
              </a:rPr>
              <a:t>       </a:t>
            </a:r>
            <a:r>
              <a:rPr lang="en-US" altLang="zh-CN" dirty="0">
                <a:solidFill>
                  <a:srgbClr val="0000C8"/>
                </a:solidFill>
                <a:latin typeface="Calibri" panose="020F0502020204030204" charset="0"/>
                <a:cs typeface="Calibri" panose="020F0502020204030204" charset="0"/>
              </a:rPr>
              <a:t> /*</a:t>
            </a:r>
            <a:r>
              <a:rPr lang="zh-CN" altLang="en-US" dirty="0">
                <a:solidFill>
                  <a:srgbClr val="0000C8"/>
                </a:solidFill>
                <a:latin typeface="Calibri" panose="020F0502020204030204" charset="0"/>
                <a:cs typeface="Calibri" panose="020F0502020204030204" charset="0"/>
              </a:rPr>
              <a:t>只能在表级定义主码*</a:t>
            </a:r>
            <a:r>
              <a:rPr lang="en-US" altLang="zh-CN" dirty="0">
                <a:solidFill>
                  <a:srgbClr val="0000C8"/>
                </a:solidFill>
                <a:latin typeface="Calibri" panose="020F0502020204030204" charset="0"/>
                <a:cs typeface="Calibri" panose="020F0502020204030204" charset="0"/>
              </a:rPr>
              <a:t>/</a:t>
            </a:r>
            <a:endParaRPr lang="en-US" altLang="zh-CN" dirty="0">
              <a:solidFill>
                <a:srgbClr val="FF0000"/>
              </a:solidFill>
              <a:latin typeface="Calibri" panose="020F0502020204030204" charset="0"/>
              <a:cs typeface="Calibri" panose="020F0502020204030204" charset="0"/>
            </a:endParaRPr>
          </a:p>
          <a:p>
            <a:pPr lvl="1" eaLnBrk="1" hangingPunct="1">
              <a:lnSpc>
                <a:spcPct val="140000"/>
              </a:lnSpc>
              <a:buFont typeface="Wingdings" panose="05000000000000000000" pitchFamily="2" charset="2"/>
              <a:buNone/>
            </a:pP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18</a:t>
            </a:fld>
            <a:endParaRPr lang="zh-CN" altLang="en-US"/>
          </a:p>
        </p:txBody>
      </p:sp>
      <p:sp>
        <p:nvSpPr>
          <p:cNvPr id="2" name="页脚占位符 1"/>
          <p:cNvSpPr>
            <a:spLocks noGrp="1"/>
          </p:cNvSpPr>
          <p:nvPr>
            <p:ph type="ftr" sz="quarter" idx="11"/>
          </p:nvPr>
        </p:nvSpPr>
        <p:spPr>
          <a:xfrm>
            <a:off x="0" y="6695365"/>
            <a:ext cx="4114800" cy="153670"/>
          </a:xfrm>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a:t>实体完整性检查和违约处理</a:t>
            </a:r>
          </a:p>
        </p:txBody>
      </p:sp>
      <p:sp>
        <p:nvSpPr>
          <p:cNvPr id="15364" name="Rectangle 3"/>
          <p:cNvSpPr>
            <a:spLocks noGrp="1" noChangeArrowheads="1"/>
          </p:cNvSpPr>
          <p:nvPr>
            <p:ph idx="1"/>
          </p:nvPr>
        </p:nvSpPr>
        <p:spPr/>
        <p:txBody>
          <a:bodyPr/>
          <a:lstStyle/>
          <a:p>
            <a:pPr>
              <a:lnSpc>
                <a:spcPct val="110000"/>
              </a:lnSpc>
              <a:spcBef>
                <a:spcPts val="1000"/>
              </a:spcBef>
            </a:pPr>
            <a:r>
              <a:rPr lang="zh-CN" altLang="en-US" sz="2800" dirty="0"/>
              <a:t>在插入新元组、对主码列进行更新操作时，关系数据库管理系统按照实体完整性规则自动进行检查。</a:t>
            </a:r>
          </a:p>
          <a:p>
            <a:pPr>
              <a:lnSpc>
                <a:spcPct val="110000"/>
              </a:lnSpc>
              <a:spcBef>
                <a:spcPts val="1000"/>
              </a:spcBef>
            </a:pPr>
            <a:r>
              <a:rPr lang="zh-CN" altLang="en-US" sz="2800" dirty="0"/>
              <a:t>包括：</a:t>
            </a:r>
          </a:p>
          <a:p>
            <a:pPr lvl="1">
              <a:lnSpc>
                <a:spcPct val="110000"/>
              </a:lnSpc>
              <a:spcBef>
                <a:spcPts val="1000"/>
              </a:spcBef>
            </a:pPr>
            <a:r>
              <a:rPr lang="zh-CN" altLang="en-US" sz="2800" dirty="0"/>
              <a:t>检查主码的各个列是否为空，只要有一个为空就拒绝插入或修改</a:t>
            </a:r>
          </a:p>
          <a:p>
            <a:pPr lvl="1">
              <a:lnSpc>
                <a:spcPct val="110000"/>
              </a:lnSpc>
              <a:spcBef>
                <a:spcPts val="1000"/>
              </a:spcBef>
            </a:pPr>
            <a:r>
              <a:rPr lang="zh-CN" altLang="en-US" sz="2800" dirty="0">
                <a:sym typeface="+mn-ea"/>
              </a:rPr>
              <a:t>检查主码值是否唯一，如果不唯一则拒绝插入或修改</a:t>
            </a:r>
            <a:endParaRPr lang="zh-CN" altLang="en-US" sz="2800" dirty="0"/>
          </a:p>
          <a:p>
            <a:pPr lvl="1">
              <a:lnSpc>
                <a:spcPct val="110000"/>
              </a:lnSpc>
              <a:spcBef>
                <a:spcPts val="2000"/>
              </a:spcBef>
            </a:pPr>
            <a:endParaRPr lang="zh-CN" altLang="en-US" sz="28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t>19</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a:t>实体完整性检查 </a:t>
            </a:r>
            <a:r>
              <a:rPr lang="en-US" altLang="zh-CN" dirty="0"/>
              <a:t>1</a:t>
            </a:r>
          </a:p>
        </p:txBody>
      </p:sp>
      <p:sp>
        <p:nvSpPr>
          <p:cNvPr id="16388" name="Rectangle 3"/>
          <p:cNvSpPr>
            <a:spLocks noGrp="1" noChangeArrowheads="1"/>
          </p:cNvSpPr>
          <p:nvPr>
            <p:ph idx="1"/>
          </p:nvPr>
        </p:nvSpPr>
        <p:spPr/>
        <p:txBody>
          <a:bodyPr>
            <a:noAutofit/>
          </a:bodyPr>
          <a:lstStyle/>
          <a:p>
            <a:r>
              <a:rPr lang="zh-CN" altLang="en-US" dirty="0">
                <a:solidFill>
                  <a:srgbClr val="C00000"/>
                </a:solidFill>
                <a:latin typeface="Calibri" panose="020F0502020204030204" charset="0"/>
                <a:cs typeface="Calibri" panose="020F0502020204030204" charset="0"/>
              </a:rPr>
              <a:t>检查记录中主码值是否唯一的一种方法是进行</a:t>
            </a:r>
            <a:r>
              <a:rPr lang="en-US" altLang="zh-CN" dirty="0">
                <a:solidFill>
                  <a:srgbClr val="C00000"/>
                </a:solidFill>
                <a:latin typeface="Calibri" panose="020F0502020204030204" charset="0"/>
                <a:cs typeface="Calibri" panose="020F0502020204030204" charset="0"/>
              </a:rPr>
              <a:t> ‘</a:t>
            </a:r>
            <a:r>
              <a:rPr lang="zh-CN" altLang="en-US" dirty="0">
                <a:solidFill>
                  <a:srgbClr val="C00000"/>
                </a:solidFill>
                <a:latin typeface="Calibri" panose="020F0502020204030204" charset="0"/>
                <a:cs typeface="Calibri" panose="020F0502020204030204" charset="0"/>
              </a:rPr>
              <a:t>全表扫描</a:t>
            </a:r>
            <a:r>
              <a:rPr lang="en-US" altLang="zh-CN" dirty="0">
                <a:solidFill>
                  <a:srgbClr val="C00000"/>
                </a:solidFill>
                <a:latin typeface="Calibri" panose="020F0502020204030204" charset="0"/>
                <a:cs typeface="Calibri" panose="020F0502020204030204" charset="0"/>
              </a:rPr>
              <a:t>’</a:t>
            </a:r>
            <a:endParaRPr lang="en-US" altLang="zh-CN" dirty="0">
              <a:latin typeface="Calibri" panose="020F0502020204030204" charset="0"/>
              <a:cs typeface="Calibri" panose="020F0502020204030204" charset="0"/>
            </a:endParaRPr>
          </a:p>
          <a:p>
            <a:pPr lvl="1"/>
            <a:r>
              <a:rPr lang="zh-CN" altLang="en-US" dirty="0">
                <a:latin typeface="Calibri" panose="020F0502020204030204" charset="0"/>
                <a:cs typeface="Calibri" panose="020F0502020204030204" charset="0"/>
              </a:rPr>
              <a:t>依次判断表中每一条记录的主码值与新插入记录上的主码值（或者修改后的新的主码值）是否相同 </a:t>
            </a:r>
            <a:endParaRPr lang="en-US" altLang="zh-CN" dirty="0">
              <a:latin typeface="Calibri" panose="020F0502020204030204" charset="0"/>
              <a:cs typeface="Calibri" panose="020F0502020204030204" charset="0"/>
            </a:endParaRPr>
          </a:p>
          <a:p>
            <a:pPr lvl="1"/>
            <a:r>
              <a:rPr lang="zh-CN" altLang="en-US" dirty="0">
                <a:latin typeface="Calibri" panose="020F0502020204030204" charset="0"/>
                <a:cs typeface="Calibri" panose="020F0502020204030204" charset="0"/>
              </a:rPr>
              <a:t>缺点：十分耗时</a:t>
            </a:r>
          </a:p>
        </p:txBody>
      </p:sp>
      <p:pic>
        <p:nvPicPr>
          <p:cNvPr id="16389" name="Picture 4" descr="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7885" y="2849245"/>
            <a:ext cx="7286625"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lstStyle/>
          <a:p>
            <a:fld id="{565CE74E-AB26-4998-AD42-012C4C1AD076}" type="slidenum">
              <a:rPr lang="zh-CN" altLang="en-US" smtClean="0"/>
              <a:t>20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实体完整性检查</a:t>
            </a:r>
            <a:r>
              <a:rPr lang="en-US" altLang="zh-CN"/>
              <a:t> 2</a:t>
            </a:r>
            <a:endParaRPr lang="zh-CN" altLang="en-US" dirty="0"/>
          </a:p>
        </p:txBody>
      </p:sp>
      <p:sp>
        <p:nvSpPr>
          <p:cNvPr id="3" name="内容占位符 2"/>
          <p:cNvSpPr>
            <a:spLocks noGrp="1"/>
          </p:cNvSpPr>
          <p:nvPr>
            <p:ph idx="1"/>
          </p:nvPr>
        </p:nvSpPr>
        <p:spPr>
          <a:xfrm>
            <a:off x="424180" y="687070"/>
            <a:ext cx="11343005" cy="1038860"/>
          </a:xfrm>
          <a:solidFill>
            <a:schemeClr val="accent3">
              <a:lumMod val="20000"/>
              <a:lumOff val="80000"/>
              <a:alpha val="50000"/>
            </a:schemeClr>
          </a:solidFill>
        </p:spPr>
        <p:txBody>
          <a:bodyPr>
            <a:noAutofit/>
          </a:bodyPr>
          <a:lstStyle/>
          <a:p>
            <a:r>
              <a:rPr lang="zh-CN" altLang="en-US" sz="2800" dirty="0">
                <a:latin typeface="Calibri" panose="020F0502020204030204" charset="0"/>
                <a:cs typeface="Calibri" panose="020F0502020204030204" charset="0"/>
              </a:rPr>
              <a:t>为避免对基本表进行全表扫描，</a:t>
            </a:r>
            <a:r>
              <a:rPr lang="en-US" altLang="zh-CN" sz="2800" dirty="0">
                <a:latin typeface="Calibri" panose="020F0502020204030204" charset="0"/>
                <a:cs typeface="Calibri" panose="020F0502020204030204" charset="0"/>
              </a:rPr>
              <a:t>RDBMS</a:t>
            </a:r>
            <a:r>
              <a:rPr lang="zh-CN" altLang="en-US" sz="2800" dirty="0">
                <a:latin typeface="Calibri" panose="020F0502020204030204" charset="0"/>
                <a:cs typeface="Calibri" panose="020F0502020204030204" charset="0"/>
              </a:rPr>
              <a:t>核心一般都在主码上自动建立一个</a:t>
            </a:r>
            <a:r>
              <a:rPr lang="zh-CN" altLang="en-US" sz="2800" dirty="0">
                <a:solidFill>
                  <a:srgbClr val="C00000"/>
                </a:solidFill>
                <a:latin typeface="Calibri" panose="020F0502020204030204" charset="0"/>
                <a:cs typeface="Calibri" panose="020F0502020204030204" charset="0"/>
              </a:rPr>
              <a:t>索引</a:t>
            </a:r>
            <a:r>
              <a:rPr lang="zh-CN" altLang="en-US" sz="2800" dirty="0">
                <a:latin typeface="Calibri" panose="020F0502020204030204" charset="0"/>
                <a:cs typeface="Calibri" panose="020F0502020204030204" charset="0"/>
              </a:rPr>
              <a:t>，如</a:t>
            </a:r>
            <a:r>
              <a:rPr lang="en-US" altLang="zh-CN" sz="2800" dirty="0">
                <a:latin typeface="Calibri" panose="020F0502020204030204" charset="0"/>
                <a:cs typeface="Calibri" panose="020F0502020204030204" charset="0"/>
              </a:rPr>
              <a:t>B</a:t>
            </a:r>
            <a:r>
              <a:rPr lang="en-US" altLang="zh-CN" sz="2800" baseline="300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树索引</a:t>
            </a:r>
          </a:p>
        </p:txBody>
      </p:sp>
      <p:sp>
        <p:nvSpPr>
          <p:cNvPr id="7" name="内容占位符 6"/>
          <p:cNvSpPr>
            <a:spLocks noGrp="1"/>
          </p:cNvSpPr>
          <p:nvPr>
            <p:ph sz="half" idx="4294967295"/>
          </p:nvPr>
        </p:nvSpPr>
        <p:spPr>
          <a:xfrm>
            <a:off x="6178550" y="1703705"/>
            <a:ext cx="5588635" cy="4912995"/>
          </a:xfrm>
          <a:noFill/>
        </p:spPr>
        <p:txBody>
          <a:bodyPr>
            <a:spAutoFit/>
          </a:bodyPr>
          <a:lstStyle/>
          <a:p>
            <a:pPr lvl="0">
              <a:lnSpc>
                <a:spcPct val="100000"/>
              </a:lnSpc>
              <a:spcBef>
                <a:spcPts val="1000"/>
              </a:spcBef>
            </a:pPr>
            <a:r>
              <a:rPr lang="zh-CN" altLang="en-US" sz="2800" dirty="0">
                <a:sym typeface="+mn-ea"/>
              </a:rPr>
              <a:t>例如：</a:t>
            </a:r>
          </a:p>
          <a:p>
            <a:pPr lvl="1">
              <a:lnSpc>
                <a:spcPct val="100000"/>
              </a:lnSpc>
              <a:spcBef>
                <a:spcPts val="1000"/>
              </a:spcBef>
            </a:pPr>
            <a:r>
              <a:rPr lang="zh-CN" altLang="en-US" sz="2800" dirty="0">
                <a:sym typeface="+mn-ea"/>
              </a:rPr>
              <a:t>新插入记录的主码值是</a:t>
            </a:r>
            <a:r>
              <a:rPr lang="en-US" altLang="zh-CN" sz="2800" dirty="0">
                <a:sym typeface="+mn-ea"/>
              </a:rPr>
              <a:t>25</a:t>
            </a:r>
            <a:endParaRPr lang="en-US" altLang="zh-CN" sz="2800" dirty="0"/>
          </a:p>
          <a:p>
            <a:pPr lvl="1">
              <a:lnSpc>
                <a:spcPct val="100000"/>
              </a:lnSpc>
              <a:spcBef>
                <a:spcPts val="1000"/>
              </a:spcBef>
            </a:pPr>
            <a:r>
              <a:rPr lang="zh-CN" altLang="en-US" sz="2800" dirty="0">
                <a:sym typeface="+mn-ea"/>
              </a:rPr>
              <a:t>通过主码索引，从</a:t>
            </a:r>
            <a:r>
              <a:rPr lang="en-US" altLang="zh-CN" sz="2800" dirty="0">
                <a:sym typeface="+mn-ea"/>
              </a:rPr>
              <a:t>B</a:t>
            </a:r>
            <a:r>
              <a:rPr lang="en-US" altLang="zh-CN" sz="2800" baseline="30000" dirty="0">
                <a:sym typeface="+mn-ea"/>
              </a:rPr>
              <a:t>+</a:t>
            </a:r>
            <a:r>
              <a:rPr lang="zh-CN" altLang="en-US" sz="2800" dirty="0">
                <a:sym typeface="+mn-ea"/>
              </a:rPr>
              <a:t>树的根结点开始查找</a:t>
            </a:r>
            <a:endParaRPr lang="zh-CN" altLang="en-US" sz="2800" dirty="0"/>
          </a:p>
          <a:p>
            <a:pPr lvl="1">
              <a:lnSpc>
                <a:spcPct val="100000"/>
              </a:lnSpc>
              <a:spcBef>
                <a:spcPts val="1000"/>
              </a:spcBef>
            </a:pPr>
            <a:r>
              <a:rPr lang="zh-CN" altLang="en-US" sz="2800" dirty="0">
                <a:sym typeface="+mn-ea"/>
              </a:rPr>
              <a:t>读取</a:t>
            </a:r>
            <a:r>
              <a:rPr lang="en-US" altLang="zh-CN" sz="2800" dirty="0">
                <a:sym typeface="+mn-ea"/>
              </a:rPr>
              <a:t>3</a:t>
            </a:r>
            <a:r>
              <a:rPr lang="zh-CN" altLang="en-US" sz="2800" dirty="0">
                <a:sym typeface="+mn-ea"/>
              </a:rPr>
              <a:t>个结点：</a:t>
            </a:r>
          </a:p>
          <a:p>
            <a:pPr lvl="2">
              <a:lnSpc>
                <a:spcPct val="100000"/>
              </a:lnSpc>
            </a:pPr>
            <a:r>
              <a:rPr lang="zh-CN" altLang="en-US" sz="2800" dirty="0">
                <a:sym typeface="+mn-ea"/>
              </a:rPr>
              <a:t>根结点（</a:t>
            </a:r>
            <a:r>
              <a:rPr lang="en-US" altLang="zh-CN" sz="2800" dirty="0">
                <a:sym typeface="+mn-ea"/>
              </a:rPr>
              <a:t>51</a:t>
            </a:r>
            <a:r>
              <a:rPr lang="zh-CN" altLang="en-US" sz="2800" dirty="0">
                <a:sym typeface="+mn-ea"/>
              </a:rPr>
              <a:t>）</a:t>
            </a:r>
          </a:p>
          <a:p>
            <a:pPr lvl="2">
              <a:lnSpc>
                <a:spcPct val="100000"/>
              </a:lnSpc>
            </a:pPr>
            <a:r>
              <a:rPr lang="zh-CN" altLang="en-US" sz="2800" dirty="0">
                <a:sym typeface="+mn-ea"/>
              </a:rPr>
              <a:t>中间结点（</a:t>
            </a:r>
            <a:r>
              <a:rPr lang="en-US" altLang="zh-CN" sz="2800" dirty="0">
                <a:sym typeface="+mn-ea"/>
              </a:rPr>
              <a:t>12 30</a:t>
            </a:r>
            <a:r>
              <a:rPr lang="zh-CN" altLang="en-US" sz="2800" dirty="0">
                <a:sym typeface="+mn-ea"/>
              </a:rPr>
              <a:t>）</a:t>
            </a:r>
          </a:p>
          <a:p>
            <a:pPr lvl="2">
              <a:lnSpc>
                <a:spcPct val="100000"/>
              </a:lnSpc>
            </a:pPr>
            <a:r>
              <a:rPr lang="zh-CN" altLang="en-US" sz="2800" dirty="0">
                <a:sym typeface="+mn-ea"/>
              </a:rPr>
              <a:t>叶结点（</a:t>
            </a:r>
            <a:r>
              <a:rPr lang="en-US" altLang="zh-CN" sz="2800" dirty="0">
                <a:sym typeface="+mn-ea"/>
              </a:rPr>
              <a:t>15 20 25</a:t>
            </a:r>
            <a:r>
              <a:rPr lang="zh-CN" altLang="en-US" sz="2800" dirty="0">
                <a:sym typeface="+mn-ea"/>
              </a:rPr>
              <a:t>）</a:t>
            </a:r>
            <a:endParaRPr lang="zh-CN" altLang="en-US" sz="2800" dirty="0"/>
          </a:p>
          <a:p>
            <a:pPr lvl="1">
              <a:lnSpc>
                <a:spcPct val="100000"/>
              </a:lnSpc>
              <a:spcBef>
                <a:spcPts val="1000"/>
              </a:spcBef>
            </a:pPr>
            <a:r>
              <a:rPr lang="zh-CN" altLang="en-US" sz="2800" dirty="0">
                <a:sym typeface="+mn-ea"/>
              </a:rPr>
              <a:t>主码值</a:t>
            </a:r>
            <a:r>
              <a:rPr lang="en-US" altLang="zh-CN" sz="2800" dirty="0">
                <a:sym typeface="+mn-ea"/>
              </a:rPr>
              <a:t>25</a:t>
            </a:r>
            <a:r>
              <a:rPr lang="zh-CN" altLang="en-US" sz="2800" dirty="0">
                <a:sym typeface="+mn-ea"/>
              </a:rPr>
              <a:t>已经存在，不能再插入这条主码值为</a:t>
            </a:r>
            <a:r>
              <a:rPr lang="en-US" altLang="zh-CN" sz="2800" dirty="0">
                <a:sym typeface="+mn-ea"/>
              </a:rPr>
              <a:t>25</a:t>
            </a:r>
            <a:r>
              <a:rPr lang="zh-CN" altLang="en-US" sz="2800" dirty="0">
                <a:sym typeface="+mn-ea"/>
              </a:rPr>
              <a:t>的新记录</a:t>
            </a:r>
            <a:endParaRPr lang="zh-CN" altLang="en-US" sz="280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80" y="2153285"/>
            <a:ext cx="5495925" cy="364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p:cNvSpPr>
            <a:spLocks noGrp="1"/>
          </p:cNvSpPr>
          <p:nvPr>
            <p:ph type="sldNum" sz="quarter" idx="12"/>
          </p:nvPr>
        </p:nvSpPr>
        <p:spPr/>
        <p:txBody>
          <a:bodyPr/>
          <a:lstStyle/>
          <a:p>
            <a:fld id="{565CE74E-AB26-4998-AD42-012C4C1AD076}" type="slidenum">
              <a:rPr lang="zh-CN" altLang="en-US" smtClean="0"/>
              <a:t>21</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blinds(horizontal)">
                                      <p:cBhvr>
                                        <p:cTn id="22" dur="500"/>
                                        <p:tgtEl>
                                          <p:spTgt spid="7">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blinds(horizontal)">
                                      <p:cBhvr>
                                        <p:cTn id="25" dur="500"/>
                                        <p:tgtEl>
                                          <p:spTgt spid="7">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blinds(horizontal)">
                                      <p:cBhvr>
                                        <p:cTn id="28" dur="500"/>
                                        <p:tgtEl>
                                          <p:spTgt spid="7">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blinds(horizontal)">
                                      <p:cBhvr>
                                        <p:cTn id="31" dur="500"/>
                                        <p:tgtEl>
                                          <p:spTgt spid="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blinds(horizontal)">
                                      <p:cBhvr>
                                        <p:cTn id="3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solidFill>
                  <a:srgbClr val="FF0000"/>
                </a:solidFill>
                <a:latin typeface="Arial" panose="020B0604020202020204" pitchFamily="34" charset="0"/>
                <a:cs typeface="Arial" panose="020B0604020202020204" pitchFamily="34" charset="0"/>
              </a:rPr>
              <a:t>5.2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参照完整性</a:t>
            </a:r>
            <a:endParaRPr lang="zh-CN" altLang="en-US">
              <a:latin typeface="Arial" panose="020B0604020202020204" pitchFamily="34" charset="0"/>
              <a:cs typeface="Arial" panose="020B0604020202020204" pitchFamily="34" charset="0"/>
            </a:endParaRP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latin typeface="Arial" panose="020B0604020202020204" pitchFamily="34" charset="0"/>
                <a:cs typeface="Arial" panose="020B0604020202020204" pitchFamily="34" charset="0"/>
              </a:rPr>
              <a:t>5.6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22</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5.2  </a:t>
            </a:r>
            <a:r>
              <a:rPr lang="zh-CN" altLang="en-US"/>
              <a:t>参照完整性</a:t>
            </a:r>
          </a:p>
        </p:txBody>
      </p:sp>
      <p:sp>
        <p:nvSpPr>
          <p:cNvPr id="3" name="内容占位符 2"/>
          <p:cNvSpPr>
            <a:spLocks noGrp="1"/>
          </p:cNvSpPr>
          <p:nvPr>
            <p:ph idx="1"/>
          </p:nvPr>
        </p:nvSpPr>
        <p:spPr/>
        <p:txBody>
          <a:bodyPr/>
          <a:lstStyle/>
          <a:p>
            <a:pPr marL="0" indent="0">
              <a:lnSpc>
                <a:spcPct val="100000"/>
              </a:lnSpc>
              <a:spcBef>
                <a:spcPts val="1000"/>
              </a:spcBef>
              <a:buNone/>
            </a:pPr>
            <a:r>
              <a:rPr lang="zh-CN" altLang="en-US">
                <a:solidFill>
                  <a:srgbClr val="C00000"/>
                </a:solidFill>
              </a:rPr>
              <a:t>5.2.1 参照完整性定义</a:t>
            </a:r>
          </a:p>
          <a:p>
            <a:pPr lvl="1">
              <a:lnSpc>
                <a:spcPct val="100000"/>
              </a:lnSpc>
              <a:spcBef>
                <a:spcPts val="1000"/>
              </a:spcBef>
            </a:pPr>
            <a:r>
              <a:rPr lang="zh-CN" altLang="en-US" dirty="0">
                <a:latin typeface="Arial" panose="020B0604020202020204" pitchFamily="34" charset="0"/>
                <a:cs typeface="Arial" panose="020B0604020202020204" pitchFamily="34" charset="0"/>
                <a:sym typeface="+mn-ea"/>
              </a:rPr>
              <a:t>在</a:t>
            </a:r>
            <a:r>
              <a:rPr lang="en-US" altLang="zh-CN" dirty="0">
                <a:latin typeface="Arial" panose="020B0604020202020204" pitchFamily="34" charset="0"/>
                <a:cs typeface="Arial" panose="020B0604020202020204" pitchFamily="34" charset="0"/>
                <a:sym typeface="+mn-ea"/>
              </a:rPr>
              <a:t> CREATE TABLE </a:t>
            </a:r>
            <a:r>
              <a:rPr lang="zh-CN" altLang="en-US" dirty="0">
                <a:latin typeface="Arial" panose="020B0604020202020204" pitchFamily="34" charset="0"/>
                <a:cs typeface="Arial" panose="020B0604020202020204" pitchFamily="34" charset="0"/>
                <a:sym typeface="+mn-ea"/>
              </a:rPr>
              <a:t>命令中用</a:t>
            </a:r>
            <a:r>
              <a:rPr lang="en-US" altLang="zh-CN" dirty="0">
                <a:latin typeface="Arial" panose="020B0604020202020204" pitchFamily="34" charset="0"/>
                <a:cs typeface="Arial" panose="020B0604020202020204" pitchFamily="34" charset="0"/>
                <a:sym typeface="+mn-ea"/>
              </a:rPr>
              <a:t> FOREIGN KEY </a:t>
            </a:r>
            <a:r>
              <a:rPr lang="zh-CN" altLang="en-US" dirty="0">
                <a:latin typeface="Arial" panose="020B0604020202020204" pitchFamily="34" charset="0"/>
                <a:cs typeface="Arial" panose="020B0604020202020204" pitchFamily="34" charset="0"/>
                <a:sym typeface="+mn-ea"/>
              </a:rPr>
              <a:t>短语定义外码，用</a:t>
            </a:r>
            <a:r>
              <a:rPr lang="en-US" altLang="zh-CN" dirty="0">
                <a:latin typeface="Arial" panose="020B0604020202020204" pitchFamily="34" charset="0"/>
                <a:cs typeface="Arial" panose="020B0604020202020204" pitchFamily="34" charset="0"/>
                <a:sym typeface="+mn-ea"/>
              </a:rPr>
              <a:t>REFERENCES</a:t>
            </a:r>
            <a:r>
              <a:rPr lang="zh-CN" altLang="en-US" dirty="0">
                <a:latin typeface="Arial" panose="020B0604020202020204" pitchFamily="34" charset="0"/>
                <a:cs typeface="Arial" panose="020B0604020202020204" pitchFamily="34" charset="0"/>
                <a:sym typeface="+mn-ea"/>
              </a:rPr>
              <a:t>短语指明这些外码参照哪些表的主码</a:t>
            </a:r>
          </a:p>
          <a:p>
            <a:pPr lvl="1">
              <a:lnSpc>
                <a:spcPct val="100000"/>
              </a:lnSpc>
              <a:spcBef>
                <a:spcPts val="1000"/>
              </a:spcBef>
            </a:pPr>
            <a:r>
              <a:rPr lang="zh-CN" altLang="en-US" dirty="0">
                <a:latin typeface="Arial" panose="020B0604020202020204" pitchFamily="34" charset="0"/>
                <a:cs typeface="Arial" panose="020B0604020202020204" pitchFamily="34" charset="0"/>
              </a:rPr>
              <a:t>单列构成的外码，既可以作为列级约束、也可以作为表级约束来说明</a:t>
            </a:r>
          </a:p>
          <a:p>
            <a:pPr lvl="1">
              <a:lnSpc>
                <a:spcPct val="100000"/>
              </a:lnSpc>
              <a:spcBef>
                <a:spcPts val="1000"/>
              </a:spcBef>
            </a:pPr>
            <a:r>
              <a:rPr lang="zh-CN" altLang="en-US" dirty="0">
                <a:latin typeface="Arial" panose="020B0604020202020204" pitchFamily="34" charset="0"/>
                <a:cs typeface="Arial" panose="020B0604020202020204" pitchFamily="34" charset="0"/>
              </a:rPr>
              <a:t>多列构成的外码，只能作为表级约束来说明</a:t>
            </a:r>
          </a:p>
          <a:p>
            <a:pPr lvl="1">
              <a:lnSpc>
                <a:spcPct val="100000"/>
              </a:lnSpc>
              <a:spcBef>
                <a:spcPts val="1000"/>
              </a:spcBef>
            </a:pPr>
            <a:endParaRPr lang="zh-CN" altLang="en-US"/>
          </a:p>
          <a:p>
            <a:pPr marL="0" indent="0">
              <a:lnSpc>
                <a:spcPct val="100000"/>
              </a:lnSpc>
              <a:spcBef>
                <a:spcPts val="1000"/>
              </a:spcBef>
              <a:buNone/>
            </a:pPr>
            <a:r>
              <a:rPr lang="zh-CN" altLang="en-US">
                <a:solidFill>
                  <a:srgbClr val="C00000"/>
                </a:solidFill>
              </a:rPr>
              <a:t>5.2.2 参照完整性检查和违约处理</a:t>
            </a:r>
          </a:p>
          <a:p>
            <a:pPr lvl="1">
              <a:lnSpc>
                <a:spcPct val="100000"/>
              </a:lnSpc>
              <a:spcBef>
                <a:spcPts val="1000"/>
              </a:spcBef>
            </a:pPr>
            <a:r>
              <a:rPr lang="zh-CN" altLang="en-US" dirty="0">
                <a:sym typeface="+mn-ea"/>
              </a:rPr>
              <a:t>一个参照完整性将两个表中的相应元组联系起来</a:t>
            </a:r>
            <a:endParaRPr lang="zh-CN" altLang="en-US" dirty="0"/>
          </a:p>
          <a:p>
            <a:pPr lvl="1">
              <a:lnSpc>
                <a:spcPct val="100000"/>
              </a:lnSpc>
              <a:spcBef>
                <a:spcPts val="1000"/>
              </a:spcBef>
            </a:pPr>
            <a:r>
              <a:rPr lang="zh-CN" altLang="en-US" dirty="0">
                <a:sym typeface="+mn-ea"/>
              </a:rPr>
              <a:t>对被参照表和参照表进行增删改操作时有可能破坏参照完整性，必须进行参照完整性检查</a:t>
            </a:r>
            <a:endParaRPr lang="en-US" altLang="zh-CN" dirty="0"/>
          </a:p>
          <a:p>
            <a:pPr lvl="1"/>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23</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21507" name="Rectangle 2"/>
          <p:cNvSpPr>
            <a:spLocks noGrp="1" noChangeArrowheads="1"/>
          </p:cNvSpPr>
          <p:nvPr>
            <p:ph type="title"/>
          </p:nvPr>
        </p:nvSpPr>
        <p:spPr/>
        <p:txBody>
          <a:bodyPr/>
          <a:lstStyle/>
          <a:p>
            <a:r>
              <a:rPr lang="zh-CN" altLang="en-US" dirty="0"/>
              <a:t>参照完整性定义</a:t>
            </a:r>
          </a:p>
        </p:txBody>
      </p:sp>
      <p:sp>
        <p:nvSpPr>
          <p:cNvPr id="21508" name="Rectangle 3"/>
          <p:cNvSpPr>
            <a:spLocks noGrp="1" noChangeArrowheads="1"/>
          </p:cNvSpPr>
          <p:nvPr>
            <p:ph idx="1"/>
          </p:nvPr>
        </p:nvSpPr>
        <p:spPr/>
        <p:txBody>
          <a:bodyPr>
            <a:noAutofit/>
          </a:bodyPr>
          <a:lstStyle/>
          <a:p>
            <a:pPr>
              <a:lnSpc>
                <a:spcPct val="100000"/>
              </a:lnSpc>
              <a:spcBef>
                <a:spcPts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3] </a:t>
            </a:r>
            <a:r>
              <a:rPr lang="zh-CN" altLang="en-US" sz="2800" dirty="0">
                <a:latin typeface="Calibri" panose="020F0502020204030204" charset="0"/>
                <a:cs typeface="Calibri" panose="020F0502020204030204" charset="0"/>
              </a:rPr>
              <a:t>定义</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中的参照完整性</a:t>
            </a:r>
          </a:p>
          <a:p>
            <a:pPr lvl="1" eaLnBrk="1" hangingPunct="1">
              <a:lnSpc>
                <a:spcPct val="100000"/>
              </a:lnSpc>
              <a:spcBef>
                <a:spcPts val="1000"/>
              </a:spcBef>
              <a:buFont typeface="Wingdings" panose="05000000000000000000" pitchFamily="2" charset="2"/>
              <a:buNone/>
            </a:pPr>
            <a:r>
              <a:rPr lang="en-US" altLang="zh-CN" sz="2800" dirty="0">
                <a:solidFill>
                  <a:srgbClr val="0000C8"/>
                </a:solidFill>
                <a:latin typeface="Calibri" panose="020F0502020204030204" charset="0"/>
                <a:cs typeface="Calibri" panose="020F0502020204030204" charset="0"/>
              </a:rPr>
              <a:t>CREATE TABLE SC </a:t>
            </a:r>
            <a:r>
              <a:rPr lang="zh-CN" altLang="en-US" sz="2800" dirty="0">
                <a:solidFill>
                  <a:srgbClr val="0000C8"/>
                </a:solidFill>
                <a:latin typeface="Calibri" panose="020F0502020204030204" charset="0"/>
                <a:cs typeface="Calibri" panose="020F0502020204030204" charset="0"/>
              </a:rPr>
              <a:t>(</a:t>
            </a:r>
          </a:p>
          <a:p>
            <a:pPr lvl="2" eaLnBrk="1" hangingPunct="1">
              <a:lnSpc>
                <a:spcPct val="100000"/>
              </a:lnSpc>
              <a:spcBef>
                <a:spcPts val="0"/>
              </a:spcBef>
              <a:buFont typeface="Wingdings" panose="05000000000000000000" pitchFamily="2" charset="2"/>
              <a:buNone/>
            </a:pPr>
            <a:r>
              <a:rPr lang="en-US" altLang="zh-CN" sz="2800" dirty="0" err="1">
                <a:solidFill>
                  <a:srgbClr val="0000C8"/>
                </a:solidFill>
                <a:latin typeface="Calibri" panose="020F0502020204030204" charset="0"/>
                <a:cs typeface="Calibri" panose="020F0502020204030204" charset="0"/>
              </a:rPr>
              <a:t>Sno</a:t>
            </a:r>
            <a:r>
              <a:rPr lang="en-US" altLang="zh-CN" sz="2800" dirty="0">
                <a:solidFill>
                  <a:srgbClr val="0000C8"/>
                </a:solidFill>
                <a:latin typeface="Calibri" panose="020F0502020204030204" charset="0"/>
                <a:cs typeface="Calibri" panose="020F0502020204030204" charset="0"/>
              </a:rPr>
              <a:t>    CHAR</a:t>
            </a: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9</a:t>
            </a: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  NOT NULL</a:t>
            </a:r>
            <a:r>
              <a:rPr lang="en-US" altLang="zh-CN" dirty="0">
                <a:solidFill>
                  <a:srgbClr val="0000C8"/>
                </a:solidFill>
                <a:latin typeface="Calibri" panose="020F0502020204030204" charset="0"/>
                <a:cs typeface="Calibri" panose="020F0502020204030204" charset="0"/>
                <a:sym typeface="+mn-ea"/>
              </a:rPr>
              <a:t>  </a:t>
            </a:r>
            <a:r>
              <a:rPr lang="en-US" altLang="zh-CN" dirty="0">
                <a:solidFill>
                  <a:srgbClr val="C00000"/>
                </a:solidFill>
                <a:latin typeface="Calibri" panose="020F0502020204030204" charset="0"/>
                <a:cs typeface="Calibri" panose="020F0502020204030204" charset="0"/>
                <a:sym typeface="+mn-ea"/>
              </a:rPr>
              <a:t>REFERENCES Student</a:t>
            </a:r>
            <a:r>
              <a:rPr lang="zh-CN" altLang="en-US" dirty="0">
                <a:solidFill>
                  <a:srgbClr val="C00000"/>
                </a:solidFill>
                <a:latin typeface="Calibri" panose="020F0502020204030204" charset="0"/>
                <a:cs typeface="Calibri" panose="020F0502020204030204" charset="0"/>
                <a:sym typeface="+mn-ea"/>
              </a:rPr>
              <a:t>(</a:t>
            </a:r>
            <a:r>
              <a:rPr lang="en-US" altLang="zh-CN" dirty="0" err="1">
                <a:solidFill>
                  <a:srgbClr val="C00000"/>
                </a:solidFill>
                <a:latin typeface="Calibri" panose="020F0502020204030204" charset="0"/>
                <a:cs typeface="Calibri" panose="020F0502020204030204" charset="0"/>
                <a:sym typeface="+mn-ea"/>
              </a:rPr>
              <a:t>Sno</a:t>
            </a:r>
            <a:r>
              <a:rPr lang="zh-CN" altLang="en-US" dirty="0">
                <a:solidFill>
                  <a:srgbClr val="C00000"/>
                </a:solidFill>
                <a:latin typeface="Calibri" panose="020F0502020204030204" charset="0"/>
                <a:cs typeface="Calibri" panose="020F0502020204030204" charset="0"/>
                <a:sym typeface="+mn-ea"/>
              </a:rPr>
              <a:t>)</a:t>
            </a:r>
            <a:r>
              <a:rPr lang="zh-CN" altLang="en-US" sz="2800" dirty="0">
                <a:solidFill>
                  <a:srgbClr val="C00000"/>
                </a:solidFill>
                <a:latin typeface="Calibri" panose="020F0502020204030204" charset="0"/>
                <a:cs typeface="Calibri" panose="020F0502020204030204" charset="0"/>
              </a:rPr>
              <a:t>, </a:t>
            </a:r>
          </a:p>
          <a:p>
            <a:pPr lvl="4" eaLnBrk="1" hangingPunct="1">
              <a:lnSpc>
                <a:spcPct val="100000"/>
              </a:lnSpc>
              <a:spcBef>
                <a:spcPts val="0"/>
              </a:spcBef>
              <a:buFont typeface="Wingdings" panose="05000000000000000000" pitchFamily="2" charset="2"/>
              <a:buNone/>
            </a:pPr>
            <a:r>
              <a:rPr lang="en-US" altLang="zh-CN" dirty="0">
                <a:solidFill>
                  <a:srgbClr val="C00000"/>
                </a:solidFill>
                <a:latin typeface="Calibri" panose="020F0502020204030204" charset="0"/>
                <a:cs typeface="Calibri" panose="020F0502020204030204" charset="0"/>
                <a:sym typeface="+mn-ea"/>
              </a:rPr>
              <a:t>/* </a:t>
            </a:r>
            <a:r>
              <a:rPr lang="zh-CN" altLang="en-US" dirty="0">
                <a:solidFill>
                  <a:srgbClr val="C00000"/>
                </a:solidFill>
                <a:latin typeface="Calibri" panose="020F0502020204030204" charset="0"/>
                <a:cs typeface="Calibri" panose="020F0502020204030204" charset="0"/>
                <a:sym typeface="+mn-ea"/>
              </a:rPr>
              <a:t>在列级定义参照完整性</a:t>
            </a:r>
            <a:r>
              <a:rPr lang="en-US" altLang="zh-CN" dirty="0">
                <a:solidFill>
                  <a:srgbClr val="C00000"/>
                </a:solidFill>
                <a:latin typeface="Calibri" panose="020F0502020204030204" charset="0"/>
                <a:cs typeface="Calibri" panose="020F0502020204030204" charset="0"/>
                <a:sym typeface="+mn-ea"/>
              </a:rPr>
              <a:t> - </a:t>
            </a:r>
            <a:r>
              <a:rPr lang="zh-CN" altLang="en-US" dirty="0">
                <a:solidFill>
                  <a:srgbClr val="C00000"/>
                </a:solidFill>
                <a:latin typeface="Calibri" panose="020F0502020204030204" charset="0"/>
                <a:cs typeface="Calibri" panose="020F0502020204030204" charset="0"/>
                <a:sym typeface="+mn-ea"/>
              </a:rPr>
              <a:t>外码</a:t>
            </a:r>
            <a:r>
              <a:rPr lang="en-US" altLang="zh-CN" dirty="0">
                <a:solidFill>
                  <a:srgbClr val="C00000"/>
                </a:solidFill>
                <a:latin typeface="Calibri" panose="020F0502020204030204" charset="0"/>
                <a:cs typeface="Calibri" panose="020F0502020204030204" charset="0"/>
                <a:sym typeface="+mn-ea"/>
              </a:rPr>
              <a:t> Sno </a:t>
            </a:r>
            <a:r>
              <a:rPr lang="zh-CN" altLang="en-US" dirty="0">
                <a:solidFill>
                  <a:srgbClr val="C00000"/>
                </a:solidFill>
                <a:latin typeface="Calibri" panose="020F0502020204030204" charset="0"/>
                <a:cs typeface="Calibri" panose="020F0502020204030204" charset="0"/>
                <a:sym typeface="+mn-ea"/>
              </a:rPr>
              <a:t>*</a:t>
            </a:r>
            <a:r>
              <a:rPr lang="en-US" altLang="zh-CN" dirty="0">
                <a:solidFill>
                  <a:srgbClr val="C00000"/>
                </a:solidFill>
                <a:latin typeface="Calibri" panose="020F0502020204030204" charset="0"/>
                <a:cs typeface="Calibri" panose="020F0502020204030204" charset="0"/>
                <a:sym typeface="+mn-ea"/>
              </a:rPr>
              <a:t>/</a:t>
            </a:r>
            <a:endParaRPr lang="zh-CN" altLang="en-US" sz="2800" dirty="0">
              <a:solidFill>
                <a:srgbClr val="C00000"/>
              </a:solidFill>
              <a:latin typeface="Calibri" panose="020F0502020204030204" charset="0"/>
              <a:cs typeface="Calibri" panose="020F0502020204030204" charset="0"/>
            </a:endParaRPr>
          </a:p>
          <a:p>
            <a:pPr lvl="2" eaLnBrk="1" hangingPunct="1">
              <a:lnSpc>
                <a:spcPct val="100000"/>
              </a:lnSpc>
              <a:spcBef>
                <a:spcPts val="0"/>
              </a:spcBef>
              <a:buFont typeface="Wingdings" panose="05000000000000000000" pitchFamily="2" charset="2"/>
              <a:buNone/>
            </a:pPr>
            <a:r>
              <a:rPr lang="en-US" altLang="zh-CN" sz="2800" dirty="0" err="1">
                <a:solidFill>
                  <a:srgbClr val="0000C8"/>
                </a:solidFill>
                <a:latin typeface="Calibri" panose="020F0502020204030204" charset="0"/>
                <a:cs typeface="Calibri" panose="020F0502020204030204" charset="0"/>
              </a:rPr>
              <a:t>Cno</a:t>
            </a:r>
            <a:r>
              <a:rPr lang="en-US" altLang="zh-CN" sz="2800" dirty="0">
                <a:solidFill>
                  <a:srgbClr val="0000C8"/>
                </a:solidFill>
                <a:latin typeface="Calibri" panose="020F0502020204030204" charset="0"/>
                <a:cs typeface="Calibri" panose="020F0502020204030204" charset="0"/>
              </a:rPr>
              <a:t>    CHAR</a:t>
            </a: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4</a:t>
            </a: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  NOT NULL</a:t>
            </a:r>
            <a:r>
              <a:rPr lang="zh-CN" altLang="en-US" sz="2800" dirty="0">
                <a:solidFill>
                  <a:srgbClr val="0000C8"/>
                </a:solidFill>
                <a:latin typeface="Calibri" panose="020F0502020204030204" charset="0"/>
                <a:cs typeface="Calibri" panose="020F0502020204030204" charset="0"/>
              </a:rPr>
              <a:t>,  </a:t>
            </a:r>
          </a:p>
          <a:p>
            <a:pPr lvl="2" eaLnBrk="1" hangingPunct="1">
              <a:lnSpc>
                <a:spcPct val="100000"/>
              </a:lnSpc>
              <a:spcBef>
                <a:spcPts val="0"/>
              </a:spcBef>
              <a:buFont typeface="Wingdings" panose="05000000000000000000" pitchFamily="2" charset="2"/>
              <a:buNone/>
            </a:pPr>
            <a:r>
              <a:rPr lang="en-US" altLang="zh-CN" sz="2800" dirty="0">
                <a:solidFill>
                  <a:srgbClr val="0000C8"/>
                </a:solidFill>
                <a:latin typeface="Calibri" panose="020F0502020204030204" charset="0"/>
                <a:cs typeface="Calibri" panose="020F0502020204030204" charset="0"/>
              </a:rPr>
              <a:t>Grade    SMALLINT</a:t>
            </a:r>
            <a:r>
              <a:rPr lang="zh-CN" altLang="en-US" sz="2800" dirty="0">
                <a:solidFill>
                  <a:srgbClr val="0000C8"/>
                </a:solidFill>
                <a:latin typeface="Calibri" panose="020F0502020204030204" charset="0"/>
                <a:cs typeface="Calibri" panose="020F0502020204030204" charset="0"/>
              </a:rPr>
              <a:t>,</a:t>
            </a:r>
          </a:p>
          <a:p>
            <a:pPr lvl="2" eaLnBrk="1" hangingPunct="1">
              <a:lnSpc>
                <a:spcPct val="100000"/>
              </a:lnSpc>
              <a:spcBef>
                <a:spcPts val="0"/>
              </a:spcBef>
              <a:buFont typeface="Wingdings" panose="05000000000000000000" pitchFamily="2" charset="2"/>
              <a:buNone/>
            </a:pPr>
            <a:r>
              <a:rPr lang="en-US" altLang="zh-CN" sz="2800" dirty="0">
                <a:solidFill>
                  <a:srgbClr val="C00000"/>
                </a:solidFill>
                <a:latin typeface="Calibri" panose="020F0502020204030204" charset="0"/>
                <a:cs typeface="Calibri" panose="020F0502020204030204" charset="0"/>
              </a:rPr>
              <a:t>PRIMARY KEY </a:t>
            </a:r>
            <a:r>
              <a:rPr lang="zh-CN" altLang="en-US" sz="2800" dirty="0">
                <a:solidFill>
                  <a:srgbClr val="C00000"/>
                </a:solidFill>
                <a:latin typeface="Calibri" panose="020F0502020204030204" charset="0"/>
                <a:cs typeface="Calibri" panose="020F0502020204030204" charset="0"/>
              </a:rPr>
              <a:t>(</a:t>
            </a:r>
            <a:r>
              <a:rPr lang="en-US" altLang="zh-CN" sz="2800" dirty="0" err="1">
                <a:solidFill>
                  <a:srgbClr val="C00000"/>
                </a:solidFill>
                <a:latin typeface="Calibri" panose="020F0502020204030204" charset="0"/>
                <a:cs typeface="Calibri" panose="020F0502020204030204" charset="0"/>
              </a:rPr>
              <a:t>Sno</a:t>
            </a:r>
            <a:r>
              <a:rPr lang="zh-CN" altLang="en-US" sz="2800" dirty="0">
                <a:solidFill>
                  <a:srgbClr val="C00000"/>
                </a:solidFill>
                <a:latin typeface="Calibri" panose="020F0502020204030204" charset="0"/>
                <a:cs typeface="Calibri" panose="020F0502020204030204" charset="0"/>
              </a:rPr>
              <a:t>, </a:t>
            </a:r>
            <a:r>
              <a:rPr lang="en-US" altLang="zh-CN" sz="2800" dirty="0" err="1">
                <a:solidFill>
                  <a:srgbClr val="C00000"/>
                </a:solidFill>
                <a:latin typeface="Calibri" panose="020F0502020204030204" charset="0"/>
                <a:cs typeface="Calibri" panose="020F0502020204030204" charset="0"/>
              </a:rPr>
              <a:t>Cno</a:t>
            </a:r>
            <a:r>
              <a:rPr lang="zh-CN" altLang="en-US" sz="2800" dirty="0">
                <a:solidFill>
                  <a:srgbClr val="C00000"/>
                </a:solidFill>
                <a:latin typeface="Calibri" panose="020F0502020204030204" charset="0"/>
                <a:cs typeface="Calibri" panose="020F0502020204030204" charset="0"/>
              </a:rPr>
              <a:t>),</a:t>
            </a:r>
          </a:p>
          <a:p>
            <a:pPr lvl="4" eaLnBrk="1" hangingPunct="1">
              <a:lnSpc>
                <a:spcPct val="100000"/>
              </a:lnSpc>
              <a:spcBef>
                <a:spcPts val="0"/>
              </a:spcBef>
              <a:buFont typeface="Wingdings" panose="05000000000000000000" pitchFamily="2" charset="2"/>
              <a:buNone/>
            </a:pP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在表级定义实体完整性</a:t>
            </a:r>
            <a:r>
              <a:rPr lang="en-US" altLang="zh-CN" dirty="0">
                <a:solidFill>
                  <a:srgbClr val="C00000"/>
                </a:solidFill>
                <a:latin typeface="Calibri" panose="020F0502020204030204" charset="0"/>
                <a:cs typeface="Calibri" panose="020F0502020204030204" charset="0"/>
                <a:sym typeface="+mn-ea"/>
              </a:rPr>
              <a:t> - </a:t>
            </a:r>
            <a:r>
              <a:rPr lang="zh-CN" altLang="en-US" dirty="0">
                <a:solidFill>
                  <a:srgbClr val="C00000"/>
                </a:solidFill>
                <a:latin typeface="Calibri" panose="020F0502020204030204" charset="0"/>
                <a:cs typeface="Calibri" panose="020F0502020204030204" charset="0"/>
                <a:sym typeface="+mn-ea"/>
              </a:rPr>
              <a:t>主码</a:t>
            </a:r>
            <a:r>
              <a:rPr lang="en-US" altLang="zh-CN" dirty="0">
                <a:solidFill>
                  <a:srgbClr val="C00000"/>
                </a:solidFill>
                <a:latin typeface="Calibri" panose="020F0502020204030204" charset="0"/>
                <a:cs typeface="Calibri" panose="020F0502020204030204" charset="0"/>
                <a:sym typeface="+mn-ea"/>
              </a:rPr>
              <a:t> (Sno,Cno)</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a:t>
            </a:r>
          </a:p>
          <a:p>
            <a:pPr lvl="2" eaLnBrk="1" hangingPunct="1">
              <a:lnSpc>
                <a:spcPct val="100000"/>
              </a:lnSpc>
              <a:spcBef>
                <a:spcPts val="0"/>
              </a:spcBef>
              <a:buFont typeface="Wingdings" panose="05000000000000000000" pitchFamily="2" charset="2"/>
              <a:buNone/>
            </a:pPr>
            <a:r>
              <a:rPr lang="en-US" altLang="zh-CN" sz="2800" dirty="0">
                <a:solidFill>
                  <a:srgbClr val="C00000"/>
                </a:solidFill>
                <a:latin typeface="Calibri" panose="020F0502020204030204" charset="0"/>
                <a:cs typeface="Calibri" panose="020F0502020204030204" charset="0"/>
              </a:rPr>
              <a:t>FOREIGN KEY </a:t>
            </a:r>
            <a:r>
              <a:rPr lang="zh-CN" altLang="en-US" sz="2800" dirty="0">
                <a:solidFill>
                  <a:srgbClr val="C00000"/>
                </a:solidFill>
                <a:latin typeface="Calibri" panose="020F0502020204030204" charset="0"/>
                <a:cs typeface="Calibri" panose="020F0502020204030204" charset="0"/>
              </a:rPr>
              <a:t>(</a:t>
            </a:r>
            <a:r>
              <a:rPr lang="en-US" altLang="zh-CN" sz="2800" dirty="0" err="1">
                <a:solidFill>
                  <a:srgbClr val="C00000"/>
                </a:solidFill>
                <a:latin typeface="Calibri" panose="020F0502020204030204" charset="0"/>
                <a:cs typeface="Calibri" panose="020F0502020204030204" charset="0"/>
              </a:rPr>
              <a:t>Cno</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 REFERENCES Course</a:t>
            </a:r>
            <a:r>
              <a:rPr lang="zh-CN" altLang="en-US" sz="2800" dirty="0">
                <a:solidFill>
                  <a:srgbClr val="C00000"/>
                </a:solidFill>
                <a:latin typeface="Calibri" panose="020F0502020204030204" charset="0"/>
                <a:cs typeface="Calibri" panose="020F0502020204030204" charset="0"/>
              </a:rPr>
              <a:t>(</a:t>
            </a:r>
            <a:r>
              <a:rPr lang="en-US" altLang="zh-CN" sz="2800" dirty="0" err="1">
                <a:solidFill>
                  <a:srgbClr val="C00000"/>
                </a:solidFill>
                <a:latin typeface="Calibri" panose="020F0502020204030204" charset="0"/>
                <a:cs typeface="Calibri" panose="020F0502020204030204" charset="0"/>
              </a:rPr>
              <a:t>Cno</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    </a:t>
            </a:r>
          </a:p>
          <a:p>
            <a:pPr lvl="4" eaLnBrk="1" hangingPunct="1">
              <a:lnSpc>
                <a:spcPct val="100000"/>
              </a:lnSpc>
              <a:spcBef>
                <a:spcPts val="0"/>
              </a:spcBef>
              <a:buFont typeface="Wingdings" panose="05000000000000000000" pitchFamily="2" charset="2"/>
              <a:buNone/>
            </a:pP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在表级定义参照完整性</a:t>
            </a:r>
            <a:r>
              <a:rPr lang="en-US" altLang="zh-CN" dirty="0">
                <a:solidFill>
                  <a:srgbClr val="C00000"/>
                </a:solidFill>
                <a:latin typeface="Calibri" panose="020F0502020204030204" charset="0"/>
                <a:cs typeface="Calibri" panose="020F0502020204030204" charset="0"/>
                <a:sym typeface="+mn-ea"/>
              </a:rPr>
              <a:t> - </a:t>
            </a:r>
            <a:r>
              <a:rPr lang="zh-CN" altLang="en-US" dirty="0">
                <a:solidFill>
                  <a:srgbClr val="C00000"/>
                </a:solidFill>
                <a:latin typeface="Calibri" panose="020F0502020204030204" charset="0"/>
                <a:cs typeface="Calibri" panose="020F0502020204030204" charset="0"/>
                <a:sym typeface="+mn-ea"/>
              </a:rPr>
              <a:t>外码</a:t>
            </a:r>
            <a:r>
              <a:rPr lang="en-US" altLang="zh-CN" dirty="0">
                <a:solidFill>
                  <a:srgbClr val="C00000"/>
                </a:solidFill>
                <a:latin typeface="Calibri" panose="020F0502020204030204" charset="0"/>
                <a:cs typeface="Calibri" panose="020F0502020204030204" charset="0"/>
                <a:sym typeface="+mn-ea"/>
              </a:rPr>
              <a:t> Cno</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a:t>
            </a:r>
          </a:p>
          <a:p>
            <a:pPr lvl="1" eaLnBrk="1" hangingPunct="1">
              <a:lnSpc>
                <a:spcPct val="100000"/>
              </a:lnSpc>
              <a:spcBef>
                <a:spcPts val="0"/>
              </a:spcBef>
              <a:buFont typeface="Wingdings" panose="05000000000000000000" pitchFamily="2" charset="2"/>
              <a:buNone/>
            </a:pP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a:t>
            </a:r>
          </a:p>
          <a:p>
            <a:pPr lvl="0" eaLnBrk="1" hangingPunct="1">
              <a:lnSpc>
                <a:spcPct val="100000"/>
              </a:lnSpc>
              <a:buFont typeface="Wingdings" panose="05000000000000000000" pitchFamily="2" charset="2"/>
              <a:buNone/>
            </a:pPr>
            <a:r>
              <a:rPr lang="en-US" altLang="zh-CN" sz="2400" dirty="0">
                <a:solidFill>
                  <a:srgbClr val="0000C8"/>
                </a:solidFill>
                <a:latin typeface="Calibri" panose="020F0502020204030204" charset="0"/>
                <a:cs typeface="Calibri" panose="020F0502020204030204" charset="0"/>
              </a:rPr>
              <a:t>/* </a:t>
            </a:r>
            <a:r>
              <a:rPr lang="zh-CN" altLang="en-US" sz="2400" dirty="0">
                <a:solidFill>
                  <a:srgbClr val="0000C8"/>
                </a:solidFill>
                <a:latin typeface="Calibri" panose="020F0502020204030204" charset="0"/>
                <a:cs typeface="Calibri" panose="020F0502020204030204" charset="0"/>
              </a:rPr>
              <a:t>单列构成的主码和外码，可以作为列级约束、也可以作为表级约束进行说明</a:t>
            </a:r>
            <a:r>
              <a:rPr lang="en-US" altLang="zh-CN" sz="2400" dirty="0">
                <a:solidFill>
                  <a:srgbClr val="0000C8"/>
                </a:solidFill>
                <a:latin typeface="Calibri" panose="020F0502020204030204" charset="0"/>
                <a:cs typeface="Calibri" panose="020F0502020204030204" charset="0"/>
              </a:rPr>
              <a:t> */</a:t>
            </a:r>
          </a:p>
          <a:p>
            <a:pPr lvl="0" eaLnBrk="1" hangingPunct="1">
              <a:lnSpc>
                <a:spcPct val="100000"/>
              </a:lnSpc>
              <a:spcBef>
                <a:spcPts val="0"/>
              </a:spcBef>
              <a:buFont typeface="Wingdings" panose="05000000000000000000" pitchFamily="2" charset="2"/>
              <a:buNone/>
            </a:pPr>
            <a:r>
              <a:rPr lang="en-US" altLang="zh-CN" sz="2400" dirty="0">
                <a:solidFill>
                  <a:srgbClr val="0000C8"/>
                </a:solidFill>
                <a:latin typeface="Calibri" panose="020F0502020204030204" charset="0"/>
                <a:cs typeface="Calibri" panose="020F0502020204030204" charset="0"/>
              </a:rPr>
              <a:t>/* </a:t>
            </a:r>
            <a:r>
              <a:rPr lang="zh-CN" altLang="en-US" sz="2400" dirty="0">
                <a:solidFill>
                  <a:srgbClr val="0000C8"/>
                </a:solidFill>
                <a:latin typeface="Calibri" panose="020F0502020204030204" charset="0"/>
                <a:cs typeface="Calibri" panose="020F0502020204030204" charset="0"/>
              </a:rPr>
              <a:t>多列构成的主码和外码，只能作为表级约束进行说明</a:t>
            </a:r>
            <a:r>
              <a:rPr lang="en-US" altLang="zh-CN" sz="2400" dirty="0">
                <a:solidFill>
                  <a:srgbClr val="0000C8"/>
                </a:solidFill>
                <a:latin typeface="Calibri" panose="020F0502020204030204" charset="0"/>
                <a:cs typeface="Calibri" panose="020F0502020204030204" charset="0"/>
              </a:rPr>
              <a:t>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dirty="0"/>
              <a:t>参照完整性检查 </a:t>
            </a:r>
            <a:r>
              <a:rPr lang="en-US" altLang="zh-CN" dirty="0"/>
              <a:t>1</a:t>
            </a:r>
            <a:endParaRPr lang="zh-CN" altLang="en-US" dirty="0"/>
          </a:p>
        </p:txBody>
      </p:sp>
      <p:sp>
        <p:nvSpPr>
          <p:cNvPr id="24579" name="Rectangle 3"/>
          <p:cNvSpPr>
            <a:spLocks noGrp="1" noChangeArrowheads="1"/>
          </p:cNvSpPr>
          <p:nvPr>
            <p:ph idx="1"/>
          </p:nvPr>
        </p:nvSpPr>
        <p:spPr/>
        <p:txBody>
          <a:bodyPr>
            <a:noAutofit/>
          </a:bodyPr>
          <a:lstStyle/>
          <a:p>
            <a:pPr>
              <a:lnSpc>
                <a:spcPct val="110000"/>
              </a:lnSpc>
              <a:spcBef>
                <a:spcPts val="1000"/>
              </a:spcBef>
            </a:pPr>
            <a:r>
              <a:rPr lang="zh-CN" altLang="en-US" sz="2800" dirty="0">
                <a:latin typeface="Calibri" panose="020F0502020204030204" charset="0"/>
                <a:cs typeface="Calibri" panose="020F0502020204030204" charset="0"/>
              </a:rPr>
              <a:t>例如，对参照表</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和被参照表</a:t>
            </a:r>
            <a:r>
              <a:rPr lang="en-US" altLang="zh-CN" sz="2800" dirty="0">
                <a:latin typeface="Calibri" panose="020F0502020204030204" charset="0"/>
                <a:cs typeface="Calibri" panose="020F0502020204030204" charset="0"/>
              </a:rPr>
              <a:t>Student</a:t>
            </a:r>
            <a:r>
              <a:rPr lang="zh-CN" altLang="en-US" sz="2800" dirty="0">
                <a:latin typeface="Calibri" panose="020F0502020204030204" charset="0"/>
                <a:cs typeface="Calibri" panose="020F0502020204030204" charset="0"/>
              </a:rPr>
              <a:t>，有四种可能破坏参照完整性的情况 :</a:t>
            </a:r>
          </a:p>
          <a:p>
            <a:pPr marL="971550" lvl="1" indent="-514350">
              <a:lnSpc>
                <a:spcPct val="110000"/>
              </a:lnSpc>
              <a:spcBef>
                <a:spcPts val="1000"/>
              </a:spcBef>
              <a:buFont typeface="+mj-ea"/>
              <a:buAutoNum type="circleNumDbPlain"/>
            </a:pPr>
            <a:r>
              <a:rPr lang="zh-CN" altLang="en-US" sz="2600" dirty="0">
                <a:solidFill>
                  <a:srgbClr val="C00000"/>
                </a:solidFill>
                <a:latin typeface="Calibri" panose="020F0502020204030204" charset="0"/>
                <a:cs typeface="Calibri" panose="020F0502020204030204" charset="0"/>
                <a:sym typeface="+mn-ea"/>
              </a:rPr>
              <a:t>在参照表</a:t>
            </a:r>
            <a:r>
              <a:rPr lang="en-US" altLang="zh-CN" sz="2600" dirty="0">
                <a:solidFill>
                  <a:srgbClr val="C00000"/>
                </a:solidFill>
                <a:latin typeface="Calibri" panose="020F0502020204030204" charset="0"/>
                <a:cs typeface="Calibri" panose="020F0502020204030204" charset="0"/>
              </a:rPr>
              <a:t>SC</a:t>
            </a:r>
            <a:r>
              <a:rPr lang="zh-CN" altLang="en-US" sz="2600" dirty="0">
                <a:solidFill>
                  <a:srgbClr val="C00000"/>
                </a:solidFill>
                <a:latin typeface="Calibri" panose="020F0502020204030204" charset="0"/>
                <a:cs typeface="Calibri" panose="020F0502020204030204" charset="0"/>
              </a:rPr>
              <a:t>中增加一个元组</a:t>
            </a:r>
            <a:r>
              <a:rPr lang="zh-CN" altLang="en-US" sz="2600" dirty="0">
                <a:latin typeface="Calibri" panose="020F0502020204030204" charset="0"/>
                <a:cs typeface="Calibri" panose="020F0502020204030204" charset="0"/>
              </a:rPr>
              <a:t>，该元组的</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a:t>
            </a:r>
            <a:r>
              <a:rPr lang="en-US" altLang="zh-CN" sz="2600" dirty="0">
                <a:latin typeface="Calibri" panose="020F0502020204030204" charset="0"/>
                <a:cs typeface="Calibri" panose="020F0502020204030204" charset="0"/>
              </a:rPr>
              <a:t>v</a:t>
            </a:r>
            <a:r>
              <a:rPr lang="zh-CN" altLang="en-US" sz="2600" dirty="0">
                <a:latin typeface="Calibri" panose="020F0502020204030204" charset="0"/>
                <a:cs typeface="Calibri" panose="020F0502020204030204" charset="0"/>
              </a:rPr>
              <a:t>在被参照表</a:t>
            </a:r>
            <a:r>
              <a:rPr lang="en-US" altLang="zh-CN" sz="2600" dirty="0">
                <a:latin typeface="Calibri" panose="020F0502020204030204" charset="0"/>
                <a:cs typeface="Calibri" panose="020F0502020204030204" charset="0"/>
              </a:rPr>
              <a:t>Student</a:t>
            </a:r>
            <a:r>
              <a:rPr lang="zh-CN" altLang="en-US" sz="2600" dirty="0">
                <a:latin typeface="Calibri" panose="020F0502020204030204" charset="0"/>
                <a:cs typeface="Calibri" panose="020F0502020204030204" charset="0"/>
              </a:rPr>
              <a:t>中不存在（找不到一个</a:t>
            </a:r>
            <a:r>
              <a:rPr lang="en-US" altLang="zh-CN" sz="2600" dirty="0">
                <a:latin typeface="Calibri" panose="020F0502020204030204" charset="0"/>
                <a:cs typeface="Calibri" panose="020F0502020204030204" charset="0"/>
              </a:rPr>
              <a:t>Student</a:t>
            </a:r>
            <a:r>
              <a:rPr lang="zh-CN" altLang="en-US" sz="2600" dirty="0">
                <a:latin typeface="Calibri" panose="020F0502020204030204" charset="0"/>
                <a:cs typeface="Calibri" panose="020F0502020204030204" charset="0"/>
              </a:rPr>
              <a:t>元组，其</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列的值与</a:t>
            </a:r>
            <a:r>
              <a:rPr lang="en-US" altLang="zh-CN" sz="2600" dirty="0">
                <a:latin typeface="Calibri" panose="020F0502020204030204" charset="0"/>
                <a:cs typeface="Calibri" panose="020F0502020204030204" charset="0"/>
              </a:rPr>
              <a:t>v</a:t>
            </a:r>
            <a:r>
              <a:rPr lang="zh-CN" altLang="en-US" sz="2600" dirty="0">
                <a:latin typeface="Calibri" panose="020F0502020204030204" charset="0"/>
                <a:cs typeface="Calibri" panose="020F0502020204030204" charset="0"/>
              </a:rPr>
              <a:t>相等）</a:t>
            </a:r>
          </a:p>
          <a:p>
            <a:pPr marL="971550" lvl="1" indent="-514350">
              <a:lnSpc>
                <a:spcPct val="110000"/>
              </a:lnSpc>
              <a:spcBef>
                <a:spcPts val="1000"/>
              </a:spcBef>
              <a:buFont typeface="+mj-ea"/>
              <a:buAutoNum type="circleNumDbPlain"/>
            </a:pPr>
            <a:r>
              <a:rPr lang="zh-CN" altLang="en-US" sz="2600" dirty="0">
                <a:solidFill>
                  <a:srgbClr val="C00000"/>
                </a:solidFill>
                <a:latin typeface="Calibri" panose="020F0502020204030204" charset="0"/>
                <a:cs typeface="Calibri" panose="020F0502020204030204" charset="0"/>
              </a:rPr>
              <a:t>修改</a:t>
            </a:r>
            <a:r>
              <a:rPr lang="zh-CN" altLang="en-US" sz="2600" dirty="0">
                <a:solidFill>
                  <a:srgbClr val="C00000"/>
                </a:solidFill>
                <a:latin typeface="Calibri" panose="020F0502020204030204" charset="0"/>
                <a:cs typeface="Calibri" panose="020F0502020204030204" charset="0"/>
                <a:sym typeface="+mn-ea"/>
              </a:rPr>
              <a:t>参照表</a:t>
            </a:r>
            <a:r>
              <a:rPr lang="en-US" altLang="zh-CN" sz="2600" dirty="0">
                <a:solidFill>
                  <a:srgbClr val="C00000"/>
                </a:solidFill>
                <a:latin typeface="Calibri" panose="020F0502020204030204" charset="0"/>
                <a:cs typeface="Calibri" panose="020F0502020204030204" charset="0"/>
                <a:sym typeface="+mn-ea"/>
              </a:rPr>
              <a:t>SC</a:t>
            </a:r>
            <a:r>
              <a:rPr lang="zh-CN" altLang="en-US" sz="2600" dirty="0">
                <a:solidFill>
                  <a:srgbClr val="C00000"/>
                </a:solidFill>
                <a:latin typeface="Calibri" panose="020F0502020204030204" charset="0"/>
                <a:cs typeface="Calibri" panose="020F0502020204030204" charset="0"/>
              </a:rPr>
              <a:t>中的一个元组</a:t>
            </a:r>
            <a:r>
              <a:rPr lang="zh-CN" altLang="en-US" sz="2600" dirty="0">
                <a:latin typeface="Calibri" panose="020F0502020204030204" charset="0"/>
                <a:cs typeface="Calibri" panose="020F0502020204030204" charset="0"/>
              </a:rPr>
              <a:t>，修改后该元组的</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a:t>
            </a:r>
            <a:r>
              <a:rPr lang="en-US" altLang="zh-CN" sz="2600" dirty="0">
                <a:latin typeface="Calibri" panose="020F0502020204030204" charset="0"/>
                <a:cs typeface="Calibri" panose="020F0502020204030204" charset="0"/>
              </a:rPr>
              <a:t>new_v</a:t>
            </a:r>
            <a:r>
              <a:rPr lang="zh-CN" altLang="en-US" sz="2600" dirty="0">
                <a:latin typeface="Calibri" panose="020F0502020204030204" charset="0"/>
                <a:cs typeface="Calibri" panose="020F0502020204030204" charset="0"/>
              </a:rPr>
              <a:t>在</a:t>
            </a:r>
            <a:r>
              <a:rPr lang="zh-CN" altLang="en-US" sz="2600" dirty="0">
                <a:latin typeface="Calibri" panose="020F0502020204030204" charset="0"/>
                <a:cs typeface="Calibri" panose="020F0502020204030204" charset="0"/>
                <a:sym typeface="+mn-ea"/>
              </a:rPr>
              <a:t>被参照表</a:t>
            </a:r>
            <a:r>
              <a:rPr lang="en-US" altLang="zh-CN" sz="2600" dirty="0">
                <a:latin typeface="Calibri" panose="020F0502020204030204" charset="0"/>
                <a:cs typeface="Calibri" panose="020F0502020204030204" charset="0"/>
              </a:rPr>
              <a:t>Student</a:t>
            </a:r>
            <a:r>
              <a:rPr lang="zh-CN" altLang="en-US" sz="2600" dirty="0">
                <a:latin typeface="Calibri" panose="020F0502020204030204" charset="0"/>
                <a:cs typeface="Calibri" panose="020F0502020204030204" charset="0"/>
              </a:rPr>
              <a:t>中不存在（找不到一个</a:t>
            </a:r>
            <a:r>
              <a:rPr lang="en-US" altLang="zh-CN" sz="2600" dirty="0">
                <a:latin typeface="Calibri" panose="020F0502020204030204" charset="0"/>
                <a:cs typeface="Calibri" panose="020F0502020204030204" charset="0"/>
                <a:sym typeface="+mn-ea"/>
              </a:rPr>
              <a:t>Student</a:t>
            </a:r>
            <a:r>
              <a:rPr lang="zh-CN" altLang="en-US" sz="2600" dirty="0">
                <a:latin typeface="Calibri" panose="020F0502020204030204" charset="0"/>
                <a:cs typeface="Calibri" panose="020F0502020204030204" charset="0"/>
              </a:rPr>
              <a:t>元组，其</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列的值与</a:t>
            </a:r>
            <a:r>
              <a:rPr lang="en-US" altLang="zh-CN" sz="2600" dirty="0">
                <a:latin typeface="Calibri" panose="020F0502020204030204" charset="0"/>
                <a:cs typeface="Calibri" panose="020F0502020204030204" charset="0"/>
                <a:sym typeface="+mn-ea"/>
              </a:rPr>
              <a:t>new_v</a:t>
            </a:r>
            <a:r>
              <a:rPr lang="zh-CN" altLang="en-US" sz="2600" dirty="0">
                <a:latin typeface="Calibri" panose="020F0502020204030204" charset="0"/>
                <a:cs typeface="Calibri" panose="020F0502020204030204" charset="0"/>
              </a:rPr>
              <a:t>相等</a:t>
            </a:r>
            <a:r>
              <a:rPr lang="en-US" altLang="zh-CN" sz="2600" dirty="0">
                <a:latin typeface="Calibri" panose="020F0502020204030204" charset="0"/>
                <a:cs typeface="Calibri" panose="020F0502020204030204" charset="0"/>
              </a:rPr>
              <a:t>)</a:t>
            </a:r>
          </a:p>
          <a:p>
            <a:pPr marL="971550" lvl="1" indent="-514350">
              <a:lnSpc>
                <a:spcPct val="110000"/>
              </a:lnSpc>
              <a:spcBef>
                <a:spcPts val="1000"/>
              </a:spcBef>
              <a:buFont typeface="+mj-ea"/>
              <a:buAutoNum type="circleNumDbPlain"/>
            </a:pPr>
            <a:r>
              <a:rPr lang="zh-CN" altLang="en-US" sz="2600" dirty="0">
                <a:solidFill>
                  <a:srgbClr val="C00000"/>
                </a:solidFill>
                <a:latin typeface="Calibri" panose="020F0502020204030204" charset="0"/>
                <a:cs typeface="Calibri" panose="020F0502020204030204" charset="0"/>
              </a:rPr>
              <a:t>从</a:t>
            </a:r>
            <a:r>
              <a:rPr lang="zh-CN" altLang="en-US" sz="2600" dirty="0">
                <a:solidFill>
                  <a:srgbClr val="C00000"/>
                </a:solidFill>
                <a:latin typeface="Calibri" panose="020F0502020204030204" charset="0"/>
                <a:cs typeface="Calibri" panose="020F0502020204030204" charset="0"/>
                <a:sym typeface="+mn-ea"/>
              </a:rPr>
              <a:t>被参照表</a:t>
            </a:r>
            <a:r>
              <a:rPr lang="en-US" altLang="zh-CN" sz="2600" dirty="0">
                <a:solidFill>
                  <a:srgbClr val="C00000"/>
                </a:solidFill>
                <a:latin typeface="Calibri" panose="020F0502020204030204" charset="0"/>
                <a:cs typeface="Calibri" panose="020F0502020204030204" charset="0"/>
                <a:sym typeface="+mn-ea"/>
              </a:rPr>
              <a:t>Student</a:t>
            </a:r>
            <a:r>
              <a:rPr lang="zh-CN" altLang="en-US" sz="2600" dirty="0">
                <a:solidFill>
                  <a:srgbClr val="C00000"/>
                </a:solidFill>
                <a:latin typeface="Calibri" panose="020F0502020204030204" charset="0"/>
                <a:cs typeface="Calibri" panose="020F0502020204030204" charset="0"/>
              </a:rPr>
              <a:t>中删除一个元组</a:t>
            </a:r>
            <a:r>
              <a:rPr lang="zh-CN" altLang="en-US" sz="2600" dirty="0">
                <a:latin typeface="Calibri" panose="020F0502020204030204" charset="0"/>
                <a:cs typeface="Calibri" panose="020F0502020204030204" charset="0"/>
              </a:rPr>
              <a:t>，造成</a:t>
            </a:r>
            <a:r>
              <a:rPr lang="zh-CN" altLang="en-US" sz="2600" dirty="0">
                <a:latin typeface="Calibri" panose="020F0502020204030204" charset="0"/>
                <a:cs typeface="Calibri" panose="020F0502020204030204" charset="0"/>
                <a:sym typeface="+mn-ea"/>
              </a:rPr>
              <a:t>参照表</a:t>
            </a:r>
            <a:r>
              <a:rPr lang="en-US" altLang="zh-CN" sz="2600" dirty="0">
                <a:latin typeface="Calibri" panose="020F0502020204030204" charset="0"/>
                <a:cs typeface="Calibri" panose="020F0502020204030204" charset="0"/>
                <a:sym typeface="+mn-ea"/>
              </a:rPr>
              <a:t>SC</a:t>
            </a:r>
            <a:r>
              <a:rPr lang="zh-CN" altLang="en-US" sz="2600" dirty="0">
                <a:latin typeface="Calibri" panose="020F0502020204030204" charset="0"/>
                <a:cs typeface="Calibri" panose="020F0502020204030204" charset="0"/>
              </a:rPr>
              <a:t>中某些元组的</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列的值在</a:t>
            </a:r>
            <a:r>
              <a:rPr lang="zh-CN" altLang="en-US" sz="2600" dirty="0">
                <a:latin typeface="Calibri" panose="020F0502020204030204" charset="0"/>
                <a:cs typeface="Calibri" panose="020F0502020204030204" charset="0"/>
                <a:sym typeface="+mn-ea"/>
              </a:rPr>
              <a:t>被参照</a:t>
            </a:r>
            <a:r>
              <a:rPr lang="zh-CN" altLang="en-US" sz="2600" dirty="0">
                <a:latin typeface="Calibri" panose="020F0502020204030204" charset="0"/>
                <a:cs typeface="Calibri" panose="020F0502020204030204" charset="0"/>
              </a:rPr>
              <a:t>表</a:t>
            </a:r>
            <a:r>
              <a:rPr lang="en-US" altLang="zh-CN" sz="2600" dirty="0">
                <a:latin typeface="Calibri" panose="020F0502020204030204" charset="0"/>
                <a:cs typeface="Calibri" panose="020F0502020204030204" charset="0"/>
              </a:rPr>
              <a:t>Student</a:t>
            </a:r>
            <a:r>
              <a:rPr lang="zh-CN" altLang="en-US" sz="2600" dirty="0">
                <a:latin typeface="Calibri" panose="020F0502020204030204" charset="0"/>
                <a:cs typeface="Calibri" panose="020F0502020204030204" charset="0"/>
              </a:rPr>
              <a:t>中</a:t>
            </a:r>
            <a:r>
              <a:rPr lang="zh-CN" altLang="en-US" sz="2600" dirty="0">
                <a:latin typeface="Calibri" panose="020F0502020204030204" charset="0"/>
                <a:cs typeface="Calibri" panose="020F0502020204030204" charset="0"/>
                <a:sym typeface="+mn-ea"/>
              </a:rPr>
              <a:t>不存在</a:t>
            </a:r>
            <a:endParaRPr lang="zh-CN" altLang="en-US" sz="2600" dirty="0">
              <a:latin typeface="Calibri" panose="020F0502020204030204" charset="0"/>
              <a:cs typeface="Calibri" panose="020F0502020204030204" charset="0"/>
            </a:endParaRPr>
          </a:p>
          <a:p>
            <a:pPr marL="971550" lvl="1" indent="-514350">
              <a:lnSpc>
                <a:spcPct val="110000"/>
              </a:lnSpc>
              <a:spcBef>
                <a:spcPts val="1000"/>
              </a:spcBef>
              <a:buFont typeface="+mj-ea"/>
              <a:buAutoNum type="circleNumDbPlain"/>
            </a:pPr>
            <a:r>
              <a:rPr lang="zh-CN" altLang="en-US" sz="2600" dirty="0">
                <a:solidFill>
                  <a:srgbClr val="C00000"/>
                </a:solidFill>
                <a:latin typeface="Calibri" panose="020F0502020204030204" charset="0"/>
                <a:cs typeface="Calibri" panose="020F0502020204030204" charset="0"/>
              </a:rPr>
              <a:t>修改</a:t>
            </a:r>
            <a:r>
              <a:rPr lang="zh-CN" altLang="en-US" sz="2600" dirty="0">
                <a:solidFill>
                  <a:srgbClr val="C00000"/>
                </a:solidFill>
                <a:latin typeface="Calibri" panose="020F0502020204030204" charset="0"/>
                <a:cs typeface="Calibri" panose="020F0502020204030204" charset="0"/>
                <a:sym typeface="+mn-ea"/>
              </a:rPr>
              <a:t>被参照表</a:t>
            </a:r>
            <a:r>
              <a:rPr lang="en-US" altLang="zh-CN" sz="2600" dirty="0">
                <a:solidFill>
                  <a:srgbClr val="C00000"/>
                </a:solidFill>
                <a:latin typeface="Calibri" panose="020F0502020204030204" charset="0"/>
                <a:cs typeface="Calibri" panose="020F0502020204030204" charset="0"/>
                <a:sym typeface="+mn-ea"/>
              </a:rPr>
              <a:t>Student</a:t>
            </a:r>
            <a:r>
              <a:rPr lang="zh-CN" altLang="en-US" sz="2600" dirty="0">
                <a:solidFill>
                  <a:srgbClr val="C00000"/>
                </a:solidFill>
                <a:latin typeface="Calibri" panose="020F0502020204030204" charset="0"/>
                <a:cs typeface="Calibri" panose="020F0502020204030204" charset="0"/>
              </a:rPr>
              <a:t>中一个元组的</a:t>
            </a:r>
            <a:r>
              <a:rPr lang="en-US" altLang="zh-CN" sz="2600" dirty="0" err="1">
                <a:solidFill>
                  <a:srgbClr val="C00000"/>
                </a:solidFill>
                <a:latin typeface="Calibri" panose="020F0502020204030204" charset="0"/>
                <a:cs typeface="Calibri" panose="020F0502020204030204" charset="0"/>
              </a:rPr>
              <a:t>Sno</a:t>
            </a:r>
            <a:r>
              <a:rPr lang="zh-CN" altLang="en-US" sz="2600" dirty="0">
                <a:solidFill>
                  <a:srgbClr val="C00000"/>
                </a:solidFill>
                <a:latin typeface="Calibri" panose="020F0502020204030204" charset="0"/>
                <a:cs typeface="Calibri" panose="020F0502020204030204" charset="0"/>
              </a:rPr>
              <a:t>列</a:t>
            </a:r>
            <a:r>
              <a:rPr lang="zh-CN" altLang="en-US" sz="2600" dirty="0">
                <a:latin typeface="Calibri" panose="020F0502020204030204" charset="0"/>
                <a:cs typeface="Calibri" panose="020F0502020204030204" charset="0"/>
              </a:rPr>
              <a:t>，造成</a:t>
            </a:r>
            <a:r>
              <a:rPr lang="zh-CN" altLang="en-US" sz="2600" dirty="0">
                <a:latin typeface="Calibri" panose="020F0502020204030204" charset="0"/>
                <a:cs typeface="Calibri" panose="020F0502020204030204" charset="0"/>
                <a:sym typeface="+mn-ea"/>
              </a:rPr>
              <a:t>参照表</a:t>
            </a:r>
            <a:r>
              <a:rPr lang="en-US" altLang="zh-CN" sz="2600" dirty="0">
                <a:latin typeface="Calibri" panose="020F0502020204030204" charset="0"/>
                <a:cs typeface="Calibri" panose="020F0502020204030204" charset="0"/>
                <a:sym typeface="+mn-ea"/>
              </a:rPr>
              <a:t>SC</a:t>
            </a:r>
            <a:r>
              <a:rPr lang="zh-CN" altLang="en-US" sz="2600" dirty="0">
                <a:latin typeface="Calibri" panose="020F0502020204030204" charset="0"/>
                <a:cs typeface="Calibri" panose="020F0502020204030204" charset="0"/>
              </a:rPr>
              <a:t>中某些元组的</a:t>
            </a:r>
            <a:r>
              <a:rPr lang="en-US" altLang="zh-CN" sz="2600" dirty="0" err="1">
                <a:latin typeface="Calibri" panose="020F0502020204030204" charset="0"/>
                <a:cs typeface="Calibri" panose="020F0502020204030204" charset="0"/>
              </a:rPr>
              <a:t>Sno</a:t>
            </a:r>
            <a:r>
              <a:rPr lang="zh-CN" altLang="en-US" sz="2600" dirty="0">
                <a:latin typeface="Calibri" panose="020F0502020204030204" charset="0"/>
                <a:cs typeface="Calibri" panose="020F0502020204030204" charset="0"/>
              </a:rPr>
              <a:t>列的值在</a:t>
            </a:r>
            <a:r>
              <a:rPr lang="zh-CN" altLang="en-US" sz="2600" dirty="0">
                <a:latin typeface="Calibri" panose="020F0502020204030204" charset="0"/>
                <a:cs typeface="Calibri" panose="020F0502020204030204" charset="0"/>
                <a:sym typeface="+mn-ea"/>
              </a:rPr>
              <a:t>被参照表</a:t>
            </a:r>
            <a:r>
              <a:rPr lang="en-US" altLang="zh-CN" sz="2600" dirty="0">
                <a:latin typeface="Calibri" panose="020F0502020204030204" charset="0"/>
                <a:cs typeface="Calibri" panose="020F0502020204030204" charset="0"/>
                <a:sym typeface="+mn-ea"/>
              </a:rPr>
              <a:t>Student</a:t>
            </a:r>
            <a:r>
              <a:rPr lang="zh-CN" altLang="en-US" sz="2600" dirty="0">
                <a:latin typeface="Calibri" panose="020F0502020204030204" charset="0"/>
                <a:cs typeface="Calibri" panose="020F0502020204030204" charset="0"/>
                <a:sym typeface="+mn-ea"/>
              </a:rPr>
              <a:t>中不存在</a:t>
            </a:r>
            <a:endParaRPr lang="zh-CN" altLang="en-US" sz="2600" dirty="0">
              <a:latin typeface="Calibri" panose="020F0502020204030204" charset="0"/>
              <a:cs typeface="Calibri" panose="020F0502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25</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7" dur="500"/>
                                        <p:tgtEl>
                                          <p:spTgt spid="245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7" dur="500"/>
                                        <p:tgtEl>
                                          <p:spTgt spid="245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2"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dirty="0"/>
              <a:t>参照完整性检查 </a:t>
            </a:r>
            <a:r>
              <a:rPr lang="en-US" altLang="zh-CN" dirty="0"/>
              <a:t>2</a:t>
            </a:r>
          </a:p>
        </p:txBody>
      </p:sp>
      <p:sp>
        <p:nvSpPr>
          <p:cNvPr id="27651" name="Rectangle 8"/>
          <p:cNvSpPr>
            <a:spLocks noChangeArrowheads="1"/>
          </p:cNvSpPr>
          <p:nvPr/>
        </p:nvSpPr>
        <p:spPr bwMode="auto">
          <a:xfrm>
            <a:off x="2509520" y="669767"/>
            <a:ext cx="73101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1F2DA8"/>
                </a:solidFill>
                <a:ea typeface="楷体" panose="02010609060101010101" charset="-122"/>
                <a:cs typeface="Arial" panose="020B0604020202020204" pitchFamily="34" charset="0"/>
              </a:rPr>
              <a:t>表</a:t>
            </a:r>
            <a:r>
              <a:rPr lang="en-US" altLang="zh-CN" sz="2800" b="1">
                <a:solidFill>
                  <a:srgbClr val="1F2DA8"/>
                </a:solidFill>
                <a:ea typeface="楷体" panose="02010609060101010101" charset="-122"/>
                <a:cs typeface="Arial" panose="020B0604020202020204" pitchFamily="34" charset="0"/>
              </a:rPr>
              <a:t>5.1  </a:t>
            </a:r>
            <a:r>
              <a:rPr lang="zh-CN" altLang="en-US" sz="2800" b="1">
                <a:solidFill>
                  <a:srgbClr val="1F2DA8"/>
                </a:solidFill>
                <a:ea typeface="楷体" panose="02010609060101010101" charset="-122"/>
                <a:cs typeface="Arial" panose="020B0604020202020204" pitchFamily="34" charset="0"/>
              </a:rPr>
              <a:t>可能破坏参照完整性的情况及违约处理</a:t>
            </a:r>
          </a:p>
        </p:txBody>
      </p:sp>
      <p:graphicFrame>
        <p:nvGraphicFramePr>
          <p:cNvPr id="26632" name="Group 8"/>
          <p:cNvGraphicFramePr>
            <a:graphicFrameLocks noGrp="1"/>
          </p:cNvGraphicFramePr>
          <p:nvPr>
            <p:custDataLst>
              <p:tags r:id="rId1"/>
            </p:custDataLst>
          </p:nvPr>
        </p:nvGraphicFramePr>
        <p:xfrm>
          <a:off x="424180" y="1158240"/>
          <a:ext cx="11343005" cy="5096510"/>
        </p:xfrm>
        <a:graphic>
          <a:graphicData uri="http://schemas.openxmlformats.org/drawingml/2006/table">
            <a:tbl>
              <a:tblPr/>
              <a:tblGrid>
                <a:gridCol w="4418965">
                  <a:extLst>
                    <a:ext uri="{9D8B030D-6E8A-4147-A177-3AD203B41FA5}">
                      <a16:colId xmlns:a16="http://schemas.microsoft.com/office/drawing/2014/main" val="20000"/>
                    </a:ext>
                  </a:extLst>
                </a:gridCol>
                <a:gridCol w="401891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76910">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被参照表（例如</a:t>
                      </a:r>
                      <a:r>
                        <a:rPr kumimoji="0" 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Student</a:t>
                      </a:r>
                      <a:r>
                        <a:rPr kumimoji="0" lang="zh-CN" altLang="en-US" sz="2800" b="1" i="0" u="none" strike="noStrike" cap="none" normalizeH="0" baseline="0" dirty="0">
                          <a:ln>
                            <a:noFill/>
                          </a:ln>
                          <a:solidFill>
                            <a:schemeClr val="tx1"/>
                          </a:solidFill>
                          <a:effectLst/>
                          <a:latin typeface="Arial" panose="020B0604020202020204" pitchFamily="34" charset="0"/>
                          <a:ea typeface="楷体" panose="02010609060101010101" charset="-122"/>
                          <a:cs typeface="Arial" panose="020B0604020202020204" pitchFamily="34" charset="0"/>
                        </a:rPr>
                        <a:t>）</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a:ln>
                            <a:noFill/>
                          </a:ln>
                          <a:solidFill>
                            <a:schemeClr val="tx1"/>
                          </a:solidFill>
                          <a:effectLst/>
                          <a:latin typeface="Arial" panose="020B0604020202020204" pitchFamily="34" charset="0"/>
                          <a:ea typeface="楷体" panose="02010609060101010101" charset="-122"/>
                          <a:cs typeface="Arial" panose="020B0604020202020204" pitchFamily="34" charset="0"/>
                        </a:rPr>
                        <a:t>参照表（例如</a:t>
                      </a:r>
                      <a:r>
                        <a:rPr kumimoji="0" lang="en-US" sz="2800" b="1" i="0" u="none" strike="noStrike" cap="none" normalizeH="0" baseline="0">
                          <a:ln>
                            <a:noFill/>
                          </a:ln>
                          <a:solidFill>
                            <a:schemeClr val="tx1"/>
                          </a:solidFill>
                          <a:effectLst/>
                          <a:latin typeface="Arial" panose="020B0604020202020204" pitchFamily="34" charset="0"/>
                          <a:ea typeface="楷体" panose="02010609060101010101" charset="-122"/>
                          <a:cs typeface="Arial" panose="020B0604020202020204" pitchFamily="34" charset="0"/>
                        </a:rPr>
                        <a:t>SC</a:t>
                      </a:r>
                      <a:r>
                        <a:rPr kumimoji="0" lang="zh-CN" altLang="en-US" sz="2800" b="1" i="0" u="none" strike="noStrike" cap="none" normalizeH="0" baseline="0">
                          <a:ln>
                            <a:noFill/>
                          </a:ln>
                          <a:solidFill>
                            <a:schemeClr val="tx1"/>
                          </a:solidFill>
                          <a:effectLst/>
                          <a:latin typeface="Arial" panose="020B0604020202020204" pitchFamily="34" charset="0"/>
                          <a:ea typeface="楷体" panose="02010609060101010101" charset="-122"/>
                          <a:cs typeface="Arial" panose="020B0604020202020204" pitchFamily="34" charset="0"/>
                        </a:rPr>
                        <a:t>）</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a:ln>
                            <a:noFill/>
                          </a:ln>
                          <a:solidFill>
                            <a:schemeClr val="tx1"/>
                          </a:solidFill>
                          <a:effectLst/>
                          <a:latin typeface="Arial" panose="020B0604020202020204" pitchFamily="34" charset="0"/>
                          <a:ea typeface="楷体" panose="02010609060101010101" charset="-122"/>
                        </a:rPr>
                        <a:t>违约处理</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alpha val="50000"/>
                      </a:schemeClr>
                    </a:solidFill>
                  </a:tcPr>
                </a:tc>
                <a:extLst>
                  <a:ext uri="{0D108BD9-81ED-4DB2-BD59-A6C34878D82A}">
                    <a16:rowId xmlns:a16="http://schemas.microsoft.com/office/drawing/2014/main" val="10000"/>
                  </a:ext>
                </a:extLst>
              </a:tr>
              <a:tr h="1104900">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1F2DA8"/>
                          </a:solidFill>
                          <a:effectLst/>
                          <a:latin typeface="Arial" panose="020B0604020202020204" pitchFamily="34" charset="0"/>
                          <a:ea typeface="楷体" panose="02010609060101010101" charset="-122"/>
                        </a:rPr>
                        <a:t>可能破坏参照完整性</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dirty="0">
                          <a:ln>
                            <a:noFill/>
                          </a:ln>
                          <a:solidFill>
                            <a:srgbClr val="C00000"/>
                          </a:solidFill>
                          <a:effectLst/>
                          <a:latin typeface="Arial" panose="020B0604020202020204" pitchFamily="34" charset="0"/>
                          <a:ea typeface="楷体" panose="02010609060101010101" charset="-122"/>
                          <a:cs typeface="Arial" panose="020B0604020202020204" pitchFamily="34" charset="0"/>
                        </a:rPr>
                        <a:t>插入元组</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1F2DA8"/>
                          </a:solidFill>
                          <a:effectLst/>
                          <a:latin typeface="Arial" panose="020B0604020202020204" pitchFamily="34" charset="0"/>
                          <a:ea typeface="楷体" panose="02010609060101010101" charset="-122"/>
                        </a:rPr>
                        <a:t>拒绝</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4900">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1F2DA8"/>
                          </a:solidFill>
                          <a:effectLst/>
                          <a:latin typeface="Arial" panose="020B0604020202020204" pitchFamily="34" charset="0"/>
                          <a:ea typeface="楷体" panose="02010609060101010101" charset="-122"/>
                        </a:rPr>
                        <a:t>可能破坏参照完整性</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a:ln>
                            <a:noFill/>
                          </a:ln>
                          <a:solidFill>
                            <a:srgbClr val="C00000"/>
                          </a:solidFill>
                          <a:effectLst/>
                          <a:latin typeface="Arial" panose="020B0604020202020204" pitchFamily="34" charset="0"/>
                          <a:ea typeface="楷体" panose="02010609060101010101" charset="-122"/>
                          <a:cs typeface="Arial" panose="020B0604020202020204" pitchFamily="34" charset="0"/>
                        </a:rPr>
                        <a:t>修改外码值</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1F2DA8"/>
                          </a:solidFill>
                          <a:effectLst/>
                          <a:latin typeface="Arial" panose="020B0604020202020204" pitchFamily="34" charset="0"/>
                          <a:ea typeface="楷体" panose="02010609060101010101" charset="-122"/>
                        </a:rPr>
                        <a:t>拒绝</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04900">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C00000"/>
                          </a:solidFill>
                          <a:effectLst/>
                          <a:latin typeface="Arial" panose="020B0604020202020204" pitchFamily="34" charset="0"/>
                          <a:ea typeface="楷体" panose="02010609060101010101" charset="-122"/>
                        </a:rPr>
                        <a:t>删除元组</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可能破坏参照完整性</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拒绝</a:t>
                      </a:r>
                      <a:r>
                        <a:rPr kumimoji="0" lang="en-US" altLang="zh-CN"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en-US"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zh-CN" altLang="en-US"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级连删除</a:t>
                      </a:r>
                      <a:r>
                        <a:rPr kumimoji="0" lang="en-US" altLang="zh-CN"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en-US"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a:t>
                      </a:r>
                      <a:r>
                        <a:rPr kumimoji="0" lang="zh-CN" altLang="en-US" sz="2800" b="1" i="0" u="none" strike="noStrike" cap="none" normalizeH="0" baseline="0">
                          <a:ln>
                            <a:noFill/>
                          </a:ln>
                          <a:solidFill>
                            <a:srgbClr val="1F2DA8"/>
                          </a:solidFill>
                          <a:effectLst/>
                          <a:latin typeface="Arial" panose="020B0604020202020204" pitchFamily="34" charset="0"/>
                          <a:ea typeface="楷体" panose="02010609060101010101" charset="-122"/>
                          <a:cs typeface="Arial" panose="020B0604020202020204" pitchFamily="34" charset="0"/>
                        </a:rPr>
                        <a:t>设置为空值</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04900">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sz="2800" b="1" i="0" u="none" strike="noStrike" cap="none" normalizeH="0" baseline="0">
                          <a:ln>
                            <a:noFill/>
                          </a:ln>
                          <a:solidFill>
                            <a:srgbClr val="C00000"/>
                          </a:solidFill>
                          <a:effectLst/>
                          <a:latin typeface="Arial" panose="020B0604020202020204" pitchFamily="34" charset="0"/>
                          <a:ea typeface="楷体" panose="02010609060101010101" charset="-122"/>
                        </a:rPr>
                        <a:t>修改主码值</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可能破坏参照完整性</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0" lvl="0" indent="0" algn="ctr" defTabSz="914400" rtl="0" fontAlgn="base">
                        <a:lnSpc>
                          <a:spcPct val="100000"/>
                        </a:lnSpc>
                        <a:spcBef>
                          <a:spcPct val="0"/>
                        </a:spcBef>
                        <a:spcAft>
                          <a:spcPct val="0"/>
                        </a:spcAft>
                        <a:buClrTx/>
                        <a:buSzPct val="100000"/>
                        <a:buFont typeface="Wingdings" panose="05000000000000000000" pitchFamily="2" charset="2"/>
                        <a:buNone/>
                      </a:pPr>
                      <a:r>
                        <a:rPr kumimoji="0" lang="zh-CN" alt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拒绝</a:t>
                      </a:r>
                      <a:r>
                        <a:rPr kumimoji="0" lang="en-US" altLang="zh-CN"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zh-CN" alt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级连修改</a:t>
                      </a:r>
                      <a:r>
                        <a:rPr kumimoji="0" lang="en-US" altLang="zh-CN"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 </a:t>
                      </a:r>
                      <a:r>
                        <a:rPr kumimoji="0" 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a:t>
                      </a:r>
                      <a:r>
                        <a:rPr kumimoji="0" lang="zh-CN" altLang="en-US" sz="2800" b="1" i="0" u="none" strike="noStrike" cap="none" normalizeH="0" baseline="0" dirty="0">
                          <a:ln>
                            <a:noFill/>
                          </a:ln>
                          <a:solidFill>
                            <a:srgbClr val="1F2DA8"/>
                          </a:solidFill>
                          <a:effectLst/>
                          <a:latin typeface="Arial" panose="020B0604020202020204" pitchFamily="34" charset="0"/>
                          <a:ea typeface="楷体" panose="02010609060101010101" charset="-122"/>
                          <a:cs typeface="Arial" panose="020B0604020202020204" pitchFamily="34" charset="0"/>
                        </a:rPr>
                        <a:t>设置为空值</a:t>
                      </a:r>
                    </a:p>
                  </a:txBody>
                  <a:tcPr marL="91437" marR="91437" marT="45728" marB="4572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7682" name="Line 125"/>
          <p:cNvSpPr>
            <a:spLocks noChangeShapeType="1"/>
          </p:cNvSpPr>
          <p:nvPr/>
        </p:nvSpPr>
        <p:spPr bwMode="auto">
          <a:xfrm flipH="1">
            <a:off x="4511675" y="3494405"/>
            <a:ext cx="649288" cy="0"/>
          </a:xfrm>
          <a:prstGeom prst="line">
            <a:avLst/>
          </a:prstGeom>
          <a:noFill/>
          <a:ln w="44450">
            <a:solidFill>
              <a:srgbClr val="C00000"/>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3" name="Line 126"/>
          <p:cNvSpPr>
            <a:spLocks noChangeShapeType="1"/>
          </p:cNvSpPr>
          <p:nvPr/>
        </p:nvSpPr>
        <p:spPr bwMode="auto">
          <a:xfrm>
            <a:off x="4511675" y="4558665"/>
            <a:ext cx="649288" cy="0"/>
          </a:xfrm>
          <a:prstGeom prst="line">
            <a:avLst/>
          </a:prstGeom>
          <a:noFill/>
          <a:ln w="44450">
            <a:solidFill>
              <a:srgbClr val="C00000"/>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4" name="Line 127"/>
          <p:cNvSpPr>
            <a:spLocks noChangeShapeType="1"/>
          </p:cNvSpPr>
          <p:nvPr/>
        </p:nvSpPr>
        <p:spPr bwMode="auto">
          <a:xfrm>
            <a:off x="4511675" y="5706428"/>
            <a:ext cx="647700" cy="0"/>
          </a:xfrm>
          <a:prstGeom prst="line">
            <a:avLst/>
          </a:prstGeom>
          <a:noFill/>
          <a:ln w="44450">
            <a:solidFill>
              <a:srgbClr val="C00000"/>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85" name="Line 125"/>
          <p:cNvSpPr>
            <a:spLocks noChangeShapeType="1"/>
          </p:cNvSpPr>
          <p:nvPr/>
        </p:nvSpPr>
        <p:spPr bwMode="auto">
          <a:xfrm flipH="1">
            <a:off x="4511675" y="2367598"/>
            <a:ext cx="649288" cy="0"/>
          </a:xfrm>
          <a:prstGeom prst="line">
            <a:avLst/>
          </a:prstGeom>
          <a:noFill/>
          <a:ln w="44450">
            <a:solidFill>
              <a:srgbClr val="C00000"/>
            </a:solidFill>
            <a:rou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26</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28675" name="Rectangle 2"/>
          <p:cNvSpPr>
            <a:spLocks noGrp="1" noChangeArrowheads="1"/>
          </p:cNvSpPr>
          <p:nvPr>
            <p:ph type="title"/>
          </p:nvPr>
        </p:nvSpPr>
        <p:spPr/>
        <p:txBody>
          <a:bodyPr>
            <a:normAutofit fontScale="90000"/>
          </a:bodyPr>
          <a:lstStyle/>
          <a:p>
            <a:r>
              <a:rPr lang="zh-CN" altLang="en-US" dirty="0"/>
              <a:t>参照完整性违约处理</a:t>
            </a:r>
            <a:r>
              <a:rPr lang="en-US" altLang="zh-CN" dirty="0"/>
              <a:t> 1</a:t>
            </a:r>
          </a:p>
        </p:txBody>
      </p:sp>
      <p:sp>
        <p:nvSpPr>
          <p:cNvPr id="28676" name="Rectangle 3"/>
          <p:cNvSpPr>
            <a:spLocks noGrp="1" noChangeArrowheads="1"/>
          </p:cNvSpPr>
          <p:nvPr>
            <p:ph idx="1"/>
          </p:nvPr>
        </p:nvSpPr>
        <p:spPr/>
        <p:txBody>
          <a:bodyPr>
            <a:noAutofit/>
          </a:bodyPr>
          <a:lstStyle/>
          <a:p>
            <a:r>
              <a:rPr lang="zh-CN" altLang="en-US" dirty="0">
                <a:latin typeface="Calibri" panose="020F0502020204030204" charset="0"/>
                <a:cs typeface="Calibri" panose="020F0502020204030204" charset="0"/>
              </a:rPr>
              <a:t>参照完整性违约处理</a:t>
            </a:r>
          </a:p>
          <a:p>
            <a:pPr lvl="1"/>
            <a:r>
              <a:rPr lang="zh-CN" altLang="en-US" dirty="0">
                <a:solidFill>
                  <a:srgbClr val="C00000"/>
                </a:solidFill>
                <a:latin typeface="Calibri" panose="020F0502020204030204" charset="0"/>
                <a:cs typeface="Calibri" panose="020F0502020204030204" charset="0"/>
              </a:rPr>
              <a:t>拒绝</a:t>
            </a:r>
            <a:r>
              <a:rPr lang="en-US" altLang="zh-CN" dirty="0">
                <a:solidFill>
                  <a:srgbClr val="C00000"/>
                </a:solidFill>
                <a:latin typeface="Calibri" panose="020F0502020204030204" charset="0"/>
                <a:cs typeface="Calibri" panose="020F0502020204030204" charset="0"/>
              </a:rPr>
              <a:t>（NO ACTION）</a:t>
            </a:r>
            <a:r>
              <a:rPr lang="zh-CN" altLang="en-US" dirty="0">
                <a:solidFill>
                  <a:srgbClr val="C00000"/>
                </a:solidFill>
                <a:latin typeface="Calibri" panose="020F0502020204030204" charset="0"/>
                <a:cs typeface="Calibri" panose="020F0502020204030204" charset="0"/>
              </a:rPr>
              <a:t>执行</a:t>
            </a:r>
            <a:endParaRPr lang="zh-CN" altLang="en-US"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不允许该操作执行。该策略一般设置为默认策略</a:t>
            </a:r>
          </a:p>
          <a:p>
            <a:pPr lvl="1">
              <a:lnSpc>
                <a:spcPct val="110000"/>
              </a:lnSpc>
              <a:spcBef>
                <a:spcPts val="2000"/>
              </a:spcBef>
            </a:pPr>
            <a:r>
              <a:rPr lang="zh-CN" altLang="en-US" dirty="0">
                <a:solidFill>
                  <a:srgbClr val="C00000"/>
                </a:solidFill>
                <a:latin typeface="Calibri" panose="020F0502020204030204" charset="0"/>
                <a:cs typeface="Calibri" panose="020F0502020204030204" charset="0"/>
              </a:rPr>
              <a:t>级联</a:t>
            </a:r>
            <a:r>
              <a:rPr lang="en-US" altLang="zh-CN" dirty="0">
                <a:solidFill>
                  <a:srgbClr val="C00000"/>
                </a:solidFill>
                <a:latin typeface="Calibri" panose="020F0502020204030204" charset="0"/>
                <a:cs typeface="Calibri" panose="020F0502020204030204" charset="0"/>
              </a:rPr>
              <a:t>（CASCADE）</a:t>
            </a:r>
            <a:r>
              <a:rPr lang="zh-CN" altLang="en-US" dirty="0">
                <a:solidFill>
                  <a:srgbClr val="C00000"/>
                </a:solidFill>
                <a:latin typeface="Calibri" panose="020F0502020204030204" charset="0"/>
                <a:cs typeface="Calibri" panose="020F0502020204030204" charset="0"/>
              </a:rPr>
              <a:t>操作</a:t>
            </a:r>
            <a:endParaRPr lang="zh-CN" altLang="en-US"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当删除或修改被参照表</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的一个元组造成了与参照表</a:t>
            </a:r>
            <a:r>
              <a:rPr lang="en-US" altLang="zh-CN" dirty="0">
                <a:latin typeface="Calibri" panose="020F0502020204030204" charset="0"/>
                <a:cs typeface="Calibri" panose="020F0502020204030204" charset="0"/>
              </a:rPr>
              <a:t>(SC)</a:t>
            </a:r>
            <a:r>
              <a:rPr lang="zh-CN" altLang="en-US" dirty="0">
                <a:latin typeface="Calibri" panose="020F0502020204030204" charset="0"/>
                <a:cs typeface="Calibri" panose="020F0502020204030204" charset="0"/>
              </a:rPr>
              <a:t>的不一致，则删除或修改参照表中的所有造成不一致的元组</a:t>
            </a:r>
          </a:p>
          <a:p>
            <a:pPr lvl="1">
              <a:lnSpc>
                <a:spcPct val="110000"/>
              </a:lnSpc>
              <a:spcBef>
                <a:spcPts val="2000"/>
              </a:spcBef>
            </a:pPr>
            <a:r>
              <a:rPr lang="zh-CN" altLang="en-US" dirty="0">
                <a:solidFill>
                  <a:srgbClr val="C00000"/>
                </a:solidFill>
                <a:latin typeface="Calibri" panose="020F0502020204030204" charset="0"/>
                <a:cs typeface="Calibri" panose="020F0502020204030204" charset="0"/>
              </a:rPr>
              <a:t>设置为空值（</a:t>
            </a:r>
            <a:r>
              <a:rPr lang="en-US" altLang="zh-CN" dirty="0">
                <a:solidFill>
                  <a:srgbClr val="C00000"/>
                </a:solidFill>
                <a:latin typeface="Calibri" panose="020F0502020204030204" charset="0"/>
                <a:cs typeface="Calibri" panose="020F0502020204030204" charset="0"/>
              </a:rPr>
              <a:t>SET-NULL</a:t>
            </a:r>
            <a:r>
              <a:rPr lang="zh-CN" altLang="en-US" dirty="0">
                <a:solidFill>
                  <a:srgbClr val="C00000"/>
                </a:solidFill>
                <a:latin typeface="Calibri" panose="020F0502020204030204" charset="0"/>
                <a:cs typeface="Calibri" panose="020F0502020204030204" charset="0"/>
              </a:rPr>
              <a:t>）</a:t>
            </a:r>
            <a:endParaRPr lang="zh-CN" altLang="en-US"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当删除或修改被参照表的一个元组时造成了不一致，则将参照表中的所有造成不一致的元组的对应列设置为空值。</a:t>
            </a:r>
            <a:endParaRPr lang="en-US" altLang="zh-CN" dirty="0">
              <a:latin typeface="Calibri" panose="020F0502020204030204" charset="0"/>
              <a:cs typeface="Calibri" panose="020F0502020204030204" charset="0"/>
            </a:endParaRPr>
          </a:p>
          <a:p>
            <a:pPr lvl="2"/>
            <a:r>
              <a:rPr lang="zh-CN" altLang="en-US" dirty="0">
                <a:latin typeface="Calibri" panose="020F0502020204030204" charset="0"/>
                <a:cs typeface="Calibri" panose="020F0502020204030204" charset="0"/>
              </a:rPr>
              <a:t>对于参照完整性，除了应该定义外码，还应定义</a:t>
            </a:r>
            <a:r>
              <a:rPr lang="zh-CN" altLang="en-US" dirty="0">
                <a:solidFill>
                  <a:srgbClr val="FF0000"/>
                </a:solidFill>
                <a:latin typeface="Calibri" panose="020F0502020204030204" charset="0"/>
                <a:cs typeface="Calibri" panose="020F0502020204030204" charset="0"/>
              </a:rPr>
              <a:t>外码列是否允许空值 </a:t>
            </a:r>
            <a:endParaRPr lang="en-US" altLang="zh-CN" dirty="0">
              <a:solidFill>
                <a:srgbClr val="FF0000"/>
              </a:solidFill>
              <a:latin typeface="Calibri" panose="020F0502020204030204" charset="0"/>
              <a:cs typeface="Calibri" panose="020F0502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27</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b="1" dirty="0">
                <a:solidFill>
                  <a:schemeClr val="tx1"/>
                </a:solidFill>
                <a:latin typeface="+mn-lt"/>
                <a:ea typeface="宋体" panose="02010600030101010101" pitchFamily="2" charset="-122"/>
                <a:cs typeface="+mn-lt"/>
                <a:sym typeface="+mn-ea"/>
              </a:rPr>
              <a:t>不同</a:t>
            </a:r>
            <a:r>
              <a:rPr lang="en-US" altLang="zh-CN" b="1" dirty="0">
                <a:solidFill>
                  <a:schemeClr val="tx1"/>
                </a:solidFill>
                <a:latin typeface="+mn-lt"/>
                <a:ea typeface="宋体" panose="02010600030101010101" pitchFamily="2" charset="-122"/>
                <a:cs typeface="+mn-lt"/>
                <a:sym typeface="+mn-ea"/>
              </a:rPr>
              <a:t>DBMS</a:t>
            </a:r>
            <a:r>
              <a:rPr lang="zh-CN" altLang="en-US" b="1" dirty="0">
                <a:solidFill>
                  <a:schemeClr val="tx1"/>
                </a:solidFill>
                <a:latin typeface="+mn-lt"/>
                <a:ea typeface="宋体" panose="02010600030101010101" pitchFamily="2" charset="-122"/>
                <a:cs typeface="+mn-lt"/>
                <a:sym typeface="+mn-ea"/>
              </a:rPr>
              <a:t>对外码约束的违约处理规则（</a:t>
            </a:r>
            <a:r>
              <a:rPr lang="en-US" altLang="zh-CN" b="1" dirty="0">
                <a:solidFill>
                  <a:schemeClr val="tx1"/>
                </a:solidFill>
                <a:latin typeface="+mn-lt"/>
                <a:ea typeface="宋体" panose="02010600030101010101" pitchFamily="2" charset="-122"/>
                <a:cs typeface="+mn-lt"/>
                <a:sym typeface="+mn-ea"/>
              </a:rPr>
              <a:t>ON DELETE / ON UPDATE</a:t>
            </a:r>
            <a:r>
              <a:rPr lang="zh-CN" altLang="en-US" b="1" dirty="0">
                <a:solidFill>
                  <a:schemeClr val="tx1"/>
                </a:solidFill>
                <a:latin typeface="+mn-lt"/>
                <a:ea typeface="宋体" panose="02010600030101010101" pitchFamily="2" charset="-122"/>
                <a:cs typeface="+mn-lt"/>
                <a:sym typeface="+mn-ea"/>
              </a:rPr>
              <a:t>）</a:t>
            </a:r>
          </a:p>
        </p:txBody>
      </p:sp>
      <p:graphicFrame>
        <p:nvGraphicFramePr>
          <p:cNvPr id="25606" name="表格 25605"/>
          <p:cNvGraphicFramePr/>
          <p:nvPr>
            <p:custDataLst>
              <p:tags r:id="rId1"/>
            </p:custDataLst>
          </p:nvPr>
        </p:nvGraphicFramePr>
        <p:xfrm>
          <a:off x="424815" y="692785"/>
          <a:ext cx="11342370" cy="4204589"/>
        </p:xfrm>
        <a:graphic>
          <a:graphicData uri="http://schemas.openxmlformats.org/drawingml/2006/table">
            <a:tbl>
              <a:tblPr/>
              <a:tblGrid>
                <a:gridCol w="2835910">
                  <a:extLst>
                    <a:ext uri="{9D8B030D-6E8A-4147-A177-3AD203B41FA5}">
                      <a16:colId xmlns:a16="http://schemas.microsoft.com/office/drawing/2014/main" val="20000"/>
                    </a:ext>
                  </a:extLst>
                </a:gridCol>
                <a:gridCol w="2835275">
                  <a:extLst>
                    <a:ext uri="{9D8B030D-6E8A-4147-A177-3AD203B41FA5}">
                      <a16:colId xmlns:a16="http://schemas.microsoft.com/office/drawing/2014/main" val="20001"/>
                    </a:ext>
                  </a:extLst>
                </a:gridCol>
                <a:gridCol w="2835910">
                  <a:extLst>
                    <a:ext uri="{9D8B030D-6E8A-4147-A177-3AD203B41FA5}">
                      <a16:colId xmlns:a16="http://schemas.microsoft.com/office/drawing/2014/main" val="20002"/>
                    </a:ext>
                  </a:extLst>
                </a:gridCol>
                <a:gridCol w="2835275">
                  <a:extLst>
                    <a:ext uri="{9D8B030D-6E8A-4147-A177-3AD203B41FA5}">
                      <a16:colId xmlns:a16="http://schemas.microsoft.com/office/drawing/2014/main" val="20003"/>
                    </a:ext>
                  </a:extLst>
                </a:gridCol>
              </a:tblGrid>
              <a:tr h="1029970">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X/Open</a:t>
                      </a:r>
                    </a:p>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Full SQL-99</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20000"/>
                        <a:lumOff val="80000"/>
                      </a:schemeClr>
                    </a:solid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MySQL</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20000"/>
                        <a:lumOff val="80000"/>
                      </a:schemeClr>
                    </a:solid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ORACLE</a:t>
                      </a:r>
                    </a:p>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INFORMIX</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20000"/>
                        <a:lumOff val="80000"/>
                      </a:schemeClr>
                    </a:solid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DB2 UDB</a:t>
                      </a:r>
                    </a:p>
                    <a:p>
                      <a:pPr marL="0" lvl="0" indent="0" algn="ctr" eaLnBrk="1" hangingPunct="1">
                        <a:spcBef>
                          <a:spcPct val="20000"/>
                        </a:spcBef>
                        <a:buClr>
                          <a:schemeClr val="tx1"/>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SQLserver</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3174365">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lnSpc>
                          <a:spcPct val="130000"/>
                        </a:lnSpc>
                        <a:spcBef>
                          <a:spcPts val="0"/>
                        </a:spcBef>
                        <a:buClr>
                          <a:schemeClr val="tx1"/>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NO ACTION</a:t>
                      </a:r>
                      <a:r>
                        <a:rPr lang="en-US" altLang="x-none" sz="2800" dirty="0">
                          <a:solidFill>
                            <a:srgbClr val="0000C8"/>
                          </a:solidFill>
                          <a:latin typeface="Arial" panose="020B0604020202020204" pitchFamily="34" charset="0"/>
                          <a:ea typeface="宋体" panose="02010600030101010101" pitchFamily="2" charset="-122"/>
                        </a:rPr>
                        <a:t> </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CASCADE</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SET NULL</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600" dirty="0">
                          <a:solidFill>
                            <a:srgbClr val="0000C8"/>
                          </a:solidFill>
                          <a:latin typeface="Arial" panose="020B0604020202020204" pitchFamily="34" charset="0"/>
                          <a:ea typeface="宋体" panose="02010600030101010101" pitchFamily="2" charset="-122"/>
                        </a:rPr>
                        <a:t>SET DEFAULT</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RESTRICT</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lnSpc>
                          <a:spcPct val="130000"/>
                        </a:lnSpc>
                        <a:spcBef>
                          <a:spcPts val="0"/>
                        </a:spcBef>
                        <a:buClr>
                          <a:schemeClr val="tx1"/>
                        </a:buClr>
                        <a:buFont typeface="Wingdings" panose="05000000000000000000" pitchFamily="2" charset="2"/>
                        <a:buNone/>
                      </a:pPr>
                      <a:r>
                        <a:rPr lang="en-US" altLang="x-none" sz="2800" u="sng" dirty="0">
                          <a:ea typeface="宋体" panose="02010600030101010101" pitchFamily="2" charset="-122"/>
                          <a:sym typeface="+mn-ea"/>
                        </a:rPr>
                        <a:t>RESTRICT</a:t>
                      </a:r>
                      <a:r>
                        <a:rPr lang="en-US" altLang="x-none" sz="2800" dirty="0">
                          <a:solidFill>
                            <a:srgbClr val="0000C8"/>
                          </a:solidFill>
                          <a:ea typeface="宋体" panose="02010600030101010101" pitchFamily="2" charset="-122"/>
                          <a:sym typeface="+mn-ea"/>
                        </a:rPr>
                        <a:t> </a:t>
                      </a:r>
                      <a:endParaRPr lang="en-US" altLang="x-none" sz="2800"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CASCADE</a:t>
                      </a:r>
                      <a:endParaRPr lang="en-US" altLang="x-none" sz="2800"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SET NULL</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NO ACTION</a:t>
                      </a:r>
                      <a:endParaRPr lang="en-US" altLang="x-none" sz="2800"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SET DEFAULT</a:t>
                      </a:r>
                      <a:endParaRPr lang="en-US" altLang="x-none" sz="2800" dirty="0">
                        <a:solidFill>
                          <a:srgbClr val="0000C8"/>
                        </a:solidFill>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lnSpc>
                          <a:spcPct val="130000"/>
                        </a:lnSpc>
                        <a:spcBef>
                          <a:spcPts val="0"/>
                        </a:spcBef>
                        <a:buClr>
                          <a:schemeClr val="tx1"/>
                        </a:buClr>
                        <a:buFont typeface="Wingdings" panose="05000000000000000000" pitchFamily="2" charset="2"/>
                        <a:buNone/>
                      </a:pPr>
                      <a:r>
                        <a:rPr lang="en-US" altLang="x-none" sz="2800" u="sng" dirty="0">
                          <a:ea typeface="宋体" panose="02010600030101010101" pitchFamily="2" charset="-122"/>
                          <a:sym typeface="+mn-ea"/>
                        </a:rPr>
                        <a:t>RESTRICT</a:t>
                      </a:r>
                      <a:r>
                        <a:rPr lang="en-US" altLang="x-none" sz="2800" dirty="0">
                          <a:solidFill>
                            <a:srgbClr val="0000C8"/>
                          </a:solidFill>
                          <a:ea typeface="宋体" panose="02010600030101010101" pitchFamily="2" charset="-122"/>
                          <a:sym typeface="+mn-ea"/>
                        </a:rPr>
                        <a:t> </a:t>
                      </a:r>
                      <a:endParaRPr lang="en-US" altLang="x-none" sz="2800"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CASCADE</a:t>
                      </a:r>
                      <a:endParaRPr lang="en-US" altLang="x-none" sz="2800"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SET NULL</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ea typeface="宋体" panose="02010600030101010101" pitchFamily="2" charset="-122"/>
                          <a:sym typeface="+mn-ea"/>
                        </a:rPr>
                        <a:t>SET DEFAULT</a:t>
                      </a:r>
                      <a:endParaRPr lang="en-US" altLang="x-none" sz="2800" dirty="0">
                        <a:solidFill>
                          <a:srgbClr val="0000C8"/>
                        </a:solidFill>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chemeClr val="tx1"/>
                        </a:buClr>
                        <a:buFont typeface="Wingdings" panose="05000000000000000000" pitchFamily="2" charset="2"/>
                        <a:buChar char="q"/>
                        <a:defRPr sz="2000" b="1" u="none" kern="1200" baseline="0">
                          <a:solidFill>
                            <a:srgbClr val="FF0000"/>
                          </a:solidFill>
                          <a:latin typeface="Arial" panose="020B0604020202020204" pitchFamily="34" charset="0"/>
                        </a:defRPr>
                      </a:lvl1pPr>
                      <a:lvl2pPr marL="742950" lvl="1" indent="-285750">
                        <a:defRPr sz="2000" kern="1200">
                          <a:solidFill>
                            <a:schemeClr val="accent2"/>
                          </a:solidFill>
                        </a:defRPr>
                      </a:lvl2pPr>
                      <a:lvl3pPr marL="1143000" lvl="2" indent="-228600">
                        <a:buFont typeface="Wingdings" panose="05000000000000000000" pitchFamily="2" charset="2"/>
                        <a:defRPr sz="2000" kern="1200">
                          <a:solidFill>
                            <a:schemeClr val="accent1"/>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lnSpc>
                          <a:spcPct val="130000"/>
                        </a:lnSpc>
                        <a:spcBef>
                          <a:spcPts val="0"/>
                        </a:spcBef>
                        <a:buClr>
                          <a:schemeClr val="tx1"/>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NO ACTION</a:t>
                      </a:r>
                      <a:endParaRPr lang="en-US" altLang="x-none" sz="2800" u="sng" dirty="0">
                        <a:solidFill>
                          <a:srgbClr val="0000C8"/>
                        </a:solidFill>
                        <a:latin typeface="Arial" panose="020B0604020202020204" pitchFamily="34" charset="0"/>
                        <a:ea typeface="宋体" panose="02010600030101010101" pitchFamily="2" charset="-122"/>
                      </a:endParaRP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CASCADE</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SET NULL</a:t>
                      </a:r>
                    </a:p>
                    <a:p>
                      <a:pPr marL="0" lvl="0" indent="0" algn="ctr" eaLnBrk="1" hangingPunct="1">
                        <a:lnSpc>
                          <a:spcPct val="130000"/>
                        </a:lnSpc>
                        <a:spcBef>
                          <a:spcPts val="0"/>
                        </a:spcBef>
                        <a:buClr>
                          <a:schemeClr val="tx1"/>
                        </a:buClr>
                        <a:buFont typeface="Wingdings" panose="05000000000000000000" pitchFamily="2" charset="2"/>
                        <a:buNone/>
                      </a:pPr>
                      <a:r>
                        <a:rPr lang="en-US" altLang="x-none" sz="2800" dirty="0">
                          <a:solidFill>
                            <a:srgbClr val="0000C8"/>
                          </a:solidFill>
                          <a:latin typeface="Arial" panose="020B0604020202020204" pitchFamily="34" charset="0"/>
                          <a:ea typeface="宋体" panose="02010600030101010101" pitchFamily="2" charset="-122"/>
                        </a:rPr>
                        <a:t>RESTRICT</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文本框 5"/>
          <p:cNvSpPr txBox="1"/>
          <p:nvPr/>
        </p:nvSpPr>
        <p:spPr>
          <a:xfrm>
            <a:off x="433705" y="5092700"/>
            <a:ext cx="11348085" cy="1198880"/>
          </a:xfrm>
          <a:prstGeom prst="rect">
            <a:avLst/>
          </a:prstGeom>
          <a:noFill/>
        </p:spPr>
        <p:txBody>
          <a:bodyPr wrap="square" rtlCol="0">
            <a:noAutofit/>
          </a:bodyPr>
          <a:lstStyle/>
          <a:p>
            <a:pPr marL="285750" indent="-285750">
              <a:buClr>
                <a:srgbClr val="C00000"/>
              </a:buClr>
              <a:buSzPct val="85000"/>
              <a:buFont typeface="Wingdings" panose="05000000000000000000" charset="0"/>
              <a:buChar char="q"/>
            </a:pPr>
            <a:r>
              <a:rPr lang="zh-CN" altLang="en-US" sz="2400" b="1">
                <a:solidFill>
                  <a:srgbClr val="1F2DA8"/>
                </a:solidFill>
                <a:latin typeface="楷体" panose="02010609060101010101" charset="-122"/>
                <a:ea typeface="楷体" panose="02010609060101010101" charset="-122"/>
                <a:cs typeface="楷体" panose="02010609060101010101" charset="-122"/>
              </a:rPr>
              <a:t>说明：</a:t>
            </a:r>
          </a:p>
          <a:p>
            <a:pPr marL="742950" lvl="1" indent="-285750">
              <a:buClr>
                <a:srgbClr val="C00000"/>
              </a:buClr>
              <a:buSzPct val="85000"/>
              <a:buFont typeface="Wingdings" panose="05000000000000000000" charset="0"/>
              <a:buChar char="Ø"/>
            </a:pPr>
            <a:r>
              <a:rPr lang="zh-CN" altLang="en-US" sz="2400" b="1">
                <a:solidFill>
                  <a:srgbClr val="1F2DA8"/>
                </a:solidFill>
                <a:latin typeface="楷体" panose="02010609060101010101" charset="-122"/>
                <a:ea typeface="楷体" panose="02010609060101010101" charset="-122"/>
                <a:cs typeface="楷体" panose="02010609060101010101" charset="-122"/>
              </a:rPr>
              <a:t>带下划线的是缺省处理规则（没有定义</a:t>
            </a:r>
            <a:r>
              <a:rPr lang="en-US" altLang="zh-CN" sz="2400" b="1">
                <a:solidFill>
                  <a:srgbClr val="1F2DA8"/>
                </a:solidFill>
                <a:latin typeface="楷体" panose="02010609060101010101" charset="-122"/>
                <a:ea typeface="楷体" panose="02010609060101010101" charset="-122"/>
                <a:cs typeface="楷体" panose="02010609060101010101" charset="-122"/>
              </a:rPr>
              <a:t>ON DELETE/UPDATE</a:t>
            </a:r>
            <a:r>
              <a:rPr lang="zh-CN" altLang="en-US" sz="2400" b="1">
                <a:solidFill>
                  <a:srgbClr val="1F2DA8"/>
                </a:solidFill>
                <a:latin typeface="楷体" panose="02010609060101010101" charset="-122"/>
                <a:ea typeface="楷体" panose="02010609060101010101" charset="-122"/>
                <a:cs typeface="楷体" panose="02010609060101010101" charset="-122"/>
              </a:rPr>
              <a:t>时采用的处理规则）</a:t>
            </a:r>
          </a:p>
          <a:p>
            <a:pPr marL="742950" lvl="1" indent="-285750">
              <a:buClr>
                <a:srgbClr val="C00000"/>
              </a:buClr>
              <a:buSzPct val="85000"/>
              <a:buFont typeface="Wingdings" panose="05000000000000000000" charset="0"/>
              <a:buChar char="Ø"/>
            </a:pPr>
            <a:r>
              <a:rPr lang="en-US" altLang="zh-CN" sz="2400" b="1">
                <a:solidFill>
                  <a:srgbClr val="1F2DA8"/>
                </a:solidFill>
                <a:latin typeface="楷体" panose="02010609060101010101" charset="-122"/>
                <a:ea typeface="楷体" panose="02010609060101010101" charset="-122"/>
                <a:cs typeface="楷体" panose="02010609060101010101" charset="-122"/>
              </a:rPr>
              <a:t>NO ACTION </a:t>
            </a:r>
            <a:r>
              <a:rPr lang="zh-CN" altLang="en-US" sz="2400" b="1">
                <a:solidFill>
                  <a:srgbClr val="1F2DA8"/>
                </a:solidFill>
                <a:latin typeface="楷体" panose="02010609060101010101" charset="-122"/>
                <a:ea typeface="楷体" panose="02010609060101010101" charset="-122"/>
                <a:cs typeface="楷体" panose="02010609060101010101" charset="-122"/>
              </a:rPr>
              <a:t>等同于</a:t>
            </a:r>
            <a:r>
              <a:rPr lang="en-US" altLang="zh-CN" sz="2400" b="1">
                <a:solidFill>
                  <a:srgbClr val="1F2DA8"/>
                </a:solidFill>
                <a:latin typeface="楷体" panose="02010609060101010101" charset="-122"/>
                <a:ea typeface="楷体" panose="02010609060101010101" charset="-122"/>
                <a:cs typeface="楷体" panose="02010609060101010101" charset="-122"/>
              </a:rPr>
              <a:t> RESTRICT</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28</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r>
              <a:rPr lang="zh-CN" altLang="en-US" dirty="0"/>
              <a:t>参照完整性违约处理</a:t>
            </a:r>
            <a:r>
              <a:rPr lang="en-US" altLang="zh-CN" dirty="0"/>
              <a:t> 2</a:t>
            </a:r>
          </a:p>
        </p:txBody>
      </p:sp>
      <p:sp>
        <p:nvSpPr>
          <p:cNvPr id="29699" name="Rectangle 3"/>
          <p:cNvSpPr>
            <a:spLocks noGrp="1" noChangeArrowheads="1"/>
          </p:cNvSpPr>
          <p:nvPr>
            <p:ph idx="1"/>
          </p:nvPr>
        </p:nvSpPr>
        <p:spPr/>
        <p:txBody>
          <a:bodyPr/>
          <a:lstStyle/>
          <a:p>
            <a:pPr fontAlgn="auto">
              <a:spcBef>
                <a:spcPts val="1000"/>
              </a:spcBef>
            </a:pPr>
            <a:r>
              <a:rPr lang="zh-CN" altLang="en-US" dirty="0"/>
              <a:t>例如，有下面</a:t>
            </a:r>
            <a:r>
              <a:rPr lang="en-US" altLang="zh-CN" dirty="0"/>
              <a:t>2</a:t>
            </a:r>
            <a:r>
              <a:rPr lang="zh-CN" altLang="en-US" dirty="0"/>
              <a:t>个关系</a:t>
            </a:r>
          </a:p>
          <a:p>
            <a:pPr marL="914400" lvl="2" indent="0" fontAlgn="auto">
              <a:spcBef>
                <a:spcPts val="1000"/>
              </a:spcBef>
              <a:buNone/>
            </a:pPr>
            <a:r>
              <a:rPr lang="zh-CN" altLang="en-US" dirty="0"/>
              <a:t>    </a:t>
            </a:r>
            <a:r>
              <a:rPr lang="zh-CN" altLang="en-US" dirty="0">
                <a:solidFill>
                  <a:srgbClr val="C00000"/>
                </a:solidFill>
              </a:rPr>
              <a:t>学生（学号，姓名，性别，专业号，年龄）</a:t>
            </a:r>
          </a:p>
          <a:p>
            <a:pPr marL="914400" lvl="2" indent="0" fontAlgn="auto">
              <a:spcBef>
                <a:spcPts val="1000"/>
              </a:spcBef>
              <a:buNone/>
            </a:pPr>
            <a:r>
              <a:rPr lang="zh-CN" altLang="en-US" dirty="0">
                <a:solidFill>
                  <a:srgbClr val="C00000"/>
                </a:solidFill>
              </a:rPr>
              <a:t>    专业（专业号，专业名）</a:t>
            </a:r>
          </a:p>
          <a:p>
            <a:pPr marL="907415" lvl="1" indent="-449580" fontAlgn="auto">
              <a:spcBef>
                <a:spcPts val="3000"/>
              </a:spcBef>
            </a:pPr>
            <a:r>
              <a:rPr lang="zh-CN" altLang="en-US" dirty="0"/>
              <a:t>假设专业表中某个元组被删除，专业号为</a:t>
            </a:r>
            <a:r>
              <a:rPr lang="en-US" altLang="zh-CN" dirty="0"/>
              <a:t>12</a:t>
            </a:r>
          </a:p>
          <a:p>
            <a:pPr marL="907415" lvl="1" indent="-449580" fontAlgn="auto">
              <a:spcBef>
                <a:spcPts val="1000"/>
              </a:spcBef>
            </a:pPr>
            <a:r>
              <a:rPr lang="zh-CN" altLang="en-US" dirty="0"/>
              <a:t>按照设置为空值的策略，就要把学生表中专业号</a:t>
            </a:r>
            <a:r>
              <a:rPr lang="en-US" altLang="zh-CN" dirty="0"/>
              <a:t>=12</a:t>
            </a:r>
            <a:r>
              <a:rPr lang="zh-CN" altLang="en-US" dirty="0"/>
              <a:t>的所有元组的专业号设置为空值</a:t>
            </a:r>
          </a:p>
          <a:p>
            <a:pPr marL="907415" lvl="1" indent="-449580" fontAlgn="auto">
              <a:spcBef>
                <a:spcPts val="1000"/>
              </a:spcBef>
            </a:pPr>
            <a:r>
              <a:rPr lang="zh-CN" altLang="en-US" dirty="0"/>
              <a:t>对应语义：某个专业删除了，该专业的所有学生专业未定，等待重新分配专业 </a:t>
            </a:r>
            <a:endParaRPr lang="en-US" altLang="zh-CN" dirty="0"/>
          </a:p>
        </p:txBody>
      </p:sp>
      <p:sp>
        <p:nvSpPr>
          <p:cNvPr id="29700" name="AutoShape 4"/>
          <p:cNvSpPr>
            <a:spLocks noChangeArrowheads="1"/>
          </p:cNvSpPr>
          <p:nvPr/>
        </p:nvSpPr>
        <p:spPr bwMode="auto">
          <a:xfrm>
            <a:off x="8020050" y="687070"/>
            <a:ext cx="1790065" cy="504825"/>
          </a:xfrm>
          <a:prstGeom prst="wedgeEllipseCallout">
            <a:avLst>
              <a:gd name="adj1" fmla="val -83948"/>
              <a:gd name="adj2" fmla="val 101320"/>
            </a:avLst>
          </a:prstGeom>
          <a:gradFill rotWithShape="0">
            <a:gsLst>
              <a:gs pos="0">
                <a:srgbClr val="FFFFFF"/>
              </a:gs>
              <a:gs pos="100000">
                <a:srgbClr val="BBBBBB"/>
              </a:gs>
            </a:gsLst>
            <a:lin ang="5400000" scaled="1"/>
          </a:gradFill>
          <a:ln w="9525">
            <a:solidFill>
              <a:srgbClr val="1F2DA8"/>
            </a:solidFill>
            <a:miter lim="800000"/>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0000C8"/>
                </a:solidFill>
                <a:latin typeface="楷体" panose="02010609060101010101" charset="-122"/>
                <a:ea typeface="楷体" panose="02010609060101010101" charset="-122"/>
              </a:rPr>
              <a:t>外码</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29</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1747" name="Rectangle 2"/>
          <p:cNvSpPr>
            <a:spLocks noGrp="1" noChangeArrowheads="1"/>
          </p:cNvSpPr>
          <p:nvPr>
            <p:ph type="title"/>
          </p:nvPr>
        </p:nvSpPr>
        <p:spPr/>
        <p:txBody>
          <a:bodyPr/>
          <a:lstStyle/>
          <a:p>
            <a:r>
              <a:rPr lang="zh-CN" altLang="en-US" dirty="0"/>
              <a:t>参照完整性违约处理</a:t>
            </a:r>
            <a:r>
              <a:rPr lang="en-US" altLang="zh-CN"/>
              <a:t> 3</a:t>
            </a:r>
            <a:endParaRPr lang="en-US" altLang="zh-CN" dirty="0"/>
          </a:p>
        </p:txBody>
      </p:sp>
      <p:sp>
        <p:nvSpPr>
          <p:cNvPr id="31748" name="Rectangle 3"/>
          <p:cNvSpPr>
            <a:spLocks noGrp="1" noChangeArrowheads="1"/>
          </p:cNvSpPr>
          <p:nvPr>
            <p:ph idx="1"/>
          </p:nvPr>
        </p:nvSpPr>
        <p:spPr/>
        <p:txBody>
          <a:bodyPr>
            <a:noAutofit/>
          </a:bodyPr>
          <a:lstStyle/>
          <a:p>
            <a:pPr>
              <a:lnSpc>
                <a:spcPct val="100000"/>
              </a:lnSpc>
              <a:spcBef>
                <a:spcPts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4] </a:t>
            </a:r>
            <a:r>
              <a:rPr lang="zh-CN" altLang="en-US" sz="2800" dirty="0">
                <a:latin typeface="Calibri" panose="020F0502020204030204" charset="0"/>
                <a:cs typeface="Calibri" panose="020F0502020204030204" charset="0"/>
              </a:rPr>
              <a:t>显式说明参照完整性的违约处理示例</a:t>
            </a:r>
          </a:p>
          <a:p>
            <a:pPr marL="457200" lvl="1" indent="0">
              <a:lnSpc>
                <a:spcPct val="100000"/>
              </a:lnSpc>
              <a:spcBef>
                <a:spcPts val="1000"/>
              </a:spcBef>
              <a:buNone/>
            </a:pPr>
            <a:r>
              <a:rPr lang="en-US" altLang="zh-CN" sz="2400" dirty="0">
                <a:latin typeface="Calibri" panose="020F0502020204030204" charset="0"/>
                <a:cs typeface="Calibri" panose="020F0502020204030204" charset="0"/>
              </a:rPr>
              <a:t>CREATE TABLE SC </a:t>
            </a:r>
            <a:r>
              <a:rPr lang="zh-CN" altLang="en-US" sz="2400" dirty="0">
                <a:latin typeface="Calibri" panose="020F0502020204030204" charset="0"/>
                <a:cs typeface="Calibri" panose="020F0502020204030204" charset="0"/>
              </a:rPr>
              <a:t>(</a:t>
            </a:r>
          </a:p>
          <a:p>
            <a:pPr marL="914400" lvl="2" indent="0">
              <a:lnSpc>
                <a:spcPct val="100000"/>
              </a:lnSpc>
              <a:spcBef>
                <a:spcPts val="0"/>
              </a:spcBef>
              <a:buNone/>
            </a:pPr>
            <a:r>
              <a:rPr lang="en-US" altLang="zh-CN" sz="2400" dirty="0" err="1">
                <a:latin typeface="Calibri" panose="020F0502020204030204" charset="0"/>
                <a:cs typeface="Calibri" panose="020F0502020204030204" charset="0"/>
              </a:rPr>
              <a:t>Sno</a:t>
            </a:r>
            <a:r>
              <a:rPr lang="en-US" altLang="zh-CN" sz="2400" dirty="0">
                <a:latin typeface="Calibri" panose="020F0502020204030204" charset="0"/>
                <a:cs typeface="Calibri" panose="020F0502020204030204" charset="0"/>
              </a:rPr>
              <a:t>   CHAR</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9</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NOT NULL</a:t>
            </a:r>
            <a:r>
              <a:rPr lang="zh-CN" altLang="en-US" sz="2400" dirty="0">
                <a:latin typeface="Calibri" panose="020F0502020204030204" charset="0"/>
                <a:cs typeface="Calibri" panose="020F0502020204030204" charset="0"/>
              </a:rPr>
              <a:t>，</a:t>
            </a:r>
          </a:p>
          <a:p>
            <a:pPr marL="914400" lvl="2" indent="0">
              <a:lnSpc>
                <a:spcPct val="100000"/>
              </a:lnSpc>
              <a:spcBef>
                <a:spcPts val="0"/>
              </a:spcBef>
              <a:buNone/>
            </a:pPr>
            <a:r>
              <a:rPr lang="en-US" altLang="zh-CN" sz="2400" dirty="0" err="1">
                <a:latin typeface="Calibri" panose="020F0502020204030204" charset="0"/>
                <a:cs typeface="Calibri" panose="020F0502020204030204" charset="0"/>
              </a:rPr>
              <a:t>Cno</a:t>
            </a:r>
            <a:r>
              <a:rPr lang="en-US" altLang="zh-CN" sz="2400" dirty="0">
                <a:latin typeface="Calibri" panose="020F0502020204030204" charset="0"/>
                <a:cs typeface="Calibri" panose="020F0502020204030204" charset="0"/>
              </a:rPr>
              <a:t>   CHAR</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4</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NOT NULL</a:t>
            </a:r>
            <a:r>
              <a:rPr lang="zh-CN" altLang="en-US" sz="2400" dirty="0">
                <a:latin typeface="Calibri" panose="020F0502020204030204" charset="0"/>
                <a:cs typeface="Calibri" panose="020F0502020204030204" charset="0"/>
              </a:rPr>
              <a:t>，</a:t>
            </a:r>
          </a:p>
          <a:p>
            <a:pPr marL="914400" lvl="2" indent="0">
              <a:lnSpc>
                <a:spcPct val="100000"/>
              </a:lnSpc>
              <a:spcBef>
                <a:spcPts val="0"/>
              </a:spcBef>
              <a:buNone/>
            </a:pPr>
            <a:r>
              <a:rPr lang="en-US" altLang="zh-CN" sz="2400" dirty="0">
                <a:latin typeface="Calibri" panose="020F0502020204030204" charset="0"/>
                <a:cs typeface="Calibri" panose="020F0502020204030204" charset="0"/>
              </a:rPr>
              <a:t>Grade  SMALLINT</a:t>
            </a:r>
            <a:r>
              <a:rPr lang="zh-CN" altLang="en-US" sz="2400" dirty="0">
                <a:latin typeface="Calibri" panose="020F0502020204030204" charset="0"/>
                <a:cs typeface="Calibri" panose="020F0502020204030204" charset="0"/>
              </a:rPr>
              <a:t>,</a:t>
            </a:r>
          </a:p>
          <a:p>
            <a:pPr marL="914400" lvl="2" indent="0">
              <a:lnSpc>
                <a:spcPct val="100000"/>
              </a:lnSpc>
              <a:spcBef>
                <a:spcPts val="0"/>
              </a:spcBef>
              <a:buNone/>
            </a:pPr>
            <a:r>
              <a:rPr lang="en-US" altLang="zh-CN" sz="2400" dirty="0">
                <a:latin typeface="Calibri" panose="020F0502020204030204" charset="0"/>
                <a:cs typeface="Calibri" panose="020F0502020204030204" charset="0"/>
              </a:rPr>
              <a:t>PRIMARY KEY</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Sno</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Cno</a:t>
            </a:r>
            <a:r>
              <a:rPr lang="zh-CN" altLang="en-US" sz="2400" dirty="0">
                <a:latin typeface="Calibri" panose="020F0502020204030204" charset="0"/>
                <a:cs typeface="Calibri" panose="020F0502020204030204" charset="0"/>
              </a:rPr>
              <a:t>)， 			</a:t>
            </a:r>
          </a:p>
          <a:p>
            <a:pPr marL="914400" lvl="2" indent="0">
              <a:lnSpc>
                <a:spcPct val="100000"/>
              </a:lnSpc>
              <a:spcBef>
                <a:spcPts val="0"/>
              </a:spcBef>
              <a:buNone/>
            </a:pPr>
            <a:r>
              <a:rPr lang="en-US" altLang="zh-CN" sz="2400" dirty="0">
                <a:latin typeface="Calibri" panose="020F0502020204030204" charset="0"/>
                <a:cs typeface="Calibri" panose="020F0502020204030204" charset="0"/>
              </a:rPr>
              <a:t>FOREIGN KEY </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Sno</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REFERENCES Student</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Sno</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a:t>
            </a:r>
          </a:p>
          <a:p>
            <a:pPr marL="914400" lvl="2" indent="1500505">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ON DELETE CASCADE        </a:t>
            </a: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级联删除</a:t>
            </a:r>
            <a:r>
              <a:rPr lang="en-US" altLang="zh-CN" sz="2400" dirty="0">
                <a:latin typeface="Calibri" panose="020F0502020204030204" charset="0"/>
                <a:cs typeface="Calibri" panose="020F0502020204030204" charset="0"/>
              </a:rPr>
              <a:t>SC</a:t>
            </a:r>
            <a:r>
              <a:rPr lang="zh-CN" altLang="en-US" sz="2400" dirty="0">
                <a:latin typeface="Calibri" panose="020F0502020204030204" charset="0"/>
                <a:cs typeface="Calibri" panose="020F0502020204030204" charset="0"/>
              </a:rPr>
              <a:t>表中相应的元组*</a:t>
            </a:r>
            <a:r>
              <a:rPr lang="en-US" altLang="zh-CN" sz="2400" dirty="0">
                <a:latin typeface="Calibri" panose="020F0502020204030204" charset="0"/>
                <a:cs typeface="Calibri" panose="020F0502020204030204" charset="0"/>
              </a:rPr>
              <a:t>/</a:t>
            </a:r>
          </a:p>
          <a:p>
            <a:pPr marL="914400" lvl="2" indent="1500505">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ON UPDATE CASCADE</a:t>
            </a:r>
            <a:r>
              <a:rPr lang="zh-CN" altLang="en-US" sz="2400" dirty="0">
                <a:latin typeface="Calibri" panose="020F0502020204030204" charset="0"/>
                <a:cs typeface="Calibri" panose="020F0502020204030204" charset="0"/>
              </a:rPr>
              <a:t>,      </a:t>
            </a: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级联更新</a:t>
            </a:r>
            <a:r>
              <a:rPr lang="en-US" altLang="zh-CN" sz="2400" dirty="0">
                <a:latin typeface="Calibri" panose="020F0502020204030204" charset="0"/>
                <a:cs typeface="Calibri" panose="020F0502020204030204" charset="0"/>
              </a:rPr>
              <a:t>SC</a:t>
            </a:r>
            <a:r>
              <a:rPr lang="zh-CN" altLang="en-US" sz="2400" dirty="0">
                <a:latin typeface="Calibri" panose="020F0502020204030204" charset="0"/>
                <a:cs typeface="Calibri" panose="020F0502020204030204" charset="0"/>
              </a:rPr>
              <a:t>表中相应的元组*</a:t>
            </a:r>
            <a:r>
              <a:rPr lang="en-US" altLang="zh-CN" sz="2400" dirty="0">
                <a:latin typeface="Calibri" panose="020F0502020204030204" charset="0"/>
                <a:cs typeface="Calibri" panose="020F0502020204030204" charset="0"/>
              </a:rPr>
              <a:t>/</a:t>
            </a:r>
          </a:p>
          <a:p>
            <a:pPr marL="914400" lvl="2" indent="0">
              <a:lnSpc>
                <a:spcPct val="100000"/>
              </a:lnSpc>
              <a:spcBef>
                <a:spcPts val="0"/>
              </a:spcBef>
              <a:buNone/>
            </a:pPr>
            <a:r>
              <a:rPr lang="en-US" altLang="zh-CN" sz="2400" dirty="0">
                <a:latin typeface="Calibri" panose="020F0502020204030204" charset="0"/>
                <a:cs typeface="Calibri" panose="020F0502020204030204" charset="0"/>
              </a:rPr>
              <a:t>FOREIGN KEY </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Cno</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REFERENCES Course</a:t>
            </a:r>
            <a:r>
              <a:rPr lang="zh-CN" altLang="en-US" sz="2400" dirty="0">
                <a:latin typeface="Calibri" panose="020F0502020204030204" charset="0"/>
                <a:cs typeface="Calibri" panose="020F0502020204030204" charset="0"/>
              </a:rPr>
              <a:t>(</a:t>
            </a:r>
            <a:r>
              <a:rPr lang="en-US" altLang="zh-CN" sz="2400" dirty="0" err="1">
                <a:latin typeface="Calibri" panose="020F0502020204030204" charset="0"/>
                <a:cs typeface="Calibri" panose="020F0502020204030204" charset="0"/>
              </a:rPr>
              <a:t>Cno</a:t>
            </a:r>
            <a:r>
              <a:rPr lang="zh-CN" altLang="en-US" sz="2400" dirty="0">
                <a:latin typeface="Calibri" panose="020F0502020204030204" charset="0"/>
                <a:cs typeface="Calibri" panose="020F0502020204030204" charset="0"/>
              </a:rPr>
              <a:t>)</a:t>
            </a:r>
            <a:r>
              <a:rPr lang="en-US" altLang="zh-CN" sz="2400" dirty="0">
                <a:latin typeface="Calibri" panose="020F0502020204030204" charset="0"/>
                <a:cs typeface="Calibri" panose="020F0502020204030204" charset="0"/>
              </a:rPr>
              <a:t>	                    </a:t>
            </a:r>
          </a:p>
          <a:p>
            <a:pPr marL="914400" lvl="2" indent="1489710">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ON DELETE NO ACTION </a:t>
            </a:r>
            <a:r>
              <a:rPr lang="en-US" altLang="zh-CN" sz="2400" dirty="0">
                <a:latin typeface="Calibri" panose="020F0502020204030204" charset="0"/>
                <a:cs typeface="Calibri" panose="020F0502020204030204" charset="0"/>
              </a:rPr>
              <a:t>	</a:t>
            </a:r>
          </a:p>
          <a:p>
            <a:pPr marL="914400" lvl="2" indent="1489710">
              <a:lnSpc>
                <a:spcPct val="100000"/>
              </a:lnSpc>
              <a:spcBef>
                <a:spcPts val="0"/>
              </a:spcBef>
              <a:buNone/>
            </a:pP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当删除</a:t>
            </a:r>
            <a:r>
              <a:rPr lang="en-US" altLang="zh-CN" sz="2400" dirty="0">
                <a:latin typeface="Calibri" panose="020F0502020204030204" charset="0"/>
                <a:cs typeface="Calibri" panose="020F0502020204030204" charset="0"/>
              </a:rPr>
              <a:t>course</a:t>
            </a:r>
            <a:r>
              <a:rPr lang="zh-CN" altLang="en-US" sz="2400" dirty="0">
                <a:latin typeface="Calibri" panose="020F0502020204030204" charset="0"/>
                <a:cs typeface="Calibri" panose="020F0502020204030204" charset="0"/>
              </a:rPr>
              <a:t>表中的元组造成了与</a:t>
            </a:r>
            <a:r>
              <a:rPr lang="en-US" altLang="zh-CN" sz="2400" dirty="0">
                <a:latin typeface="Calibri" panose="020F0502020204030204" charset="0"/>
                <a:cs typeface="Calibri" panose="020F0502020204030204" charset="0"/>
              </a:rPr>
              <a:t>SC</a:t>
            </a:r>
            <a:r>
              <a:rPr lang="zh-CN" altLang="en-US" sz="2400" dirty="0">
                <a:latin typeface="Calibri" panose="020F0502020204030204" charset="0"/>
                <a:cs typeface="Calibri" panose="020F0502020204030204" charset="0"/>
              </a:rPr>
              <a:t>表不一致时拒绝删除*</a:t>
            </a:r>
            <a:r>
              <a:rPr lang="en-US" altLang="zh-CN" sz="2400" dirty="0">
                <a:latin typeface="Calibri" panose="020F0502020204030204" charset="0"/>
                <a:cs typeface="Calibri" panose="020F0502020204030204" charset="0"/>
              </a:rPr>
              <a:t>/</a:t>
            </a:r>
          </a:p>
          <a:p>
            <a:pPr marL="914400" lvl="2" indent="1489710">
              <a:lnSpc>
                <a:spcPct val="100000"/>
              </a:lnSpc>
              <a:spcBef>
                <a:spcPts val="0"/>
              </a:spcBef>
              <a:buNone/>
            </a:pPr>
            <a:r>
              <a:rPr lang="en-US" altLang="zh-CN" sz="2400" dirty="0">
                <a:solidFill>
                  <a:srgbClr val="FF0000"/>
                </a:solidFill>
                <a:latin typeface="Calibri" panose="020F0502020204030204" charset="0"/>
                <a:cs typeface="Calibri" panose="020F0502020204030204" charset="0"/>
              </a:rPr>
              <a:t>ON UPDATE CASCADE   </a:t>
            </a:r>
          </a:p>
          <a:p>
            <a:pPr marL="914400" lvl="2" indent="1489710">
              <a:lnSpc>
                <a:spcPct val="100000"/>
              </a:lnSpc>
              <a:spcBef>
                <a:spcPts val="0"/>
              </a:spcBef>
              <a:buNone/>
            </a:pPr>
            <a:r>
              <a:rPr lang="en-US" altLang="zh-CN"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当更新</a:t>
            </a:r>
            <a:r>
              <a:rPr lang="en-US" altLang="zh-CN" sz="2400" dirty="0">
                <a:latin typeface="Calibri" panose="020F0502020204030204" charset="0"/>
                <a:cs typeface="Calibri" panose="020F0502020204030204" charset="0"/>
              </a:rPr>
              <a:t>course</a:t>
            </a:r>
            <a:r>
              <a:rPr lang="zh-CN" altLang="en-US" sz="2400" dirty="0">
                <a:latin typeface="Calibri" panose="020F0502020204030204" charset="0"/>
                <a:cs typeface="Calibri" panose="020F0502020204030204" charset="0"/>
              </a:rPr>
              <a:t>表中的</a:t>
            </a:r>
            <a:r>
              <a:rPr lang="en-US" altLang="zh-CN" sz="2400" dirty="0" err="1">
                <a:latin typeface="Calibri" panose="020F0502020204030204" charset="0"/>
                <a:cs typeface="Calibri" panose="020F0502020204030204" charset="0"/>
              </a:rPr>
              <a:t>cno</a:t>
            </a:r>
            <a:r>
              <a:rPr lang="zh-CN" altLang="en-US" sz="2400" dirty="0">
                <a:latin typeface="Calibri" panose="020F0502020204030204" charset="0"/>
                <a:cs typeface="Calibri" panose="020F0502020204030204" charset="0"/>
              </a:rPr>
              <a:t>时，级联更新</a:t>
            </a:r>
            <a:r>
              <a:rPr lang="en-US" altLang="zh-CN" sz="2400" dirty="0">
                <a:latin typeface="Calibri" panose="020F0502020204030204" charset="0"/>
                <a:cs typeface="Calibri" panose="020F0502020204030204" charset="0"/>
              </a:rPr>
              <a:t>SC</a:t>
            </a:r>
            <a:r>
              <a:rPr lang="zh-CN" altLang="en-US" sz="2400" dirty="0">
                <a:latin typeface="Calibri" panose="020F0502020204030204" charset="0"/>
                <a:cs typeface="Calibri" panose="020F0502020204030204" charset="0"/>
              </a:rPr>
              <a:t>表中相应的元组*</a:t>
            </a:r>
            <a:r>
              <a:rPr lang="en-US" altLang="zh-CN" sz="2400" dirty="0">
                <a:latin typeface="Calibri" panose="020F0502020204030204" charset="0"/>
                <a:cs typeface="Calibri" panose="020F0502020204030204" charset="0"/>
              </a:rPr>
              <a:t>/</a:t>
            </a:r>
          </a:p>
          <a:p>
            <a:pPr marL="457200" lvl="1" indent="0">
              <a:lnSpc>
                <a:spcPct val="100000"/>
              </a:lnSpc>
              <a:spcBef>
                <a:spcPts val="0"/>
              </a:spcBef>
              <a:buNone/>
            </a:pPr>
            <a:r>
              <a:rPr lang="zh-CN" altLang="en-US" sz="2400" dirty="0">
                <a:latin typeface="Calibri" panose="020F0502020204030204" charset="0"/>
                <a:cs typeface="Calibri" panose="020F0502020204030204" charset="0"/>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zh-CN" altLang="en-US">
                <a:latin typeface="华文楷体" panose="02010600040101010101" charset="-122"/>
                <a:ea typeface="华文楷体" panose="02010600040101010101" charset="-122"/>
                <a:sym typeface="+mn-ea"/>
              </a:rPr>
              <a:t>总结：在定义列级约束时需要考虑的内容</a:t>
            </a:r>
            <a:r>
              <a:rPr lang="en-US" altLang="zh-CN">
                <a:latin typeface="华文楷体" panose="02010600040101010101" charset="-122"/>
                <a:ea typeface="华文楷体" panose="02010600040101010101" charset="-122"/>
                <a:sym typeface="+mn-ea"/>
              </a:rPr>
              <a:t> 1</a:t>
            </a:r>
            <a:endParaRPr lang="en-US" altLang="zh-CN" dirty="0">
              <a:latin typeface="华文楷体" panose="02010600040101010101" charset="-122"/>
              <a:ea typeface="华文楷体" panose="02010600040101010101" charset="-122"/>
              <a:sym typeface="+mn-ea"/>
            </a:endParaRPr>
          </a:p>
        </p:txBody>
      </p:sp>
      <p:sp>
        <p:nvSpPr>
          <p:cNvPr id="74758" name="Rectangle 4"/>
          <p:cNvSpPr/>
          <p:nvPr/>
        </p:nvSpPr>
        <p:spPr>
          <a:xfrm>
            <a:off x="424815" y="4199255"/>
            <a:ext cx="11341735" cy="2019935"/>
          </a:xfrm>
          <a:prstGeom prst="rect">
            <a:avLst/>
          </a:prstGeom>
          <a:noFill/>
          <a:ln w="9525">
            <a:noFill/>
          </a:ln>
        </p:spPr>
        <p:txBody>
          <a:bodyPr wrap="square" anchor="t">
            <a:noAutofit/>
          </a:bodyPr>
          <a:lstStyle/>
          <a:p>
            <a:pPr marL="742950" lvl="1" indent="-285750" algn="l" eaLnBrk="1" fontAlgn="base" hangingPunct="1">
              <a:lnSpc>
                <a:spcPct val="100000"/>
              </a:lnSpc>
              <a:spcBef>
                <a:spcPts val="0"/>
              </a:spcBef>
              <a:spcAft>
                <a:spcPts val="0"/>
              </a:spcAft>
              <a:buClr>
                <a:srgbClr val="C00000"/>
              </a:buClr>
              <a:buSzPct val="85000"/>
              <a:buFont typeface="Wingdings" panose="05000000000000000000" pitchFamily="2" charset="2"/>
              <a:buChar char="Ø"/>
            </a:pPr>
            <a:r>
              <a:rPr lang="en-US" altLang="x-none" sz="2800" b="1" strike="noStrike" noProof="1">
                <a:latin typeface="Calibri" panose="020F0502020204030204" charset="0"/>
                <a:ea typeface="华文楷体" panose="02010600040101010101" charset="-122"/>
                <a:cs typeface="Calibri" panose="020F0502020204030204" charset="0"/>
              </a:rPr>
              <a:t>NOT NULL  </a:t>
            </a:r>
            <a:r>
              <a:rPr lang="en-US" altLang="x-none" sz="2800" b="1" strike="noStrike" noProof="1">
                <a:solidFill>
                  <a:srgbClr val="FF0066"/>
                </a:solidFill>
                <a:latin typeface="Calibri" panose="020F0502020204030204" charset="0"/>
                <a:ea typeface="华文楷体" panose="02010600040101010101" charset="-122"/>
                <a:cs typeface="Calibri" panose="020F0502020204030204" charset="0"/>
              </a:rPr>
              <a:t>vs.</a:t>
            </a:r>
            <a:r>
              <a:rPr lang="en-US" altLang="x-none" sz="2800" b="1" strike="noStrike" noProof="1">
                <a:latin typeface="Calibri" panose="020F0502020204030204" charset="0"/>
                <a:ea typeface="华文楷体" panose="02010600040101010101" charset="-122"/>
                <a:cs typeface="Calibri" panose="020F0502020204030204" charset="0"/>
              </a:rPr>
              <a:t>  DEFAULT NULL</a:t>
            </a:r>
            <a:endParaRPr lang="zh-CN" altLang="en-US" sz="2800" b="1" strike="noStrike" noProof="1">
              <a:latin typeface="Calibri" panose="020F0502020204030204" charset="0"/>
              <a:ea typeface="华文楷体" panose="02010600040101010101" charset="-122"/>
              <a:cs typeface="Calibri" panose="020F0502020204030204" charset="0"/>
            </a:endParaRPr>
          </a:p>
          <a:p>
            <a:pPr marL="742950" lvl="1" indent="-285750" algn="l" eaLnBrk="1" fontAlgn="base" hangingPunct="1">
              <a:lnSpc>
                <a:spcPct val="100000"/>
              </a:lnSpc>
              <a:spcBef>
                <a:spcPts val="1000"/>
              </a:spcBef>
              <a:spcAft>
                <a:spcPts val="0"/>
              </a:spcAft>
              <a:buClr>
                <a:srgbClr val="C00000"/>
              </a:buClr>
              <a:buSzPct val="85000"/>
              <a:buFont typeface="Wingdings" panose="05000000000000000000" pitchFamily="2" charset="2"/>
              <a:buChar char="Ø"/>
            </a:pPr>
            <a:r>
              <a:rPr lang="en-US" altLang="x-none" sz="2800" b="1" strike="noStrike" noProof="1">
                <a:latin typeface="Calibri" panose="020F0502020204030204" charset="0"/>
                <a:ea typeface="华文楷体" panose="02010600040101010101" charset="-122"/>
                <a:cs typeface="Calibri" panose="020F0502020204030204" charset="0"/>
              </a:rPr>
              <a:t>Constraint name</a:t>
            </a:r>
          </a:p>
          <a:p>
            <a:pPr marL="1257300" lvl="2" indent="-342900" algn="l" eaLnBrk="1" fontAlgn="base" hangingPunct="1">
              <a:lnSpc>
                <a:spcPct val="100000"/>
              </a:lnSpc>
              <a:spcBef>
                <a:spcPts val="300"/>
              </a:spcBef>
              <a:spcAft>
                <a:spcPts val="0"/>
              </a:spcAft>
              <a:buClr>
                <a:srgbClr val="C00000"/>
              </a:buClr>
              <a:buSzPct val="85000"/>
              <a:buFont typeface="Arial" panose="020B0604020202020204" pitchFamily="34" charset="0"/>
              <a:buChar char="•"/>
            </a:pPr>
            <a:r>
              <a:rPr lang="zh-CN" altLang="en-US" sz="2800" b="1" strike="noStrike" noProof="1">
                <a:solidFill>
                  <a:srgbClr val="0000C8"/>
                </a:solidFill>
                <a:latin typeface="Calibri" panose="020F0502020204030204" charset="0"/>
                <a:ea typeface="华文楷体" panose="02010600040101010101" charset="-122"/>
                <a:cs typeface="Calibri" panose="020F0502020204030204" charset="0"/>
              </a:rPr>
              <a:t>对某个数据约束条件进行命名（可选项）</a:t>
            </a:r>
          </a:p>
          <a:p>
            <a:pPr marL="1257300" lvl="2" indent="-342900" algn="l" eaLnBrk="1" fontAlgn="base" hangingPunct="1">
              <a:lnSpc>
                <a:spcPct val="100000"/>
              </a:lnSpc>
              <a:spcBef>
                <a:spcPts val="300"/>
              </a:spcBef>
              <a:spcAft>
                <a:spcPts val="0"/>
              </a:spcAft>
              <a:buClr>
                <a:srgbClr val="C00000"/>
              </a:buClr>
              <a:buSzPct val="85000"/>
              <a:buFont typeface="Arial" panose="020B0604020202020204" pitchFamily="34" charset="0"/>
              <a:buChar char="•"/>
            </a:pPr>
            <a:r>
              <a:rPr lang="zh-CN" altLang="en-US" sz="2800" b="1" strike="noStrike" noProof="1">
                <a:solidFill>
                  <a:srgbClr val="0000C8"/>
                </a:solidFill>
                <a:latin typeface="Calibri" panose="020F0502020204030204" charset="0"/>
                <a:ea typeface="华文楷体" panose="02010600040101010101" charset="-122"/>
                <a:cs typeface="Calibri" panose="020F0502020204030204" charset="0"/>
              </a:rPr>
              <a:t>以利于以后使用 </a:t>
            </a:r>
            <a:r>
              <a:rPr lang="en-US" altLang="x-none" sz="2800" b="1" strike="noStrike" noProof="1">
                <a:solidFill>
                  <a:srgbClr val="0000C8"/>
                </a:solidFill>
                <a:latin typeface="Calibri" panose="020F0502020204030204" charset="0"/>
                <a:ea typeface="华文楷体" panose="02010600040101010101" charset="-122"/>
                <a:cs typeface="Calibri" panose="020F0502020204030204" charset="0"/>
              </a:rPr>
              <a:t>ALTER TABLE</a:t>
            </a:r>
            <a:r>
              <a:rPr lang="zh-CN" altLang="en-US" sz="2800" b="1" strike="noStrike" noProof="1">
                <a:solidFill>
                  <a:srgbClr val="0000C8"/>
                </a:solidFill>
                <a:latin typeface="Calibri" panose="020F0502020204030204" charset="0"/>
                <a:ea typeface="华文楷体" panose="02010600040101010101" charset="-122"/>
                <a:cs typeface="Calibri" panose="020F0502020204030204" charset="0"/>
              </a:rPr>
              <a:t>命令来修改表中的数据约束定义</a:t>
            </a:r>
          </a:p>
        </p:txBody>
      </p:sp>
      <p:pic>
        <p:nvPicPr>
          <p:cNvPr id="3" name="图片 2"/>
          <p:cNvPicPr>
            <a:picLocks noChangeAspect="1"/>
          </p:cNvPicPr>
          <p:nvPr>
            <p:custDataLst>
              <p:tags r:id="rId1"/>
            </p:custDataLst>
          </p:nvPr>
        </p:nvPicPr>
        <p:blipFill>
          <a:blip r:embed="rId3"/>
          <a:stretch>
            <a:fillRect/>
          </a:stretch>
        </p:blipFill>
        <p:spPr>
          <a:xfrm>
            <a:off x="1136015" y="694690"/>
            <a:ext cx="10016490" cy="3108325"/>
          </a:xfrm>
          <a:prstGeom prst="rect">
            <a:avLst/>
          </a:prstGeom>
        </p:spPr>
      </p:pic>
      <p:sp>
        <p:nvSpPr>
          <p:cNvPr id="6" name="灯片编号占位符 5"/>
          <p:cNvSpPr>
            <a:spLocks noGrp="1"/>
          </p:cNvSpPr>
          <p:nvPr>
            <p:ph type="sldNum" sz="quarter" idx="12"/>
          </p:nvPr>
        </p:nvSpPr>
        <p:spPr/>
        <p:txBody>
          <a:bodyPr/>
          <a:lstStyle/>
          <a:p>
            <a:fld id="{565CE74E-AB26-4998-AD42-012C4C1AD076}" type="slidenum">
              <a:rPr lang="zh-CN" altLang="en-US" smtClean="0"/>
              <a:t>31</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58">
                                            <p:txEl>
                                              <p:pRg st="0" end="0"/>
                                            </p:txEl>
                                          </p:spTgt>
                                        </p:tgtEl>
                                        <p:attrNameLst>
                                          <p:attrName>style.visibility</p:attrName>
                                        </p:attrNameLst>
                                      </p:cBhvr>
                                      <p:to>
                                        <p:strVal val="visible"/>
                                      </p:to>
                                    </p:set>
                                    <p:animEffect transition="in" filter="blinds(horizontal)">
                                      <p:cBhvr>
                                        <p:cTn id="7" dur="500"/>
                                        <p:tgtEl>
                                          <p:spTgt spid="747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58">
                                            <p:txEl>
                                              <p:pRg st="1" end="1"/>
                                            </p:txEl>
                                          </p:spTgt>
                                        </p:tgtEl>
                                        <p:attrNameLst>
                                          <p:attrName>style.visibility</p:attrName>
                                        </p:attrNameLst>
                                      </p:cBhvr>
                                      <p:to>
                                        <p:strVal val="visible"/>
                                      </p:to>
                                    </p:set>
                                    <p:animEffect transition="in" filter="blinds(horizontal)">
                                      <p:cBhvr>
                                        <p:cTn id="12" dur="500"/>
                                        <p:tgtEl>
                                          <p:spTgt spid="74758">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4758">
                                            <p:txEl>
                                              <p:pRg st="2" end="2"/>
                                            </p:txEl>
                                          </p:spTgt>
                                        </p:tgtEl>
                                        <p:attrNameLst>
                                          <p:attrName>style.visibility</p:attrName>
                                        </p:attrNameLst>
                                      </p:cBhvr>
                                      <p:to>
                                        <p:strVal val="visible"/>
                                      </p:to>
                                    </p:set>
                                    <p:animEffect transition="in" filter="blinds(horizontal)">
                                      <p:cBhvr>
                                        <p:cTn id="15" dur="500"/>
                                        <p:tgtEl>
                                          <p:spTgt spid="74758">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4758">
                                            <p:txEl>
                                              <p:pRg st="3" end="3"/>
                                            </p:txEl>
                                          </p:spTgt>
                                        </p:tgtEl>
                                        <p:attrNameLst>
                                          <p:attrName>style.visibility</p:attrName>
                                        </p:attrNameLst>
                                      </p:cBhvr>
                                      <p:to>
                                        <p:strVal val="visible"/>
                                      </p:to>
                                    </p:set>
                                    <p:animEffect transition="in" filter="blinds(horizontal)">
                                      <p:cBhvr>
                                        <p:cTn id="18" dur="500"/>
                                        <p:tgtEl>
                                          <p:spTgt spid="747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build="p" bldLvl="2"/>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zh-CN" altLang="en-US">
                <a:latin typeface="华文楷体" panose="02010600040101010101" charset="-122"/>
                <a:ea typeface="华文楷体" panose="02010600040101010101" charset="-122"/>
                <a:sym typeface="+mn-ea"/>
              </a:rPr>
              <a:t>总结：在定义列级约束时需要考虑的内容</a:t>
            </a:r>
            <a:r>
              <a:rPr lang="en-US" altLang="zh-CN">
                <a:latin typeface="华文楷体" panose="02010600040101010101" charset="-122"/>
                <a:ea typeface="华文楷体" panose="02010600040101010101" charset="-122"/>
                <a:sym typeface="+mn-ea"/>
              </a:rPr>
              <a:t>  2</a:t>
            </a:r>
            <a:endParaRPr lang="zh-CN" altLang="en-US" dirty="0"/>
          </a:p>
        </p:txBody>
      </p:sp>
      <p:sp>
        <p:nvSpPr>
          <p:cNvPr id="74758" name="Rectangle 4"/>
          <p:cNvSpPr/>
          <p:nvPr/>
        </p:nvSpPr>
        <p:spPr>
          <a:xfrm>
            <a:off x="424180" y="3871595"/>
            <a:ext cx="11343005" cy="2501900"/>
          </a:xfrm>
          <a:prstGeom prst="rect">
            <a:avLst/>
          </a:prstGeom>
          <a:noFill/>
          <a:ln w="9525">
            <a:noFill/>
          </a:ln>
        </p:spPr>
        <p:txBody>
          <a:bodyPr wrap="square" anchor="t">
            <a:noAutofit/>
          </a:bodyPr>
          <a:lstStyle/>
          <a:p>
            <a:pPr marL="742950" lvl="1" indent="-285750" algn="l" eaLnBrk="1" fontAlgn="base" hangingPunct="1">
              <a:lnSpc>
                <a:spcPct val="100000"/>
              </a:lnSpc>
              <a:spcBef>
                <a:spcPts val="0"/>
              </a:spcBef>
              <a:spcAft>
                <a:spcPts val="0"/>
              </a:spcAft>
              <a:buClr>
                <a:srgbClr val="C00000"/>
              </a:buClr>
              <a:buSzPct val="85000"/>
              <a:buFont typeface="Wingdings" panose="05000000000000000000" pitchFamily="2" charset="2"/>
              <a:buChar char="Ø"/>
            </a:pPr>
            <a:r>
              <a:rPr lang="en-US" altLang="x-none" sz="2800" b="1" strike="noStrike" noProof="1">
                <a:latin typeface="Calibri" panose="020F0502020204030204" charset="0"/>
                <a:ea typeface="华文楷体" panose="02010600040101010101" charset="-122"/>
                <a:cs typeface="Calibri" panose="020F0502020204030204" charset="0"/>
              </a:rPr>
              <a:t>UNIQUE  </a:t>
            </a:r>
            <a:r>
              <a:rPr lang="en-US" altLang="x-none" sz="2800" b="1" strike="noStrike" noProof="1">
                <a:solidFill>
                  <a:srgbClr val="FF0066"/>
                </a:solidFill>
                <a:latin typeface="Calibri" panose="020F0502020204030204" charset="0"/>
                <a:ea typeface="华文楷体" panose="02010600040101010101" charset="-122"/>
                <a:cs typeface="Calibri" panose="020F0502020204030204" charset="0"/>
              </a:rPr>
              <a:t>vs.</a:t>
            </a:r>
            <a:r>
              <a:rPr lang="en-US" altLang="x-none" sz="2800" b="1" strike="noStrike" noProof="1">
                <a:latin typeface="Calibri" panose="020F0502020204030204" charset="0"/>
                <a:ea typeface="华文楷体" panose="02010600040101010101" charset="-122"/>
                <a:cs typeface="Calibri" panose="020F0502020204030204" charset="0"/>
              </a:rPr>
              <a:t>  NOT NULL</a:t>
            </a: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rPr>
              <a:t>UNIQUE</a:t>
            </a:r>
            <a:r>
              <a:rPr lang="en-US" altLang="zh-CN" sz="2800" b="1" strike="noStrike" noProof="1">
                <a:solidFill>
                  <a:srgbClr val="C00000"/>
                </a:solidFill>
                <a:latin typeface="Calibri" panose="020F0502020204030204" charset="0"/>
                <a:ea typeface="华文楷体" panose="02010600040101010101" charset="-122"/>
                <a:cs typeface="Calibri" panose="020F0502020204030204" charset="0"/>
              </a:rPr>
              <a:t> </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列可以取空值</a:t>
            </a: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候选码(</a:t>
            </a:r>
            <a:r>
              <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rPr>
              <a:t>candidate key</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a:t>
            </a:r>
            <a:r>
              <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rPr>
              <a:t>：</a:t>
            </a:r>
            <a:r>
              <a:rPr lang="en-US" altLang="x-none" sz="2800" b="1" strike="noStrike" noProof="1">
                <a:solidFill>
                  <a:srgbClr val="0000C8"/>
                </a:solidFill>
                <a:latin typeface="Calibri" panose="020F0502020204030204" charset="0"/>
                <a:ea typeface="华文楷体" panose="02010600040101010101" charset="-122"/>
                <a:cs typeface="Calibri" panose="020F0502020204030204" charset="0"/>
              </a:rPr>
              <a:t>UNIQUE + NOT NULL</a:t>
            </a:r>
          </a:p>
          <a:p>
            <a:pPr marL="742950" lvl="1" indent="-285750" algn="l" eaLnBrk="1" fontAlgn="base" hangingPunct="1">
              <a:lnSpc>
                <a:spcPct val="100000"/>
              </a:lnSpc>
              <a:spcBef>
                <a:spcPts val="2000"/>
              </a:spcBef>
              <a:spcAft>
                <a:spcPts val="0"/>
              </a:spcAft>
              <a:buClr>
                <a:srgbClr val="C00000"/>
              </a:buClr>
              <a:buSzPct val="85000"/>
              <a:buFont typeface="Wingdings" panose="05000000000000000000" pitchFamily="2" charset="2"/>
              <a:buChar char="Ø"/>
            </a:pPr>
            <a:r>
              <a:rPr lang="en-US" altLang="x-none" sz="2800" b="1" dirty="0">
                <a:latin typeface="Calibri" panose="020F0502020204030204" charset="0"/>
                <a:ea typeface="华文楷体" panose="02010600040101010101" charset="-122"/>
                <a:cs typeface="Calibri" panose="020F0502020204030204" charset="0"/>
                <a:sym typeface="+mn-ea"/>
              </a:rPr>
              <a:t>PRIMARY KEY  </a:t>
            </a:r>
            <a:r>
              <a:rPr lang="en-US" altLang="x-none" sz="2800" b="1" dirty="0">
                <a:solidFill>
                  <a:srgbClr val="FF0066"/>
                </a:solidFill>
                <a:latin typeface="Calibri" panose="020F0502020204030204" charset="0"/>
                <a:ea typeface="华文楷体" panose="02010600040101010101" charset="-122"/>
                <a:cs typeface="Calibri" panose="020F0502020204030204" charset="0"/>
                <a:sym typeface="+mn-ea"/>
              </a:rPr>
              <a:t>vs.</a:t>
            </a:r>
            <a:r>
              <a:rPr lang="en-US" altLang="x-none" sz="2800" b="1" dirty="0">
                <a:latin typeface="Calibri" panose="020F0502020204030204" charset="0"/>
                <a:ea typeface="华文楷体" panose="02010600040101010101" charset="-122"/>
                <a:cs typeface="Calibri" panose="020F0502020204030204" charset="0"/>
                <a:sym typeface="+mn-ea"/>
              </a:rPr>
              <a:t>  NOT NULL</a:t>
            </a:r>
            <a:endParaRPr lang="en-US" altLang="x-none" sz="2800" b="1" strike="noStrike" noProof="1">
              <a:latin typeface="Calibri" panose="020F0502020204030204" charset="0"/>
              <a:ea typeface="华文楷体" panose="02010600040101010101" charset="-122"/>
              <a:cs typeface="Calibri" panose="020F0502020204030204" charset="0"/>
            </a:endParaRP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zh-CN" altLang="en-US" sz="2800" b="1" dirty="0">
                <a:solidFill>
                  <a:srgbClr val="0000CC"/>
                </a:solidFill>
                <a:latin typeface="Calibri" panose="020F0502020204030204" charset="0"/>
                <a:ea typeface="华文楷体" panose="02010600040101010101" charset="-122"/>
                <a:cs typeface="Calibri" panose="020F0502020204030204" charset="0"/>
                <a:sym typeface="+mn-ea"/>
              </a:rPr>
              <a:t>主码定义自动隐含着</a:t>
            </a:r>
            <a:r>
              <a:rPr lang="en-US" altLang="zh-CN" sz="2800" b="1" dirty="0">
                <a:solidFill>
                  <a:srgbClr val="0000CC"/>
                </a:solidFill>
                <a:latin typeface="Calibri" panose="020F0502020204030204" charset="0"/>
                <a:ea typeface="华文楷体" panose="02010600040101010101" charset="-122"/>
                <a:cs typeface="Calibri" panose="020F0502020204030204" charset="0"/>
                <a:sym typeface="+mn-ea"/>
              </a:rPr>
              <a:t>‘</a:t>
            </a:r>
            <a:r>
              <a:rPr lang="zh-CN" altLang="en-US" sz="2800" b="1" dirty="0">
                <a:solidFill>
                  <a:srgbClr val="0000CC"/>
                </a:solidFill>
                <a:latin typeface="Calibri" panose="020F0502020204030204" charset="0"/>
                <a:ea typeface="华文楷体" panose="02010600040101010101" charset="-122"/>
                <a:cs typeface="Calibri" panose="020F0502020204030204" charset="0"/>
                <a:sym typeface="+mn-ea"/>
              </a:rPr>
              <a:t>非空</a:t>
            </a:r>
            <a:r>
              <a:rPr lang="en-US" altLang="zh-CN" sz="2800" b="1" dirty="0">
                <a:solidFill>
                  <a:srgbClr val="0000CC"/>
                </a:solidFill>
                <a:latin typeface="Calibri" panose="020F0502020204030204" charset="0"/>
                <a:ea typeface="华文楷体" panose="02010600040101010101" charset="-122"/>
                <a:cs typeface="Calibri" panose="020F0502020204030204" charset="0"/>
                <a:sym typeface="+mn-ea"/>
              </a:rPr>
              <a:t>’</a:t>
            </a:r>
            <a:r>
              <a:rPr lang="zh-CN" altLang="en-US" sz="2800" b="1" dirty="0">
                <a:solidFill>
                  <a:srgbClr val="0000CC"/>
                </a:solidFill>
                <a:latin typeface="Calibri" panose="020F0502020204030204" charset="0"/>
                <a:ea typeface="华文楷体" panose="02010600040101010101" charset="-122"/>
                <a:cs typeface="Calibri" panose="020F0502020204030204" charset="0"/>
                <a:sym typeface="+mn-ea"/>
              </a:rPr>
              <a:t>约束要求</a:t>
            </a:r>
            <a:endParaRPr lang="en-US" altLang="x-none" sz="2800" b="1" strike="noStrike" noProof="1">
              <a:latin typeface="Calibri" panose="020F0502020204030204" charset="0"/>
              <a:ea typeface="华文楷体" panose="02010600040101010101" charset="-122"/>
              <a:cs typeface="Calibri" panose="020F0502020204030204" charset="0"/>
            </a:endParaRPr>
          </a:p>
        </p:txBody>
      </p:sp>
      <p:pic>
        <p:nvPicPr>
          <p:cNvPr id="6" name="图片 5"/>
          <p:cNvPicPr>
            <a:picLocks noChangeAspect="1"/>
          </p:cNvPicPr>
          <p:nvPr>
            <p:custDataLst>
              <p:tags r:id="rId1"/>
            </p:custDataLst>
          </p:nvPr>
        </p:nvPicPr>
        <p:blipFill>
          <a:blip r:embed="rId3"/>
          <a:stretch>
            <a:fillRect/>
          </a:stretch>
        </p:blipFill>
        <p:spPr>
          <a:xfrm>
            <a:off x="1136015" y="679450"/>
            <a:ext cx="10016490" cy="3108325"/>
          </a:xfrm>
          <a:prstGeom prst="rect">
            <a:avLst/>
          </a:prstGeom>
        </p:spPr>
      </p:pic>
      <p:sp>
        <p:nvSpPr>
          <p:cNvPr id="3" name="灯片编号占位符 2"/>
          <p:cNvSpPr>
            <a:spLocks noGrp="1"/>
          </p:cNvSpPr>
          <p:nvPr>
            <p:ph type="sldNum" sz="quarter" idx="12"/>
          </p:nvPr>
        </p:nvSpPr>
        <p:spPr/>
        <p:txBody>
          <a:bodyPr/>
          <a:lstStyle/>
          <a:p>
            <a:fld id="{565CE74E-AB26-4998-AD42-012C4C1AD076}" type="slidenum">
              <a:rPr lang="zh-CN" altLang="en-US" smtClean="0"/>
              <a:t>32</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8">
                                            <p:txEl>
                                              <p:pRg st="3" end="3"/>
                                            </p:txEl>
                                          </p:spTgt>
                                        </p:tgtEl>
                                        <p:attrNameLst>
                                          <p:attrName>style.visibility</p:attrName>
                                        </p:attrNameLst>
                                      </p:cBhvr>
                                      <p:to>
                                        <p:strVal val="visible"/>
                                      </p:to>
                                    </p:set>
                                    <p:anim calcmode="lin" valueType="num">
                                      <p:cBhvr additive="base">
                                        <p:cTn id="7" dur="500" fill="hold"/>
                                        <p:tgtEl>
                                          <p:spTgt spid="7475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4758">
                                            <p:txEl>
                                              <p:pRg st="4" end="4"/>
                                            </p:txEl>
                                          </p:spTgt>
                                        </p:tgtEl>
                                        <p:attrNameLst>
                                          <p:attrName>style.visibility</p:attrName>
                                        </p:attrNameLst>
                                      </p:cBhvr>
                                      <p:to>
                                        <p:strVal val="visible"/>
                                      </p:to>
                                    </p:set>
                                    <p:anim calcmode="lin" valueType="num">
                                      <p:cBhvr additive="base">
                                        <p:cTn id="11" dur="500" fill="hold"/>
                                        <p:tgtEl>
                                          <p:spTgt spid="7475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47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wrap="square" tIns="0" bIns="0" anchor="ctr"/>
          <a:lstStyle/>
          <a:p>
            <a:pPr eaLnBrk="1" hangingPunct="1"/>
            <a:r>
              <a:rPr lang="zh-CN" altLang="en-US">
                <a:latin typeface="华文楷体" panose="02010600040101010101" charset="-122"/>
                <a:ea typeface="华文楷体" panose="02010600040101010101" charset="-122"/>
                <a:sym typeface="+mn-ea"/>
              </a:rPr>
              <a:t>总结：在定义列级约束时需要考虑的内容</a:t>
            </a:r>
            <a:r>
              <a:rPr lang="en-US" altLang="zh-CN">
                <a:latin typeface="华文楷体" panose="02010600040101010101" charset="-122"/>
                <a:ea typeface="华文楷体" panose="02010600040101010101" charset="-122"/>
                <a:sym typeface="+mn-ea"/>
              </a:rPr>
              <a:t>  3</a:t>
            </a:r>
            <a:endParaRPr lang="zh-CN" altLang="en-US" dirty="0"/>
          </a:p>
        </p:txBody>
      </p:sp>
      <p:sp>
        <p:nvSpPr>
          <p:cNvPr id="75782" name="Rectangle 4"/>
          <p:cNvSpPr/>
          <p:nvPr/>
        </p:nvSpPr>
        <p:spPr>
          <a:xfrm>
            <a:off x="424180" y="3754755"/>
            <a:ext cx="11343005" cy="2933065"/>
          </a:xfrm>
          <a:prstGeom prst="rect">
            <a:avLst/>
          </a:prstGeom>
          <a:noFill/>
          <a:ln w="9525">
            <a:noFill/>
          </a:ln>
        </p:spPr>
        <p:txBody>
          <a:bodyPr wrap="square" anchor="t">
            <a:noAutofit/>
          </a:bodyPr>
          <a:lstStyle/>
          <a:p>
            <a:pPr marL="742950" lvl="1" indent="-285750" algn="l" eaLnBrk="1" fontAlgn="base" hangingPunct="1">
              <a:lnSpc>
                <a:spcPct val="100000"/>
              </a:lnSpc>
              <a:spcBef>
                <a:spcPts val="0"/>
              </a:spcBef>
              <a:spcAft>
                <a:spcPts val="0"/>
              </a:spcAft>
              <a:buClr>
                <a:srgbClr val="C00000"/>
              </a:buClr>
              <a:buSzPct val="85000"/>
              <a:buFont typeface="Wingdings" panose="05000000000000000000" pitchFamily="2" charset="2"/>
              <a:buChar char="Ø"/>
            </a:pPr>
            <a:r>
              <a:rPr lang="en-US" altLang="x-none" sz="2800" b="1" strike="noStrike" noProof="1">
                <a:latin typeface="Calibri" panose="020F0502020204030204" charset="0"/>
                <a:ea typeface="华文楷体" panose="02010600040101010101" charset="-122"/>
                <a:cs typeface="Calibri" panose="020F0502020204030204" charset="0"/>
              </a:rPr>
              <a:t>REFERENCES</a:t>
            </a: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rPr>
              <a:t>FOREIGN KEY</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（外码） </a:t>
            </a:r>
            <a:r>
              <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rPr>
              <a:t>vs. PRIMARY KEY</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（主</a:t>
            </a:r>
            <a:r>
              <a:rPr lang="zh-CN" altLang="en-US" sz="2800" b="1" dirty="0">
                <a:solidFill>
                  <a:srgbClr val="C00000"/>
                </a:solidFill>
                <a:latin typeface="Calibri" panose="020F0502020204030204" charset="0"/>
                <a:ea typeface="华文楷体" panose="02010600040101010101" charset="-122"/>
                <a:cs typeface="Calibri" panose="020F0502020204030204" charset="0"/>
                <a:sym typeface="+mn-ea"/>
              </a:rPr>
              <a:t>码</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a:t>
            </a: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外</a:t>
            </a:r>
            <a:r>
              <a:rPr lang="zh-CN" altLang="en-US" sz="2800" b="1" dirty="0">
                <a:solidFill>
                  <a:srgbClr val="C00000"/>
                </a:solidFill>
                <a:latin typeface="Calibri" panose="020F0502020204030204" charset="0"/>
                <a:ea typeface="华文楷体" panose="02010600040101010101" charset="-122"/>
                <a:cs typeface="Calibri" panose="020F0502020204030204" charset="0"/>
                <a:sym typeface="+mn-ea"/>
              </a:rPr>
              <a:t>码</a:t>
            </a:r>
            <a:r>
              <a:rPr lang="zh-CN" altLang="en-US" sz="2800" b="1" strike="noStrike" noProof="1">
                <a:solidFill>
                  <a:srgbClr val="C00000"/>
                </a:solidFill>
                <a:latin typeface="Calibri" panose="020F0502020204030204" charset="0"/>
                <a:ea typeface="华文楷体" panose="02010600040101010101" charset="-122"/>
                <a:cs typeface="Calibri" panose="020F0502020204030204" charset="0"/>
              </a:rPr>
              <a:t>上的取值约束及其一致性的保证措施：</a:t>
            </a:r>
            <a:endParaRPr lang="en-US" altLang="x-none" sz="2800" b="1" strike="noStrike" noProof="1">
              <a:solidFill>
                <a:srgbClr val="C00000"/>
              </a:solidFill>
              <a:latin typeface="Calibri" panose="020F0502020204030204" charset="0"/>
              <a:ea typeface="华文楷体" panose="02010600040101010101" charset="-122"/>
              <a:cs typeface="Calibri" panose="020F0502020204030204" charset="0"/>
            </a:endParaRPr>
          </a:p>
          <a:p>
            <a:pPr lvl="3" algn="l" eaLnBrk="1" fontAlgn="base" hangingPunct="1">
              <a:lnSpc>
                <a:spcPct val="100000"/>
              </a:lnSpc>
              <a:spcBef>
                <a:spcPts val="0"/>
              </a:spcBef>
              <a:spcAft>
                <a:spcPts val="0"/>
              </a:spcAft>
              <a:buClr>
                <a:schemeClr val="tx2"/>
              </a:buClr>
            </a:pPr>
            <a:r>
              <a:rPr lang="en-US" altLang="x-none" sz="2800" b="1" strike="noStrike" noProof="1">
                <a:solidFill>
                  <a:srgbClr val="0000C8"/>
                </a:solidFill>
                <a:latin typeface="Calibri" panose="020F0502020204030204" charset="0"/>
                <a:ea typeface="华文楷体" panose="02010600040101010101" charset="-122"/>
                <a:cs typeface="Calibri" panose="020F0502020204030204" charset="0"/>
              </a:rPr>
              <a:t>CASCADE | </a:t>
            </a:r>
            <a:r>
              <a:rPr lang="en-US" altLang="x-none" sz="2800" b="1" u="sng" strike="noStrike" noProof="1">
                <a:solidFill>
                  <a:srgbClr val="0000C8"/>
                </a:solidFill>
                <a:latin typeface="Calibri" panose="020F0502020204030204" charset="0"/>
                <a:ea typeface="华文楷体" panose="02010600040101010101" charset="-122"/>
                <a:cs typeface="Calibri" panose="020F0502020204030204" charset="0"/>
              </a:rPr>
              <a:t>RESTRICT</a:t>
            </a:r>
            <a:r>
              <a:rPr lang="en-US" altLang="x-none" sz="2800" b="1" strike="noStrike" noProof="1">
                <a:solidFill>
                  <a:srgbClr val="0000C8"/>
                </a:solidFill>
                <a:latin typeface="Calibri" panose="020F0502020204030204" charset="0"/>
                <a:ea typeface="华文楷体" panose="02010600040101010101" charset="-122"/>
                <a:cs typeface="Calibri" panose="020F0502020204030204" charset="0"/>
              </a:rPr>
              <a:t> | SET NULL</a:t>
            </a:r>
          </a:p>
          <a:p>
            <a:pPr marL="742950" lvl="1" indent="-285750" algn="l" eaLnBrk="1" fontAlgn="base" hangingPunct="1">
              <a:lnSpc>
                <a:spcPct val="100000"/>
              </a:lnSpc>
              <a:spcBef>
                <a:spcPts val="2000"/>
              </a:spcBef>
              <a:spcAft>
                <a:spcPts val="0"/>
              </a:spcAft>
              <a:buClr>
                <a:srgbClr val="C00000"/>
              </a:buClr>
              <a:buSzPct val="85000"/>
              <a:buFont typeface="Wingdings" panose="05000000000000000000" pitchFamily="2" charset="2"/>
              <a:buChar char="Ø"/>
            </a:pPr>
            <a:r>
              <a:rPr lang="en-US" altLang="x-none" sz="2800" b="1" strike="noStrike" noProof="1">
                <a:latin typeface="Calibri" panose="020F0502020204030204" charset="0"/>
                <a:ea typeface="华文楷体" panose="02010600040101010101" charset="-122"/>
                <a:cs typeface="Calibri" panose="020F0502020204030204" charset="0"/>
              </a:rPr>
              <a:t>CHECK</a:t>
            </a:r>
          </a:p>
          <a:p>
            <a:pPr marL="1257300" lvl="2" indent="-342900" algn="l" eaLnBrk="1" fontAlgn="base" hangingPunct="1">
              <a:lnSpc>
                <a:spcPct val="100000"/>
              </a:lnSpc>
              <a:spcBef>
                <a:spcPts val="0"/>
              </a:spcBef>
              <a:spcAft>
                <a:spcPts val="0"/>
              </a:spcAft>
              <a:buClr>
                <a:srgbClr val="C00000"/>
              </a:buClr>
              <a:buSzPct val="85000"/>
              <a:buFont typeface="Arial" panose="020B0604020202020204" pitchFamily="34" charset="0"/>
              <a:buChar char="•"/>
            </a:pPr>
            <a:r>
              <a:rPr lang="zh-CN" altLang="en-US" sz="2800" b="1" strike="noStrike" noProof="1">
                <a:solidFill>
                  <a:srgbClr val="0000CC"/>
                </a:solidFill>
                <a:latin typeface="Calibri" panose="020F0502020204030204" charset="0"/>
                <a:ea typeface="华文楷体" panose="02010600040101010101" charset="-122"/>
                <a:cs typeface="Calibri" panose="020F0502020204030204" charset="0"/>
              </a:rPr>
              <a:t>其他任意的单个列上的取值约束</a:t>
            </a:r>
          </a:p>
        </p:txBody>
      </p:sp>
      <p:pic>
        <p:nvPicPr>
          <p:cNvPr id="7" name="图片 6"/>
          <p:cNvPicPr>
            <a:picLocks noChangeAspect="1"/>
          </p:cNvPicPr>
          <p:nvPr>
            <p:custDataLst>
              <p:tags r:id="rId1"/>
            </p:custDataLst>
          </p:nvPr>
        </p:nvPicPr>
        <p:blipFill>
          <a:blip r:embed="rId3"/>
          <a:stretch>
            <a:fillRect/>
          </a:stretch>
        </p:blipFill>
        <p:spPr>
          <a:xfrm>
            <a:off x="1136015" y="679450"/>
            <a:ext cx="10016490" cy="3108325"/>
          </a:xfrm>
          <a:prstGeom prst="rect">
            <a:avLst/>
          </a:prstGeom>
        </p:spPr>
      </p:pic>
      <p:sp>
        <p:nvSpPr>
          <p:cNvPr id="3" name="灯片编号占位符 2"/>
          <p:cNvSpPr>
            <a:spLocks noGrp="1"/>
          </p:cNvSpPr>
          <p:nvPr>
            <p:ph type="sldNum" sz="quarter" idx="12"/>
          </p:nvPr>
        </p:nvSpPr>
        <p:spPr/>
        <p:txBody>
          <a:bodyPr/>
          <a:lstStyle/>
          <a:p>
            <a:fld id="{565CE74E-AB26-4998-AD42-012C4C1AD076}" type="slidenum">
              <a:rPr lang="zh-CN" altLang="en-US" smtClean="0"/>
              <a:t>33</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82">
                                            <p:txEl>
                                              <p:pRg st="0" end="0"/>
                                            </p:txEl>
                                          </p:spTgt>
                                        </p:tgtEl>
                                        <p:attrNameLst>
                                          <p:attrName>style.visibility</p:attrName>
                                        </p:attrNameLst>
                                      </p:cBhvr>
                                      <p:to>
                                        <p:strVal val="visible"/>
                                      </p:to>
                                    </p:set>
                                    <p:animEffect transition="in" filter="blinds(horizontal)">
                                      <p:cBhvr>
                                        <p:cTn id="7" dur="500"/>
                                        <p:tgtEl>
                                          <p:spTgt spid="75782">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5782">
                                            <p:txEl>
                                              <p:pRg st="1" end="1"/>
                                            </p:txEl>
                                          </p:spTgt>
                                        </p:tgtEl>
                                        <p:attrNameLst>
                                          <p:attrName>style.visibility</p:attrName>
                                        </p:attrNameLst>
                                      </p:cBhvr>
                                      <p:to>
                                        <p:strVal val="visible"/>
                                      </p:to>
                                    </p:set>
                                    <p:animEffect transition="in" filter="blinds(horizontal)">
                                      <p:cBhvr>
                                        <p:cTn id="10" dur="500"/>
                                        <p:tgtEl>
                                          <p:spTgt spid="75782">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5782">
                                            <p:txEl>
                                              <p:pRg st="2" end="2"/>
                                            </p:txEl>
                                          </p:spTgt>
                                        </p:tgtEl>
                                        <p:attrNameLst>
                                          <p:attrName>style.visibility</p:attrName>
                                        </p:attrNameLst>
                                      </p:cBhvr>
                                      <p:to>
                                        <p:strVal val="visible"/>
                                      </p:to>
                                    </p:set>
                                    <p:animEffect transition="in" filter="blinds(horizontal)">
                                      <p:cBhvr>
                                        <p:cTn id="13" dur="500"/>
                                        <p:tgtEl>
                                          <p:spTgt spid="75782">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5782">
                                            <p:txEl>
                                              <p:pRg st="3" end="3"/>
                                            </p:txEl>
                                          </p:spTgt>
                                        </p:tgtEl>
                                        <p:attrNameLst>
                                          <p:attrName>style.visibility</p:attrName>
                                        </p:attrNameLst>
                                      </p:cBhvr>
                                      <p:to>
                                        <p:strVal val="visible"/>
                                      </p:to>
                                    </p:set>
                                    <p:animEffect transition="in" filter="blinds(horizontal)">
                                      <p:cBhvr>
                                        <p:cTn id="16" dur="500"/>
                                        <p:tgtEl>
                                          <p:spTgt spid="7578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5782">
                                            <p:txEl>
                                              <p:pRg st="4" end="4"/>
                                            </p:txEl>
                                          </p:spTgt>
                                        </p:tgtEl>
                                        <p:attrNameLst>
                                          <p:attrName>style.visibility</p:attrName>
                                        </p:attrNameLst>
                                      </p:cBhvr>
                                      <p:to>
                                        <p:strVal val="visible"/>
                                      </p:to>
                                    </p:set>
                                    <p:animEffect transition="in" filter="blinds(horizontal)">
                                      <p:cBhvr>
                                        <p:cTn id="21" dur="500"/>
                                        <p:tgtEl>
                                          <p:spTgt spid="75782">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75782">
                                            <p:txEl>
                                              <p:pRg st="5" end="5"/>
                                            </p:txEl>
                                          </p:spTgt>
                                        </p:tgtEl>
                                        <p:attrNameLst>
                                          <p:attrName>style.visibility</p:attrName>
                                        </p:attrNameLst>
                                      </p:cBhvr>
                                      <p:to>
                                        <p:strVal val="visible"/>
                                      </p:to>
                                    </p:set>
                                    <p:animEffect transition="in" filter="blinds(horizontal)">
                                      <p:cBhvr>
                                        <p:cTn id="24" dur="500"/>
                                        <p:tgtEl>
                                          <p:spTgt spid="7578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p:cNvSpPr>
          <p:nvPr>
            <p:ph type="title"/>
          </p:nvPr>
        </p:nvSpPr>
        <p:spPr/>
        <p:txBody>
          <a:bodyPr wrap="square" tIns="0" bIns="0" anchor="ctr"/>
          <a:lstStyle/>
          <a:p>
            <a:pPr eaLnBrk="1" hangingPunct="1"/>
            <a:r>
              <a:rPr lang="zh-CN" altLang="en-US">
                <a:latin typeface="华文楷体" panose="02010600040101010101" charset="-122"/>
                <a:ea typeface="华文楷体" panose="02010600040101010101" charset="-122"/>
                <a:sym typeface="+mn-ea"/>
              </a:rPr>
              <a:t>总结：</a:t>
            </a:r>
            <a:r>
              <a:rPr lang="en-US" altLang="zh-CN" dirty="0"/>
              <a:t>Forengn Key </a:t>
            </a:r>
            <a:r>
              <a:rPr lang="zh-CN" altLang="zh-CN" dirty="0"/>
              <a:t>约束</a:t>
            </a:r>
          </a:p>
        </p:txBody>
      </p:sp>
      <p:sp>
        <p:nvSpPr>
          <p:cNvPr id="76804" name="Text Box 4"/>
          <p:cNvSpPr txBox="1"/>
          <p:nvPr/>
        </p:nvSpPr>
        <p:spPr>
          <a:xfrm>
            <a:off x="424815" y="595630"/>
            <a:ext cx="11342370" cy="1568450"/>
          </a:xfrm>
          <a:prstGeom prst="rect">
            <a:avLst/>
          </a:prstGeom>
          <a:solidFill>
            <a:schemeClr val="bg1"/>
          </a:solidFill>
          <a:ln w="19050">
            <a:solidFill>
              <a:schemeClr val="tx1"/>
            </a:solidFill>
          </a:ln>
        </p:spPr>
        <p:txBody>
          <a:bodyPr wrap="square" lIns="252095" anchor="t">
            <a:spAutoFit/>
          </a:bodyPr>
          <a:lstStyle/>
          <a:p>
            <a:pPr>
              <a:lnSpc>
                <a:spcPct val="100000"/>
              </a:lnSpc>
              <a:spcBef>
                <a:spcPts val="0"/>
              </a:spcBef>
              <a:spcAft>
                <a:spcPts val="0"/>
              </a:spcAft>
              <a:buClr>
                <a:srgbClr val="FF0066"/>
              </a:buClr>
              <a:buFont typeface="Wingdings" panose="05000000000000000000" pitchFamily="2" charset="2"/>
            </a:pPr>
            <a:r>
              <a:rPr lang="en-US" altLang="zh-CN" sz="2400" b="1" dirty="0">
                <a:latin typeface="Arial" panose="020B0604020202020204" pitchFamily="34" charset="0"/>
              </a:rPr>
              <a:t>  FOREIGN KEY ( colname { , colname ... } )</a:t>
            </a:r>
          </a:p>
          <a:p>
            <a:pPr lvl="1" indent="0" algn="l" eaLnBrk="1" hangingPunct="1">
              <a:lnSpc>
                <a:spcPct val="100000"/>
              </a:lnSpc>
              <a:spcBef>
                <a:spcPts val="0"/>
              </a:spcBef>
              <a:spcAft>
                <a:spcPts val="0"/>
              </a:spcAft>
              <a:buClr>
                <a:srgbClr val="FF0066"/>
              </a:buClr>
              <a:buFont typeface="Wingdings" panose="05000000000000000000" pitchFamily="2" charset="2"/>
              <a:buNone/>
            </a:pPr>
            <a:r>
              <a:rPr lang="en-US" altLang="zh-CN" sz="2400" b="1" dirty="0">
                <a:latin typeface="Arial" panose="020B0604020202020204" pitchFamily="34" charset="0"/>
              </a:rPr>
              <a:t>REFERENCES</a:t>
            </a:r>
            <a:r>
              <a:rPr lang="en-US" altLang="zh-CN" sz="2400" b="1" dirty="0">
                <a:solidFill>
                  <a:schemeClr val="tx1"/>
                </a:solidFill>
                <a:latin typeface="Arial" panose="020B0604020202020204" pitchFamily="34" charset="0"/>
              </a:rPr>
              <a:t> table_name</a:t>
            </a:r>
            <a:r>
              <a:rPr lang="en-US" altLang="zh-CN" sz="2400" b="1" dirty="0">
                <a:latin typeface="Arial" panose="020B0604020202020204" pitchFamily="34" charset="0"/>
              </a:rPr>
              <a:t> </a:t>
            </a:r>
            <a:r>
              <a:rPr lang="en-US" altLang="zh-CN" sz="2400" b="1" dirty="0">
                <a:solidFill>
                  <a:srgbClr val="FF0066"/>
                </a:solidFill>
                <a:latin typeface="Arial" panose="020B0604020202020204" pitchFamily="34" charset="0"/>
              </a:rPr>
              <a:t>[</a:t>
            </a:r>
            <a:r>
              <a:rPr lang="en-US" altLang="zh-CN" sz="2400" b="1" dirty="0">
                <a:latin typeface="Arial" panose="020B0604020202020204" pitchFamily="34" charset="0"/>
              </a:rPr>
              <a:t> ( colname { ,colname... } ) </a:t>
            </a:r>
            <a:r>
              <a:rPr lang="en-US" altLang="zh-CN" sz="2400" b="1" dirty="0">
                <a:solidFill>
                  <a:srgbClr val="FF0066"/>
                </a:solidFill>
                <a:latin typeface="Arial" panose="020B0604020202020204" pitchFamily="34" charset="0"/>
              </a:rPr>
              <a:t>]</a:t>
            </a:r>
          </a:p>
          <a:p>
            <a:pPr lvl="2" indent="0" algn="l" eaLnBrk="1" hangingPunct="1">
              <a:lnSpc>
                <a:spcPct val="100000"/>
              </a:lnSpc>
              <a:spcBef>
                <a:spcPts val="0"/>
              </a:spcBef>
              <a:spcAft>
                <a:spcPts val="0"/>
              </a:spcAft>
              <a:buClr>
                <a:srgbClr val="FF0066"/>
              </a:buClr>
              <a:buFont typeface="Wingdings" panose="05000000000000000000" pitchFamily="2" charset="2"/>
              <a:buNone/>
            </a:pPr>
            <a:r>
              <a:rPr lang="en-US" altLang="zh-CN" sz="2400" b="1" dirty="0">
                <a:solidFill>
                  <a:srgbClr val="FF0066"/>
                </a:solidFill>
                <a:latin typeface="Arial" panose="020B0604020202020204" pitchFamily="34" charset="0"/>
              </a:rPr>
              <a:t>[</a:t>
            </a:r>
            <a:r>
              <a:rPr lang="en-US" altLang="zh-CN" sz="2400" b="1" dirty="0">
                <a:latin typeface="Arial" panose="020B0604020202020204" pitchFamily="34" charset="0"/>
              </a:rPr>
              <a:t> ON DELETE CASCADE </a:t>
            </a:r>
            <a:r>
              <a:rPr lang="en-US" altLang="zh-CN" sz="2400" b="1" dirty="0">
                <a:solidFill>
                  <a:srgbClr val="FF0066"/>
                </a:solidFill>
                <a:latin typeface="Arial" panose="020B0604020202020204" pitchFamily="34" charset="0"/>
              </a:rPr>
              <a:t>| </a:t>
            </a:r>
            <a:r>
              <a:rPr lang="en-US" altLang="zh-CN" sz="2400" b="1" u="sng" dirty="0">
                <a:latin typeface="Arial" panose="020B0604020202020204" pitchFamily="34" charset="0"/>
              </a:rPr>
              <a:t>RESTRICT</a:t>
            </a:r>
            <a:r>
              <a:rPr lang="en-US" altLang="zh-CN" sz="2400" b="1" dirty="0">
                <a:latin typeface="Arial" panose="020B0604020202020204" pitchFamily="34" charset="0"/>
              </a:rPr>
              <a:t> </a:t>
            </a:r>
            <a:r>
              <a:rPr lang="en-US" altLang="zh-CN" sz="2400" b="1" dirty="0">
                <a:solidFill>
                  <a:srgbClr val="FF0066"/>
                </a:solidFill>
                <a:latin typeface="Arial" panose="020B0604020202020204" pitchFamily="34" charset="0"/>
              </a:rPr>
              <a:t>| </a:t>
            </a:r>
            <a:r>
              <a:rPr lang="en-US" altLang="zh-CN" sz="2400" b="1" dirty="0">
                <a:latin typeface="Arial" panose="020B0604020202020204" pitchFamily="34" charset="0"/>
              </a:rPr>
              <a:t>SET NULL</a:t>
            </a:r>
            <a:r>
              <a:rPr lang="en-US" altLang="zh-CN" sz="2400" b="1" dirty="0">
                <a:solidFill>
                  <a:srgbClr val="FF0066"/>
                </a:solidFill>
                <a:latin typeface="Arial" panose="020B0604020202020204" pitchFamily="34" charset="0"/>
              </a:rPr>
              <a:t> ]</a:t>
            </a:r>
          </a:p>
          <a:p>
            <a:pPr lvl="2" indent="0" algn="l" eaLnBrk="1" hangingPunct="1">
              <a:lnSpc>
                <a:spcPct val="100000"/>
              </a:lnSpc>
              <a:spcBef>
                <a:spcPts val="0"/>
              </a:spcBef>
              <a:spcAft>
                <a:spcPts val="0"/>
              </a:spcAft>
              <a:buClr>
                <a:srgbClr val="FF0066"/>
              </a:buClr>
              <a:buFont typeface="Wingdings" panose="05000000000000000000" pitchFamily="2" charset="2"/>
              <a:buNone/>
            </a:pPr>
            <a:r>
              <a:rPr lang="en-US" altLang="zh-CN" sz="2400" b="1" dirty="0">
                <a:solidFill>
                  <a:srgbClr val="FF0066"/>
                </a:solidFill>
                <a:latin typeface="Arial" panose="020B0604020202020204" pitchFamily="34" charset="0"/>
              </a:rPr>
              <a:t>[</a:t>
            </a:r>
            <a:r>
              <a:rPr lang="en-US" altLang="zh-CN" sz="2400" b="1" dirty="0">
                <a:latin typeface="Arial" panose="020B0604020202020204" pitchFamily="34" charset="0"/>
              </a:rPr>
              <a:t> ON UPDATE CASCADE </a:t>
            </a:r>
            <a:r>
              <a:rPr lang="en-US" altLang="zh-CN" sz="2400" b="1" dirty="0">
                <a:solidFill>
                  <a:srgbClr val="FF0066"/>
                </a:solidFill>
                <a:latin typeface="Arial" panose="020B0604020202020204" pitchFamily="34" charset="0"/>
              </a:rPr>
              <a:t>| </a:t>
            </a:r>
            <a:r>
              <a:rPr lang="en-US" altLang="zh-CN" sz="2400" b="1" u="sng" dirty="0">
                <a:latin typeface="Arial" panose="020B0604020202020204" pitchFamily="34" charset="0"/>
              </a:rPr>
              <a:t>RESTRICT</a:t>
            </a:r>
            <a:r>
              <a:rPr lang="en-US" altLang="zh-CN" sz="2400" b="1" dirty="0">
                <a:latin typeface="Arial" panose="020B0604020202020204" pitchFamily="34" charset="0"/>
              </a:rPr>
              <a:t> </a:t>
            </a:r>
            <a:r>
              <a:rPr lang="en-US" altLang="zh-CN" sz="2400" b="1" dirty="0">
                <a:solidFill>
                  <a:srgbClr val="FF0066"/>
                </a:solidFill>
                <a:latin typeface="Arial" panose="020B0604020202020204" pitchFamily="34" charset="0"/>
              </a:rPr>
              <a:t>| </a:t>
            </a:r>
            <a:r>
              <a:rPr lang="en-US" altLang="zh-CN" sz="2400" b="1" dirty="0">
                <a:latin typeface="Arial" panose="020B0604020202020204" pitchFamily="34" charset="0"/>
              </a:rPr>
              <a:t>SET NULL</a:t>
            </a:r>
            <a:r>
              <a:rPr lang="en-US" altLang="zh-CN" sz="2400" b="1" dirty="0">
                <a:solidFill>
                  <a:srgbClr val="FF0066"/>
                </a:solidFill>
                <a:latin typeface="Arial" panose="020B0604020202020204" pitchFamily="34" charset="0"/>
              </a:rPr>
              <a:t> ]</a:t>
            </a:r>
            <a:r>
              <a:rPr lang="en-US" altLang="zh-CN" sz="2400" b="1" dirty="0">
                <a:latin typeface="Arial" panose="020B0604020202020204" pitchFamily="34" charset="0"/>
              </a:rPr>
              <a:t>   </a:t>
            </a:r>
            <a:r>
              <a:rPr lang="en-US" altLang="zh-CN" sz="2400" b="1" dirty="0">
                <a:solidFill>
                  <a:srgbClr val="FF0066"/>
                </a:solidFill>
                <a:latin typeface="Arial" panose="020B0604020202020204" pitchFamily="34" charset="0"/>
              </a:rPr>
              <a:t>}</a:t>
            </a:r>
          </a:p>
        </p:txBody>
      </p:sp>
      <p:sp>
        <p:nvSpPr>
          <p:cNvPr id="67592" name="Text Box 9"/>
          <p:cNvSpPr txBox="1"/>
          <p:nvPr/>
        </p:nvSpPr>
        <p:spPr>
          <a:xfrm>
            <a:off x="424815" y="2289810"/>
            <a:ext cx="11342370" cy="4192270"/>
          </a:xfrm>
          <a:prstGeom prst="rect">
            <a:avLst/>
          </a:prstGeom>
          <a:noFill/>
          <a:ln w="9525">
            <a:noFill/>
          </a:ln>
        </p:spPr>
        <p:txBody>
          <a:bodyPr wrap="square" anchor="t">
            <a:noAutofit/>
          </a:bodyPr>
          <a:lstStyle/>
          <a:p>
            <a:pPr marL="342900" indent="-342900">
              <a:lnSpc>
                <a:spcPct val="100000"/>
              </a:lnSpc>
              <a:spcBef>
                <a:spcPts val="50"/>
              </a:spcBef>
              <a:spcAft>
                <a:spcPts val="0"/>
              </a:spcAft>
              <a:buFont typeface="Wingdings" panose="05000000000000000000" charset="0"/>
              <a:buChar char=""/>
            </a:pPr>
            <a:r>
              <a:rPr lang="en-US" altLang="x-none" sz="2400" b="1" noProof="1">
                <a:solidFill>
                  <a:srgbClr val="FF0000"/>
                </a:solidFill>
                <a:latin typeface="Calibri" panose="020F0502020204030204" charset="0"/>
                <a:ea typeface="楷体" panose="02010609060101010101" charset="-122"/>
                <a:cs typeface="Calibri" panose="020F0502020204030204" charset="0"/>
              </a:rPr>
              <a:t>foreign key</a:t>
            </a:r>
            <a:r>
              <a:rPr lang="en-US" altLang="x-none" sz="2400" b="1" noProof="1">
                <a:latin typeface="Calibri" panose="020F0502020204030204" charset="0"/>
                <a:ea typeface="楷体" panose="02010609060101010101" charset="-122"/>
                <a:cs typeface="Calibri" panose="020F0502020204030204" charset="0"/>
              </a:rPr>
              <a:t> ...... </a:t>
            </a:r>
            <a:r>
              <a:rPr lang="en-US" altLang="x-none" sz="2400" b="1" noProof="1">
                <a:solidFill>
                  <a:srgbClr val="FF0000"/>
                </a:solidFill>
                <a:latin typeface="Calibri" panose="020F0502020204030204" charset="0"/>
                <a:ea typeface="楷体" panose="02010609060101010101" charset="-122"/>
                <a:cs typeface="Calibri" panose="020F0502020204030204" charset="0"/>
              </a:rPr>
              <a:t>references </a:t>
            </a:r>
            <a:r>
              <a:rPr lang="en-US" altLang="x-none" sz="2400" b="1" noProof="1">
                <a:latin typeface="Calibri" panose="020F0502020204030204" charset="0"/>
                <a:ea typeface="楷体" panose="02010609060101010101" charset="-122"/>
                <a:cs typeface="Calibri" panose="020F0502020204030204" charset="0"/>
              </a:rPr>
              <a:t>......</a:t>
            </a:r>
          </a:p>
          <a:p>
            <a:pPr lvl="1" indent="0" algn="l" eaLnBrk="1" fontAlgn="base" hangingPunct="1">
              <a:lnSpc>
                <a:spcPct val="100000"/>
              </a:lnSpc>
              <a:spcBef>
                <a:spcPts val="50"/>
              </a:spcBef>
              <a:spcAft>
                <a:spcPts val="0"/>
              </a:spcAft>
              <a:buClr>
                <a:srgbClr val="C00000"/>
              </a:buClr>
              <a:buNone/>
            </a:pP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定义主码、外码之间的引用关系。当对</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参照</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表中的外码进行赋值时，需要检查外</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值的正确性。</a:t>
            </a:r>
            <a:endParaRPr lang="zh-CN" altLang="en-US" sz="2400" b="1" strike="noStrike" noProof="1">
              <a:solidFill>
                <a:schemeClr val="accent2"/>
              </a:solidFill>
              <a:latin typeface="Calibri" panose="020F0502020204030204" charset="0"/>
              <a:ea typeface="楷体" panose="02010609060101010101" charset="-122"/>
              <a:cs typeface="Calibri" panose="020F0502020204030204" charset="0"/>
            </a:endParaRPr>
          </a:p>
          <a:p>
            <a:pPr marL="342900" indent="-342900">
              <a:lnSpc>
                <a:spcPct val="100000"/>
              </a:lnSpc>
              <a:spcBef>
                <a:spcPts val="50"/>
              </a:spcBef>
              <a:spcAft>
                <a:spcPts val="0"/>
              </a:spcAft>
              <a:buFont typeface="Wingdings" panose="05000000000000000000" charset="0"/>
              <a:buChar char=""/>
            </a:pPr>
            <a:r>
              <a:rPr lang="en-US" altLang="x-none" sz="2400" b="1" noProof="1">
                <a:solidFill>
                  <a:srgbClr val="FF0000"/>
                </a:solidFill>
                <a:latin typeface="Calibri" panose="020F0502020204030204" charset="0"/>
                <a:ea typeface="楷体" panose="02010609060101010101" charset="-122"/>
                <a:cs typeface="Calibri" panose="020F0502020204030204" charset="0"/>
              </a:rPr>
              <a:t>on delete</a:t>
            </a:r>
            <a:r>
              <a:rPr lang="en-US" altLang="x-none" sz="2400" b="1" noProof="1">
                <a:latin typeface="Calibri" panose="020F0502020204030204" charset="0"/>
                <a:ea typeface="楷体" panose="02010609060101010101" charset="-122"/>
                <a:cs typeface="Calibri" panose="020F0502020204030204" charset="0"/>
              </a:rPr>
              <a:t> ......  /  </a:t>
            </a:r>
            <a:r>
              <a:rPr lang="en-US" altLang="x-none" sz="2400" b="1" noProof="1">
                <a:solidFill>
                  <a:srgbClr val="FF0000"/>
                </a:solidFill>
                <a:latin typeface="Calibri" panose="020F0502020204030204" charset="0"/>
                <a:ea typeface="楷体" panose="02010609060101010101" charset="-122"/>
                <a:cs typeface="Calibri" panose="020F0502020204030204" charset="0"/>
              </a:rPr>
              <a:t>on update</a:t>
            </a:r>
            <a:r>
              <a:rPr lang="en-US" altLang="x-none" sz="2400" b="1" noProof="1">
                <a:latin typeface="Calibri" panose="020F0502020204030204" charset="0"/>
                <a:ea typeface="楷体" panose="02010609060101010101" charset="-122"/>
                <a:cs typeface="Calibri" panose="020F0502020204030204" charset="0"/>
              </a:rPr>
              <a:t> ......</a:t>
            </a:r>
          </a:p>
          <a:p>
            <a:pPr lvl="1" indent="0" algn="l" eaLnBrk="1" fontAlgn="base" hangingPunct="1">
              <a:lnSpc>
                <a:spcPct val="100000"/>
              </a:lnSpc>
              <a:spcBef>
                <a:spcPts val="50"/>
              </a:spcBef>
              <a:spcAft>
                <a:spcPts val="0"/>
              </a:spcAft>
              <a:buClr>
                <a:srgbClr val="C00000"/>
              </a:buClr>
              <a:buNone/>
            </a:pP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当在被参照表中删除元组或修改主</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值时，需要维护</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参照</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表中外</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值的正确性，具体方式如下：</a:t>
            </a:r>
          </a:p>
          <a:p>
            <a:pPr marL="914400" lvl="1" indent="-457200" algn="l" eaLnBrk="1" fontAlgn="base" hangingPunct="1">
              <a:lnSpc>
                <a:spcPct val="100000"/>
              </a:lnSpc>
              <a:spcBef>
                <a:spcPts val="50"/>
              </a:spcBef>
              <a:spcAft>
                <a:spcPts val="0"/>
              </a:spcAft>
              <a:buClr>
                <a:srgbClr val="C00000"/>
              </a:buClr>
              <a:buSzPct val="85000"/>
              <a:buFont typeface="+mj-ea"/>
              <a:buAutoNum type="circleNumDbPlain"/>
            </a:pPr>
            <a:r>
              <a:rPr lang="en-US" altLang="x-none" sz="2400" b="1" strike="noStrike" noProof="1">
                <a:solidFill>
                  <a:srgbClr val="0000C8"/>
                </a:solidFill>
                <a:latin typeface="Calibri" panose="020F0502020204030204" charset="0"/>
                <a:ea typeface="楷体" panose="02010609060101010101" charset="-122"/>
                <a:cs typeface="Calibri" panose="020F0502020204030204" charset="0"/>
              </a:rPr>
              <a:t>cascade</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：同步做连带删除</a:t>
            </a:r>
            <a:r>
              <a:rPr lang="en-US" altLang="zh-CN" sz="2400" b="1" strike="noStrike" noProof="1">
                <a:solidFill>
                  <a:srgbClr val="0000C8"/>
                </a:solidFill>
                <a:latin typeface="Calibri" panose="020F0502020204030204" charset="0"/>
                <a:ea typeface="楷体" panose="02010609060101010101" charset="-122"/>
                <a:cs typeface="Calibri" panose="020F0502020204030204" charset="0"/>
              </a:rPr>
              <a:t>/</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更新</a:t>
            </a:r>
          </a:p>
          <a:p>
            <a:pPr marL="914400" lvl="1" indent="-457200" algn="l" eaLnBrk="1" fontAlgn="base" hangingPunct="1">
              <a:lnSpc>
                <a:spcPct val="100000"/>
              </a:lnSpc>
              <a:spcBef>
                <a:spcPts val="50"/>
              </a:spcBef>
              <a:spcAft>
                <a:spcPts val="0"/>
              </a:spcAft>
              <a:buClr>
                <a:srgbClr val="C00000"/>
              </a:buClr>
              <a:buSzPct val="85000"/>
              <a:buFont typeface="+mj-ea"/>
              <a:buAutoNum type="circleNumDbPlain"/>
            </a:pPr>
            <a:r>
              <a:rPr lang="en-US" altLang="x-none" sz="2400" b="1" strike="noStrike" noProof="1">
                <a:solidFill>
                  <a:srgbClr val="0000C8"/>
                </a:solidFill>
                <a:latin typeface="Calibri" panose="020F0502020204030204" charset="0"/>
                <a:ea typeface="楷体" panose="02010609060101010101" charset="-122"/>
                <a:cs typeface="Calibri" panose="020F0502020204030204" charset="0"/>
              </a:rPr>
              <a:t>restrict</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：如果在</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参照</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表中存在与被删除或修改的主</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相关的元组，则拒绝本次对被</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参照</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表的</a:t>
            </a:r>
            <a:r>
              <a:rPr lang="en-US" altLang="zh-CN" sz="2400" b="1" strike="noStrike" noProof="1">
                <a:solidFill>
                  <a:srgbClr val="0000C8"/>
                </a:solidFill>
                <a:latin typeface="Calibri" panose="020F0502020204030204" charset="0"/>
                <a:ea typeface="楷体" panose="02010609060101010101" charset="-122"/>
                <a:cs typeface="Calibri" panose="020F0502020204030204" charset="0"/>
              </a:rPr>
              <a:t>delete/update</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操作 </a:t>
            </a:r>
            <a:r>
              <a:rPr lang="en-US" altLang="zh-CN" sz="2400" b="1" strike="noStrike" noProof="1">
                <a:solidFill>
                  <a:srgbClr val="0000C8"/>
                </a:solidFill>
                <a:latin typeface="Calibri" panose="020F0502020204030204" charset="0"/>
                <a:ea typeface="楷体" panose="02010609060101010101" charset="-122"/>
                <a:cs typeface="Calibri" panose="020F0502020204030204" charset="0"/>
              </a:rPr>
              <a:t>(</a:t>
            </a:r>
            <a:r>
              <a:rPr lang="zh-CN" altLang="zh-CN" sz="2400" b="1" strike="noStrike" noProof="1">
                <a:solidFill>
                  <a:srgbClr val="0000C8"/>
                </a:solidFill>
                <a:latin typeface="Calibri" panose="020F0502020204030204" charset="0"/>
                <a:ea typeface="楷体" panose="02010609060101010101" charset="-122"/>
                <a:cs typeface="Calibri" panose="020F0502020204030204" charset="0"/>
              </a:rPr>
              <a:t>缺省的维护模式</a:t>
            </a:r>
            <a:r>
              <a:rPr lang="en-US" altLang="zh-CN" sz="2400" b="1" strike="noStrike" noProof="1">
                <a:solidFill>
                  <a:srgbClr val="0000C8"/>
                </a:solidFill>
                <a:latin typeface="Calibri" panose="020F0502020204030204" charset="0"/>
                <a:ea typeface="楷体" panose="02010609060101010101" charset="-122"/>
                <a:cs typeface="Calibri" panose="020F0502020204030204" charset="0"/>
              </a:rPr>
              <a:t>)</a:t>
            </a:r>
          </a:p>
          <a:p>
            <a:pPr marL="914400" lvl="1" indent="-457200" algn="l" eaLnBrk="1" fontAlgn="base" hangingPunct="1">
              <a:lnSpc>
                <a:spcPct val="100000"/>
              </a:lnSpc>
              <a:spcBef>
                <a:spcPts val="50"/>
              </a:spcBef>
              <a:spcAft>
                <a:spcPts val="0"/>
              </a:spcAft>
              <a:buClr>
                <a:srgbClr val="C00000"/>
              </a:buClr>
              <a:buSzPct val="85000"/>
              <a:buFont typeface="+mj-ea"/>
              <a:buAutoNum type="circleNumDbPlain"/>
            </a:pPr>
            <a:r>
              <a:rPr lang="en-US" altLang="x-none" sz="2400" b="1" strike="noStrike" noProof="1">
                <a:solidFill>
                  <a:srgbClr val="0000C8"/>
                </a:solidFill>
                <a:latin typeface="Calibri" panose="020F0502020204030204" charset="0"/>
                <a:ea typeface="楷体" panose="02010609060101010101" charset="-122"/>
                <a:cs typeface="Calibri" panose="020F0502020204030204" charset="0"/>
              </a:rPr>
              <a:t>set null</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rPr>
              <a:t>：</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sym typeface="+mn-ea"/>
              </a:rPr>
              <a:t>如果在</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参照</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sym typeface="+mn-ea"/>
              </a:rPr>
              <a:t>表中存在与被删除或修改的主</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sym typeface="+mn-ea"/>
              </a:rPr>
              <a:t>相关的元组，则自动地将相关元组上的外</a:t>
            </a:r>
            <a:r>
              <a:rPr lang="zh-CN" altLang="en-US" sz="2400" b="1" dirty="0">
                <a:solidFill>
                  <a:srgbClr val="0000C8"/>
                </a:solidFill>
                <a:latin typeface="Calibri" panose="020F0502020204030204" charset="0"/>
                <a:ea typeface="楷体" panose="02010609060101010101" charset="-122"/>
                <a:cs typeface="Calibri" panose="020F0502020204030204" charset="0"/>
                <a:sym typeface="+mn-ea"/>
              </a:rPr>
              <a:t>码</a:t>
            </a:r>
            <a:r>
              <a:rPr lang="zh-CN" altLang="en-US" sz="2400" b="1" strike="noStrike" noProof="1">
                <a:solidFill>
                  <a:srgbClr val="0000C8"/>
                </a:solidFill>
                <a:latin typeface="Calibri" panose="020F0502020204030204" charset="0"/>
                <a:ea typeface="楷体" panose="02010609060101010101" charset="-122"/>
                <a:cs typeface="Calibri" panose="020F0502020204030204" charset="0"/>
                <a:sym typeface="+mn-ea"/>
              </a:rPr>
              <a:t>值置为空</a:t>
            </a:r>
            <a:r>
              <a:rPr lang="en-US" altLang="zh-CN" sz="2400" b="1" strike="noStrike" noProof="1">
                <a:solidFill>
                  <a:srgbClr val="0000C8"/>
                </a:solidFill>
                <a:latin typeface="Calibri" panose="020F0502020204030204" charset="0"/>
                <a:ea typeface="楷体" panose="02010609060101010101" charset="-122"/>
                <a:cs typeface="Calibri" panose="020F0502020204030204" charset="0"/>
                <a:sym typeface="+mn-ea"/>
              </a:rPr>
              <a:t>(NULL)</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92">
                                            <p:txEl>
                                              <p:pRg st="2" end="2"/>
                                            </p:txEl>
                                          </p:spTgt>
                                        </p:tgtEl>
                                        <p:attrNameLst>
                                          <p:attrName>style.visibility</p:attrName>
                                        </p:attrNameLst>
                                      </p:cBhvr>
                                      <p:to>
                                        <p:strVal val="visible"/>
                                      </p:to>
                                    </p:set>
                                    <p:anim calcmode="lin" valueType="num">
                                      <p:cBhvr additive="base">
                                        <p:cTn id="7" dur="500" fill="hold"/>
                                        <p:tgtEl>
                                          <p:spTgt spid="6759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9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592">
                                            <p:txEl>
                                              <p:pRg st="3" end="3"/>
                                            </p:txEl>
                                          </p:spTgt>
                                        </p:tgtEl>
                                        <p:attrNameLst>
                                          <p:attrName>style.visibility</p:attrName>
                                        </p:attrNameLst>
                                      </p:cBhvr>
                                      <p:to>
                                        <p:strVal val="visible"/>
                                      </p:to>
                                    </p:set>
                                    <p:anim calcmode="lin" valueType="num">
                                      <p:cBhvr additive="base">
                                        <p:cTn id="11" dur="500" fill="hold"/>
                                        <p:tgtEl>
                                          <p:spTgt spid="6759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92">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592">
                                            <p:txEl>
                                              <p:pRg st="4" end="4"/>
                                            </p:txEl>
                                          </p:spTgt>
                                        </p:tgtEl>
                                        <p:attrNameLst>
                                          <p:attrName>style.visibility</p:attrName>
                                        </p:attrNameLst>
                                      </p:cBhvr>
                                      <p:to>
                                        <p:strVal val="visible"/>
                                      </p:to>
                                    </p:set>
                                    <p:anim calcmode="lin" valueType="num">
                                      <p:cBhvr additive="base">
                                        <p:cTn id="15" dur="500" fill="hold"/>
                                        <p:tgtEl>
                                          <p:spTgt spid="6759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9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592">
                                            <p:txEl>
                                              <p:pRg st="5" end="5"/>
                                            </p:txEl>
                                          </p:spTgt>
                                        </p:tgtEl>
                                        <p:attrNameLst>
                                          <p:attrName>style.visibility</p:attrName>
                                        </p:attrNameLst>
                                      </p:cBhvr>
                                      <p:to>
                                        <p:strVal val="visible"/>
                                      </p:to>
                                    </p:set>
                                    <p:anim calcmode="lin" valueType="num">
                                      <p:cBhvr additive="base">
                                        <p:cTn id="19" dur="500" fill="hold"/>
                                        <p:tgtEl>
                                          <p:spTgt spid="6759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9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7592">
                                            <p:txEl>
                                              <p:pRg st="6" end="6"/>
                                            </p:txEl>
                                          </p:spTgt>
                                        </p:tgtEl>
                                        <p:attrNameLst>
                                          <p:attrName>style.visibility</p:attrName>
                                        </p:attrNameLst>
                                      </p:cBhvr>
                                      <p:to>
                                        <p:strVal val="visible"/>
                                      </p:to>
                                    </p:set>
                                    <p:anim calcmode="lin" valueType="num">
                                      <p:cBhvr additive="base">
                                        <p:cTn id="23" dur="500" fill="hold"/>
                                        <p:tgtEl>
                                          <p:spTgt spid="6759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75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solidFill>
                  <a:srgbClr val="FF0000"/>
                </a:solidFill>
                <a:latin typeface="Arial" panose="020B0604020202020204" pitchFamily="34" charset="0"/>
                <a:cs typeface="Arial" panose="020B0604020202020204" pitchFamily="34" charset="0"/>
              </a:rPr>
              <a:t>5.3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latin typeface="Arial" panose="020B0604020202020204" pitchFamily="34" charset="0"/>
                <a:cs typeface="Arial" panose="020B0604020202020204" pitchFamily="34" charset="0"/>
              </a:rPr>
              <a:t>5.6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35</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3795" name="Rectangle 2"/>
          <p:cNvSpPr>
            <a:spLocks noGrp="1" noChangeArrowheads="1"/>
          </p:cNvSpPr>
          <p:nvPr>
            <p:ph type="title"/>
          </p:nvPr>
        </p:nvSpPr>
        <p:spPr/>
        <p:txBody>
          <a:bodyPr/>
          <a:lstStyle/>
          <a:p>
            <a:r>
              <a:rPr lang="en-US" altLang="zh-CN" dirty="0"/>
              <a:t>5.3  </a:t>
            </a:r>
            <a:r>
              <a:rPr lang="zh-CN" altLang="en-US" dirty="0"/>
              <a:t>用户定义的完整性</a:t>
            </a:r>
          </a:p>
        </p:txBody>
      </p:sp>
      <p:sp>
        <p:nvSpPr>
          <p:cNvPr id="33796" name="Rectangle 3"/>
          <p:cNvSpPr>
            <a:spLocks noGrp="1" noChangeArrowheads="1"/>
          </p:cNvSpPr>
          <p:nvPr>
            <p:ph idx="1"/>
          </p:nvPr>
        </p:nvSpPr>
        <p:spPr/>
        <p:txBody>
          <a:bodyPr>
            <a:noAutofit/>
          </a:bodyPr>
          <a:lstStyle/>
          <a:p>
            <a:pPr>
              <a:lnSpc>
                <a:spcPct val="100000"/>
              </a:lnSpc>
              <a:spcBef>
                <a:spcPct val="0"/>
              </a:spcBef>
            </a:pPr>
            <a:r>
              <a:rPr lang="zh-CN" altLang="en-US" dirty="0"/>
              <a:t>用户定义的完整性是：针对某一具体应用的数据必须满足的语义要求 </a:t>
            </a:r>
            <a:endParaRPr lang="en-US" altLang="zh-CN" dirty="0"/>
          </a:p>
          <a:p>
            <a:pPr lvl="1">
              <a:lnSpc>
                <a:spcPct val="100000"/>
              </a:lnSpc>
              <a:spcBef>
                <a:spcPct val="0"/>
              </a:spcBef>
            </a:pPr>
            <a:r>
              <a:rPr lang="zh-CN" altLang="en-US" dirty="0">
                <a:solidFill>
                  <a:srgbClr val="C00000"/>
                </a:solidFill>
              </a:rPr>
              <a:t>列级约束</a:t>
            </a:r>
            <a:r>
              <a:rPr lang="zh-CN" altLang="en-US" dirty="0"/>
              <a:t>：单个列上的约束条件</a:t>
            </a:r>
            <a:endParaRPr lang="en-US" altLang="zh-CN" dirty="0"/>
          </a:p>
          <a:p>
            <a:pPr lvl="1">
              <a:lnSpc>
                <a:spcPct val="100000"/>
              </a:lnSpc>
              <a:spcBef>
                <a:spcPct val="0"/>
              </a:spcBef>
            </a:pPr>
            <a:r>
              <a:rPr lang="zh-CN" altLang="en-US" dirty="0">
                <a:solidFill>
                  <a:srgbClr val="C00000"/>
                </a:solidFill>
              </a:rPr>
              <a:t>表级约束</a:t>
            </a:r>
            <a:r>
              <a:rPr lang="zh-CN" altLang="en-US" dirty="0"/>
              <a:t>：元组上的约束条件（涉及单个或多个列）</a:t>
            </a:r>
            <a:endParaRPr lang="en-US" altLang="zh-CN" dirty="0"/>
          </a:p>
          <a:p>
            <a:pPr lvl="2">
              <a:lnSpc>
                <a:spcPct val="100000"/>
              </a:lnSpc>
              <a:spcBef>
                <a:spcPct val="0"/>
              </a:spcBef>
            </a:pPr>
            <a:r>
              <a:rPr lang="zh-CN" altLang="en-US" dirty="0"/>
              <a:t>同单个列上的列级约束相比，表级约束可以设置不同列之间的取值的相互约束条件 </a:t>
            </a:r>
          </a:p>
          <a:p>
            <a:pPr lvl="2">
              <a:lnSpc>
                <a:spcPct val="100000"/>
              </a:lnSpc>
              <a:spcBef>
                <a:spcPct val="0"/>
              </a:spcBef>
            </a:pPr>
            <a:endParaRPr lang="zh-CN" altLang="en-US" dirty="0"/>
          </a:p>
          <a:p>
            <a:pPr>
              <a:lnSpc>
                <a:spcPct val="100000"/>
              </a:lnSpc>
              <a:spcBef>
                <a:spcPct val="0"/>
              </a:spcBef>
            </a:pPr>
            <a:r>
              <a:rPr lang="zh-CN" altLang="en-US" dirty="0"/>
              <a:t>关系数据库管理系统提供了定义和检验用户定义完整性的机制，不必由应用程序承担</a:t>
            </a:r>
            <a:endParaRPr lang="en-US" altLang="zh-CN" dirty="0"/>
          </a:p>
          <a:p>
            <a:pPr lvl="1" eaLnBrk="1" hangingPunct="1">
              <a:lnSpc>
                <a:spcPct val="100000"/>
              </a:lnSpc>
              <a:spcBef>
                <a:spcPct val="0"/>
              </a:spcBef>
              <a:buSzPct val="85000"/>
            </a:pPr>
            <a:r>
              <a:rPr lang="zh-CN" altLang="en-US" dirty="0"/>
              <a:t>插入元组或修改列的值时，关系数据库管理系统检查约束条件是否被满足</a:t>
            </a:r>
          </a:p>
          <a:p>
            <a:pPr lvl="1" eaLnBrk="1" hangingPunct="1">
              <a:lnSpc>
                <a:spcPct val="100000"/>
              </a:lnSpc>
              <a:spcBef>
                <a:spcPct val="0"/>
              </a:spcBef>
              <a:buSzPct val="85000"/>
            </a:pPr>
            <a:r>
              <a:rPr lang="zh-CN" altLang="en-US" dirty="0"/>
              <a:t>如果不满足则操作被拒绝执行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36</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6">
                                            <p:txEl>
                                              <p:pRg st="5" end="5"/>
                                            </p:txEl>
                                          </p:spTgt>
                                        </p:tgtEl>
                                        <p:attrNameLst>
                                          <p:attrName>style.visibility</p:attrName>
                                        </p:attrNameLst>
                                      </p:cBhvr>
                                      <p:to>
                                        <p:strVal val="visible"/>
                                      </p:to>
                                    </p:set>
                                    <p:anim calcmode="lin" valueType="num">
                                      <p:cBhvr additive="base">
                                        <p:cTn id="7" dur="500" fill="hold"/>
                                        <p:tgtEl>
                                          <p:spTgt spid="33796">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6">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796">
                                            <p:txEl>
                                              <p:pRg st="6" end="6"/>
                                            </p:txEl>
                                          </p:spTgt>
                                        </p:tgtEl>
                                        <p:attrNameLst>
                                          <p:attrName>style.visibility</p:attrName>
                                        </p:attrNameLst>
                                      </p:cBhvr>
                                      <p:to>
                                        <p:strVal val="visible"/>
                                      </p:to>
                                    </p:set>
                                    <p:anim calcmode="lin" valueType="num">
                                      <p:cBhvr additive="base">
                                        <p:cTn id="11" dur="500" fill="hold"/>
                                        <p:tgtEl>
                                          <p:spTgt spid="33796">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796">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796">
                                            <p:txEl>
                                              <p:pRg st="7" end="7"/>
                                            </p:txEl>
                                          </p:spTgt>
                                        </p:tgtEl>
                                        <p:attrNameLst>
                                          <p:attrName>style.visibility</p:attrName>
                                        </p:attrNameLst>
                                      </p:cBhvr>
                                      <p:to>
                                        <p:strVal val="visible"/>
                                      </p:to>
                                    </p:set>
                                    <p:anim calcmode="lin" valueType="num">
                                      <p:cBhvr additive="base">
                                        <p:cTn id="15" dur="500" fill="hold"/>
                                        <p:tgtEl>
                                          <p:spTgt spid="33796">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79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5.3  </a:t>
            </a:r>
            <a:r>
              <a:rPr lang="zh-CN" altLang="en-US" dirty="0">
                <a:sym typeface="+mn-ea"/>
              </a:rPr>
              <a:t>用户定义的完整性</a:t>
            </a:r>
            <a:endParaRPr lang="zh-CN" altLang="en-US"/>
          </a:p>
        </p:txBody>
      </p:sp>
      <p:sp>
        <p:nvSpPr>
          <p:cNvPr id="3" name="内容占位符 2"/>
          <p:cNvSpPr>
            <a:spLocks noGrp="1"/>
          </p:cNvSpPr>
          <p:nvPr>
            <p:ph idx="1"/>
          </p:nvPr>
        </p:nvSpPr>
        <p:spPr/>
        <p:txBody>
          <a:bodyPr/>
          <a:lstStyle/>
          <a:p>
            <a:r>
              <a:rPr lang="zh-CN" altLang="en-US">
                <a:latin typeface="Arial" panose="020B0604020202020204" pitchFamily="34" charset="0"/>
                <a:cs typeface="Arial" panose="020B0604020202020204" pitchFamily="34" charset="0"/>
              </a:rPr>
              <a:t>在执行</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CREATE TABLE</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命令时，给出用户定义的完整性的定义</a:t>
            </a:r>
          </a:p>
          <a:p>
            <a:pPr>
              <a:lnSpc>
                <a:spcPct val="110000"/>
              </a:lnSpc>
              <a:spcBef>
                <a:spcPts val="3000"/>
              </a:spcBef>
            </a:pPr>
            <a:r>
              <a:rPr lang="zh-CN" altLang="en-US">
                <a:latin typeface="Arial" panose="020B0604020202020204" pitchFamily="34" charset="0"/>
                <a:cs typeface="Arial" panose="020B0604020202020204" pitchFamily="34" charset="0"/>
              </a:rPr>
              <a:t>列上的约束条件</a:t>
            </a:r>
          </a:p>
          <a:p>
            <a:pPr lvl="1"/>
            <a:r>
              <a:rPr lang="zh-CN" altLang="en-US">
                <a:latin typeface="Arial" panose="020B0604020202020204" pitchFamily="34" charset="0"/>
                <a:cs typeface="Arial" panose="020B0604020202020204" pitchFamily="34" charset="0"/>
              </a:rPr>
              <a:t>列值非空：</a:t>
            </a:r>
            <a:r>
              <a:rPr lang="zh-CN" altLang="en-US">
                <a:solidFill>
                  <a:srgbClr val="FF0000"/>
                </a:solidFill>
                <a:latin typeface="Arial" panose="020B0604020202020204" pitchFamily="34" charset="0"/>
                <a:cs typeface="Arial" panose="020B0604020202020204" pitchFamily="34" charset="0"/>
              </a:rPr>
              <a:t>NOT NULL</a:t>
            </a:r>
          </a:p>
          <a:p>
            <a:pPr lvl="1"/>
            <a:r>
              <a:rPr lang="zh-CN" altLang="en-US">
                <a:latin typeface="Arial" panose="020B0604020202020204" pitchFamily="34" charset="0"/>
                <a:cs typeface="Arial" panose="020B0604020202020204" pitchFamily="34" charset="0"/>
              </a:rPr>
              <a:t>列值唯一：</a:t>
            </a:r>
            <a:r>
              <a:rPr lang="zh-CN" altLang="en-US">
                <a:solidFill>
                  <a:srgbClr val="FF0000"/>
                </a:solidFill>
                <a:latin typeface="Arial" panose="020B0604020202020204" pitchFamily="34" charset="0"/>
                <a:cs typeface="Arial" panose="020B0604020202020204" pitchFamily="34" charset="0"/>
              </a:rPr>
              <a:t>UNIQUE</a:t>
            </a:r>
          </a:p>
          <a:p>
            <a:pPr lvl="1"/>
            <a:r>
              <a:rPr lang="zh-CN" altLang="en-US">
                <a:latin typeface="Arial" panose="020B0604020202020204" pitchFamily="34" charset="0"/>
                <a:cs typeface="Arial" panose="020B0604020202020204" pitchFamily="34" charset="0"/>
              </a:rPr>
              <a:t>定义列值应该满足的条件：</a:t>
            </a:r>
            <a:r>
              <a:rPr lang="zh-CN" altLang="en-US">
                <a:solidFill>
                  <a:srgbClr val="FF0000"/>
                </a:solidFill>
                <a:latin typeface="Arial" panose="020B0604020202020204" pitchFamily="34" charset="0"/>
                <a:cs typeface="Arial" panose="020B0604020202020204" pitchFamily="34" charset="0"/>
              </a:rPr>
              <a:t>CHECK</a:t>
            </a:r>
            <a:r>
              <a:rPr lang="en-US" altLang="zh-CN">
                <a:solidFill>
                  <a:srgbClr val="FF0000"/>
                </a:solidFill>
                <a:latin typeface="Arial" panose="020B0604020202020204" pitchFamily="34" charset="0"/>
                <a:cs typeface="Arial" panose="020B0604020202020204" pitchFamily="34" charset="0"/>
              </a:rPr>
              <a:t> &lt;</a:t>
            </a:r>
            <a:r>
              <a:rPr lang="zh-CN" altLang="en-US">
                <a:solidFill>
                  <a:srgbClr val="FF0000"/>
                </a:solidFill>
                <a:latin typeface="Arial" panose="020B0604020202020204" pitchFamily="34" charset="0"/>
                <a:cs typeface="Arial" panose="020B0604020202020204" pitchFamily="34" charset="0"/>
              </a:rPr>
              <a:t>条件表达式</a:t>
            </a:r>
            <a:r>
              <a:rPr lang="en-US" altLang="zh-CN">
                <a:solidFill>
                  <a:srgbClr val="FF0000"/>
                </a:solidFill>
                <a:latin typeface="Arial" panose="020B0604020202020204" pitchFamily="34" charset="0"/>
                <a:cs typeface="Arial" panose="020B0604020202020204" pitchFamily="34" charset="0"/>
              </a:rPr>
              <a:t>&gt;</a:t>
            </a:r>
            <a:endParaRPr lang="en-US" altLang="zh-CN">
              <a:latin typeface="Arial" panose="020B0604020202020204" pitchFamily="34" charset="0"/>
              <a:cs typeface="Arial" panose="020B0604020202020204" pitchFamily="34" charset="0"/>
            </a:endParaRPr>
          </a:p>
          <a:p>
            <a:pPr lvl="2"/>
            <a:r>
              <a:rPr lang="en-US" altLang="zh-CN">
                <a:latin typeface="Arial" panose="020B0604020202020204" pitchFamily="34" charset="0"/>
                <a:cs typeface="Arial" panose="020B0604020202020204" pitchFamily="34" charset="0"/>
                <a:sym typeface="+mn-ea"/>
              </a:rPr>
              <a:t>&lt;</a:t>
            </a:r>
            <a:r>
              <a:rPr lang="zh-CN" altLang="en-US">
                <a:latin typeface="Arial" panose="020B0604020202020204" pitchFamily="34" charset="0"/>
                <a:cs typeface="Arial" panose="020B0604020202020204" pitchFamily="34" charset="0"/>
                <a:sym typeface="+mn-ea"/>
              </a:rPr>
              <a:t>条件表达式</a:t>
            </a:r>
            <a:r>
              <a:rPr lang="en-US" altLang="zh-CN">
                <a:latin typeface="Arial" panose="020B0604020202020204" pitchFamily="34" charset="0"/>
                <a:cs typeface="Arial" panose="020B0604020202020204" pitchFamily="34" charset="0"/>
                <a:sym typeface="+mn-ea"/>
              </a:rPr>
              <a:t>&gt;</a:t>
            </a:r>
            <a:r>
              <a:rPr lang="zh-CN" altLang="en-US">
                <a:latin typeface="Arial" panose="020B0604020202020204" pitchFamily="34" charset="0"/>
                <a:cs typeface="Arial" panose="020B0604020202020204" pitchFamily="34" charset="0"/>
              </a:rPr>
              <a:t>仅涉及到当前的单个列</a:t>
            </a:r>
          </a:p>
          <a:p>
            <a:pPr>
              <a:lnSpc>
                <a:spcPct val="110000"/>
              </a:lnSpc>
              <a:spcBef>
                <a:spcPts val="3000"/>
              </a:spcBef>
            </a:pPr>
            <a:r>
              <a:rPr lang="zh-CN" altLang="en-US">
                <a:latin typeface="Arial" panose="020B0604020202020204" pitchFamily="34" charset="0"/>
                <a:cs typeface="Arial" panose="020B0604020202020204" pitchFamily="34" charset="0"/>
              </a:rPr>
              <a:t>元组上的约束条件</a:t>
            </a:r>
          </a:p>
          <a:p>
            <a:pPr lvl="1"/>
            <a:r>
              <a:rPr lang="zh-CN" altLang="en-US">
                <a:latin typeface="Arial" panose="020B0604020202020204" pitchFamily="34" charset="0"/>
                <a:cs typeface="Arial" panose="020B0604020202020204" pitchFamily="34" charset="0"/>
                <a:sym typeface="+mn-ea"/>
              </a:rPr>
              <a:t>列值唯一：</a:t>
            </a:r>
            <a:r>
              <a:rPr lang="zh-CN" altLang="en-US">
                <a:solidFill>
                  <a:srgbClr val="FF0000"/>
                </a:solidFill>
                <a:latin typeface="Arial" panose="020B0604020202020204" pitchFamily="34" charset="0"/>
                <a:cs typeface="Arial" panose="020B0604020202020204" pitchFamily="34" charset="0"/>
                <a:sym typeface="+mn-ea"/>
              </a:rPr>
              <a:t>UNIQUE</a:t>
            </a:r>
            <a:r>
              <a:rPr lang="en-US" altLang="zh-CN">
                <a:solidFill>
                  <a:srgbClr val="FF0000"/>
                </a:solidFill>
                <a:latin typeface="Arial" panose="020B0604020202020204" pitchFamily="34" charset="0"/>
                <a:cs typeface="Arial" panose="020B0604020202020204" pitchFamily="34" charset="0"/>
                <a:sym typeface="+mn-ea"/>
              </a:rPr>
              <a:t>(&lt;</a:t>
            </a:r>
            <a:r>
              <a:rPr lang="zh-CN" altLang="en-US">
                <a:solidFill>
                  <a:srgbClr val="FF0000"/>
                </a:solidFill>
                <a:latin typeface="Arial" panose="020B0604020202020204" pitchFamily="34" charset="0"/>
                <a:cs typeface="Arial" panose="020B0604020202020204" pitchFamily="34" charset="0"/>
                <a:sym typeface="+mn-ea"/>
              </a:rPr>
              <a:t>列名</a:t>
            </a:r>
            <a:r>
              <a:rPr lang="en-US" altLang="zh-CN">
                <a:solidFill>
                  <a:srgbClr val="FF0000"/>
                </a:solidFill>
                <a:latin typeface="Arial" panose="020B0604020202020204" pitchFamily="34" charset="0"/>
                <a:cs typeface="Arial" panose="020B0604020202020204" pitchFamily="34" charset="0"/>
                <a:sym typeface="+mn-ea"/>
              </a:rPr>
              <a:t>&gt; [, &lt;</a:t>
            </a:r>
            <a:r>
              <a:rPr lang="zh-CN" altLang="en-US">
                <a:solidFill>
                  <a:srgbClr val="FF0000"/>
                </a:solidFill>
                <a:latin typeface="Arial" panose="020B0604020202020204" pitchFamily="34" charset="0"/>
                <a:cs typeface="Arial" panose="020B0604020202020204" pitchFamily="34" charset="0"/>
                <a:sym typeface="+mn-ea"/>
              </a:rPr>
              <a:t>列名</a:t>
            </a:r>
            <a:r>
              <a:rPr lang="en-US" altLang="zh-CN">
                <a:solidFill>
                  <a:srgbClr val="FF0000"/>
                </a:solidFill>
                <a:latin typeface="Arial" panose="020B0604020202020204" pitchFamily="34" charset="0"/>
                <a:cs typeface="Arial" panose="020B0604020202020204" pitchFamily="34" charset="0"/>
                <a:sym typeface="+mn-ea"/>
              </a:rPr>
              <a:t>&gt;]...)</a:t>
            </a:r>
            <a:endParaRPr lang="zh-CN" altLang="en-US">
              <a:solidFill>
                <a:srgbClr val="FF0000"/>
              </a:solidFill>
              <a:latin typeface="Arial" panose="020B0604020202020204" pitchFamily="34" charset="0"/>
              <a:cs typeface="Arial" panose="020B0604020202020204" pitchFamily="34" charset="0"/>
            </a:endParaRPr>
          </a:p>
          <a:p>
            <a:pPr lvl="1"/>
            <a:r>
              <a:rPr lang="zh-CN" altLang="en-US">
                <a:latin typeface="Arial" panose="020B0604020202020204" pitchFamily="34" charset="0"/>
                <a:cs typeface="Arial" panose="020B0604020202020204" pitchFamily="34" charset="0"/>
                <a:sym typeface="+mn-ea"/>
              </a:rPr>
              <a:t>定义列值应该满足的条件：</a:t>
            </a:r>
            <a:r>
              <a:rPr lang="zh-CN" altLang="en-US">
                <a:solidFill>
                  <a:srgbClr val="FF0000"/>
                </a:solidFill>
                <a:latin typeface="Arial" panose="020B0604020202020204" pitchFamily="34" charset="0"/>
                <a:cs typeface="Arial" panose="020B0604020202020204" pitchFamily="34" charset="0"/>
                <a:sym typeface="+mn-ea"/>
              </a:rPr>
              <a:t>CHECK</a:t>
            </a:r>
            <a:r>
              <a:rPr lang="en-US" altLang="zh-CN">
                <a:solidFill>
                  <a:srgbClr val="FF0000"/>
                </a:solidFill>
                <a:latin typeface="Arial" panose="020B0604020202020204" pitchFamily="34" charset="0"/>
                <a:cs typeface="Arial" panose="020B0604020202020204" pitchFamily="34" charset="0"/>
                <a:sym typeface="+mn-ea"/>
              </a:rPr>
              <a:t> &lt;</a:t>
            </a:r>
            <a:r>
              <a:rPr lang="zh-CN" altLang="en-US">
                <a:solidFill>
                  <a:srgbClr val="FF0000"/>
                </a:solidFill>
                <a:latin typeface="Arial" panose="020B0604020202020204" pitchFamily="34" charset="0"/>
                <a:cs typeface="Arial" panose="020B0604020202020204" pitchFamily="34" charset="0"/>
                <a:sym typeface="+mn-ea"/>
              </a:rPr>
              <a:t>条件表达式</a:t>
            </a:r>
            <a:r>
              <a:rPr lang="en-US" altLang="zh-CN">
                <a:solidFill>
                  <a:srgbClr val="FF0000"/>
                </a:solidFill>
                <a:latin typeface="Arial" panose="020B0604020202020204" pitchFamily="34" charset="0"/>
                <a:cs typeface="Arial" panose="020B0604020202020204" pitchFamily="34" charset="0"/>
                <a:sym typeface="+mn-ea"/>
              </a:rPr>
              <a:t>&gt;</a:t>
            </a:r>
          </a:p>
          <a:p>
            <a:pPr lvl="2"/>
            <a:r>
              <a:rPr lang="en-US" altLang="zh-CN">
                <a:latin typeface="Arial" panose="020B0604020202020204" pitchFamily="34" charset="0"/>
                <a:cs typeface="Arial" panose="020B0604020202020204" pitchFamily="34" charset="0"/>
                <a:sym typeface="+mn-ea"/>
              </a:rPr>
              <a:t>&lt;</a:t>
            </a:r>
            <a:r>
              <a:rPr lang="zh-CN" altLang="en-US">
                <a:latin typeface="Arial" panose="020B0604020202020204" pitchFamily="34" charset="0"/>
                <a:cs typeface="Arial" panose="020B0604020202020204" pitchFamily="34" charset="0"/>
                <a:sym typeface="+mn-ea"/>
              </a:rPr>
              <a:t>条件表达式</a:t>
            </a:r>
            <a:r>
              <a:rPr lang="en-US" altLang="zh-CN">
                <a:latin typeface="Arial" panose="020B0604020202020204" pitchFamily="34" charset="0"/>
                <a:cs typeface="Arial" panose="020B0604020202020204" pitchFamily="34" charset="0"/>
                <a:sym typeface="+mn-ea"/>
              </a:rPr>
              <a:t>&gt;</a:t>
            </a:r>
            <a:r>
              <a:rPr lang="zh-CN" altLang="en-US">
                <a:latin typeface="Arial" panose="020B0604020202020204" pitchFamily="34" charset="0"/>
                <a:cs typeface="Arial" panose="020B0604020202020204" pitchFamily="34" charset="0"/>
                <a:sym typeface="+mn-ea"/>
              </a:rPr>
              <a:t>可能涉及单个或多个列</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37</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6867" name="Rectangle 2"/>
          <p:cNvSpPr>
            <a:spLocks noGrp="1" noChangeArrowheads="1"/>
          </p:cNvSpPr>
          <p:nvPr>
            <p:ph type="title"/>
          </p:nvPr>
        </p:nvSpPr>
        <p:spPr/>
        <p:txBody>
          <a:bodyPr>
            <a:normAutofit fontScale="90000"/>
          </a:bodyPr>
          <a:lstStyle/>
          <a:p>
            <a:r>
              <a:rPr lang="zh-CN" altLang="en-US" dirty="0"/>
              <a:t>列上约束条件的定义</a:t>
            </a:r>
            <a:r>
              <a:rPr lang="en-US" altLang="zh-CN" dirty="0"/>
              <a:t> - </a:t>
            </a:r>
            <a:r>
              <a:rPr lang="zh-CN" altLang="en-US" dirty="0"/>
              <a:t>列值非空</a:t>
            </a:r>
            <a:endParaRPr lang="en-US" altLang="zh-CN" dirty="0"/>
          </a:p>
        </p:txBody>
      </p:sp>
      <p:sp>
        <p:nvSpPr>
          <p:cNvPr id="36868" name="Rectangle 3"/>
          <p:cNvSpPr>
            <a:spLocks noGrp="1" noChangeArrowheads="1"/>
          </p:cNvSpPr>
          <p:nvPr>
            <p:ph idx="1"/>
          </p:nvPr>
        </p:nvSpPr>
        <p:spPr/>
        <p:txBody>
          <a:bodyPr>
            <a:noAutofit/>
          </a:bodyPr>
          <a:lstStyle/>
          <a:p>
            <a:pPr>
              <a:lnSpc>
                <a:spcPct val="110000"/>
              </a:lnSpc>
              <a:spcBef>
                <a:spcPts val="100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5]</a:t>
            </a:r>
            <a:r>
              <a:rPr lang="zh-CN" altLang="en-US" sz="2800" dirty="0">
                <a:latin typeface="Calibri" panose="020F0502020204030204" charset="0"/>
                <a:cs typeface="Calibri" panose="020F0502020204030204" charset="0"/>
              </a:rPr>
              <a:t>  在定义</a:t>
            </a:r>
            <a:r>
              <a:rPr lang="en-US" altLang="zh-CN" sz="2800" dirty="0">
                <a:latin typeface="Calibri" panose="020F0502020204030204" charset="0"/>
                <a:cs typeface="Calibri" panose="020F0502020204030204" charset="0"/>
              </a:rPr>
              <a:t>SC</a:t>
            </a:r>
            <a:r>
              <a:rPr lang="zh-CN" altLang="en-US" sz="2800" dirty="0">
                <a:latin typeface="Calibri" panose="020F0502020204030204" charset="0"/>
                <a:cs typeface="Calibri" panose="020F0502020204030204" charset="0"/>
              </a:rPr>
              <a:t>表时，说明</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Grade</a:t>
            </a:r>
            <a:r>
              <a:rPr lang="zh-CN" altLang="en-US" sz="2800" dirty="0">
                <a:latin typeface="Calibri" panose="020F0502020204030204" charset="0"/>
                <a:cs typeface="Calibri" panose="020F0502020204030204" charset="0"/>
              </a:rPr>
              <a:t>列不允许取空值。</a:t>
            </a:r>
          </a:p>
          <a:p>
            <a:pPr marL="457200" lvl="1" indent="0">
              <a:lnSpc>
                <a:spcPct val="100000"/>
              </a:lnSpc>
              <a:spcBef>
                <a:spcPts val="600"/>
              </a:spcBef>
              <a:buNone/>
            </a:pPr>
            <a:r>
              <a:rPr lang="en-US" altLang="zh-CN" sz="2800" dirty="0">
                <a:latin typeface="Calibri" panose="020F0502020204030204" charset="0"/>
                <a:cs typeface="Calibri" panose="020F0502020204030204" charset="0"/>
              </a:rPr>
              <a:t>CREATE TABLE SC </a:t>
            </a:r>
            <a:r>
              <a:rPr lang="zh-CN" altLang="en-US" sz="2800" dirty="0">
                <a:latin typeface="Calibri" panose="020F0502020204030204" charset="0"/>
                <a:cs typeface="Calibri" panose="020F0502020204030204" charset="0"/>
              </a:rPr>
              <a:t>(</a:t>
            </a:r>
          </a:p>
          <a:p>
            <a:pPr marL="914400" lvl="2" indent="0">
              <a:lnSpc>
                <a:spcPct val="100000"/>
              </a:lnSpc>
              <a:spcBef>
                <a:spcPts val="600"/>
              </a:spcBef>
              <a:buNone/>
            </a:pPr>
            <a:r>
              <a:rPr lang="en-US" altLang="zh-CN" sz="2800" dirty="0" err="1">
                <a:latin typeface="Calibri" panose="020F0502020204030204" charset="0"/>
                <a:cs typeface="Calibri" panose="020F0502020204030204" charset="0"/>
              </a:rPr>
              <a:t>Sno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NOT NULL</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914400" lvl="2" indent="0">
              <a:lnSpc>
                <a:spcPct val="100000"/>
              </a:lnSpc>
              <a:spcBef>
                <a:spcPts val="600"/>
              </a:spcBef>
              <a:buNone/>
            </a:pPr>
            <a:r>
              <a:rPr lang="en-US" altLang="zh-CN" sz="2800" dirty="0" err="1">
                <a:latin typeface="Calibri" panose="020F0502020204030204" charset="0"/>
                <a:cs typeface="Calibri" panose="020F0502020204030204" charset="0"/>
              </a:rPr>
              <a:t>Cno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4</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NOT NULL</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914400" lvl="2" indent="0">
              <a:lnSpc>
                <a:spcPct val="100000"/>
              </a:lnSpc>
              <a:spcBef>
                <a:spcPts val="600"/>
              </a:spcBef>
              <a:buNone/>
            </a:pPr>
            <a:r>
              <a:rPr lang="en-US" altLang="zh-CN" sz="2800" dirty="0">
                <a:latin typeface="Calibri" panose="020F0502020204030204" charset="0"/>
                <a:cs typeface="Calibri" panose="020F0502020204030204" charset="0"/>
              </a:rPr>
              <a:t>Grade  SMALLINT </a:t>
            </a:r>
            <a:r>
              <a:rPr lang="en-US" altLang="zh-CN" sz="2800" dirty="0">
                <a:solidFill>
                  <a:srgbClr val="FF0000"/>
                </a:solidFill>
                <a:latin typeface="Calibri" panose="020F0502020204030204" charset="0"/>
                <a:cs typeface="Calibri" panose="020F0502020204030204" charset="0"/>
              </a:rPr>
              <a:t>NOT NULL</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914400" lvl="2" indent="0">
              <a:lnSpc>
                <a:spcPct val="100000"/>
              </a:lnSpc>
              <a:spcBef>
                <a:spcPts val="600"/>
              </a:spcBef>
              <a:buNone/>
            </a:pPr>
            <a:r>
              <a:rPr lang="en-US" altLang="zh-CN" sz="2800" dirty="0">
                <a:latin typeface="Calibri" panose="020F0502020204030204" charset="0"/>
                <a:cs typeface="Calibri" panose="020F0502020204030204" charset="0"/>
              </a:rPr>
              <a:t>PRIMARY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 </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914400" lvl="2" indent="0">
              <a:lnSpc>
                <a:spcPct val="100000"/>
              </a:lnSpc>
              <a:spcBef>
                <a:spcPts val="600"/>
              </a:spcBef>
              <a:buNone/>
            </a:pPr>
            <a:r>
              <a:rPr lang="en-US" altLang="zh-CN" sz="2800" dirty="0">
                <a:latin typeface="Calibri" panose="020F0502020204030204" charset="0"/>
                <a:cs typeface="Calibri" panose="020F0502020204030204" charset="0"/>
              </a:rPr>
              <a:t>… </a:t>
            </a:r>
          </a:p>
          <a:p>
            <a:pPr marL="914400" lvl="2" indent="0">
              <a:lnSpc>
                <a:spcPct val="100000"/>
              </a:lnSpc>
              <a:spcBef>
                <a:spcPts val="600"/>
              </a:spcBef>
              <a:buNone/>
            </a:pP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在表级定义了实体完整性，</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和</a:t>
            </a:r>
            <a:r>
              <a:rPr lang="en-US" altLang="zh-CN" sz="2800" dirty="0" err="1">
                <a:latin typeface="Calibri" panose="020F0502020204030204" charset="0"/>
                <a:cs typeface="Calibri" panose="020F0502020204030204" charset="0"/>
              </a:rPr>
              <a:t>Cno</a:t>
            </a:r>
            <a:r>
              <a:rPr lang="zh-CN" altLang="en-US" sz="2800" dirty="0" err="1">
                <a:latin typeface="Calibri" panose="020F0502020204030204" charset="0"/>
                <a:cs typeface="Calibri" panose="020F0502020204030204" charset="0"/>
              </a:rPr>
              <a:t>作为主码的组成成分，</a:t>
            </a:r>
          </a:p>
          <a:p>
            <a:pPr marL="914400" lvl="2" indent="268605">
              <a:lnSpc>
                <a:spcPct val="100000"/>
              </a:lnSpc>
              <a:spcBef>
                <a:spcPts val="600"/>
              </a:spcBef>
              <a:buNone/>
            </a:pPr>
            <a:r>
              <a:rPr lang="zh-CN" altLang="en-US" sz="2800" dirty="0" err="1">
                <a:latin typeface="Calibri" panose="020F0502020204030204" charset="0"/>
                <a:cs typeface="Calibri" panose="020F0502020204030204" charset="0"/>
              </a:rPr>
              <a:t>自动隐含着</a:t>
            </a:r>
            <a:r>
              <a:rPr lang="zh-CN" altLang="en-US" sz="2800" dirty="0">
                <a:latin typeface="Calibri" panose="020F0502020204030204" charset="0"/>
                <a:cs typeface="Calibri" panose="020F0502020204030204" charset="0"/>
              </a:rPr>
              <a:t>不允许取空值的约束，因此，这两个列上的列级</a:t>
            </a:r>
          </a:p>
          <a:p>
            <a:pPr marL="914400" lvl="2" indent="268605">
              <a:lnSpc>
                <a:spcPct val="100000"/>
              </a:lnSpc>
              <a:spcBef>
                <a:spcPts val="600"/>
              </a:spcBef>
              <a:buNone/>
            </a:pPr>
            <a:r>
              <a:rPr lang="en-US" altLang="zh-CN" sz="2800" dirty="0">
                <a:latin typeface="Calibri" panose="020F0502020204030204" charset="0"/>
                <a:cs typeface="Calibri" panose="020F0502020204030204" charset="0"/>
              </a:rPr>
              <a:t>NOT NULL</a:t>
            </a:r>
            <a:r>
              <a:rPr lang="zh-CN" altLang="en-US" sz="2800" dirty="0">
                <a:latin typeface="Calibri" panose="020F0502020204030204" charset="0"/>
                <a:cs typeface="Calibri" panose="020F0502020204030204" charset="0"/>
              </a:rPr>
              <a:t>约束可以不写 * </a:t>
            </a:r>
            <a:r>
              <a:rPr lang="en-US" altLang="zh-CN" sz="2800" dirty="0">
                <a:latin typeface="Calibri" panose="020F0502020204030204" charset="0"/>
                <a:cs typeface="Calibri" panose="020F0502020204030204" charset="0"/>
              </a:rPr>
              <a:t>/</a:t>
            </a:r>
          </a:p>
          <a:p>
            <a:pPr marL="457200" lvl="1" indent="0">
              <a:lnSpc>
                <a:spcPct val="100000"/>
              </a:lnSpc>
              <a:spcBef>
                <a:spcPts val="600"/>
              </a:spcBef>
              <a:buNone/>
            </a:pPr>
            <a:r>
              <a:rPr lang="zh-CN" altLang="en-US" sz="2800" dirty="0">
                <a:latin typeface="Calibri" panose="020F0502020204030204" charset="0"/>
                <a:cs typeface="Calibri" panose="020F0502020204030204" charset="0"/>
              </a:rPr>
              <a:t>);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38</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7891" name="Rectangle 2"/>
          <p:cNvSpPr>
            <a:spLocks noGrp="1" noChangeArrowheads="1"/>
          </p:cNvSpPr>
          <p:nvPr>
            <p:ph type="title"/>
          </p:nvPr>
        </p:nvSpPr>
        <p:spPr/>
        <p:txBody>
          <a:bodyPr>
            <a:normAutofit fontScale="90000"/>
          </a:bodyPr>
          <a:lstStyle/>
          <a:p>
            <a:r>
              <a:rPr lang="zh-CN" altLang="en-US" dirty="0"/>
              <a:t>列上约束条件的定义</a:t>
            </a:r>
            <a:r>
              <a:rPr lang="en-US" altLang="zh-CN" dirty="0"/>
              <a:t> - </a:t>
            </a:r>
            <a:r>
              <a:rPr lang="zh-CN" altLang="en-US" dirty="0"/>
              <a:t>列值唯一</a:t>
            </a:r>
            <a:endParaRPr lang="en-US" altLang="zh-CN" dirty="0"/>
          </a:p>
        </p:txBody>
      </p:sp>
      <p:sp>
        <p:nvSpPr>
          <p:cNvPr id="37892" name="Rectangle 3"/>
          <p:cNvSpPr>
            <a:spLocks noGrp="1" noChangeArrowheads="1"/>
          </p:cNvSpPr>
          <p:nvPr>
            <p:ph idx="1"/>
          </p:nvPr>
        </p:nvSpPr>
        <p:spPr/>
        <p:txBody>
          <a:bodyPr>
            <a:noAutofit/>
          </a:bodyPr>
          <a:lstStyle/>
          <a:p>
            <a:pPr>
              <a:lnSpc>
                <a:spcPct val="110000"/>
              </a:lnSpc>
              <a:spcBef>
                <a:spcPts val="100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6] </a:t>
            </a:r>
            <a:r>
              <a:rPr lang="zh-CN" altLang="en-US" sz="2800" dirty="0">
                <a:latin typeface="Calibri" panose="020F0502020204030204" charset="0"/>
                <a:cs typeface="Calibri" panose="020F0502020204030204" charset="0"/>
              </a:rPr>
              <a:t>建立部门表</a:t>
            </a:r>
            <a:r>
              <a:rPr lang="en-US" altLang="zh-CN" sz="2800" dirty="0">
                <a:latin typeface="Calibri" panose="020F0502020204030204" charset="0"/>
                <a:cs typeface="Calibri" panose="020F0502020204030204" charset="0"/>
              </a:rPr>
              <a:t>DEPT</a:t>
            </a:r>
            <a:r>
              <a:rPr lang="zh-CN" altLang="en-US" sz="2800" dirty="0">
                <a:latin typeface="Calibri" panose="020F0502020204030204" charset="0"/>
                <a:cs typeface="Calibri" panose="020F0502020204030204" charset="0"/>
              </a:rPr>
              <a:t>，要求部门名称</a:t>
            </a:r>
            <a:r>
              <a:rPr lang="en-US" altLang="zh-CN" sz="2800" dirty="0" err="1">
                <a:latin typeface="Calibri" panose="020F0502020204030204" charset="0"/>
                <a:cs typeface="Calibri" panose="020F0502020204030204" charset="0"/>
              </a:rPr>
              <a:t>Dname列取值唯一</a:t>
            </a:r>
            <a:r>
              <a:rPr lang="en-US" altLang="zh-CN" sz="2800" dirty="0" err="1">
                <a:solidFill>
                  <a:srgbClr val="C00000"/>
                </a:solidFill>
                <a:latin typeface="Calibri" panose="020F0502020204030204" charset="0"/>
                <a:cs typeface="Calibri" panose="020F0502020204030204" charset="0"/>
              </a:rPr>
              <a:t>且不能取空值</a:t>
            </a:r>
            <a:r>
              <a:rPr lang="zh-CN" altLang="en-US" sz="2800" dirty="0">
                <a:latin typeface="Calibri" panose="020F0502020204030204" charset="0"/>
                <a:cs typeface="Calibri" panose="020F0502020204030204" charset="0"/>
              </a:rPr>
              <a:t>，部门编号</a:t>
            </a:r>
            <a:r>
              <a:rPr lang="en-US" altLang="zh-CN" sz="2800" dirty="0" err="1">
                <a:latin typeface="Calibri" panose="020F0502020204030204" charset="0"/>
                <a:cs typeface="Calibri" panose="020F0502020204030204" charset="0"/>
              </a:rPr>
              <a:t>Deptno</a:t>
            </a:r>
            <a:r>
              <a:rPr lang="zh-CN" altLang="en-US" sz="2800" dirty="0">
                <a:latin typeface="Calibri" panose="020F0502020204030204" charset="0"/>
                <a:cs typeface="Calibri" panose="020F0502020204030204" charset="0"/>
              </a:rPr>
              <a:t>列为主码。</a:t>
            </a:r>
          </a:p>
          <a:p>
            <a:pPr marL="457200" lvl="1" indent="0">
              <a:lnSpc>
                <a:spcPct val="110000"/>
              </a:lnSpc>
              <a:spcBef>
                <a:spcPts val="3000"/>
              </a:spcBef>
              <a:buNone/>
            </a:pPr>
            <a:r>
              <a:rPr lang="en-US" altLang="zh-CN" sz="2800" dirty="0">
                <a:latin typeface="Calibri" panose="020F0502020204030204" charset="0"/>
                <a:cs typeface="Calibri" panose="020F0502020204030204" charset="0"/>
              </a:rPr>
              <a:t>CREATE TABLE DEPT </a:t>
            </a:r>
            <a:r>
              <a:rPr lang="zh-CN" altLang="en-US" sz="2800" dirty="0">
                <a:latin typeface="Calibri" panose="020F0502020204030204" charset="0"/>
                <a:cs typeface="Calibri" panose="020F0502020204030204" charset="0"/>
              </a:rPr>
              <a:t>(</a:t>
            </a:r>
          </a:p>
          <a:p>
            <a:pPr marL="914400" lvl="2" indent="0">
              <a:lnSpc>
                <a:spcPct val="110000"/>
              </a:lnSpc>
              <a:spcBef>
                <a:spcPts val="1000"/>
              </a:spcBef>
              <a:buNone/>
            </a:pPr>
            <a:r>
              <a:rPr lang="en-US" altLang="zh-CN" sz="2800" dirty="0" err="1">
                <a:latin typeface="Calibri" panose="020F0502020204030204" charset="0"/>
                <a:cs typeface="Calibri" panose="020F0502020204030204" charset="0"/>
              </a:rPr>
              <a:t>Deptno</a:t>
            </a:r>
            <a:r>
              <a:rPr lang="en-US" altLang="zh-CN" sz="2800" dirty="0">
                <a:latin typeface="Calibri" panose="020F0502020204030204" charset="0"/>
                <a:cs typeface="Calibri" panose="020F0502020204030204" charset="0"/>
              </a:rPr>
              <a:t>  NUMERIC</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a:t>
            </a:r>
            <a:r>
              <a:rPr lang="zh-CN" altLang="en-US" sz="2800" dirty="0">
                <a:latin typeface="Calibri" panose="020F0502020204030204" charset="0"/>
                <a:cs typeface="Calibri" panose="020F0502020204030204" charset="0"/>
              </a:rPr>
              <a:t>),</a:t>
            </a:r>
          </a:p>
          <a:p>
            <a:pPr marL="914400" lvl="2" indent="0">
              <a:lnSpc>
                <a:spcPct val="110000"/>
              </a:lnSpc>
              <a:spcBef>
                <a:spcPts val="1000"/>
              </a:spcBef>
              <a:buNone/>
            </a:pPr>
            <a:r>
              <a:rPr lang="en-US" altLang="zh-CN" sz="2800" dirty="0" err="1">
                <a:latin typeface="Calibri" panose="020F0502020204030204" charset="0"/>
                <a:cs typeface="Calibri" panose="020F0502020204030204" charset="0"/>
              </a:rPr>
              <a:t>Dname</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r>
              <a:rPr lang="en-US" altLang="zh-CN" sz="2800" dirty="0">
                <a:solidFill>
                  <a:srgbClr val="FF0000"/>
                </a:solidFill>
                <a:latin typeface="Calibri" panose="020F0502020204030204" charset="0"/>
                <a:cs typeface="Calibri" panose="020F0502020204030204" charset="0"/>
              </a:rPr>
              <a:t>UNIQUE  NOT NULL</a:t>
            </a:r>
            <a:r>
              <a:rPr lang="zh-CN" altLang="en-US"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a:p>
            <a:pPr marL="914400" lvl="2" indent="0">
              <a:lnSpc>
                <a:spcPct val="110000"/>
              </a:lnSpc>
              <a:spcBef>
                <a:spcPts val="1000"/>
              </a:spcBef>
              <a:buNone/>
            </a:pP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要求</a:t>
            </a:r>
            <a:r>
              <a:rPr lang="en-US" altLang="zh-CN" sz="2800" dirty="0" err="1">
                <a:solidFill>
                  <a:srgbClr val="C00000"/>
                </a:solidFill>
                <a:latin typeface="Calibri" panose="020F0502020204030204" charset="0"/>
                <a:cs typeface="Calibri" panose="020F0502020204030204" charset="0"/>
              </a:rPr>
              <a:t>Dname</a:t>
            </a:r>
            <a:r>
              <a:rPr lang="zh-CN" altLang="en-US" sz="2800" dirty="0">
                <a:solidFill>
                  <a:srgbClr val="C00000"/>
                </a:solidFill>
                <a:latin typeface="Calibri" panose="020F0502020204030204" charset="0"/>
                <a:cs typeface="Calibri" panose="020F0502020204030204" charset="0"/>
              </a:rPr>
              <a:t>列值唯一</a:t>
            </a:r>
            <a:r>
              <a:rPr lang="en-US" altLang="zh-CN" sz="2800" dirty="0">
                <a:solidFill>
                  <a:srgbClr val="C00000"/>
                </a:solidFill>
                <a:latin typeface="Calibri" panose="020F0502020204030204" charset="0"/>
                <a:cs typeface="Calibri" panose="020F0502020204030204" charset="0"/>
              </a:rPr>
              <a:t>,</a:t>
            </a:r>
            <a:r>
              <a:rPr lang="zh-CN" altLang="en-US" sz="2800" dirty="0">
                <a:solidFill>
                  <a:srgbClr val="C00000"/>
                </a:solidFill>
                <a:latin typeface="Calibri" panose="020F0502020204030204" charset="0"/>
                <a:cs typeface="Calibri" panose="020F0502020204030204" charset="0"/>
              </a:rPr>
              <a:t> 并且显式定义</a:t>
            </a:r>
            <a:r>
              <a:rPr lang="en-US" altLang="zh-CN" sz="2800" dirty="0">
                <a:solidFill>
                  <a:srgbClr val="C00000"/>
                </a:solidFill>
                <a:latin typeface="Calibri" panose="020F0502020204030204" charset="0"/>
                <a:cs typeface="Calibri" panose="020F0502020204030204" charset="0"/>
              </a:rPr>
              <a:t>NOT NULL</a:t>
            </a:r>
            <a:r>
              <a:rPr lang="zh-CN" altLang="en-US" sz="2800" dirty="0">
                <a:solidFill>
                  <a:srgbClr val="C00000"/>
                </a:solidFill>
                <a:latin typeface="Calibri" panose="020F0502020204030204" charset="0"/>
                <a:cs typeface="Calibri" panose="020F0502020204030204" charset="0"/>
              </a:rPr>
              <a:t>约束</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a:t>
            </a:r>
          </a:p>
          <a:p>
            <a:pPr marL="914400" lvl="2" indent="0">
              <a:lnSpc>
                <a:spcPct val="110000"/>
              </a:lnSpc>
              <a:spcBef>
                <a:spcPts val="1000"/>
              </a:spcBef>
              <a:buNone/>
            </a:pPr>
            <a:r>
              <a:rPr lang="en-US" altLang="zh-CN" sz="2800" dirty="0">
                <a:latin typeface="Calibri" panose="020F0502020204030204" charset="0"/>
                <a:cs typeface="Calibri" panose="020F0502020204030204" charset="0"/>
              </a:rPr>
              <a:t>Location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10</a:t>
            </a:r>
            <a:r>
              <a:rPr lang="zh-CN" altLang="en-US" sz="2800" dirty="0">
                <a:latin typeface="Calibri" panose="020F0502020204030204" charset="0"/>
                <a:cs typeface="Calibri" panose="020F0502020204030204" charset="0"/>
              </a:rPr>
              <a:t>),</a:t>
            </a:r>
          </a:p>
          <a:p>
            <a:pPr marL="914400" lvl="2" indent="0">
              <a:lnSpc>
                <a:spcPct val="110000"/>
              </a:lnSpc>
              <a:spcBef>
                <a:spcPts val="1000"/>
              </a:spcBef>
              <a:buNone/>
            </a:pPr>
            <a:r>
              <a:rPr lang="en-US" altLang="zh-CN" sz="2800" dirty="0">
                <a:latin typeface="Calibri" panose="020F0502020204030204" charset="0"/>
                <a:cs typeface="Calibri" panose="020F0502020204030204" charset="0"/>
              </a:rPr>
              <a:t>PRIMARY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Deptno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r>
              <a:rPr lang="en-US" altLang="zh-CN" sz="2800" dirty="0">
                <a:solidFill>
                  <a:srgbClr val="C00000"/>
                </a:solidFill>
                <a:latin typeface="Calibri" panose="020F0502020204030204" charset="0"/>
                <a:cs typeface="Calibri" panose="020F0502020204030204" charset="0"/>
              </a:rPr>
              <a:t> /* </a:t>
            </a:r>
            <a:r>
              <a:rPr lang="zh-CN" altLang="en-US" sz="2800" dirty="0">
                <a:solidFill>
                  <a:srgbClr val="C00000"/>
                </a:solidFill>
                <a:latin typeface="Calibri" panose="020F0502020204030204" charset="0"/>
                <a:cs typeface="Calibri" panose="020F0502020204030204" charset="0"/>
              </a:rPr>
              <a:t>隐含着部门编号不能取空值</a:t>
            </a:r>
            <a:r>
              <a:rPr lang="en-US" altLang="zh-CN" sz="2800" dirty="0">
                <a:solidFill>
                  <a:srgbClr val="C00000"/>
                </a:solidFill>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457200" lvl="1" indent="0">
              <a:lnSpc>
                <a:spcPct val="110000"/>
              </a:lnSpc>
              <a:spcBef>
                <a:spcPts val="1000"/>
              </a:spcBef>
              <a:buNone/>
            </a:pPr>
            <a:r>
              <a:rPr lang="zh-CN" altLang="en-US" sz="2800" dirty="0">
                <a:latin typeface="Calibri" panose="020F0502020204030204" charset="0"/>
                <a:cs typeface="Calibri" panose="020F0502020204030204" charset="0"/>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39</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38915" name="Rectangle 2"/>
          <p:cNvSpPr>
            <a:spLocks noGrp="1" noChangeArrowheads="1"/>
          </p:cNvSpPr>
          <p:nvPr>
            <p:ph type="title"/>
          </p:nvPr>
        </p:nvSpPr>
        <p:spPr/>
        <p:txBody>
          <a:bodyPr>
            <a:normAutofit fontScale="90000"/>
          </a:bodyPr>
          <a:lstStyle/>
          <a:p>
            <a:r>
              <a:rPr lang="zh-CN" altLang="en-US" dirty="0"/>
              <a:t>列上约束条件的定义</a:t>
            </a:r>
            <a:r>
              <a:rPr lang="en-US" altLang="zh-CN" dirty="0"/>
              <a:t> - </a:t>
            </a:r>
            <a:r>
              <a:rPr lang="zh-CN" altLang="en-US" dirty="0"/>
              <a:t>列值是否满足条件表达式 </a:t>
            </a:r>
            <a:r>
              <a:rPr lang="en-US" altLang="zh-CN" dirty="0"/>
              <a:t>1</a:t>
            </a:r>
          </a:p>
        </p:txBody>
      </p:sp>
      <p:sp>
        <p:nvSpPr>
          <p:cNvPr id="38916" name="Rectangle 3"/>
          <p:cNvSpPr>
            <a:spLocks noGrp="1" noChangeArrowheads="1"/>
          </p:cNvSpPr>
          <p:nvPr>
            <p:ph idx="1"/>
          </p:nvPr>
        </p:nvSpPr>
        <p:spPr/>
        <p:txBody>
          <a:bodyPr>
            <a:noAutofit/>
          </a:bodyPr>
          <a:lstStyle/>
          <a:p>
            <a:pPr>
              <a:lnSpc>
                <a:spcPct val="110000"/>
              </a:lnSpc>
              <a:spcBef>
                <a:spcPts val="1000"/>
              </a:spcBef>
            </a:pPr>
            <a:r>
              <a:rPr lang="zh-CN" altLang="en-US" sz="2800" dirty="0">
                <a:latin typeface="Calibri" panose="020F0502020204030204" charset="0"/>
                <a:cs typeface="Calibri" panose="020F0502020204030204" charset="0"/>
              </a:rPr>
              <a:t>用</a:t>
            </a:r>
            <a:r>
              <a:rPr lang="en-US" altLang="zh-CN" sz="2800" dirty="0">
                <a:latin typeface="Calibri" panose="020F0502020204030204" charset="0"/>
                <a:cs typeface="Calibri" panose="020F0502020204030204" charset="0"/>
              </a:rPr>
              <a:t>CHECK</a:t>
            </a:r>
            <a:r>
              <a:rPr lang="zh-CN" altLang="en-US" sz="2800" dirty="0">
                <a:latin typeface="Calibri" panose="020F0502020204030204" charset="0"/>
                <a:cs typeface="Calibri" panose="020F0502020204030204" charset="0"/>
              </a:rPr>
              <a:t>短语指定列值应该满足的条件</a:t>
            </a:r>
          </a:p>
          <a:p>
            <a:pPr>
              <a:lnSpc>
                <a:spcPct val="110000"/>
              </a:lnSpc>
              <a:spcBef>
                <a:spcPts val="100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7]</a:t>
            </a:r>
            <a:r>
              <a:rPr lang="zh-CN" altLang="en-US" sz="2800" dirty="0">
                <a:latin typeface="Calibri" panose="020F0502020204030204" charset="0"/>
                <a:cs typeface="Calibri" panose="020F0502020204030204" charset="0"/>
              </a:rPr>
              <a:t>  </a:t>
            </a:r>
            <a:r>
              <a:rPr lang="en-US" altLang="zh-CN" sz="2800" dirty="0">
                <a:latin typeface="Calibri" panose="020F0502020204030204" charset="0"/>
                <a:cs typeface="Calibri" panose="020F0502020204030204" charset="0"/>
              </a:rPr>
              <a:t>Student</a:t>
            </a:r>
            <a:r>
              <a:rPr lang="zh-CN" altLang="en-US" sz="2800" dirty="0">
                <a:latin typeface="Calibri" panose="020F0502020204030204" charset="0"/>
                <a:cs typeface="Calibri" panose="020F0502020204030204" charset="0"/>
              </a:rPr>
              <a:t>表的</a:t>
            </a:r>
            <a:r>
              <a:rPr lang="en-US" altLang="zh-CN" sz="2800" dirty="0" err="1">
                <a:latin typeface="Calibri" panose="020F0502020204030204" charset="0"/>
                <a:cs typeface="Calibri" panose="020F0502020204030204" charset="0"/>
              </a:rPr>
              <a:t>Ssex</a:t>
            </a:r>
            <a:r>
              <a:rPr lang="zh-CN" altLang="en-US" sz="2800" dirty="0">
                <a:latin typeface="Calibri" panose="020F0502020204030204" charset="0"/>
                <a:cs typeface="Calibri" panose="020F0502020204030204" charset="0"/>
              </a:rPr>
              <a:t>只允许取“男”或“女”。</a:t>
            </a:r>
          </a:p>
          <a:p>
            <a:pPr marL="457200" lvl="1" indent="0">
              <a:lnSpc>
                <a:spcPct val="110000"/>
              </a:lnSpc>
              <a:spcBef>
                <a:spcPts val="1000"/>
              </a:spcBef>
              <a:buNone/>
            </a:pPr>
            <a:r>
              <a:rPr lang="en-US" altLang="zh-CN" sz="2800" dirty="0">
                <a:latin typeface="Calibri" panose="020F0502020204030204" charset="0"/>
                <a:cs typeface="Calibri" panose="020F0502020204030204" charset="0"/>
              </a:rPr>
              <a:t>CREATE TABLE Student </a:t>
            </a:r>
            <a:r>
              <a:rPr lang="zh-CN" altLang="en-US" sz="2800" dirty="0">
                <a:latin typeface="Calibri" panose="020F0502020204030204" charset="0"/>
                <a:cs typeface="Calibri" panose="020F0502020204030204" charset="0"/>
              </a:rPr>
              <a:t>(</a:t>
            </a:r>
          </a:p>
          <a:p>
            <a:pPr marL="914400" lvl="2" indent="0">
              <a:lnSpc>
                <a:spcPct val="110000"/>
              </a:lnSpc>
              <a:spcBef>
                <a:spcPts val="600"/>
              </a:spcBef>
              <a:buNone/>
            </a:pPr>
            <a:r>
              <a:rPr lang="en-US" altLang="zh-CN" sz="2800" dirty="0" err="1">
                <a:latin typeface="Calibri" panose="020F0502020204030204" charset="0"/>
                <a:cs typeface="Calibri" panose="020F0502020204030204" charset="0"/>
              </a:rPr>
              <a:t>Sno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PRIMARY  KEY</a:t>
            </a:r>
            <a:r>
              <a:rPr lang="zh-CN" altLang="en-US" sz="2800" dirty="0">
                <a:latin typeface="Calibri" panose="020F0502020204030204" charset="0"/>
                <a:cs typeface="Calibri" panose="020F0502020204030204" charset="0"/>
              </a:rPr>
              <a:t>,</a:t>
            </a:r>
          </a:p>
          <a:p>
            <a:pPr marL="914400" lvl="2" indent="0">
              <a:lnSpc>
                <a:spcPct val="110000"/>
              </a:lnSpc>
              <a:spcBef>
                <a:spcPts val="600"/>
              </a:spcBef>
              <a:buNone/>
            </a:pPr>
            <a:r>
              <a:rPr lang="en-US" altLang="zh-CN" sz="2800" dirty="0" err="1">
                <a:latin typeface="Calibri" panose="020F0502020204030204" charset="0"/>
                <a:cs typeface="Calibri" panose="020F0502020204030204" charset="0"/>
              </a:rPr>
              <a:t>Sname</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8</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NOT  NULL</a:t>
            </a:r>
            <a:r>
              <a:rPr lang="zh-CN" altLang="en-US" sz="2800" dirty="0">
                <a:latin typeface="Calibri" panose="020F0502020204030204" charset="0"/>
                <a:cs typeface="Calibri" panose="020F0502020204030204" charset="0"/>
              </a:rPr>
              <a:t>,            </a:t>
            </a:r>
          </a:p>
          <a:p>
            <a:pPr marL="914400" lvl="2" indent="0">
              <a:lnSpc>
                <a:spcPct val="110000"/>
              </a:lnSpc>
              <a:spcBef>
                <a:spcPts val="600"/>
              </a:spcBef>
              <a:buNone/>
            </a:pPr>
            <a:r>
              <a:rPr lang="en-US" altLang="zh-CN" sz="2800" dirty="0" err="1">
                <a:latin typeface="Calibri" panose="020F0502020204030204" charset="0"/>
                <a:cs typeface="Calibri" panose="020F0502020204030204" charset="0"/>
              </a:rPr>
              <a:t>Ssex</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r>
              <a:rPr lang="en-US" altLang="zh-CN" sz="2800" dirty="0">
                <a:solidFill>
                  <a:srgbClr val="FF0000"/>
                </a:solidFill>
                <a:latin typeface="Calibri" panose="020F0502020204030204" charset="0"/>
                <a:cs typeface="Calibri" panose="020F0502020204030204" charset="0"/>
              </a:rPr>
              <a:t>CHECK (</a:t>
            </a:r>
            <a:r>
              <a:rPr lang="en-US" altLang="zh-CN" sz="2800" dirty="0" err="1">
                <a:solidFill>
                  <a:srgbClr val="FF0000"/>
                </a:solidFill>
                <a:latin typeface="Calibri" panose="020F0502020204030204" charset="0"/>
                <a:cs typeface="Calibri" panose="020F0502020204030204" charset="0"/>
              </a:rPr>
              <a:t>Ssex</a:t>
            </a:r>
            <a:r>
              <a:rPr lang="en-US" altLang="zh-CN" sz="2800" dirty="0">
                <a:solidFill>
                  <a:srgbClr val="FF0000"/>
                </a:solidFill>
                <a:latin typeface="Calibri" panose="020F0502020204030204" charset="0"/>
                <a:cs typeface="Calibri" panose="020F0502020204030204" charset="0"/>
              </a:rPr>
              <a:t> IN (‘</a:t>
            </a:r>
            <a:r>
              <a:rPr lang="zh-CN" altLang="en-US" sz="2800" dirty="0">
                <a:solidFill>
                  <a:srgbClr val="FF0000"/>
                </a:solidFill>
                <a:latin typeface="Calibri" panose="020F0502020204030204" charset="0"/>
                <a:cs typeface="Calibri" panose="020F0502020204030204" charset="0"/>
              </a:rPr>
              <a:t>男</a:t>
            </a:r>
            <a:r>
              <a:rPr lang="en-US" altLang="zh-CN" sz="2800" dirty="0">
                <a:solidFill>
                  <a:srgbClr val="FF0000"/>
                </a:solidFill>
                <a:latin typeface="Calibri" panose="020F0502020204030204" charset="0"/>
                <a:cs typeface="Calibri" panose="020F0502020204030204" charset="0"/>
              </a:rPr>
              <a:t>’,’</a:t>
            </a:r>
            <a:r>
              <a:rPr lang="zh-CN" altLang="en-US" sz="2800" dirty="0">
                <a:solidFill>
                  <a:srgbClr val="FF0000"/>
                </a:solidFill>
                <a:latin typeface="Calibri" panose="020F0502020204030204" charset="0"/>
                <a:cs typeface="Calibri" panose="020F0502020204030204" charset="0"/>
              </a:rPr>
              <a:t>女</a:t>
            </a:r>
            <a:r>
              <a:rPr lang="en-US" altLang="zh-CN" sz="2800" dirty="0">
                <a:solidFill>
                  <a:srgbClr val="FF0000"/>
                </a:solidFill>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marL="1371600" lvl="3" indent="0">
              <a:lnSpc>
                <a:spcPct val="110000"/>
              </a:lnSpc>
              <a:spcBef>
                <a:spcPts val="600"/>
              </a:spcBef>
              <a:buNone/>
            </a:pP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性别列</a:t>
            </a:r>
            <a:r>
              <a:rPr lang="en-US" altLang="zh-CN" sz="2800" dirty="0" err="1">
                <a:solidFill>
                  <a:srgbClr val="C00000"/>
                </a:solidFill>
                <a:latin typeface="Calibri" panose="020F0502020204030204" charset="0"/>
                <a:cs typeface="Calibri" panose="020F0502020204030204" charset="0"/>
              </a:rPr>
              <a:t>Ssex</a:t>
            </a:r>
            <a:r>
              <a:rPr lang="zh-CN" altLang="en-US" sz="2800" dirty="0">
                <a:solidFill>
                  <a:srgbClr val="C00000"/>
                </a:solidFill>
                <a:latin typeface="Calibri" panose="020F0502020204030204" charset="0"/>
                <a:cs typeface="Calibri" panose="020F0502020204030204" charset="0"/>
              </a:rPr>
              <a:t>只允许取</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男</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或</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女</a:t>
            </a:r>
            <a:r>
              <a:rPr lang="en-US" altLang="zh-CN" sz="2800" dirty="0">
                <a:solidFill>
                  <a:srgbClr val="C00000"/>
                </a:solidFill>
                <a:latin typeface="Calibri" panose="020F0502020204030204" charset="0"/>
                <a:cs typeface="Calibri" panose="020F0502020204030204" charset="0"/>
              </a:rPr>
              <a:t>' */</a:t>
            </a:r>
          </a:p>
          <a:p>
            <a:pPr marL="914400" lvl="2" indent="0">
              <a:lnSpc>
                <a:spcPct val="110000"/>
              </a:lnSpc>
              <a:spcBef>
                <a:spcPts val="600"/>
              </a:spcBef>
              <a:buNone/>
            </a:pPr>
            <a:r>
              <a:rPr lang="en-US" altLang="zh-CN" sz="2800" dirty="0">
                <a:latin typeface="Calibri" panose="020F0502020204030204" charset="0"/>
                <a:cs typeface="Calibri" panose="020F0502020204030204" charset="0"/>
              </a:rPr>
              <a:t>Sage  SMALLINT</a:t>
            </a:r>
            <a:r>
              <a:rPr lang="zh-CN" altLang="en-US" sz="2800" dirty="0">
                <a:latin typeface="Calibri" panose="020F0502020204030204" charset="0"/>
                <a:cs typeface="Calibri" panose="020F0502020204030204" charset="0"/>
              </a:rPr>
              <a:t>,</a:t>
            </a:r>
          </a:p>
          <a:p>
            <a:pPr marL="914400" lvl="2" indent="0">
              <a:lnSpc>
                <a:spcPct val="110000"/>
              </a:lnSpc>
              <a:spcBef>
                <a:spcPts val="600"/>
              </a:spcBef>
              <a:buNone/>
            </a:pPr>
            <a:r>
              <a:rPr lang="en-US" altLang="zh-CN" sz="2800" dirty="0" err="1">
                <a:latin typeface="Calibri" panose="020F0502020204030204" charset="0"/>
                <a:cs typeface="Calibri" panose="020F0502020204030204" charset="0"/>
              </a:rPr>
              <a:t>Sdept</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20</a:t>
            </a:r>
            <a:r>
              <a:rPr lang="zh-CN" altLang="en-US" sz="2800" dirty="0">
                <a:latin typeface="Calibri" panose="020F0502020204030204" charset="0"/>
                <a:cs typeface="Calibri" panose="020F0502020204030204" charset="0"/>
              </a:rPr>
              <a:t>)</a:t>
            </a:r>
          </a:p>
          <a:p>
            <a:pPr marL="457200" lvl="1" indent="0">
              <a:lnSpc>
                <a:spcPct val="110000"/>
              </a:lnSpc>
              <a:spcBef>
                <a:spcPts val="600"/>
              </a:spcBef>
              <a:buNone/>
            </a:pP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列上约束条件的定义</a:t>
            </a:r>
            <a:r>
              <a:rPr lang="en-US" altLang="zh-CN" dirty="0"/>
              <a:t> - </a:t>
            </a:r>
            <a:r>
              <a:rPr lang="zh-CN" altLang="en-US" dirty="0"/>
              <a:t>列值是否满足条件表达式 </a:t>
            </a:r>
            <a:r>
              <a:rPr lang="en-US" altLang="zh-CN" dirty="0"/>
              <a:t>2</a:t>
            </a:r>
            <a:endParaRPr lang="zh-CN" altLang="en-US" dirty="0"/>
          </a:p>
        </p:txBody>
      </p:sp>
      <p:sp>
        <p:nvSpPr>
          <p:cNvPr id="3" name="内容占位符 2"/>
          <p:cNvSpPr>
            <a:spLocks noGrp="1"/>
          </p:cNvSpPr>
          <p:nvPr>
            <p:ph idx="1"/>
          </p:nvPr>
        </p:nvSpPr>
        <p:spPr/>
        <p:txBody>
          <a:bodyPr>
            <a:noAutofit/>
          </a:bodyPr>
          <a:lstStyle/>
          <a:p>
            <a:pPr>
              <a:lnSpc>
                <a:spcPct val="100000"/>
              </a:lnSpc>
              <a:spcBef>
                <a:spcPts val="100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a:t>
            </a:r>
            <a:r>
              <a:rPr lang="en-US" altLang="zh-CN" sz="2800" dirty="0">
                <a:latin typeface="Calibri" panose="020F0502020204030204" charset="0"/>
                <a:cs typeface="Calibri" panose="020F0502020204030204" charset="0"/>
              </a:rPr>
              <a:t>5.8] SC</a:t>
            </a:r>
            <a:r>
              <a:rPr lang="zh-CN" altLang="en-US" sz="2800" dirty="0">
                <a:latin typeface="Calibri" panose="020F0502020204030204" charset="0"/>
                <a:cs typeface="Calibri" panose="020F0502020204030204" charset="0"/>
              </a:rPr>
              <a:t>表的</a:t>
            </a:r>
            <a:r>
              <a:rPr lang="en-US" altLang="zh-CN" sz="2800" dirty="0">
                <a:latin typeface="Calibri" panose="020F0502020204030204" charset="0"/>
                <a:cs typeface="Calibri" panose="020F0502020204030204" charset="0"/>
              </a:rPr>
              <a:t>Grade</a:t>
            </a:r>
            <a:r>
              <a:rPr lang="zh-CN" altLang="en-US" sz="2800" dirty="0">
                <a:latin typeface="Calibri" panose="020F0502020204030204" charset="0"/>
                <a:cs typeface="Calibri" panose="020F0502020204030204" charset="0"/>
              </a:rPr>
              <a:t>的值应该在</a:t>
            </a:r>
            <a:r>
              <a:rPr lang="en-US" altLang="zh-CN" sz="2800" dirty="0">
                <a:latin typeface="Calibri" panose="020F0502020204030204" charset="0"/>
                <a:cs typeface="Calibri" panose="020F0502020204030204" charset="0"/>
              </a:rPr>
              <a:t>0</a:t>
            </a:r>
            <a:r>
              <a:rPr lang="zh-CN" altLang="en-US" sz="2800" dirty="0">
                <a:latin typeface="Calibri" panose="020F0502020204030204" charset="0"/>
                <a:cs typeface="Calibri" panose="020F0502020204030204" charset="0"/>
              </a:rPr>
              <a:t>和</a:t>
            </a:r>
            <a:r>
              <a:rPr lang="en-US" altLang="zh-CN" sz="2800" dirty="0">
                <a:latin typeface="Calibri" panose="020F0502020204030204" charset="0"/>
                <a:cs typeface="Calibri" panose="020F0502020204030204" charset="0"/>
              </a:rPr>
              <a:t>100</a:t>
            </a:r>
            <a:r>
              <a:rPr lang="zh-CN" altLang="en-US" sz="2800" dirty="0">
                <a:latin typeface="Calibri" panose="020F0502020204030204" charset="0"/>
                <a:cs typeface="Calibri" panose="020F0502020204030204" charset="0"/>
              </a:rPr>
              <a:t>之间。</a:t>
            </a:r>
          </a:p>
          <a:p>
            <a:pPr marL="258445" lvl="1" indent="0">
              <a:lnSpc>
                <a:spcPct val="100000"/>
              </a:lnSpc>
              <a:spcBef>
                <a:spcPts val="2000"/>
              </a:spcBef>
              <a:buNone/>
            </a:pPr>
            <a:r>
              <a:rPr lang="en-US" altLang="zh-CN" sz="2800" dirty="0">
                <a:latin typeface="Calibri" panose="020F0502020204030204" charset="0"/>
                <a:cs typeface="Calibri" panose="020F0502020204030204" charset="0"/>
              </a:rPr>
              <a:t>CREATE TABLE  SC </a:t>
            </a:r>
            <a:r>
              <a:rPr lang="zh-CN" altLang="en-US" sz="2800" dirty="0">
                <a:latin typeface="Calibri" panose="020F0502020204030204" charset="0"/>
                <a:cs typeface="Calibri" panose="020F0502020204030204" charset="0"/>
              </a:rPr>
              <a:t>(</a:t>
            </a:r>
          </a:p>
          <a:p>
            <a:pPr marL="715645" lvl="2" indent="0">
              <a:lnSpc>
                <a:spcPct val="100000"/>
              </a:lnSpc>
              <a:spcBef>
                <a:spcPts val="1000"/>
              </a:spcBef>
              <a:buNone/>
            </a:pPr>
            <a:r>
              <a:rPr lang="en-US" altLang="zh-CN" sz="2800" dirty="0" err="1">
                <a:latin typeface="Calibri" panose="020F0502020204030204" charset="0"/>
                <a:cs typeface="Calibri" panose="020F0502020204030204" charset="0"/>
              </a:rPr>
              <a:t>Sno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a:t>
            </a:r>
          </a:p>
          <a:p>
            <a:pPr marL="715645" lvl="2" indent="0">
              <a:lnSpc>
                <a:spcPct val="100000"/>
              </a:lnSpc>
              <a:spcBef>
                <a:spcPts val="1000"/>
              </a:spcBef>
              <a:buNone/>
            </a:pPr>
            <a:r>
              <a:rPr lang="en-US" altLang="zh-CN" sz="2800" dirty="0" err="1">
                <a:latin typeface="Calibri" panose="020F0502020204030204" charset="0"/>
                <a:cs typeface="Calibri" panose="020F0502020204030204" charset="0"/>
              </a:rPr>
              <a:t>Cno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4</a:t>
            </a:r>
            <a:r>
              <a:rPr lang="zh-CN" altLang="en-US" sz="2800" dirty="0">
                <a:latin typeface="Calibri" panose="020F0502020204030204" charset="0"/>
                <a:cs typeface="Calibri" panose="020F0502020204030204" charset="0"/>
              </a:rPr>
              <a:t>),</a:t>
            </a:r>
          </a:p>
          <a:p>
            <a:pPr marL="715645" lvl="2" indent="0">
              <a:lnSpc>
                <a:spcPct val="100000"/>
              </a:lnSpc>
              <a:spcBef>
                <a:spcPts val="1000"/>
              </a:spcBef>
              <a:buNone/>
            </a:pPr>
            <a:r>
              <a:rPr lang="en-US" altLang="zh-CN" sz="2800" dirty="0">
                <a:latin typeface="Calibri" panose="020F0502020204030204" charset="0"/>
                <a:cs typeface="Calibri" panose="020F0502020204030204" charset="0"/>
              </a:rPr>
              <a:t>Grade   SMALLINT </a:t>
            </a:r>
            <a:r>
              <a:rPr lang="en-US" altLang="zh-CN" sz="2800" dirty="0">
                <a:solidFill>
                  <a:srgbClr val="FF0000"/>
                </a:solidFill>
                <a:latin typeface="Calibri" panose="020F0502020204030204" charset="0"/>
                <a:cs typeface="Calibri" panose="020F0502020204030204" charset="0"/>
              </a:rPr>
              <a:t>CHECK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Grade&gt;=0 AND Grade &lt;=100</a:t>
            </a:r>
            <a:r>
              <a:rPr lang="zh-CN" altLang="en-US" sz="2800" dirty="0">
                <a:solidFill>
                  <a:srgbClr val="FF0000"/>
                </a:solidFill>
                <a:latin typeface="Calibri" panose="020F0502020204030204" charset="0"/>
                <a:cs typeface="Calibri" panose="020F0502020204030204" charset="0"/>
              </a:rPr>
              <a:t>)，</a:t>
            </a:r>
          </a:p>
          <a:p>
            <a:pPr marL="1172845" lvl="3" indent="2781300">
              <a:lnSpc>
                <a:spcPct val="100000"/>
              </a:lnSpc>
              <a:spcBef>
                <a:spcPts val="1000"/>
              </a:spcBef>
              <a:buNone/>
            </a:pPr>
            <a:r>
              <a:rPr lang="en-US" altLang="zh-CN" sz="2800" dirty="0">
                <a:solidFill>
                  <a:srgbClr val="C00000"/>
                </a:solidFill>
                <a:latin typeface="Calibri" panose="020F0502020204030204" charset="0"/>
                <a:cs typeface="Calibri" panose="020F0502020204030204" charset="0"/>
              </a:rPr>
              <a:t>/* Grade</a:t>
            </a:r>
            <a:r>
              <a:rPr lang="zh-CN" altLang="en-US" sz="2800" dirty="0">
                <a:solidFill>
                  <a:srgbClr val="C00000"/>
                </a:solidFill>
                <a:latin typeface="Calibri" panose="020F0502020204030204" charset="0"/>
                <a:cs typeface="Calibri" panose="020F0502020204030204" charset="0"/>
              </a:rPr>
              <a:t>取值范围是</a:t>
            </a:r>
            <a:r>
              <a:rPr lang="en-US" altLang="zh-CN" sz="2800" dirty="0">
                <a:solidFill>
                  <a:srgbClr val="C00000"/>
                </a:solidFill>
                <a:latin typeface="Calibri" panose="020F0502020204030204" charset="0"/>
                <a:cs typeface="Calibri" panose="020F0502020204030204" charset="0"/>
              </a:rPr>
              <a:t>0</a:t>
            </a:r>
            <a:r>
              <a:rPr lang="zh-CN" altLang="en-US" sz="2800" dirty="0">
                <a:solidFill>
                  <a:srgbClr val="C00000"/>
                </a:solidFill>
                <a:latin typeface="Calibri" panose="020F0502020204030204" charset="0"/>
                <a:cs typeface="Calibri" panose="020F0502020204030204" charset="0"/>
              </a:rPr>
              <a:t>到</a:t>
            </a:r>
            <a:r>
              <a:rPr lang="en-US" altLang="zh-CN" sz="2800" dirty="0">
                <a:solidFill>
                  <a:srgbClr val="C00000"/>
                </a:solidFill>
                <a:latin typeface="Calibri" panose="020F0502020204030204" charset="0"/>
                <a:cs typeface="Calibri" panose="020F0502020204030204" charset="0"/>
              </a:rPr>
              <a:t>100 */</a:t>
            </a:r>
            <a:endParaRPr lang="zh-CN" altLang="en-US" sz="2800" dirty="0">
              <a:solidFill>
                <a:srgbClr val="C00000"/>
              </a:solidFill>
              <a:latin typeface="Calibri" panose="020F0502020204030204" charset="0"/>
              <a:cs typeface="Calibri" panose="020F0502020204030204" charset="0"/>
            </a:endParaRPr>
          </a:p>
          <a:p>
            <a:pPr marL="715645" lvl="2" indent="0">
              <a:lnSpc>
                <a:spcPct val="100000"/>
              </a:lnSpc>
              <a:spcBef>
                <a:spcPts val="1000"/>
              </a:spcBef>
              <a:buNone/>
            </a:pPr>
            <a:r>
              <a:rPr lang="en-US" altLang="zh-CN" sz="2800" dirty="0">
                <a:latin typeface="Calibri" panose="020F0502020204030204" charset="0"/>
                <a:cs typeface="Calibri" panose="020F0502020204030204" charset="0"/>
              </a:rPr>
              <a:t>PRIMARY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a:t>
            </a:r>
          </a:p>
          <a:p>
            <a:pPr marL="715645" lvl="2" indent="0">
              <a:lnSpc>
                <a:spcPct val="100000"/>
              </a:lnSpc>
              <a:spcBef>
                <a:spcPts val="1000"/>
              </a:spcBef>
              <a:buNone/>
            </a:pPr>
            <a:r>
              <a:rPr lang="en-US" altLang="zh-CN" sz="2800" dirty="0">
                <a:latin typeface="Calibri" panose="020F0502020204030204" charset="0"/>
                <a:cs typeface="Calibri" panose="020F0502020204030204" charset="0"/>
              </a:rPr>
              <a:t>FOREIGN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REFERENCES Student</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a:t>
            </a:r>
          </a:p>
          <a:p>
            <a:pPr marL="715645" lvl="2" indent="0">
              <a:lnSpc>
                <a:spcPct val="100000"/>
              </a:lnSpc>
              <a:spcBef>
                <a:spcPts val="1000"/>
              </a:spcBef>
              <a:buNone/>
            </a:pPr>
            <a:r>
              <a:rPr lang="en-US" altLang="zh-CN" sz="2800" dirty="0">
                <a:latin typeface="Calibri" panose="020F0502020204030204" charset="0"/>
                <a:cs typeface="Calibri" panose="020F0502020204030204" charset="0"/>
              </a:rPr>
              <a:t>FOREIGN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REFERENCES Course</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Cno</a:t>
            </a:r>
            <a:r>
              <a:rPr lang="zh-CN" altLang="en-US" sz="2800" dirty="0">
                <a:latin typeface="Calibri" panose="020F0502020204030204" charset="0"/>
                <a:cs typeface="Calibri" panose="020F0502020204030204" charset="0"/>
              </a:rPr>
              <a:t>)</a:t>
            </a:r>
          </a:p>
          <a:p>
            <a:pPr marL="258445" lvl="1" indent="0">
              <a:lnSpc>
                <a:spcPct val="100000"/>
              </a:lnSpc>
              <a:spcBef>
                <a:spcPts val="1000"/>
              </a:spcBef>
              <a:buNone/>
            </a:pP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t>41</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3011" name="Rectangle 2"/>
          <p:cNvSpPr>
            <a:spLocks noGrp="1" noChangeArrowheads="1"/>
          </p:cNvSpPr>
          <p:nvPr>
            <p:ph type="title"/>
          </p:nvPr>
        </p:nvSpPr>
        <p:spPr/>
        <p:txBody>
          <a:bodyPr/>
          <a:lstStyle/>
          <a:p>
            <a:r>
              <a:rPr lang="zh-CN" altLang="en-US" dirty="0"/>
              <a:t>元组上约束条件的定义</a:t>
            </a:r>
          </a:p>
        </p:txBody>
      </p:sp>
      <p:sp>
        <p:nvSpPr>
          <p:cNvPr id="2" name="内容占位符 1"/>
          <p:cNvSpPr>
            <a:spLocks noGrp="1"/>
          </p:cNvSpPr>
          <p:nvPr>
            <p:ph idx="1"/>
          </p:nvPr>
        </p:nvSpPr>
        <p:spPr/>
        <p:txBody>
          <a:bodyPr>
            <a:noAutofit/>
          </a:bodyPr>
          <a:lstStyle/>
          <a:p>
            <a:pPr>
              <a:lnSpc>
                <a:spcPct val="100000"/>
              </a:lnSpc>
              <a:spcBef>
                <a:spcPts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9] </a:t>
            </a:r>
            <a:r>
              <a:rPr lang="zh-CN" altLang="en-US" sz="2800" dirty="0">
                <a:latin typeface="Calibri" panose="020F0502020204030204" charset="0"/>
                <a:cs typeface="Calibri" panose="020F0502020204030204" charset="0"/>
              </a:rPr>
              <a:t>当学生的性别是</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男</a:t>
            </a: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时，其名字不能以</a:t>
            </a:r>
            <a:r>
              <a:rPr lang="en-US" altLang="zh-CN" sz="2800" dirty="0">
                <a:latin typeface="Calibri" panose="020F0502020204030204" charset="0"/>
                <a:cs typeface="Calibri" panose="020F0502020204030204" charset="0"/>
              </a:rPr>
              <a:t> Ms. </a:t>
            </a:r>
            <a:r>
              <a:rPr lang="zh-CN" altLang="en-US" sz="2800" dirty="0">
                <a:latin typeface="Calibri" panose="020F0502020204030204" charset="0"/>
                <a:cs typeface="Calibri" panose="020F0502020204030204" charset="0"/>
              </a:rPr>
              <a:t>打头。</a:t>
            </a:r>
          </a:p>
          <a:p>
            <a:pPr marL="457200" lvl="1" indent="0">
              <a:lnSpc>
                <a:spcPct val="100000"/>
              </a:lnSpc>
              <a:spcBef>
                <a:spcPts val="1000"/>
              </a:spcBef>
              <a:buNone/>
            </a:pPr>
            <a:r>
              <a:rPr lang="en-US" altLang="zh-CN" sz="2800" dirty="0">
                <a:latin typeface="Calibri" panose="020F0502020204030204" charset="0"/>
                <a:cs typeface="Calibri" panose="020F0502020204030204" charset="0"/>
              </a:rPr>
              <a:t>CREATE TABLE Student </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err="1">
                <a:latin typeface="Calibri" panose="020F0502020204030204" charset="0"/>
                <a:cs typeface="Calibri" panose="020F0502020204030204" charset="0"/>
              </a:rPr>
              <a:t>Sno</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9</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err="1">
                <a:latin typeface="Calibri" panose="020F0502020204030204" charset="0"/>
                <a:cs typeface="Calibri" panose="020F0502020204030204" charset="0"/>
              </a:rPr>
              <a:t>Sname</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8</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NOT NULL,</a:t>
            </a:r>
            <a:endParaRPr lang="zh-CN" altLang="en-US" sz="2800" dirty="0">
              <a:latin typeface="Calibri" panose="020F0502020204030204" charset="0"/>
              <a:cs typeface="Calibri" panose="020F0502020204030204" charset="0"/>
            </a:endParaRPr>
          </a:p>
          <a:p>
            <a:pPr marL="914400" lvl="2" indent="0">
              <a:lnSpc>
                <a:spcPct val="100000"/>
              </a:lnSpc>
              <a:spcBef>
                <a:spcPts val="0"/>
              </a:spcBef>
              <a:buNone/>
            </a:pPr>
            <a:r>
              <a:rPr lang="en-US" altLang="zh-CN" sz="2800" dirty="0" err="1">
                <a:latin typeface="Calibri" panose="020F0502020204030204" charset="0"/>
                <a:cs typeface="Calibri" panose="020F0502020204030204" charset="0"/>
              </a:rPr>
              <a:t>Ssex</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a:latin typeface="Calibri" panose="020F0502020204030204" charset="0"/>
                <a:cs typeface="Calibri" panose="020F0502020204030204" charset="0"/>
              </a:rPr>
              <a:t>Sage   SMALLINT</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err="1">
                <a:latin typeface="Calibri" panose="020F0502020204030204" charset="0"/>
                <a:cs typeface="Calibri" panose="020F0502020204030204" charset="0"/>
              </a:rPr>
              <a:t>Sdept</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20</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a:latin typeface="Calibri" panose="020F0502020204030204" charset="0"/>
                <a:cs typeface="Calibri" panose="020F0502020204030204" charset="0"/>
              </a:rPr>
              <a:t>PRIMARY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Sno</a:t>
            </a:r>
            <a:r>
              <a:rPr lang="zh-CN" altLang="en-US" sz="2800" dirty="0">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a:solidFill>
                  <a:srgbClr val="0000C8"/>
                </a:solidFill>
                <a:latin typeface="Calibri" panose="020F0502020204030204" charset="0"/>
                <a:cs typeface="Calibri" panose="020F0502020204030204" charset="0"/>
              </a:rPr>
              <a:t>CHECK </a:t>
            </a:r>
            <a:r>
              <a:rPr lang="zh-CN" altLang="en-US" sz="2800" dirty="0">
                <a:solidFill>
                  <a:srgbClr val="0000C8"/>
                </a:solidFill>
                <a:latin typeface="Calibri" panose="020F0502020204030204" charset="0"/>
                <a:cs typeface="Calibri" panose="020F0502020204030204" charset="0"/>
              </a:rPr>
              <a:t>(</a:t>
            </a:r>
            <a:r>
              <a:rPr lang="en-US" altLang="zh-CN" sz="2800" dirty="0">
                <a:solidFill>
                  <a:srgbClr val="0000C8"/>
                </a:solidFill>
                <a:latin typeface="Calibri" panose="020F0502020204030204" charset="0"/>
                <a:cs typeface="Calibri" panose="020F0502020204030204" charset="0"/>
              </a:rPr>
              <a:t> </a:t>
            </a:r>
            <a:r>
              <a:rPr lang="en-US" altLang="zh-CN" sz="2800" dirty="0" err="1">
                <a:solidFill>
                  <a:srgbClr val="0000C8"/>
                </a:solidFill>
                <a:latin typeface="Calibri" panose="020F0502020204030204" charset="0"/>
                <a:cs typeface="Calibri" panose="020F0502020204030204" charset="0"/>
              </a:rPr>
              <a:t>Ssex</a:t>
            </a:r>
            <a:r>
              <a:rPr lang="en-US" altLang="zh-CN" sz="2800" dirty="0">
                <a:solidFill>
                  <a:srgbClr val="0000C8"/>
                </a:solidFill>
                <a:latin typeface="Calibri" panose="020F0502020204030204" charset="0"/>
                <a:cs typeface="Calibri" panose="020F0502020204030204" charset="0"/>
              </a:rPr>
              <a:t>='</a:t>
            </a:r>
            <a:r>
              <a:rPr lang="zh-CN" altLang="en-US" sz="2800" dirty="0">
                <a:solidFill>
                  <a:srgbClr val="0000C8"/>
                </a:solidFill>
                <a:latin typeface="Calibri" panose="020F0502020204030204" charset="0"/>
                <a:cs typeface="Calibri" panose="020F0502020204030204" charset="0"/>
              </a:rPr>
              <a:t>女</a:t>
            </a:r>
            <a:r>
              <a:rPr lang="en-US" altLang="zh-CN" sz="2800" dirty="0">
                <a:solidFill>
                  <a:srgbClr val="0000C8"/>
                </a:solidFill>
                <a:latin typeface="Calibri" panose="020F0502020204030204" charset="0"/>
                <a:cs typeface="Calibri" panose="020F0502020204030204" charset="0"/>
              </a:rPr>
              <a:t>'  OR  </a:t>
            </a:r>
            <a:r>
              <a:rPr lang="en-US" altLang="zh-CN" sz="2800" dirty="0" err="1">
                <a:solidFill>
                  <a:srgbClr val="0000C8"/>
                </a:solidFill>
                <a:latin typeface="Calibri" panose="020F0502020204030204" charset="0"/>
                <a:cs typeface="Calibri" panose="020F0502020204030204" charset="0"/>
              </a:rPr>
              <a:t>Sname</a:t>
            </a:r>
            <a:r>
              <a:rPr lang="en-US" altLang="zh-CN" sz="2800" dirty="0">
                <a:solidFill>
                  <a:srgbClr val="0000C8"/>
                </a:solidFill>
                <a:latin typeface="Calibri" panose="020F0502020204030204" charset="0"/>
                <a:cs typeface="Calibri" panose="020F0502020204030204" charset="0"/>
              </a:rPr>
              <a:t> NOT LIKE 'Ms.%' </a:t>
            </a:r>
            <a:r>
              <a:rPr lang="zh-CN" altLang="en-US" sz="2800" dirty="0">
                <a:solidFill>
                  <a:srgbClr val="0000C8"/>
                </a:solidFill>
                <a:latin typeface="Calibri" panose="020F0502020204030204" charset="0"/>
                <a:cs typeface="Calibri" panose="020F0502020204030204" charset="0"/>
              </a:rPr>
              <a:t>)</a:t>
            </a:r>
          </a:p>
          <a:p>
            <a:pPr marL="914400" lvl="2" indent="0">
              <a:lnSpc>
                <a:spcPct val="100000"/>
              </a:lnSpc>
              <a:spcBef>
                <a:spcPts val="0"/>
              </a:spcBef>
              <a:buNone/>
            </a:pP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定义了元组中</a:t>
            </a:r>
            <a:r>
              <a:rPr lang="en-US" altLang="zh-CN" sz="2800" dirty="0" err="1">
                <a:solidFill>
                  <a:srgbClr val="C00000"/>
                </a:solidFill>
                <a:latin typeface="Calibri" panose="020F0502020204030204" charset="0"/>
                <a:cs typeface="Calibri" panose="020F0502020204030204" charset="0"/>
              </a:rPr>
              <a:t>Sname</a:t>
            </a:r>
            <a:r>
              <a:rPr lang="zh-CN" altLang="en-US" sz="2800" dirty="0">
                <a:solidFill>
                  <a:srgbClr val="C00000"/>
                </a:solidFill>
                <a:latin typeface="Calibri" panose="020F0502020204030204" charset="0"/>
                <a:cs typeface="Calibri" panose="020F0502020204030204" charset="0"/>
              </a:rPr>
              <a:t>和 </a:t>
            </a:r>
            <a:r>
              <a:rPr lang="en-US" altLang="zh-CN" sz="2800" dirty="0" err="1">
                <a:solidFill>
                  <a:srgbClr val="C00000"/>
                </a:solidFill>
                <a:latin typeface="Calibri" panose="020F0502020204030204" charset="0"/>
                <a:cs typeface="Calibri" panose="020F0502020204030204" charset="0"/>
              </a:rPr>
              <a:t>Ssex</a:t>
            </a:r>
            <a:r>
              <a:rPr lang="zh-CN" altLang="en-US" sz="2800" dirty="0">
                <a:solidFill>
                  <a:srgbClr val="C00000"/>
                </a:solidFill>
                <a:latin typeface="Calibri" panose="020F0502020204030204" charset="0"/>
                <a:cs typeface="Calibri" panose="020F0502020204030204" charset="0"/>
              </a:rPr>
              <a:t>两个列值之间的约束条件</a:t>
            </a:r>
            <a:r>
              <a:rPr lang="en-US" altLang="zh-CN" sz="2800" dirty="0">
                <a:solidFill>
                  <a:srgbClr val="C00000"/>
                </a:solidFill>
                <a:latin typeface="Calibri" panose="020F0502020204030204" charset="0"/>
                <a:cs typeface="Calibri" panose="020F0502020204030204" charset="0"/>
              </a:rPr>
              <a:t> </a:t>
            </a:r>
            <a:r>
              <a:rPr lang="zh-CN" altLang="en-US" sz="2800" dirty="0">
                <a:solidFill>
                  <a:srgbClr val="C00000"/>
                </a:solidFill>
                <a:latin typeface="Calibri" panose="020F0502020204030204" charset="0"/>
                <a:cs typeface="Calibri" panose="020F0502020204030204" charset="0"/>
              </a:rPr>
              <a:t>*</a:t>
            </a:r>
            <a:r>
              <a:rPr lang="en-US" altLang="zh-CN" sz="2800" dirty="0">
                <a:solidFill>
                  <a:srgbClr val="C00000"/>
                </a:solidFill>
                <a:latin typeface="Calibri" panose="020F0502020204030204" charset="0"/>
                <a:cs typeface="Calibri" panose="020F0502020204030204" charset="0"/>
              </a:rPr>
              <a:t>/</a:t>
            </a:r>
          </a:p>
          <a:p>
            <a:pPr marL="914400" lvl="2" indent="0">
              <a:lnSpc>
                <a:spcPct val="100000"/>
              </a:lnSpc>
              <a:buNone/>
            </a:pPr>
            <a:r>
              <a:rPr lang="en-US" altLang="zh-CN" dirty="0">
                <a:solidFill>
                  <a:srgbClr val="C00000"/>
                </a:solidFill>
                <a:latin typeface="Calibri" panose="020F0502020204030204" charset="0"/>
                <a:cs typeface="Calibri" panose="020F0502020204030204" charset="0"/>
                <a:sym typeface="+mn-ea"/>
              </a:rPr>
              <a:t>/* </a:t>
            </a:r>
            <a:r>
              <a:rPr lang="zh-CN" altLang="en-US" dirty="0">
                <a:solidFill>
                  <a:srgbClr val="C00000"/>
                </a:solidFill>
                <a:latin typeface="Calibri" panose="020F0502020204030204" charset="0"/>
                <a:cs typeface="Calibri" panose="020F0502020204030204" charset="0"/>
                <a:sym typeface="+mn-ea"/>
              </a:rPr>
              <a:t>性别是女性的元组都能通过该项检查，因为</a:t>
            </a:r>
            <a:r>
              <a:rPr lang="en-US" altLang="zh-CN" dirty="0" err="1">
                <a:solidFill>
                  <a:srgbClr val="C00000"/>
                </a:solidFill>
                <a:latin typeface="Calibri" panose="020F0502020204030204" charset="0"/>
                <a:cs typeface="Calibri" panose="020F0502020204030204" charset="0"/>
                <a:sym typeface="+mn-ea"/>
              </a:rPr>
              <a:t>Ssex</a:t>
            </a:r>
            <a:r>
              <a:rPr lang="en-US" altLang="zh-CN" dirty="0">
                <a:solidFill>
                  <a:srgbClr val="C00000"/>
                </a:solidFill>
                <a:latin typeface="Calibri" panose="020F0502020204030204" charset="0"/>
                <a:cs typeface="Calibri" panose="020F0502020204030204" charset="0"/>
                <a:sym typeface="+mn-ea"/>
              </a:rPr>
              <a:t>=‘</a:t>
            </a:r>
            <a:r>
              <a:rPr lang="zh-CN" altLang="en-US" dirty="0">
                <a:solidFill>
                  <a:srgbClr val="C00000"/>
                </a:solidFill>
                <a:latin typeface="Calibri" panose="020F0502020204030204" charset="0"/>
                <a:cs typeface="Calibri" panose="020F0502020204030204" charset="0"/>
                <a:sym typeface="+mn-ea"/>
              </a:rPr>
              <a:t>女</a:t>
            </a:r>
            <a:r>
              <a:rPr lang="en-US" altLang="zh-CN" dirty="0">
                <a:solidFill>
                  <a:srgbClr val="C00000"/>
                </a:solidFill>
                <a:latin typeface="Calibri" panose="020F0502020204030204" charset="0"/>
                <a:cs typeface="Calibri" panose="020F0502020204030204" charset="0"/>
                <a:sym typeface="+mn-ea"/>
              </a:rPr>
              <a:t>’</a:t>
            </a:r>
            <a:r>
              <a:rPr lang="zh-CN" altLang="en-US" dirty="0">
                <a:solidFill>
                  <a:srgbClr val="C00000"/>
                </a:solidFill>
                <a:latin typeface="Calibri" panose="020F0502020204030204" charset="0"/>
                <a:cs typeface="Calibri" panose="020F0502020204030204" charset="0"/>
                <a:sym typeface="+mn-ea"/>
              </a:rPr>
              <a:t>成立</a:t>
            </a:r>
            <a:r>
              <a:rPr lang="en-US" altLang="zh-CN" dirty="0">
                <a:solidFill>
                  <a:srgbClr val="C00000"/>
                </a:solidFill>
                <a:latin typeface="Calibri" panose="020F0502020204030204" charset="0"/>
                <a:cs typeface="Calibri" panose="020F0502020204030204" charset="0"/>
                <a:sym typeface="+mn-ea"/>
              </a:rPr>
              <a:t> */</a:t>
            </a:r>
            <a:endParaRPr lang="zh-CN" altLang="en-US" dirty="0">
              <a:solidFill>
                <a:srgbClr val="C00000"/>
              </a:solidFill>
              <a:latin typeface="Calibri" panose="020F0502020204030204" charset="0"/>
              <a:cs typeface="Calibri" panose="020F0502020204030204" charset="0"/>
            </a:endParaRPr>
          </a:p>
          <a:p>
            <a:pPr marL="914400" lvl="2" indent="0">
              <a:lnSpc>
                <a:spcPct val="100000"/>
              </a:lnSpc>
              <a:buNone/>
            </a:pPr>
            <a:r>
              <a:rPr lang="en-US" altLang="zh-CN" dirty="0">
                <a:solidFill>
                  <a:srgbClr val="C00000"/>
                </a:solidFill>
                <a:latin typeface="Calibri" panose="020F0502020204030204" charset="0"/>
                <a:cs typeface="Calibri" panose="020F0502020204030204" charset="0"/>
                <a:sym typeface="+mn-ea"/>
              </a:rPr>
              <a:t>/* </a:t>
            </a:r>
            <a:r>
              <a:rPr lang="zh-CN" altLang="en-US" dirty="0">
                <a:solidFill>
                  <a:srgbClr val="C00000"/>
                </a:solidFill>
                <a:latin typeface="Calibri" panose="020F0502020204030204" charset="0"/>
                <a:cs typeface="Calibri" panose="020F0502020204030204" charset="0"/>
                <a:sym typeface="+mn-ea"/>
              </a:rPr>
              <a:t>当性别是男性时，要通过检查则名字一定不能以</a:t>
            </a:r>
            <a:r>
              <a:rPr lang="en-US" altLang="zh-CN" dirty="0">
                <a:solidFill>
                  <a:srgbClr val="C00000"/>
                </a:solidFill>
                <a:latin typeface="Calibri" panose="020F0502020204030204" charset="0"/>
                <a:cs typeface="Calibri" panose="020F0502020204030204" charset="0"/>
                <a:sym typeface="+mn-ea"/>
              </a:rPr>
              <a:t>Ms.</a:t>
            </a:r>
            <a:r>
              <a:rPr lang="zh-CN" altLang="en-US" dirty="0">
                <a:solidFill>
                  <a:srgbClr val="C00000"/>
                </a:solidFill>
                <a:latin typeface="Calibri" panose="020F0502020204030204" charset="0"/>
                <a:cs typeface="Calibri" panose="020F0502020204030204" charset="0"/>
                <a:sym typeface="+mn-ea"/>
              </a:rPr>
              <a:t>打头</a:t>
            </a:r>
            <a:r>
              <a:rPr lang="en-US" altLang="zh-CN" dirty="0">
                <a:solidFill>
                  <a:srgbClr val="C00000"/>
                </a:solidFill>
                <a:latin typeface="Calibri" panose="020F0502020204030204" charset="0"/>
                <a:cs typeface="Calibri" panose="020F0502020204030204" charset="0"/>
                <a:sym typeface="+mn-ea"/>
              </a:rPr>
              <a:t> */</a:t>
            </a:r>
            <a:endParaRPr lang="zh-CN" altLang="en-US" dirty="0">
              <a:solidFill>
                <a:srgbClr val="C00000"/>
              </a:solidFill>
              <a:latin typeface="Calibri" panose="020F0502020204030204" charset="0"/>
              <a:cs typeface="Calibri" panose="020F0502020204030204" charset="0"/>
            </a:endParaRPr>
          </a:p>
          <a:p>
            <a:pPr marL="457200" lvl="1" indent="0">
              <a:lnSpc>
                <a:spcPct val="100000"/>
              </a:lnSpc>
              <a:spcBef>
                <a:spcPts val="0"/>
              </a:spcBef>
              <a:buNone/>
            </a:pPr>
            <a:r>
              <a:rPr lang="zh-CN" altLang="en-US" sz="2800" dirty="0">
                <a:latin typeface="Calibri" panose="020F0502020204030204" charset="0"/>
                <a:cs typeface="Calibri" panose="020F0502020204030204" charset="0"/>
              </a:rPr>
              <a:t>);</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42</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solidFill>
                  <a:srgbClr val="FF0000"/>
                </a:solidFill>
                <a:latin typeface="Arial" panose="020B0604020202020204" pitchFamily="34" charset="0"/>
                <a:cs typeface="Arial" panose="020B0604020202020204" pitchFamily="34" charset="0"/>
              </a:rPr>
              <a:t>5.4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latin typeface="Arial" panose="020B0604020202020204" pitchFamily="34" charset="0"/>
                <a:cs typeface="Arial" panose="020B0604020202020204" pitchFamily="34" charset="0"/>
              </a:rPr>
              <a:t>5.6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43</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7107" name="Rectangle 2"/>
          <p:cNvSpPr>
            <a:spLocks noGrp="1" noChangeArrowheads="1"/>
          </p:cNvSpPr>
          <p:nvPr>
            <p:ph type="title"/>
          </p:nvPr>
        </p:nvSpPr>
        <p:spPr/>
        <p:txBody>
          <a:bodyPr>
            <a:normAutofit fontScale="90000"/>
          </a:bodyPr>
          <a:lstStyle/>
          <a:p>
            <a:r>
              <a:rPr lang="zh-CN" altLang="en-US" dirty="0"/>
              <a:t>完整性约束命名子句</a:t>
            </a:r>
          </a:p>
        </p:txBody>
      </p:sp>
      <p:sp>
        <p:nvSpPr>
          <p:cNvPr id="47108" name="Rectangle 3"/>
          <p:cNvSpPr>
            <a:spLocks noGrp="1" noChangeArrowheads="1"/>
          </p:cNvSpPr>
          <p:nvPr>
            <p:ph idx="1"/>
          </p:nvPr>
        </p:nvSpPr>
        <p:spPr/>
        <p:txBody>
          <a:bodyPr>
            <a:noAutofit/>
          </a:bodyPr>
          <a:lstStyle/>
          <a:p>
            <a:pPr>
              <a:lnSpc>
                <a:spcPct val="100000"/>
              </a:lnSpc>
              <a:spcBef>
                <a:spcPts val="1000"/>
              </a:spcBef>
            </a:pPr>
            <a:r>
              <a:rPr lang="zh-CN" altLang="en-US" dirty="0">
                <a:latin typeface="Arial" panose="020B0604020202020204" pitchFamily="34" charset="0"/>
                <a:cs typeface="Arial" panose="020B0604020202020204" pitchFamily="34" charset="0"/>
              </a:rPr>
              <a:t>完整性约束的定义与修改</a:t>
            </a:r>
          </a:p>
          <a:p>
            <a:pPr lvl="1">
              <a:lnSpc>
                <a:spcPct val="100000"/>
              </a:lnSpc>
              <a:spcBef>
                <a:spcPts val="1000"/>
              </a:spcBef>
            </a:pPr>
            <a:r>
              <a:rPr lang="zh-CN" altLang="en-US" dirty="0">
                <a:latin typeface="Arial" panose="020B0604020202020204" pitchFamily="34" charset="0"/>
                <a:cs typeface="Arial" panose="020B0604020202020204" pitchFamily="34" charset="0"/>
              </a:rPr>
              <a:t>在</a:t>
            </a:r>
            <a:r>
              <a:rPr lang="en-US" altLang="zh-CN" dirty="0">
                <a:latin typeface="Arial" panose="020B0604020202020204" pitchFamily="34" charset="0"/>
                <a:cs typeface="Arial" panose="020B0604020202020204" pitchFamily="34" charset="0"/>
              </a:rPr>
              <a:t>CREATE TABLE</a:t>
            </a:r>
            <a:r>
              <a:rPr lang="zh-CN" altLang="en-US" dirty="0">
                <a:latin typeface="Arial" panose="020B0604020202020204" pitchFamily="34" charset="0"/>
                <a:cs typeface="Arial" panose="020B0604020202020204" pitchFamily="34" charset="0"/>
              </a:rPr>
              <a:t>语句中定义完整性约束</a:t>
            </a:r>
            <a:endParaRPr lang="en-US" altLang="zh-CN" dirty="0">
              <a:latin typeface="Arial" panose="020B0604020202020204" pitchFamily="34" charset="0"/>
              <a:cs typeface="Arial" panose="020B0604020202020204" pitchFamily="34" charset="0"/>
            </a:endParaRPr>
          </a:p>
          <a:p>
            <a:pPr lvl="1">
              <a:lnSpc>
                <a:spcPct val="100000"/>
              </a:lnSpc>
              <a:spcBef>
                <a:spcPts val="1000"/>
              </a:spcBef>
            </a:pPr>
            <a:r>
              <a:rPr lang="zh-CN" altLang="en-US" dirty="0">
                <a:latin typeface="Arial" panose="020B0604020202020204" pitchFamily="34" charset="0"/>
                <a:cs typeface="Arial" panose="020B0604020202020204" pitchFamily="34" charset="0"/>
              </a:rPr>
              <a:t>在定义完整性约束时，可以对完整性约束进行命名</a:t>
            </a:r>
          </a:p>
          <a:p>
            <a:pPr lvl="1">
              <a:lnSpc>
                <a:spcPct val="100000"/>
              </a:lnSpc>
              <a:spcBef>
                <a:spcPts val="1000"/>
              </a:spcBef>
            </a:pPr>
            <a:r>
              <a:rPr lang="zh-CN" altLang="en-US" dirty="0">
                <a:latin typeface="Arial" panose="020B0604020202020204" pitchFamily="34" charset="0"/>
                <a:cs typeface="Arial" panose="020B0604020202020204" pitchFamily="34" charset="0"/>
              </a:rPr>
              <a:t>使用</a:t>
            </a:r>
            <a:r>
              <a:rPr lang="en-US" altLang="zh-CN" dirty="0">
                <a:latin typeface="Arial" panose="020B0604020202020204" pitchFamily="34" charset="0"/>
                <a:cs typeface="Arial" panose="020B0604020202020204" pitchFamily="34" charset="0"/>
                <a:sym typeface="+mn-ea"/>
              </a:rPr>
              <a:t>ALTER TABLE</a:t>
            </a:r>
            <a:r>
              <a:rPr lang="zh-CN" altLang="en-US" dirty="0">
                <a:latin typeface="Arial" panose="020B0604020202020204" pitchFamily="34" charset="0"/>
                <a:cs typeface="Arial" panose="020B0604020202020204" pitchFamily="34" charset="0"/>
                <a:sym typeface="+mn-ea"/>
              </a:rPr>
              <a:t>语句来修改表中的完整性约束的定义，包括：</a:t>
            </a:r>
          </a:p>
          <a:p>
            <a:pPr lvl="2">
              <a:lnSpc>
                <a:spcPct val="100000"/>
              </a:lnSpc>
            </a:pPr>
            <a:r>
              <a:rPr lang="zh-CN" altLang="en-US" dirty="0">
                <a:latin typeface="Arial" panose="020B0604020202020204" pitchFamily="34" charset="0"/>
                <a:cs typeface="Arial" panose="020B0604020202020204" pitchFamily="34" charset="0"/>
                <a:sym typeface="+mn-ea"/>
              </a:rPr>
              <a:t>定义新的完整性约束</a:t>
            </a:r>
          </a:p>
          <a:p>
            <a:pPr lvl="2">
              <a:lnSpc>
                <a:spcPct val="100000"/>
              </a:lnSpc>
            </a:pPr>
            <a:r>
              <a:rPr lang="zh-CN" altLang="en-US" dirty="0">
                <a:latin typeface="Arial" panose="020B0604020202020204" pitchFamily="34" charset="0"/>
                <a:cs typeface="Arial" panose="020B0604020202020204" pitchFamily="34" charset="0"/>
                <a:sym typeface="+mn-ea"/>
              </a:rPr>
              <a:t>删除现有的</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命名</a:t>
            </a:r>
            <a:r>
              <a:rPr lang="en-US" altLang="zh-CN" dirty="0">
                <a:latin typeface="Arial" panose="020B0604020202020204" pitchFamily="34" charset="0"/>
                <a:cs typeface="Arial" panose="020B0604020202020204" pitchFamily="34" charset="0"/>
                <a:sym typeface="+mn-ea"/>
              </a:rPr>
              <a:t>)</a:t>
            </a:r>
            <a:r>
              <a:rPr lang="zh-CN" altLang="en-US" dirty="0">
                <a:latin typeface="Arial" panose="020B0604020202020204" pitchFamily="34" charset="0"/>
                <a:cs typeface="Arial" panose="020B0604020202020204" pitchFamily="34" charset="0"/>
                <a:sym typeface="+mn-ea"/>
              </a:rPr>
              <a:t>完整性约束</a:t>
            </a:r>
          </a:p>
          <a:p>
            <a:pPr lvl="1">
              <a:lnSpc>
                <a:spcPct val="100000"/>
              </a:lnSpc>
              <a:spcBef>
                <a:spcPts val="1000"/>
              </a:spcBef>
            </a:pPr>
            <a:endParaRPr lang="zh-CN" altLang="en-US" dirty="0">
              <a:latin typeface="Arial" panose="020B0604020202020204" pitchFamily="34" charset="0"/>
              <a:cs typeface="Arial" panose="020B0604020202020204" pitchFamily="34" charset="0"/>
            </a:endParaRPr>
          </a:p>
          <a:p>
            <a:pPr lvl="0">
              <a:lnSpc>
                <a:spcPct val="100000"/>
              </a:lnSpc>
              <a:spcBef>
                <a:spcPts val="1000"/>
              </a:spcBef>
            </a:pPr>
            <a:r>
              <a:rPr lang="zh-CN" altLang="en-US" dirty="0">
                <a:latin typeface="Arial" panose="020B0604020202020204" pitchFamily="34" charset="0"/>
                <a:cs typeface="Arial" panose="020B0604020202020204" pitchFamily="34" charset="0"/>
              </a:rPr>
              <a:t>完整性约束命名子句</a:t>
            </a:r>
            <a:endParaRPr lang="en-US" altLang="zh-CN" dirty="0">
              <a:latin typeface="Arial" panose="020B0604020202020204" pitchFamily="34" charset="0"/>
              <a:cs typeface="Arial" panose="020B0604020202020204" pitchFamily="34" charset="0"/>
            </a:endParaRPr>
          </a:p>
          <a:p>
            <a:pPr marL="914400" lvl="2" indent="0">
              <a:lnSpc>
                <a:spcPct val="100000"/>
              </a:lnSpc>
              <a:spcBef>
                <a:spcPts val="1000"/>
              </a:spcBef>
              <a:buNone/>
            </a:pPr>
            <a:r>
              <a:rPr lang="en-US" altLang="zh-CN" dirty="0">
                <a:solidFill>
                  <a:srgbClr val="FF0000"/>
                </a:solidFill>
                <a:latin typeface="Arial" panose="020B0604020202020204" pitchFamily="34" charset="0"/>
                <a:cs typeface="Arial" panose="020B0604020202020204" pitchFamily="34" charset="0"/>
              </a:rPr>
              <a:t>CONSTRAINT &lt;</a:t>
            </a:r>
            <a:r>
              <a:rPr lang="zh-CN" altLang="en-US" dirty="0">
                <a:solidFill>
                  <a:srgbClr val="FF0000"/>
                </a:solidFill>
                <a:latin typeface="Arial" panose="020B0604020202020204" pitchFamily="34" charset="0"/>
                <a:cs typeface="Arial" panose="020B0604020202020204" pitchFamily="34" charset="0"/>
              </a:rPr>
              <a:t>完整性约束条件名</a:t>
            </a:r>
            <a:r>
              <a:rPr lang="en-US" altLang="zh-CN" dirty="0">
                <a:solidFill>
                  <a:srgbClr val="FF0000"/>
                </a:solidFill>
                <a:latin typeface="Arial" panose="020B0604020202020204" pitchFamily="34" charset="0"/>
                <a:cs typeface="Arial" panose="020B0604020202020204" pitchFamily="34" charset="0"/>
              </a:rPr>
              <a:t>&gt; &lt;</a:t>
            </a:r>
            <a:r>
              <a:rPr lang="zh-CN" altLang="en-US" dirty="0">
                <a:solidFill>
                  <a:srgbClr val="FF0000"/>
                </a:solidFill>
                <a:latin typeface="Arial" panose="020B0604020202020204" pitchFamily="34" charset="0"/>
                <a:cs typeface="Arial" panose="020B0604020202020204" pitchFamily="34" charset="0"/>
              </a:rPr>
              <a:t>完整性约束条件</a:t>
            </a:r>
            <a:r>
              <a:rPr lang="en-US" altLang="zh-CN" dirty="0">
                <a:solidFill>
                  <a:srgbClr val="FF0000"/>
                </a:solidFill>
                <a:latin typeface="Arial" panose="020B0604020202020204" pitchFamily="34" charset="0"/>
                <a:cs typeface="Arial" panose="020B0604020202020204" pitchFamily="34" charset="0"/>
              </a:rPr>
              <a:t>&gt;</a:t>
            </a:r>
            <a:endParaRPr lang="en-US" altLang="zh-CN" dirty="0">
              <a:latin typeface="Arial" panose="020B0604020202020204" pitchFamily="34" charset="0"/>
              <a:cs typeface="Arial" panose="020B0604020202020204" pitchFamily="34" charset="0"/>
            </a:endParaRPr>
          </a:p>
          <a:p>
            <a:pPr lvl="1">
              <a:lnSpc>
                <a:spcPct val="100000"/>
              </a:lnSpc>
              <a:spcBef>
                <a:spcPts val="1000"/>
              </a:spcBef>
            </a:pPr>
            <a:r>
              <a:rPr lang="en-US" altLang="zh-CN" dirty="0">
                <a:latin typeface="Arial" panose="020B0604020202020204" pitchFamily="34" charset="0"/>
                <a:cs typeface="Arial" panose="020B0604020202020204" pitchFamily="34" charset="0"/>
              </a:rPr>
              <a:t>&lt;</a:t>
            </a:r>
            <a:r>
              <a:rPr lang="zh-CN" altLang="en-US" dirty="0">
                <a:latin typeface="Arial" panose="020B0604020202020204" pitchFamily="34" charset="0"/>
                <a:cs typeface="Arial" panose="020B0604020202020204" pitchFamily="34" charset="0"/>
              </a:rPr>
              <a:t>完整性约束条件</a:t>
            </a:r>
            <a:r>
              <a:rPr lang="en-US" altLang="zh-CN" dirty="0">
                <a:latin typeface="Arial" panose="020B0604020202020204" pitchFamily="34" charset="0"/>
                <a:cs typeface="Arial" panose="020B0604020202020204" pitchFamily="34" charset="0"/>
              </a:rPr>
              <a:t>&gt;</a:t>
            </a:r>
            <a:r>
              <a:rPr lang="zh-CN" altLang="en-US" dirty="0">
                <a:latin typeface="Arial" panose="020B0604020202020204" pitchFamily="34" charset="0"/>
                <a:cs typeface="Arial" panose="020B0604020202020204" pitchFamily="34" charset="0"/>
              </a:rPr>
              <a:t>包括</a:t>
            </a:r>
            <a:r>
              <a:rPr lang="en-US" altLang="zh-CN" dirty="0">
                <a:latin typeface="Arial" panose="020B0604020202020204" pitchFamily="34" charset="0"/>
                <a:cs typeface="Arial" panose="020B0604020202020204" pitchFamily="34" charset="0"/>
              </a:rPr>
              <a:t>NOT NULL</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UNIQUE</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PRIMARY KEY</a:t>
            </a:r>
            <a:r>
              <a:rPr lang="zh-CN" altLang="en-US" dirty="0">
                <a:latin typeface="Arial" panose="020B0604020202020204" pitchFamily="34" charset="0"/>
                <a:cs typeface="Arial" panose="020B0604020202020204" pitchFamily="34" charset="0"/>
              </a:rPr>
              <a:t>短语、</a:t>
            </a:r>
            <a:r>
              <a:rPr lang="en-US" altLang="zh-CN" dirty="0">
                <a:latin typeface="Arial" panose="020B0604020202020204" pitchFamily="34" charset="0"/>
                <a:cs typeface="Arial" panose="020B0604020202020204" pitchFamily="34" charset="0"/>
              </a:rPr>
              <a:t>FOREIGN KEY</a:t>
            </a:r>
            <a:r>
              <a:rPr lang="zh-CN" altLang="en-US" dirty="0">
                <a:latin typeface="Arial" panose="020B0604020202020204" pitchFamily="34" charset="0"/>
                <a:cs typeface="Arial" panose="020B0604020202020204" pitchFamily="34" charset="0"/>
              </a:rPr>
              <a:t>短语、</a:t>
            </a:r>
            <a:r>
              <a:rPr lang="en-US" altLang="zh-CN" dirty="0">
                <a:latin typeface="Arial" panose="020B0604020202020204" pitchFamily="34" charset="0"/>
                <a:cs typeface="Arial" panose="020B0604020202020204" pitchFamily="34" charset="0"/>
              </a:rPr>
              <a:t>CHECK</a:t>
            </a:r>
            <a:r>
              <a:rPr lang="zh-CN" altLang="en-US" dirty="0">
                <a:latin typeface="Arial" panose="020B0604020202020204" pitchFamily="34" charset="0"/>
                <a:cs typeface="Arial" panose="020B0604020202020204" pitchFamily="34" charset="0"/>
              </a:rPr>
              <a:t>短语等</a:t>
            </a:r>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8">
                                            <p:txEl>
                                              <p:pRg st="7" end="7"/>
                                            </p:txEl>
                                          </p:spTgt>
                                        </p:tgtEl>
                                        <p:attrNameLst>
                                          <p:attrName>style.visibility</p:attrName>
                                        </p:attrNameLst>
                                      </p:cBhvr>
                                      <p:to>
                                        <p:strVal val="visible"/>
                                      </p:to>
                                    </p:set>
                                    <p:anim calcmode="lin" valueType="num">
                                      <p:cBhvr additive="base">
                                        <p:cTn id="7" dur="500" fill="hold"/>
                                        <p:tgtEl>
                                          <p:spTgt spid="47108">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8">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108">
                                            <p:txEl>
                                              <p:pRg st="8" end="8"/>
                                            </p:txEl>
                                          </p:spTgt>
                                        </p:tgtEl>
                                        <p:attrNameLst>
                                          <p:attrName>style.visibility</p:attrName>
                                        </p:attrNameLst>
                                      </p:cBhvr>
                                      <p:to>
                                        <p:strVal val="visible"/>
                                      </p:to>
                                    </p:set>
                                    <p:anim calcmode="lin" valueType="num">
                                      <p:cBhvr additive="base">
                                        <p:cTn id="11" dur="500" fill="hold"/>
                                        <p:tgtEl>
                                          <p:spTgt spid="47108">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108">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7108">
                                            <p:txEl>
                                              <p:pRg st="9" end="9"/>
                                            </p:txEl>
                                          </p:spTgt>
                                        </p:tgtEl>
                                        <p:attrNameLst>
                                          <p:attrName>style.visibility</p:attrName>
                                        </p:attrNameLst>
                                      </p:cBhvr>
                                      <p:to>
                                        <p:strVal val="visible"/>
                                      </p:to>
                                    </p:set>
                                    <p:anim calcmode="lin" valueType="num">
                                      <p:cBhvr additive="base">
                                        <p:cTn id="15" dur="500" fill="hold"/>
                                        <p:tgtEl>
                                          <p:spTgt spid="47108">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710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8131" name="Rectangle 2"/>
          <p:cNvSpPr>
            <a:spLocks noGrp="1" noChangeArrowheads="1"/>
          </p:cNvSpPr>
          <p:nvPr>
            <p:ph type="title"/>
          </p:nvPr>
        </p:nvSpPr>
        <p:spPr/>
        <p:txBody>
          <a:bodyPr>
            <a:normAutofit fontScale="90000"/>
          </a:bodyPr>
          <a:lstStyle/>
          <a:p>
            <a:r>
              <a:rPr lang="zh-CN" altLang="en-US" dirty="0"/>
              <a:t>创建完整性约束</a:t>
            </a:r>
            <a:r>
              <a:rPr lang="en-US" altLang="zh-CN" dirty="0"/>
              <a:t> 1</a:t>
            </a:r>
          </a:p>
        </p:txBody>
      </p:sp>
      <p:sp>
        <p:nvSpPr>
          <p:cNvPr id="48132" name="Rectangle 3"/>
          <p:cNvSpPr>
            <a:spLocks noGrp="1" noChangeArrowheads="1"/>
          </p:cNvSpPr>
          <p:nvPr>
            <p:ph idx="1"/>
          </p:nvPr>
        </p:nvSpPr>
        <p:spPr/>
        <p:txBody>
          <a:bodyPr>
            <a:noAutofit/>
          </a:bodyPr>
          <a:lstStyle/>
          <a:p>
            <a:pPr>
              <a:lnSpc>
                <a:spcPct val="100000"/>
              </a:lnSpc>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例5.</a:t>
            </a:r>
            <a:r>
              <a:rPr lang="en-US" altLang="zh-CN" dirty="0">
                <a:latin typeface="Calibri" panose="020F0502020204030204" charset="0"/>
                <a:cs typeface="Calibri" panose="020F0502020204030204" charset="0"/>
              </a:rPr>
              <a:t>10] </a:t>
            </a:r>
            <a:r>
              <a:rPr lang="zh-CN" altLang="en-US" dirty="0">
                <a:latin typeface="Calibri" panose="020F0502020204030204" charset="0"/>
                <a:cs typeface="Calibri" panose="020F0502020204030204" charset="0"/>
              </a:rPr>
              <a:t>建立学生登记表</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，要求学号在</a:t>
            </a:r>
            <a:r>
              <a:rPr lang="en-US" altLang="zh-CN" dirty="0">
                <a:latin typeface="Calibri" panose="020F0502020204030204" charset="0"/>
                <a:cs typeface="Calibri" panose="020F0502020204030204" charset="0"/>
              </a:rPr>
              <a:t>90000~99999</a:t>
            </a:r>
            <a:r>
              <a:rPr lang="zh-CN" altLang="en-US" dirty="0">
                <a:latin typeface="Calibri" panose="020F0502020204030204" charset="0"/>
                <a:cs typeface="Calibri" panose="020F0502020204030204" charset="0"/>
              </a:rPr>
              <a:t>之间，姓名不能取空值，年龄小于</a:t>
            </a:r>
            <a:r>
              <a:rPr lang="en-US" altLang="zh-CN" dirty="0">
                <a:latin typeface="Calibri" panose="020F0502020204030204" charset="0"/>
                <a:cs typeface="Calibri" panose="020F0502020204030204" charset="0"/>
              </a:rPr>
              <a:t>30</a:t>
            </a:r>
            <a:r>
              <a:rPr lang="zh-CN" altLang="en-US" dirty="0">
                <a:latin typeface="Calibri" panose="020F0502020204030204" charset="0"/>
                <a:cs typeface="Calibri" panose="020F0502020204030204" charset="0"/>
              </a:rPr>
              <a:t>，性别只能是</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男</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或</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女</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a:t>
            </a:r>
          </a:p>
          <a:p>
            <a:pPr marL="352425" lvl="1" indent="0">
              <a:lnSpc>
                <a:spcPct val="100000"/>
              </a:lnSpc>
              <a:spcBef>
                <a:spcPts val="1000"/>
              </a:spcBef>
              <a:buNone/>
            </a:pPr>
            <a:r>
              <a:rPr lang="en-US" altLang="zh-CN" dirty="0">
                <a:latin typeface="Calibri" panose="020F0502020204030204" charset="0"/>
                <a:cs typeface="Calibri" panose="020F0502020204030204" charset="0"/>
              </a:rPr>
              <a:t>CREATE TABLE Student </a:t>
            </a:r>
            <a:r>
              <a:rPr lang="zh-CN" altLang="en-US" dirty="0">
                <a:latin typeface="Calibri" panose="020F0502020204030204" charset="0"/>
                <a:cs typeface="Calibri" panose="020F0502020204030204" charset="0"/>
              </a:rPr>
              <a:t>(</a:t>
            </a:r>
          </a:p>
          <a:p>
            <a:pPr marL="809625" lvl="2" indent="0">
              <a:lnSpc>
                <a:spcPct val="100000"/>
              </a:lnSpc>
              <a:buNone/>
            </a:pPr>
            <a:r>
              <a:rPr lang="en-US" altLang="zh-CN" dirty="0" err="1">
                <a:latin typeface="Calibri" panose="020F0502020204030204" charset="0"/>
                <a:cs typeface="Calibri" panose="020F0502020204030204" charset="0"/>
              </a:rPr>
              <a:t>Sno</a:t>
            </a:r>
            <a:r>
              <a:rPr lang="en-US" altLang="zh-CN" dirty="0">
                <a:latin typeface="Calibri" panose="020F0502020204030204" charset="0"/>
                <a:cs typeface="Calibri" panose="020F0502020204030204" charset="0"/>
              </a:rPr>
              <a:t>  NUMERIC</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6</a:t>
            </a:r>
            <a:r>
              <a:rPr lang="zh-CN" altLang="en-US" dirty="0">
                <a:latin typeface="Calibri" panose="020F0502020204030204" charset="0"/>
                <a:cs typeface="Calibri" panose="020F0502020204030204" charset="0"/>
              </a:rPr>
              <a:t>)</a:t>
            </a:r>
          </a:p>
          <a:p>
            <a:pPr marL="809625" lvl="2" indent="0">
              <a:lnSpc>
                <a:spcPct val="100000"/>
              </a:lnSpc>
              <a:buNone/>
            </a:pPr>
            <a:r>
              <a:rPr lang="en-US" altLang="zh-CN" dirty="0">
                <a:solidFill>
                  <a:srgbClr val="FF0000"/>
                </a:solidFill>
                <a:latin typeface="Calibri" panose="020F0502020204030204" charset="0"/>
                <a:cs typeface="Calibri" panose="020F0502020204030204" charset="0"/>
              </a:rPr>
              <a:t>CONSTRAINT C1</a:t>
            </a:r>
            <a:r>
              <a:rPr lang="en-US" altLang="zh-CN" dirty="0">
                <a:latin typeface="Calibri" panose="020F0502020204030204" charset="0"/>
                <a:cs typeface="Calibri" panose="020F0502020204030204" charset="0"/>
              </a:rPr>
              <a:t> CHECK </a:t>
            </a:r>
            <a:r>
              <a:rPr lang="zh-CN" altLang="en-US" dirty="0">
                <a:latin typeface="Calibri" panose="020F0502020204030204" charset="0"/>
                <a:cs typeface="Calibri" panose="020F0502020204030204" charset="0"/>
              </a:rPr>
              <a:t>(</a:t>
            </a:r>
            <a:r>
              <a:rPr lang="en-US" altLang="zh-CN" dirty="0" err="1">
                <a:latin typeface="Calibri" panose="020F0502020204030204" charset="0"/>
                <a:cs typeface="Calibri" panose="020F0502020204030204" charset="0"/>
              </a:rPr>
              <a:t>Sno</a:t>
            </a:r>
            <a:r>
              <a:rPr lang="en-US" altLang="zh-CN" dirty="0">
                <a:latin typeface="Calibri" panose="020F0502020204030204" charset="0"/>
                <a:cs typeface="Calibri" panose="020F0502020204030204" charset="0"/>
              </a:rPr>
              <a:t> BETWEEN 90000 AND 99999</a:t>
            </a:r>
            <a:r>
              <a:rPr lang="zh-CN" altLang="en-US" dirty="0">
                <a:latin typeface="Calibri" panose="020F0502020204030204" charset="0"/>
                <a:cs typeface="Calibri" panose="020F0502020204030204" charset="0"/>
              </a:rPr>
              <a:t>),</a:t>
            </a:r>
          </a:p>
          <a:p>
            <a:pPr marL="809625" lvl="2" indent="0">
              <a:lnSpc>
                <a:spcPct val="100000"/>
              </a:lnSpc>
              <a:spcBef>
                <a:spcPts val="800"/>
              </a:spcBef>
              <a:buNone/>
            </a:pPr>
            <a:r>
              <a:rPr lang="en-US" altLang="zh-CN" dirty="0" err="1">
                <a:latin typeface="Calibri" panose="020F0502020204030204" charset="0"/>
                <a:cs typeface="Calibri" panose="020F0502020204030204" charset="0"/>
              </a:rPr>
              <a:t>Sname</a:t>
            </a:r>
            <a:r>
              <a:rPr lang="en-US" altLang="zh-CN" dirty="0">
                <a:latin typeface="Calibri" panose="020F0502020204030204" charset="0"/>
                <a:cs typeface="Calibri" panose="020F0502020204030204" charset="0"/>
              </a:rPr>
              <a:t>  CHAR</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20</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a:t>
            </a:r>
            <a:r>
              <a:rPr lang="en-US" altLang="zh-CN" dirty="0">
                <a:solidFill>
                  <a:srgbClr val="FF0000"/>
                </a:solidFill>
                <a:latin typeface="Calibri" panose="020F0502020204030204" charset="0"/>
                <a:cs typeface="Calibri" panose="020F0502020204030204" charset="0"/>
              </a:rPr>
              <a:t>CONSTRAINT C2</a:t>
            </a:r>
            <a:r>
              <a:rPr lang="en-US" altLang="zh-CN" dirty="0">
                <a:latin typeface="Calibri" panose="020F0502020204030204" charset="0"/>
                <a:cs typeface="Calibri" panose="020F0502020204030204" charset="0"/>
              </a:rPr>
              <a:t> NOT NULL</a:t>
            </a:r>
            <a:r>
              <a:rPr lang="zh-CN" altLang="en-US" dirty="0">
                <a:latin typeface="Calibri" panose="020F0502020204030204" charset="0"/>
                <a:cs typeface="Calibri" panose="020F0502020204030204" charset="0"/>
              </a:rPr>
              <a:t>,</a:t>
            </a:r>
          </a:p>
          <a:p>
            <a:pPr marL="809625" lvl="2" indent="0">
              <a:lnSpc>
                <a:spcPct val="100000"/>
              </a:lnSpc>
              <a:spcBef>
                <a:spcPts val="800"/>
              </a:spcBef>
              <a:buNone/>
            </a:pPr>
            <a:r>
              <a:rPr lang="en-US" altLang="zh-CN" dirty="0">
                <a:latin typeface="Calibri" panose="020F0502020204030204" charset="0"/>
                <a:cs typeface="Calibri" panose="020F0502020204030204" charset="0"/>
              </a:rPr>
              <a:t>Sage  NUMERIC</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3</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a:t>
            </a:r>
            <a:r>
              <a:rPr lang="en-US" altLang="zh-CN" dirty="0">
                <a:solidFill>
                  <a:srgbClr val="FF0000"/>
                </a:solidFill>
                <a:latin typeface="Calibri" panose="020F0502020204030204" charset="0"/>
                <a:cs typeface="Calibri" panose="020F0502020204030204" charset="0"/>
              </a:rPr>
              <a:t>CONSTRAINT C3</a:t>
            </a:r>
            <a:r>
              <a:rPr lang="en-US" altLang="zh-CN" dirty="0">
                <a:latin typeface="Calibri" panose="020F0502020204030204" charset="0"/>
                <a:cs typeface="Calibri" panose="020F0502020204030204" charset="0"/>
              </a:rPr>
              <a:t> CHECK </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Sage &lt; 30</a:t>
            </a:r>
            <a:r>
              <a:rPr lang="zh-CN" altLang="en-US" dirty="0">
                <a:latin typeface="Calibri" panose="020F0502020204030204" charset="0"/>
                <a:cs typeface="Calibri" panose="020F0502020204030204" charset="0"/>
              </a:rPr>
              <a:t>),</a:t>
            </a:r>
          </a:p>
          <a:p>
            <a:pPr marL="809625" lvl="2" indent="0">
              <a:lnSpc>
                <a:spcPct val="100000"/>
              </a:lnSpc>
              <a:spcBef>
                <a:spcPts val="800"/>
              </a:spcBef>
              <a:buNone/>
            </a:pPr>
            <a:r>
              <a:rPr lang="en-US" altLang="zh-CN" dirty="0" err="1">
                <a:latin typeface="Calibri" panose="020F0502020204030204" charset="0"/>
                <a:cs typeface="Calibri" panose="020F0502020204030204" charset="0"/>
              </a:rPr>
              <a:t>Ssex</a:t>
            </a:r>
            <a:r>
              <a:rPr lang="en-US" altLang="zh-CN" dirty="0">
                <a:latin typeface="Calibri" panose="020F0502020204030204" charset="0"/>
                <a:cs typeface="Calibri" panose="020F0502020204030204" charset="0"/>
              </a:rPr>
              <a:t>  CHAR</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2</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a:t>
            </a:r>
            <a:r>
              <a:rPr lang="en-US" altLang="zh-CN" dirty="0">
                <a:solidFill>
                  <a:srgbClr val="FF0000"/>
                </a:solidFill>
                <a:latin typeface="Calibri" panose="020F0502020204030204" charset="0"/>
                <a:cs typeface="Calibri" panose="020F0502020204030204" charset="0"/>
              </a:rPr>
              <a:t>CONSTRAINT C4</a:t>
            </a:r>
            <a:r>
              <a:rPr lang="en-US" altLang="zh-CN" dirty="0">
                <a:latin typeface="Calibri" panose="020F0502020204030204" charset="0"/>
                <a:cs typeface="Calibri" panose="020F0502020204030204" charset="0"/>
              </a:rPr>
              <a:t> CHECK </a:t>
            </a:r>
            <a:r>
              <a:rPr lang="zh-CN" altLang="en-US" dirty="0">
                <a:latin typeface="Calibri" panose="020F0502020204030204" charset="0"/>
                <a:cs typeface="Calibri" panose="020F0502020204030204" charset="0"/>
              </a:rPr>
              <a:t>(</a:t>
            </a:r>
            <a:r>
              <a:rPr lang="en-US" altLang="zh-CN" dirty="0" err="1">
                <a:latin typeface="Calibri" panose="020F0502020204030204" charset="0"/>
                <a:cs typeface="Calibri" panose="020F0502020204030204" charset="0"/>
              </a:rPr>
              <a:t>Ssex</a:t>
            </a:r>
            <a:r>
              <a:rPr lang="en-US" altLang="zh-CN" dirty="0">
                <a:latin typeface="Calibri" panose="020F0502020204030204" charset="0"/>
                <a:cs typeface="Calibri" panose="020F0502020204030204" charset="0"/>
              </a:rPr>
              <a:t> IN </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男</a:t>
            </a:r>
            <a:r>
              <a:rPr lang="en-US" altLang="zh-CN" dirty="0">
                <a:latin typeface="Calibri" panose="020F0502020204030204" charset="0"/>
                <a:cs typeface="Calibri" panose="020F0502020204030204" charset="0"/>
              </a:rPr>
              <a:t>’, '</a:t>
            </a:r>
            <a:r>
              <a:rPr lang="zh-CN" altLang="en-US" dirty="0">
                <a:latin typeface="Calibri" panose="020F0502020204030204" charset="0"/>
                <a:cs typeface="Calibri" panose="020F0502020204030204" charset="0"/>
              </a:rPr>
              <a:t>女</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a:t>
            </a:r>
          </a:p>
          <a:p>
            <a:pPr marL="809625" lvl="2" indent="0">
              <a:lnSpc>
                <a:spcPct val="100000"/>
              </a:lnSpc>
              <a:spcBef>
                <a:spcPts val="800"/>
              </a:spcBef>
              <a:buNone/>
            </a:pPr>
            <a:r>
              <a:rPr lang="en-US" altLang="zh-CN" dirty="0">
                <a:solidFill>
                  <a:srgbClr val="FF0000"/>
                </a:solidFill>
                <a:latin typeface="Calibri" panose="020F0502020204030204" charset="0"/>
                <a:cs typeface="Calibri" panose="020F0502020204030204" charset="0"/>
              </a:rPr>
              <a:t>CONSTRAINT </a:t>
            </a:r>
            <a:r>
              <a:rPr lang="en-US" altLang="zh-CN" dirty="0" err="1">
                <a:solidFill>
                  <a:srgbClr val="FF0000"/>
                </a:solidFill>
                <a:latin typeface="Calibri" panose="020F0502020204030204" charset="0"/>
                <a:cs typeface="Calibri" panose="020F0502020204030204" charset="0"/>
              </a:rPr>
              <a:t>StudentKey</a:t>
            </a:r>
            <a:r>
              <a:rPr lang="en-US" altLang="zh-CN" dirty="0">
                <a:latin typeface="Calibri" panose="020F0502020204030204" charset="0"/>
                <a:cs typeface="Calibri" panose="020F0502020204030204" charset="0"/>
              </a:rPr>
              <a:t> PRIMARY KEY</a:t>
            </a:r>
            <a:r>
              <a:rPr lang="zh-CN" altLang="en-US" dirty="0">
                <a:latin typeface="Calibri" panose="020F0502020204030204" charset="0"/>
                <a:cs typeface="Calibri" panose="020F0502020204030204" charset="0"/>
              </a:rPr>
              <a:t>(</a:t>
            </a:r>
            <a:r>
              <a:rPr lang="en-US" altLang="zh-CN" dirty="0" err="1">
                <a:latin typeface="Calibri" panose="020F0502020204030204" charset="0"/>
                <a:cs typeface="Calibri" panose="020F0502020204030204" charset="0"/>
              </a:rPr>
              <a:t>Sno</a:t>
            </a:r>
            <a:r>
              <a:rPr lang="zh-CN" altLang="en-US" dirty="0">
                <a:latin typeface="Calibri" panose="020F0502020204030204" charset="0"/>
                <a:cs typeface="Calibri" panose="020F0502020204030204" charset="0"/>
              </a:rPr>
              <a:t>)</a:t>
            </a:r>
          </a:p>
          <a:p>
            <a:pPr marL="352425" lvl="1" indent="0">
              <a:lnSpc>
                <a:spcPct val="100000"/>
              </a:lnSpc>
              <a:buNone/>
            </a:pPr>
            <a:r>
              <a:rPr lang="zh-CN" altLang="en-US" dirty="0">
                <a:latin typeface="Calibri" panose="020F0502020204030204" charset="0"/>
                <a:cs typeface="Calibri" panose="020F0502020204030204" charset="0"/>
              </a:rPr>
              <a:t>);</a:t>
            </a:r>
          </a:p>
          <a:p>
            <a:pPr lvl="1">
              <a:lnSpc>
                <a:spcPct val="100000"/>
              </a:lnSpc>
              <a:spcBef>
                <a:spcPts val="1000"/>
              </a:spcBef>
            </a:pPr>
            <a:r>
              <a:rPr lang="zh-CN" altLang="en-US" dirty="0">
                <a:latin typeface="Calibri" panose="020F0502020204030204" charset="0"/>
                <a:cs typeface="Calibri" panose="020F0502020204030204" charset="0"/>
              </a:rPr>
              <a:t>在</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表上建立了</a:t>
            </a:r>
            <a:r>
              <a:rPr lang="en-US" altLang="zh-CN" dirty="0">
                <a:latin typeface="Calibri" panose="020F0502020204030204" charset="0"/>
                <a:cs typeface="Calibri" panose="020F0502020204030204" charset="0"/>
              </a:rPr>
              <a:t>5</a:t>
            </a:r>
            <a:r>
              <a:rPr lang="zh-CN" altLang="en-US" dirty="0">
                <a:latin typeface="Calibri" panose="020F0502020204030204" charset="0"/>
                <a:cs typeface="Calibri" panose="020F0502020204030204" charset="0"/>
              </a:rPr>
              <a:t>个约束条件，包括：主码约束（命名为</a:t>
            </a:r>
            <a:r>
              <a:rPr lang="en-US" altLang="zh-CN" dirty="0" err="1">
                <a:latin typeface="Calibri" panose="020F0502020204030204" charset="0"/>
                <a:cs typeface="Calibri" panose="020F0502020204030204" charset="0"/>
              </a:rPr>
              <a:t>StudentKey</a:t>
            </a:r>
            <a:r>
              <a:rPr lang="zh-CN" altLang="en-US" dirty="0">
                <a:latin typeface="Calibri" panose="020F0502020204030204" charset="0"/>
                <a:cs typeface="Calibri" panose="020F0502020204030204" charset="0"/>
              </a:rPr>
              <a:t>）以及</a:t>
            </a:r>
            <a:r>
              <a:rPr lang="en-US" altLang="zh-CN" dirty="0">
                <a:latin typeface="Calibri" panose="020F0502020204030204" charset="0"/>
                <a:cs typeface="Calibri" panose="020F0502020204030204" charset="0"/>
              </a:rPr>
              <a:t>C1</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C2</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C3</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C4</a:t>
            </a:r>
            <a:r>
              <a:rPr lang="zh-CN" altLang="en-US" dirty="0">
                <a:latin typeface="Calibri" panose="020F0502020204030204" charset="0"/>
                <a:cs typeface="Calibri" panose="020F0502020204030204" charset="0"/>
              </a:rPr>
              <a:t>四个列级约束。</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45</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9155" name="Rectangle 2"/>
          <p:cNvSpPr>
            <a:spLocks noGrp="1" noChangeArrowheads="1"/>
          </p:cNvSpPr>
          <p:nvPr>
            <p:ph type="title"/>
          </p:nvPr>
        </p:nvSpPr>
        <p:spPr/>
        <p:txBody>
          <a:bodyPr>
            <a:normAutofit fontScale="90000"/>
          </a:bodyPr>
          <a:lstStyle/>
          <a:p>
            <a:r>
              <a:rPr lang="zh-CN" altLang="en-US" dirty="0"/>
              <a:t>创建完整性约束</a:t>
            </a:r>
            <a:r>
              <a:rPr lang="en-US" altLang="zh-CN" dirty="0"/>
              <a:t> 2</a:t>
            </a:r>
          </a:p>
        </p:txBody>
      </p:sp>
      <p:sp>
        <p:nvSpPr>
          <p:cNvPr id="49156" name="Rectangle 3"/>
          <p:cNvSpPr>
            <a:spLocks noGrp="1" noChangeArrowheads="1"/>
          </p:cNvSpPr>
          <p:nvPr>
            <p:ph idx="1"/>
          </p:nvPr>
        </p:nvSpPr>
        <p:spPr/>
        <p:txBody>
          <a:bodyPr>
            <a:noAutofit/>
          </a:bodyPr>
          <a:lstStyle/>
          <a:p>
            <a:pPr>
              <a:lnSpc>
                <a:spcPct val="100000"/>
              </a:lnSpc>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a:t>
            </a:r>
            <a:r>
              <a:rPr lang="en-US" altLang="zh-CN" sz="2800" dirty="0">
                <a:latin typeface="Calibri" panose="020F0502020204030204" charset="0"/>
                <a:cs typeface="Calibri" panose="020F0502020204030204" charset="0"/>
              </a:rPr>
              <a:t>5.11] </a:t>
            </a:r>
            <a:r>
              <a:rPr lang="zh-CN" altLang="en-US" sz="2800" dirty="0">
                <a:latin typeface="Calibri" panose="020F0502020204030204" charset="0"/>
                <a:cs typeface="Calibri" panose="020F0502020204030204" charset="0"/>
              </a:rPr>
              <a:t>建立教师表</a:t>
            </a:r>
            <a:r>
              <a:rPr lang="en-US" altLang="zh-CN" sz="2800" dirty="0">
                <a:latin typeface="Calibri" panose="020F0502020204030204" charset="0"/>
                <a:cs typeface="Calibri" panose="020F0502020204030204" charset="0"/>
              </a:rPr>
              <a:t>TEACHER</a:t>
            </a:r>
            <a:r>
              <a:rPr lang="zh-CN" altLang="en-US" sz="2800" dirty="0">
                <a:latin typeface="Calibri" panose="020F0502020204030204" charset="0"/>
                <a:cs typeface="Calibri" panose="020F0502020204030204" charset="0"/>
              </a:rPr>
              <a:t>，要求每个教师的应发工资不低于</a:t>
            </a:r>
            <a:r>
              <a:rPr lang="en-US" altLang="zh-CN" sz="2800" dirty="0">
                <a:latin typeface="Calibri" panose="020F0502020204030204" charset="0"/>
                <a:cs typeface="Calibri" panose="020F0502020204030204" charset="0"/>
              </a:rPr>
              <a:t>3000</a:t>
            </a:r>
            <a:r>
              <a:rPr lang="zh-CN" altLang="en-US" sz="2800" dirty="0">
                <a:latin typeface="Calibri" panose="020F0502020204030204" charset="0"/>
                <a:cs typeface="Calibri" panose="020F0502020204030204" charset="0"/>
              </a:rPr>
              <a:t>元。应发工资是工资列</a:t>
            </a:r>
            <a:r>
              <a:rPr lang="en-US" altLang="zh-CN" sz="2800" dirty="0">
                <a:latin typeface="Calibri" panose="020F0502020204030204" charset="0"/>
                <a:cs typeface="Calibri" panose="020F0502020204030204" charset="0"/>
              </a:rPr>
              <a:t>Sal</a:t>
            </a:r>
            <a:r>
              <a:rPr lang="zh-CN" altLang="en-US" sz="2800" dirty="0">
                <a:latin typeface="Calibri" panose="020F0502020204030204" charset="0"/>
                <a:cs typeface="Calibri" panose="020F0502020204030204" charset="0"/>
              </a:rPr>
              <a:t>与扣除项</a:t>
            </a:r>
            <a:r>
              <a:rPr lang="en-US" altLang="zh-CN" sz="2800" dirty="0">
                <a:latin typeface="Calibri" panose="020F0502020204030204" charset="0"/>
                <a:cs typeface="Calibri" panose="020F0502020204030204" charset="0"/>
              </a:rPr>
              <a:t>Deduct</a:t>
            </a:r>
            <a:r>
              <a:rPr lang="zh-CN" altLang="en-US" sz="2800" dirty="0">
                <a:latin typeface="Calibri" panose="020F0502020204030204" charset="0"/>
                <a:cs typeface="Calibri" panose="020F0502020204030204" charset="0"/>
              </a:rPr>
              <a:t>之和。</a:t>
            </a:r>
          </a:p>
          <a:p>
            <a:pPr marL="457200" lvl="1" indent="0">
              <a:lnSpc>
                <a:spcPct val="100000"/>
              </a:lnSpc>
              <a:buNone/>
            </a:pPr>
            <a:r>
              <a:rPr lang="en-US" altLang="zh-CN" sz="2800" dirty="0">
                <a:latin typeface="Calibri" panose="020F0502020204030204" charset="0"/>
                <a:cs typeface="Calibri" panose="020F0502020204030204" charset="0"/>
              </a:rPr>
              <a:t>CREATE TABLE TEACHER </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a:latin typeface="Calibri" panose="020F0502020204030204" charset="0"/>
                <a:cs typeface="Calibri" panose="020F0502020204030204" charset="0"/>
              </a:rPr>
              <a:t>Eno    NUMERIC</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4</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PRIMARY KEY,    /*</a:t>
            </a:r>
            <a:r>
              <a:rPr lang="zh-CN" altLang="en-US" sz="2800" dirty="0">
                <a:latin typeface="Calibri" panose="020F0502020204030204" charset="0"/>
                <a:cs typeface="Calibri" panose="020F0502020204030204" charset="0"/>
              </a:rPr>
              <a:t>在列级定义主码</a:t>
            </a:r>
            <a:r>
              <a:rPr lang="en-US" altLang="zh-CN" sz="2800" dirty="0">
                <a:latin typeface="Calibri" panose="020F0502020204030204" charset="0"/>
                <a:cs typeface="Calibri" panose="020F0502020204030204" charset="0"/>
              </a:rPr>
              <a:t>*/</a:t>
            </a:r>
            <a:endParaRPr lang="zh-CN" altLang="en-US" sz="2800" dirty="0">
              <a:latin typeface="Calibri" panose="020F0502020204030204" charset="0"/>
              <a:cs typeface="Calibri" panose="020F0502020204030204" charset="0"/>
            </a:endParaRPr>
          </a:p>
          <a:p>
            <a:pPr marL="914400" lvl="2" indent="0">
              <a:lnSpc>
                <a:spcPct val="100000"/>
              </a:lnSpc>
              <a:buNone/>
            </a:pPr>
            <a:r>
              <a:rPr lang="en-US" altLang="zh-CN" sz="2800" dirty="0" err="1">
                <a:latin typeface="Calibri" panose="020F0502020204030204" charset="0"/>
                <a:cs typeface="Calibri" panose="020F0502020204030204" charset="0"/>
              </a:rPr>
              <a:t>Ename</a:t>
            </a:r>
            <a:r>
              <a:rPr lang="en-US" altLang="zh-CN" sz="2800" dirty="0">
                <a:latin typeface="Calibri" panose="020F0502020204030204" charset="0"/>
                <a:cs typeface="Calibri" panose="020F0502020204030204" charset="0"/>
              </a:rPr>
              <a:t>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10</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a:latin typeface="Calibri" panose="020F0502020204030204" charset="0"/>
                <a:cs typeface="Calibri" panose="020F0502020204030204" charset="0"/>
              </a:rPr>
              <a:t>Job     CHAR</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8</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a:latin typeface="Calibri" panose="020F0502020204030204" charset="0"/>
                <a:cs typeface="Calibri" panose="020F0502020204030204" charset="0"/>
              </a:rPr>
              <a:t>Sal     NUMERIC</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7</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2</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a:latin typeface="Calibri" panose="020F0502020204030204" charset="0"/>
                <a:cs typeface="Calibri" panose="020F0502020204030204" charset="0"/>
              </a:rPr>
              <a:t>Deduct  NUMERIC</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7</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2</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err="1">
                <a:latin typeface="Calibri" panose="020F0502020204030204" charset="0"/>
                <a:cs typeface="Calibri" panose="020F0502020204030204" charset="0"/>
              </a:rPr>
              <a:t>Deptno</a:t>
            </a:r>
            <a:r>
              <a:rPr lang="en-US" altLang="zh-CN" sz="2800" dirty="0">
                <a:latin typeface="Calibri" panose="020F0502020204030204" charset="0"/>
                <a:cs typeface="Calibri" panose="020F0502020204030204" charset="0"/>
              </a:rPr>
              <a:t>  NUMERIC</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2</a:t>
            </a:r>
            <a:r>
              <a:rPr lang="zh-CN" altLang="en-US" sz="2800" dirty="0">
                <a:latin typeface="Calibri" panose="020F0502020204030204" charset="0"/>
                <a:cs typeface="Calibri" panose="020F0502020204030204" charset="0"/>
              </a:rPr>
              <a:t>),</a:t>
            </a:r>
          </a:p>
          <a:p>
            <a:pPr marL="914400" lvl="2" indent="0">
              <a:lnSpc>
                <a:spcPct val="100000"/>
              </a:lnSpc>
              <a:spcBef>
                <a:spcPts val="600"/>
              </a:spcBef>
              <a:buNone/>
            </a:pPr>
            <a:r>
              <a:rPr lang="en-US" altLang="zh-CN" sz="2800" dirty="0">
                <a:solidFill>
                  <a:srgbClr val="FF0000"/>
                </a:solidFill>
                <a:latin typeface="Calibri" panose="020F0502020204030204" charset="0"/>
                <a:cs typeface="Calibri" panose="020F0502020204030204" charset="0"/>
              </a:rPr>
              <a:t>CONSTRAINT </a:t>
            </a:r>
            <a:r>
              <a:rPr lang="en-US" altLang="zh-CN" sz="2800" dirty="0" err="1">
                <a:solidFill>
                  <a:srgbClr val="FF0000"/>
                </a:solidFill>
                <a:latin typeface="Calibri" panose="020F0502020204030204" charset="0"/>
                <a:cs typeface="Calibri" panose="020F0502020204030204" charset="0"/>
              </a:rPr>
              <a:t>TEACHERFKey</a:t>
            </a:r>
            <a:r>
              <a:rPr lang="en-US" altLang="zh-CN" sz="2800" dirty="0">
                <a:latin typeface="Calibri" panose="020F0502020204030204" charset="0"/>
                <a:cs typeface="Calibri" panose="020F0502020204030204" charset="0"/>
              </a:rPr>
              <a:t> </a:t>
            </a:r>
          </a:p>
          <a:p>
            <a:pPr marL="1371600" lvl="3" indent="0">
              <a:lnSpc>
                <a:spcPct val="100000"/>
              </a:lnSpc>
              <a:spcAft>
                <a:spcPts val="600"/>
              </a:spcAft>
              <a:buNone/>
            </a:pPr>
            <a:r>
              <a:rPr lang="en-US" altLang="zh-CN" sz="2800" dirty="0">
                <a:latin typeface="Calibri" panose="020F0502020204030204" charset="0"/>
                <a:cs typeface="Calibri" panose="020F0502020204030204" charset="0"/>
              </a:rPr>
              <a:t>FOREIGN KEY </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Deptno</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REFERENCES  DEPT</a:t>
            </a:r>
            <a:r>
              <a:rPr lang="zh-CN" altLang="en-US" sz="2800" dirty="0">
                <a:latin typeface="Calibri" panose="020F0502020204030204" charset="0"/>
                <a:cs typeface="Calibri" panose="020F0502020204030204" charset="0"/>
              </a:rPr>
              <a:t>(</a:t>
            </a:r>
            <a:r>
              <a:rPr lang="en-US" altLang="zh-CN" sz="2800" dirty="0" err="1">
                <a:latin typeface="Calibri" panose="020F0502020204030204" charset="0"/>
                <a:cs typeface="Calibri" panose="020F0502020204030204" charset="0"/>
              </a:rPr>
              <a:t>Deptno</a:t>
            </a:r>
            <a:r>
              <a:rPr lang="zh-CN" altLang="en-US" sz="2800" dirty="0">
                <a:latin typeface="Calibri" panose="020F0502020204030204" charset="0"/>
                <a:cs typeface="Calibri" panose="020F0502020204030204" charset="0"/>
              </a:rPr>
              <a:t>),</a:t>
            </a:r>
          </a:p>
          <a:p>
            <a:pPr marL="914400" lvl="2" indent="0">
              <a:lnSpc>
                <a:spcPct val="100000"/>
              </a:lnSpc>
              <a:buNone/>
            </a:pPr>
            <a:r>
              <a:rPr lang="en-US" altLang="zh-CN" sz="2800" dirty="0">
                <a:solidFill>
                  <a:srgbClr val="FF0000"/>
                </a:solidFill>
                <a:latin typeface="Calibri" panose="020F0502020204030204" charset="0"/>
                <a:cs typeface="Calibri" panose="020F0502020204030204" charset="0"/>
              </a:rPr>
              <a:t>CONSTRAINT  C1</a:t>
            </a:r>
            <a:r>
              <a:rPr lang="en-US" altLang="zh-CN" sz="2800" dirty="0">
                <a:latin typeface="Calibri" panose="020F0502020204030204" charset="0"/>
                <a:cs typeface="Calibri" panose="020F0502020204030204" charset="0"/>
              </a:rPr>
              <a:t>  CHECK </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Sal + Deduct &gt;= 3000</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a:t>
            </a:r>
            <a:endParaRPr lang="zh-CN" altLang="en-US" sz="2800" dirty="0">
              <a:latin typeface="Calibri" panose="020F0502020204030204" charset="0"/>
              <a:cs typeface="Calibri" panose="020F0502020204030204" charset="0"/>
            </a:endParaRPr>
          </a:p>
          <a:p>
            <a:pPr marL="457200" lvl="1" indent="0">
              <a:lnSpc>
                <a:spcPct val="100000"/>
              </a:lnSpc>
              <a:buNone/>
            </a:pPr>
            <a:r>
              <a:rPr lang="zh-CN" altLang="en-US" sz="2800" dirty="0">
                <a:latin typeface="Calibri" panose="020F0502020204030204" charset="0"/>
                <a:cs typeface="Calibri" panose="020F0502020204030204" charset="0"/>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46</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50179" name="Rectangle 2"/>
          <p:cNvSpPr>
            <a:spLocks noGrp="1" noChangeArrowheads="1"/>
          </p:cNvSpPr>
          <p:nvPr>
            <p:ph type="title"/>
          </p:nvPr>
        </p:nvSpPr>
        <p:spPr/>
        <p:txBody>
          <a:bodyPr>
            <a:normAutofit fontScale="90000"/>
          </a:bodyPr>
          <a:lstStyle/>
          <a:p>
            <a:r>
              <a:rPr lang="zh-CN" altLang="en-US" dirty="0"/>
              <a:t>修改完整性约束</a:t>
            </a:r>
            <a:endParaRPr lang="en-US" altLang="zh-CN" dirty="0"/>
          </a:p>
        </p:txBody>
      </p:sp>
      <p:sp>
        <p:nvSpPr>
          <p:cNvPr id="50180" name="Rectangle 3"/>
          <p:cNvSpPr>
            <a:spLocks noGrp="1" noChangeArrowheads="1"/>
          </p:cNvSpPr>
          <p:nvPr>
            <p:ph idx="1"/>
          </p:nvPr>
        </p:nvSpPr>
        <p:spPr/>
        <p:txBody>
          <a:bodyPr>
            <a:noAutofit/>
          </a:bodyPr>
          <a:lstStyle/>
          <a:p>
            <a:pPr>
              <a:lnSpc>
                <a:spcPct val="110000"/>
              </a:lnSpc>
              <a:spcBef>
                <a:spcPct val="0"/>
              </a:spcBef>
            </a:pPr>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a:t>
            </a:r>
            <a:r>
              <a:rPr lang="en-US" altLang="zh-CN" sz="2800" dirty="0">
                <a:latin typeface="Calibri" panose="020F0502020204030204" charset="0"/>
                <a:cs typeface="Calibri" panose="020F0502020204030204" charset="0"/>
              </a:rPr>
              <a:t>5.12] </a:t>
            </a:r>
            <a:r>
              <a:rPr lang="zh-CN" altLang="en-US" sz="2800" dirty="0">
                <a:latin typeface="Calibri" panose="020F0502020204030204" charset="0"/>
                <a:cs typeface="Calibri" panose="020F0502020204030204" charset="0"/>
              </a:rPr>
              <a:t>去掉例</a:t>
            </a:r>
            <a:r>
              <a:rPr lang="en-US" altLang="zh-CN" sz="2800" dirty="0">
                <a:latin typeface="Calibri" panose="020F0502020204030204" charset="0"/>
                <a:cs typeface="Calibri" panose="020F0502020204030204" charset="0"/>
              </a:rPr>
              <a:t>5.10 Student</a:t>
            </a:r>
            <a:r>
              <a:rPr lang="zh-CN" altLang="en-US" sz="2800" dirty="0">
                <a:latin typeface="Calibri" panose="020F0502020204030204" charset="0"/>
                <a:cs typeface="Calibri" panose="020F0502020204030204" charset="0"/>
              </a:rPr>
              <a:t>表中对性别的限制。</a:t>
            </a:r>
          </a:p>
          <a:p>
            <a:pPr marL="457200" lvl="1" indent="0">
              <a:lnSpc>
                <a:spcPct val="110000"/>
              </a:lnSpc>
              <a:spcBef>
                <a:spcPts val="1000"/>
              </a:spcBef>
              <a:buNone/>
            </a:pPr>
            <a:r>
              <a:rPr lang="en-US" altLang="zh-CN" sz="2600" dirty="0">
                <a:latin typeface="Calibri" panose="020F0502020204030204" charset="0"/>
                <a:cs typeface="Calibri" panose="020F0502020204030204" charset="0"/>
              </a:rPr>
              <a:t>ALTER  TABLE  Student  </a:t>
            </a:r>
            <a:r>
              <a:rPr lang="en-US" altLang="zh-CN" sz="2600" dirty="0">
                <a:solidFill>
                  <a:srgbClr val="C00000"/>
                </a:solidFill>
                <a:latin typeface="Calibri" panose="020F0502020204030204" charset="0"/>
                <a:cs typeface="Calibri" panose="020F0502020204030204" charset="0"/>
              </a:rPr>
              <a:t>DROP  CONSTRAINT  C4</a:t>
            </a:r>
            <a:r>
              <a:rPr lang="en-US" altLang="zh-CN" sz="2600" dirty="0">
                <a:latin typeface="Calibri" panose="020F0502020204030204" charset="0"/>
                <a:cs typeface="Calibri" panose="020F0502020204030204" charset="0"/>
              </a:rPr>
              <a:t>;</a:t>
            </a:r>
          </a:p>
          <a:p>
            <a:pPr marL="457200" lvl="1" indent="0">
              <a:lnSpc>
                <a:spcPct val="110000"/>
              </a:lnSpc>
              <a:spcBef>
                <a:spcPct val="0"/>
              </a:spcBef>
              <a:buNone/>
            </a:pPr>
            <a:endParaRPr lang="en-US" altLang="zh-CN" sz="2600" dirty="0">
              <a:latin typeface="Calibri" panose="020F0502020204030204" charset="0"/>
              <a:cs typeface="Calibri" panose="020F0502020204030204" charset="0"/>
            </a:endParaRPr>
          </a:p>
          <a:p>
            <a:pPr>
              <a:lnSpc>
                <a:spcPct val="110000"/>
              </a:lnSpc>
              <a:spcBef>
                <a:spcPct val="0"/>
              </a:spcBef>
            </a:pPr>
            <a:r>
              <a:rPr lang="en-US" altLang="zh-CN" sz="2800" dirty="0">
                <a:latin typeface="Calibri" panose="020F0502020204030204" charset="0"/>
                <a:cs typeface="Calibri" panose="020F0502020204030204" charset="0"/>
              </a:rPr>
              <a:t> [</a:t>
            </a:r>
            <a:r>
              <a:rPr lang="zh-CN" altLang="en-US" sz="2800" dirty="0">
                <a:latin typeface="Calibri" panose="020F0502020204030204" charset="0"/>
                <a:cs typeface="Calibri" panose="020F0502020204030204" charset="0"/>
              </a:rPr>
              <a:t>例5.</a:t>
            </a:r>
            <a:r>
              <a:rPr lang="en-US" altLang="zh-CN" sz="2800" dirty="0">
                <a:latin typeface="Calibri" panose="020F0502020204030204" charset="0"/>
                <a:cs typeface="Calibri" panose="020F0502020204030204" charset="0"/>
              </a:rPr>
              <a:t>13]</a:t>
            </a:r>
            <a:r>
              <a:rPr lang="zh-CN" altLang="en-US" sz="2800" dirty="0">
                <a:latin typeface="Calibri" panose="020F0502020204030204" charset="0"/>
                <a:cs typeface="Calibri" panose="020F0502020204030204" charset="0"/>
              </a:rPr>
              <a:t>  修改表</a:t>
            </a:r>
            <a:r>
              <a:rPr lang="en-US" altLang="zh-CN" sz="2800" dirty="0">
                <a:latin typeface="Calibri" panose="020F0502020204030204" charset="0"/>
                <a:cs typeface="Calibri" panose="020F0502020204030204" charset="0"/>
              </a:rPr>
              <a:t>Student</a:t>
            </a:r>
            <a:r>
              <a:rPr lang="zh-CN" altLang="en-US" sz="2800" dirty="0">
                <a:latin typeface="Calibri" panose="020F0502020204030204" charset="0"/>
                <a:cs typeface="Calibri" panose="020F0502020204030204" charset="0"/>
              </a:rPr>
              <a:t>中的约束条件，要求学号改为在</a:t>
            </a:r>
            <a:r>
              <a:rPr lang="en-US" altLang="zh-CN" sz="2800" dirty="0">
                <a:latin typeface="Calibri" panose="020F0502020204030204" charset="0"/>
                <a:cs typeface="Calibri" panose="020F0502020204030204" charset="0"/>
              </a:rPr>
              <a:t>900000 ~ 999999</a:t>
            </a:r>
            <a:r>
              <a:rPr lang="zh-CN" altLang="en-US" sz="2800" dirty="0">
                <a:latin typeface="Calibri" panose="020F0502020204030204" charset="0"/>
                <a:cs typeface="Calibri" panose="020F0502020204030204" charset="0"/>
              </a:rPr>
              <a:t>之间，年龄由小于</a:t>
            </a:r>
            <a:r>
              <a:rPr lang="en-US" altLang="zh-CN" sz="2800" dirty="0">
                <a:latin typeface="Calibri" panose="020F0502020204030204" charset="0"/>
                <a:cs typeface="Calibri" panose="020F0502020204030204" charset="0"/>
              </a:rPr>
              <a:t>30</a:t>
            </a:r>
            <a:r>
              <a:rPr lang="zh-CN" altLang="en-US" sz="2800" dirty="0">
                <a:latin typeface="Calibri" panose="020F0502020204030204" charset="0"/>
                <a:cs typeface="Calibri" panose="020F0502020204030204" charset="0"/>
              </a:rPr>
              <a:t>改为小于</a:t>
            </a:r>
            <a:r>
              <a:rPr lang="en-US" altLang="zh-CN" sz="2800" dirty="0">
                <a:latin typeface="Calibri" panose="020F0502020204030204" charset="0"/>
                <a:cs typeface="Calibri" panose="020F0502020204030204" charset="0"/>
              </a:rPr>
              <a:t>40</a:t>
            </a:r>
            <a:r>
              <a:rPr lang="zh-CN" altLang="en-US" sz="2800" dirty="0">
                <a:latin typeface="Calibri" panose="020F0502020204030204" charset="0"/>
                <a:cs typeface="Calibri" panose="020F0502020204030204" charset="0"/>
              </a:rPr>
              <a:t>。</a:t>
            </a:r>
            <a:endParaRPr lang="en-US" altLang="zh-CN" sz="2800" dirty="0">
              <a:latin typeface="Calibri" panose="020F0502020204030204" charset="0"/>
              <a:cs typeface="Calibri" panose="020F0502020204030204" charset="0"/>
            </a:endParaRPr>
          </a:p>
          <a:p>
            <a:pPr lvl="1">
              <a:lnSpc>
                <a:spcPct val="110000"/>
              </a:lnSpc>
              <a:spcBef>
                <a:spcPct val="0"/>
              </a:spcBef>
            </a:pPr>
            <a:r>
              <a:rPr lang="zh-CN" altLang="en-US" sz="2800" dirty="0">
                <a:latin typeface="Calibri" panose="020F0502020204030204" charset="0"/>
                <a:cs typeface="Calibri" panose="020F0502020204030204" charset="0"/>
              </a:rPr>
              <a:t>可以先删除原来的约束条件，再增加新的约束条件</a:t>
            </a:r>
          </a:p>
          <a:p>
            <a:pPr marL="457200" lvl="1" indent="0">
              <a:lnSpc>
                <a:spcPct val="110000"/>
              </a:lnSpc>
              <a:spcBef>
                <a:spcPts val="1000"/>
              </a:spcBef>
              <a:buNone/>
            </a:pPr>
            <a:r>
              <a:rPr lang="en-US" altLang="zh-CN" sz="2600" dirty="0">
                <a:latin typeface="Calibri" panose="020F0502020204030204" charset="0"/>
                <a:cs typeface="Calibri" panose="020F0502020204030204" charset="0"/>
              </a:rPr>
              <a:t>ALTER TABLE Student </a:t>
            </a:r>
            <a:r>
              <a:rPr lang="en-US" altLang="zh-CN" sz="2600" dirty="0">
                <a:solidFill>
                  <a:srgbClr val="C00000"/>
                </a:solidFill>
                <a:latin typeface="Calibri" panose="020F0502020204030204" charset="0"/>
                <a:cs typeface="Calibri" panose="020F0502020204030204" charset="0"/>
              </a:rPr>
              <a:t>DROP CONSTRAINT C1</a:t>
            </a:r>
            <a:r>
              <a:rPr lang="en-US" altLang="zh-CN" sz="2600" dirty="0">
                <a:latin typeface="Calibri" panose="020F0502020204030204" charset="0"/>
                <a:cs typeface="Calibri" panose="020F0502020204030204" charset="0"/>
              </a:rPr>
              <a:t>;</a:t>
            </a:r>
          </a:p>
          <a:p>
            <a:pPr marL="457200" lvl="1" indent="0">
              <a:lnSpc>
                <a:spcPct val="110000"/>
              </a:lnSpc>
              <a:spcBef>
                <a:spcPts val="1000"/>
              </a:spcBef>
              <a:buNone/>
            </a:pPr>
            <a:r>
              <a:rPr lang="en-US" altLang="zh-CN" sz="2600" dirty="0">
                <a:latin typeface="Calibri" panose="020F0502020204030204" charset="0"/>
                <a:cs typeface="Calibri" panose="020F0502020204030204" charset="0"/>
              </a:rPr>
              <a:t>ALTER TABLE Student</a:t>
            </a:r>
          </a:p>
          <a:p>
            <a:pPr marL="457200" lvl="1" indent="0">
              <a:lnSpc>
                <a:spcPct val="110000"/>
              </a:lnSpc>
              <a:spcBef>
                <a:spcPct val="0"/>
              </a:spcBef>
              <a:buNone/>
            </a:pPr>
            <a:r>
              <a:rPr lang="en-US" altLang="zh-CN" sz="2600" dirty="0">
                <a:solidFill>
                  <a:srgbClr val="C00000"/>
                </a:solidFill>
                <a:latin typeface="Calibri" panose="020F0502020204030204" charset="0"/>
                <a:cs typeface="Calibri" panose="020F0502020204030204" charset="0"/>
              </a:rPr>
              <a:t>ADD CONSTRAINT C1</a:t>
            </a:r>
            <a:r>
              <a:rPr lang="en-US" altLang="zh-CN" sz="2600" dirty="0">
                <a:latin typeface="Calibri" panose="020F0502020204030204" charset="0"/>
                <a:cs typeface="Calibri" panose="020F0502020204030204" charset="0"/>
              </a:rPr>
              <a:t> CHECK </a:t>
            </a:r>
            <a:r>
              <a:rPr lang="zh-CN" altLang="en-US" sz="2600" dirty="0">
                <a:latin typeface="Calibri" panose="020F0502020204030204" charset="0"/>
                <a:cs typeface="Calibri" panose="020F0502020204030204" charset="0"/>
              </a:rPr>
              <a:t>(</a:t>
            </a:r>
            <a:r>
              <a:rPr lang="en-US" altLang="zh-CN" sz="2600" dirty="0" err="1">
                <a:latin typeface="Calibri" panose="020F0502020204030204" charset="0"/>
                <a:cs typeface="Calibri" panose="020F0502020204030204" charset="0"/>
              </a:rPr>
              <a:t>Sno</a:t>
            </a:r>
            <a:r>
              <a:rPr lang="en-US" altLang="zh-CN" sz="2600" dirty="0">
                <a:latin typeface="Calibri" panose="020F0502020204030204" charset="0"/>
                <a:cs typeface="Calibri" panose="020F0502020204030204" charset="0"/>
              </a:rPr>
              <a:t> BETWEEN 900000 AND 999999</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a:t>
            </a:r>
            <a:endParaRPr lang="zh-CN" altLang="en-US" sz="2600" dirty="0">
              <a:latin typeface="Calibri" panose="020F0502020204030204" charset="0"/>
              <a:cs typeface="Calibri" panose="020F0502020204030204" charset="0"/>
            </a:endParaRPr>
          </a:p>
          <a:p>
            <a:pPr marL="457200" lvl="1" indent="0">
              <a:lnSpc>
                <a:spcPct val="110000"/>
              </a:lnSpc>
              <a:spcBef>
                <a:spcPts val="1000"/>
              </a:spcBef>
              <a:buNone/>
            </a:pPr>
            <a:r>
              <a:rPr lang="en-US" altLang="zh-CN" sz="2600" dirty="0">
                <a:latin typeface="Calibri" panose="020F0502020204030204" charset="0"/>
                <a:cs typeface="Calibri" panose="020F0502020204030204" charset="0"/>
              </a:rPr>
              <a:t>ALTER TABLE Student  </a:t>
            </a:r>
            <a:r>
              <a:rPr lang="en-US" altLang="zh-CN" sz="2600" dirty="0">
                <a:solidFill>
                  <a:srgbClr val="C00000"/>
                </a:solidFill>
                <a:latin typeface="Calibri" panose="020F0502020204030204" charset="0"/>
                <a:cs typeface="Calibri" panose="020F0502020204030204" charset="0"/>
              </a:rPr>
              <a:t>DROP CONSTRAINT C3</a:t>
            </a:r>
            <a:r>
              <a:rPr lang="en-US" altLang="zh-CN" sz="2600" dirty="0">
                <a:latin typeface="Calibri" panose="020F0502020204030204" charset="0"/>
                <a:cs typeface="Calibri" panose="020F0502020204030204" charset="0"/>
              </a:rPr>
              <a:t>;</a:t>
            </a:r>
          </a:p>
          <a:p>
            <a:pPr marL="457200" lvl="1" indent="0">
              <a:lnSpc>
                <a:spcPct val="110000"/>
              </a:lnSpc>
              <a:spcBef>
                <a:spcPts val="1000"/>
              </a:spcBef>
              <a:buNone/>
            </a:pPr>
            <a:r>
              <a:rPr lang="en-US" altLang="zh-CN" sz="2600" dirty="0">
                <a:latin typeface="Calibri" panose="020F0502020204030204" charset="0"/>
                <a:cs typeface="Calibri" panose="020F0502020204030204" charset="0"/>
              </a:rPr>
              <a:t>ALTER TABLE Student  </a:t>
            </a:r>
            <a:r>
              <a:rPr lang="en-US" altLang="zh-CN" sz="2600" dirty="0">
                <a:solidFill>
                  <a:srgbClr val="C00000"/>
                </a:solidFill>
                <a:latin typeface="Calibri" panose="020F0502020204030204" charset="0"/>
                <a:cs typeface="Calibri" panose="020F0502020204030204" charset="0"/>
              </a:rPr>
              <a:t>ADD CONSTRAINT C3 CHECK</a:t>
            </a:r>
            <a:r>
              <a:rPr lang="zh-CN" altLang="en-US" sz="2600" dirty="0">
                <a:solidFill>
                  <a:srgbClr val="C00000"/>
                </a:solidFill>
                <a:latin typeface="Calibri" panose="020F0502020204030204" charset="0"/>
                <a:cs typeface="Calibri" panose="020F0502020204030204" charset="0"/>
              </a:rPr>
              <a:t>(</a:t>
            </a:r>
            <a:r>
              <a:rPr lang="en-US" altLang="zh-CN" sz="2600" dirty="0">
                <a:solidFill>
                  <a:srgbClr val="C00000"/>
                </a:solidFill>
                <a:latin typeface="Calibri" panose="020F0502020204030204" charset="0"/>
                <a:cs typeface="Calibri" panose="020F0502020204030204" charset="0"/>
              </a:rPr>
              <a:t>Sage &lt; 40</a:t>
            </a:r>
            <a:r>
              <a:rPr lang="zh-CN" altLang="en-US" sz="2600" dirty="0">
                <a:solidFill>
                  <a:srgbClr val="C00000"/>
                </a:solidFill>
                <a:latin typeface="Calibri" panose="020F0502020204030204" charset="0"/>
                <a:cs typeface="Calibri" panose="020F0502020204030204" charset="0"/>
              </a:rPr>
              <a:t>)</a:t>
            </a:r>
            <a:r>
              <a:rPr lang="zh-CN" altLang="en-US" sz="2600" dirty="0">
                <a:latin typeface="Calibri" panose="020F0502020204030204" charset="0"/>
                <a:cs typeface="Calibri" panose="020F0502020204030204" charset="0"/>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47</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80">
                                            <p:txEl>
                                              <p:pRg st="3" end="3"/>
                                            </p:txEl>
                                          </p:spTgt>
                                        </p:tgtEl>
                                        <p:attrNameLst>
                                          <p:attrName>style.visibility</p:attrName>
                                        </p:attrNameLst>
                                      </p:cBhvr>
                                      <p:to>
                                        <p:strVal val="visible"/>
                                      </p:to>
                                    </p:set>
                                    <p:anim calcmode="lin" valueType="num">
                                      <p:cBhvr additive="base">
                                        <p:cTn id="7" dur="500" fill="hold"/>
                                        <p:tgtEl>
                                          <p:spTgt spid="5018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180">
                                            <p:txEl>
                                              <p:pRg st="4" end="4"/>
                                            </p:txEl>
                                          </p:spTgt>
                                        </p:tgtEl>
                                        <p:attrNameLst>
                                          <p:attrName>style.visibility</p:attrName>
                                        </p:attrNameLst>
                                      </p:cBhvr>
                                      <p:to>
                                        <p:strVal val="visible"/>
                                      </p:to>
                                    </p:set>
                                    <p:anim calcmode="lin" valueType="num">
                                      <p:cBhvr additive="base">
                                        <p:cTn id="11" dur="500" fill="hold"/>
                                        <p:tgtEl>
                                          <p:spTgt spid="5018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18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180">
                                            <p:txEl>
                                              <p:pRg st="5" end="5"/>
                                            </p:txEl>
                                          </p:spTgt>
                                        </p:tgtEl>
                                        <p:attrNameLst>
                                          <p:attrName>style.visibility</p:attrName>
                                        </p:attrNameLst>
                                      </p:cBhvr>
                                      <p:to>
                                        <p:strVal val="visible"/>
                                      </p:to>
                                    </p:set>
                                    <p:anim calcmode="lin" valueType="num">
                                      <p:cBhvr additive="base">
                                        <p:cTn id="15" dur="500" fill="hold"/>
                                        <p:tgtEl>
                                          <p:spTgt spid="5018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180">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0180">
                                            <p:txEl>
                                              <p:pRg st="6" end="6"/>
                                            </p:txEl>
                                          </p:spTgt>
                                        </p:tgtEl>
                                        <p:attrNameLst>
                                          <p:attrName>style.visibility</p:attrName>
                                        </p:attrNameLst>
                                      </p:cBhvr>
                                      <p:to>
                                        <p:strVal val="visible"/>
                                      </p:to>
                                    </p:set>
                                    <p:anim calcmode="lin" valueType="num">
                                      <p:cBhvr additive="base">
                                        <p:cTn id="19" dur="500" fill="hold"/>
                                        <p:tgtEl>
                                          <p:spTgt spid="50180">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80">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180">
                                            <p:txEl>
                                              <p:pRg st="7" end="7"/>
                                            </p:txEl>
                                          </p:spTgt>
                                        </p:tgtEl>
                                        <p:attrNameLst>
                                          <p:attrName>style.visibility</p:attrName>
                                        </p:attrNameLst>
                                      </p:cBhvr>
                                      <p:to>
                                        <p:strVal val="visible"/>
                                      </p:to>
                                    </p:set>
                                    <p:anim calcmode="lin" valueType="num">
                                      <p:cBhvr additive="base">
                                        <p:cTn id="23" dur="500" fill="hold"/>
                                        <p:tgtEl>
                                          <p:spTgt spid="50180">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0180">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0180">
                                            <p:txEl>
                                              <p:pRg st="8" end="8"/>
                                            </p:txEl>
                                          </p:spTgt>
                                        </p:tgtEl>
                                        <p:attrNameLst>
                                          <p:attrName>style.visibility</p:attrName>
                                        </p:attrNameLst>
                                      </p:cBhvr>
                                      <p:to>
                                        <p:strVal val="visible"/>
                                      </p:to>
                                    </p:set>
                                    <p:anim calcmode="lin" valueType="num">
                                      <p:cBhvr additive="base">
                                        <p:cTn id="27" dur="500" fill="hold"/>
                                        <p:tgtEl>
                                          <p:spTgt spid="50180">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0180">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180">
                                            <p:txEl>
                                              <p:pRg st="9" end="9"/>
                                            </p:txEl>
                                          </p:spTgt>
                                        </p:tgtEl>
                                        <p:attrNameLst>
                                          <p:attrName>style.visibility</p:attrName>
                                        </p:attrNameLst>
                                      </p:cBhvr>
                                      <p:to>
                                        <p:strVal val="visible"/>
                                      </p:to>
                                    </p:set>
                                    <p:anim calcmode="lin" valueType="num">
                                      <p:cBhvr additive="base">
                                        <p:cTn id="31" dur="500" fill="hold"/>
                                        <p:tgtEl>
                                          <p:spTgt spid="50180">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180">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solidFill>
                  <a:srgbClr val="FF0000"/>
                </a:solidFill>
                <a:latin typeface="Arial" panose="020B0604020202020204" pitchFamily="34" charset="0"/>
                <a:cs typeface="Arial" panose="020B0604020202020204" pitchFamily="34" charset="0"/>
              </a:rPr>
              <a:t>5.5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域中的完整性限制</a:t>
            </a:r>
          </a:p>
          <a:p>
            <a:pPr marL="0" indent="0">
              <a:buNone/>
            </a:pPr>
            <a:r>
              <a:rPr lang="zh-CN" altLang="en-US">
                <a:solidFill>
                  <a:srgbClr val="1F2DA8"/>
                </a:solidFill>
                <a:latin typeface="Arial" panose="020B0604020202020204" pitchFamily="34" charset="0"/>
                <a:cs typeface="Arial" panose="020B0604020202020204" pitchFamily="34" charset="0"/>
              </a:rPr>
              <a:t>5.6 </a:t>
            </a:r>
            <a:r>
              <a:rPr lang="en-US" altLang="zh-CN">
                <a:solidFill>
                  <a:srgbClr val="1F2DA8"/>
                </a:solidFill>
                <a:latin typeface="Arial" panose="020B0604020202020204" pitchFamily="34" charset="0"/>
                <a:cs typeface="Arial" panose="020B0604020202020204" pitchFamily="34" charset="0"/>
              </a:rPr>
              <a:t> </a:t>
            </a:r>
            <a:r>
              <a:rPr lang="zh-CN" altLang="en-US">
                <a:solidFill>
                  <a:srgbClr val="1F2DA8"/>
                </a:solidFill>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48</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latin typeface="Arial" panose="020B0604020202020204" pitchFamily="34" charset="0"/>
                <a:cs typeface="Arial" panose="020B0604020202020204" pitchFamily="34" charset="0"/>
                <a:sym typeface="+mn-ea"/>
              </a:rPr>
              <a:t>5.5 </a:t>
            </a:r>
            <a:r>
              <a:rPr lang="en-US" altLang="zh-CN">
                <a:latin typeface="Arial" panose="020B0604020202020204" pitchFamily="34" charset="0"/>
                <a:cs typeface="Arial" panose="020B0604020202020204" pitchFamily="34" charset="0"/>
                <a:sym typeface="+mn-ea"/>
              </a:rPr>
              <a:t> </a:t>
            </a:r>
            <a:r>
              <a:rPr lang="zh-CN" altLang="en-US">
                <a:latin typeface="Arial" panose="020B0604020202020204" pitchFamily="34" charset="0"/>
                <a:cs typeface="Arial" panose="020B0604020202020204" pitchFamily="34" charset="0"/>
                <a:sym typeface="+mn-ea"/>
              </a:rPr>
              <a:t>域中的完整性限制</a:t>
            </a:r>
            <a:endParaRPr lang="zh-CN" altLang="en-US"/>
          </a:p>
        </p:txBody>
      </p:sp>
      <p:sp>
        <p:nvSpPr>
          <p:cNvPr id="3" name="内容占位符 2"/>
          <p:cNvSpPr>
            <a:spLocks noGrp="1"/>
          </p:cNvSpPr>
          <p:nvPr>
            <p:ph idx="1"/>
          </p:nvPr>
        </p:nvSpPr>
        <p:spPr>
          <a:xfrm>
            <a:off x="424180" y="687070"/>
            <a:ext cx="11343005" cy="2476500"/>
          </a:xfrm>
        </p:spPr>
        <p:txBody>
          <a:bodyPr>
            <a:noAutofit/>
          </a:bodyPr>
          <a:lstStyle/>
          <a:p>
            <a:pPr>
              <a:lnSpc>
                <a:spcPct val="100000"/>
              </a:lnSpc>
              <a:spcBef>
                <a:spcPts val="600"/>
              </a:spcBef>
            </a:pPr>
            <a:r>
              <a:rPr lang="zh-CN" altLang="en-US" sz="2800">
                <a:latin typeface="Calibri" panose="020F0502020204030204" charset="0"/>
                <a:cs typeface="Calibri" panose="020F0502020204030204" charset="0"/>
              </a:rPr>
              <a:t>域：</a:t>
            </a:r>
            <a:r>
              <a:rPr lang="zh-CN" altLang="en-US" sz="2800">
                <a:solidFill>
                  <a:srgbClr val="C00000"/>
                </a:solidFill>
                <a:latin typeface="Calibri" panose="020F0502020204030204" charset="0"/>
                <a:cs typeface="Calibri" panose="020F0502020204030204" charset="0"/>
              </a:rPr>
              <a:t>一组具有相同数据类型的值的集合</a:t>
            </a:r>
            <a:endParaRPr lang="zh-CN" altLang="en-US" sz="2800">
              <a:latin typeface="Calibri" panose="020F0502020204030204" charset="0"/>
              <a:cs typeface="Calibri" panose="020F0502020204030204" charset="0"/>
            </a:endParaRPr>
          </a:p>
          <a:p>
            <a:pPr lvl="1">
              <a:lnSpc>
                <a:spcPct val="100000"/>
              </a:lnSpc>
              <a:spcBef>
                <a:spcPts val="600"/>
              </a:spcBef>
            </a:pPr>
            <a:r>
              <a:rPr lang="zh-CN" altLang="en-US" sz="2800">
                <a:latin typeface="Calibri" panose="020F0502020204030204" charset="0"/>
                <a:cs typeface="Calibri" panose="020F0502020204030204" charset="0"/>
              </a:rPr>
              <a:t>可以用</a:t>
            </a:r>
            <a:r>
              <a:rPr lang="en-US" altLang="zh-CN" sz="2800">
                <a:latin typeface="Calibri" panose="020F0502020204030204" charset="0"/>
                <a:cs typeface="Calibri" panose="020F0502020204030204" charset="0"/>
              </a:rPr>
              <a:t>CREATE DOMAIN</a:t>
            </a:r>
            <a:r>
              <a:rPr lang="zh-CN" altLang="en-US" sz="2800">
                <a:latin typeface="Calibri" panose="020F0502020204030204" charset="0"/>
                <a:cs typeface="Calibri" panose="020F0502020204030204" charset="0"/>
              </a:rPr>
              <a:t>命令来创建新的域（用户自定义数据类型）</a:t>
            </a:r>
          </a:p>
          <a:p>
            <a:pPr lvl="1">
              <a:lnSpc>
                <a:spcPct val="100000"/>
              </a:lnSpc>
              <a:spcBef>
                <a:spcPts val="600"/>
              </a:spcBef>
            </a:pPr>
            <a:r>
              <a:rPr lang="zh-CN" altLang="en-US" sz="2800">
                <a:latin typeface="Calibri" panose="020F0502020204030204" charset="0"/>
                <a:cs typeface="Calibri" panose="020F0502020204030204" charset="0"/>
              </a:rPr>
              <a:t>在用</a:t>
            </a:r>
            <a:r>
              <a:rPr lang="en-US" altLang="zh-CN" sz="2800">
                <a:latin typeface="Calibri" panose="020F0502020204030204" charset="0"/>
                <a:cs typeface="Calibri" panose="020F0502020204030204" charset="0"/>
              </a:rPr>
              <a:t>CREATE DOMAIN</a:t>
            </a:r>
            <a:r>
              <a:rPr lang="zh-CN" altLang="en-US" sz="2800">
                <a:latin typeface="Calibri" panose="020F0502020204030204" charset="0"/>
                <a:cs typeface="Calibri" panose="020F0502020204030204" charset="0"/>
              </a:rPr>
              <a:t>语句定义域时，可以定义域上的完整性约束，即该域中的值应该满足的约束条件。</a:t>
            </a:r>
          </a:p>
          <a:p>
            <a:pPr lvl="1">
              <a:lnSpc>
                <a:spcPct val="100000"/>
              </a:lnSpc>
              <a:spcBef>
                <a:spcPts val="600"/>
              </a:spcBef>
            </a:pPr>
            <a:r>
              <a:rPr lang="zh-CN" altLang="en-US" sz="2800">
                <a:latin typeface="Calibri" panose="020F0502020204030204" charset="0"/>
                <a:cs typeface="Calibri" panose="020F0502020204030204" charset="0"/>
              </a:rPr>
              <a:t>可以方便对所有使用相同</a:t>
            </a:r>
            <a:r>
              <a:rPr lang="en-US" altLang="zh-CN" sz="2800">
                <a:latin typeface="Calibri" panose="020F0502020204030204" charset="0"/>
                <a:cs typeface="Calibri" panose="020F0502020204030204" charset="0"/>
              </a:rPr>
              <a:t>‘</a:t>
            </a:r>
            <a:r>
              <a:rPr lang="zh-CN" altLang="en-US" sz="2800">
                <a:latin typeface="Calibri" panose="020F0502020204030204" charset="0"/>
                <a:cs typeface="Calibri" panose="020F0502020204030204" charset="0"/>
              </a:rPr>
              <a:t>域</a:t>
            </a:r>
            <a:r>
              <a:rPr lang="en-US" altLang="zh-CN" sz="2800">
                <a:latin typeface="Calibri" panose="020F0502020204030204" charset="0"/>
                <a:cs typeface="Calibri" panose="020F0502020204030204" charset="0"/>
              </a:rPr>
              <a:t>’</a:t>
            </a:r>
            <a:r>
              <a:rPr lang="zh-CN" altLang="en-US" sz="2800">
                <a:latin typeface="Calibri" panose="020F0502020204030204" charset="0"/>
                <a:cs typeface="Calibri" panose="020F0502020204030204" charset="0"/>
              </a:rPr>
              <a:t>的列的完整性约束的统一定义</a:t>
            </a:r>
            <a:endParaRPr lang="en-US" altLang="zh-CN" sz="2800">
              <a:latin typeface="Calibri" panose="020F0502020204030204" charset="0"/>
              <a:cs typeface="Calibri" panose="020F0502020204030204" charset="0"/>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t>49</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
        <p:nvSpPr>
          <p:cNvPr id="5" name="内容占位符 2"/>
          <p:cNvSpPr>
            <a:spLocks noGrp="1"/>
          </p:cNvSpPr>
          <p:nvPr/>
        </p:nvSpPr>
        <p:spPr>
          <a:xfrm>
            <a:off x="424180" y="3248025"/>
            <a:ext cx="11343005" cy="52197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pPr>
            <a:r>
              <a:rPr lang="zh-CN" altLang="en-US" sz="2800">
                <a:latin typeface="Calibri" panose="020F0502020204030204" charset="0"/>
                <a:cs typeface="Calibri" panose="020F0502020204030204" charset="0"/>
              </a:rPr>
              <a:t>例</a:t>
            </a:r>
            <a:r>
              <a:rPr lang="en-US" altLang="zh-CN" sz="2800">
                <a:latin typeface="Calibri" panose="020F0502020204030204" charset="0"/>
                <a:cs typeface="Calibri" panose="020F0502020204030204" charset="0"/>
              </a:rPr>
              <a:t>5.15</a:t>
            </a:r>
            <a:r>
              <a:rPr lang="zh-CN" altLang="en-US" sz="2800">
                <a:latin typeface="Calibri" panose="020F0502020204030204" charset="0"/>
                <a:cs typeface="Calibri" panose="020F0502020204030204" charset="0"/>
              </a:rPr>
              <a:t>至</a:t>
            </a:r>
            <a:r>
              <a:rPr lang="en-US" altLang="zh-CN" sz="2800">
                <a:latin typeface="Calibri" panose="020F0502020204030204" charset="0"/>
                <a:cs typeface="Calibri" panose="020F0502020204030204" charset="0"/>
              </a:rPr>
              <a:t>5.17</a:t>
            </a:r>
            <a:r>
              <a:rPr lang="zh-CN" altLang="en-US" sz="2800">
                <a:latin typeface="Calibri" panose="020F0502020204030204" charset="0"/>
                <a:cs typeface="Calibri" panose="020F0502020204030204" charset="0"/>
              </a:rPr>
              <a:t>：创建一个人员性别域</a:t>
            </a:r>
            <a:r>
              <a:rPr lang="en-US" altLang="zh-CN" sz="2800">
                <a:latin typeface="Calibri" panose="020F0502020204030204" charset="0"/>
                <a:cs typeface="Calibri" panose="020F0502020204030204" charset="0"/>
              </a:rPr>
              <a:t>GenderDomain,</a:t>
            </a:r>
            <a:r>
              <a:rPr lang="zh-CN" altLang="en-US" sz="2800">
                <a:latin typeface="Calibri" panose="020F0502020204030204" charset="0"/>
                <a:cs typeface="Calibri" panose="020F0502020204030204" charset="0"/>
              </a:rPr>
              <a:t>定义并修改其约束</a:t>
            </a:r>
          </a:p>
        </p:txBody>
      </p:sp>
      <p:sp>
        <p:nvSpPr>
          <p:cNvPr id="7" name="内容占位符 2"/>
          <p:cNvSpPr>
            <a:spLocks noGrp="1"/>
          </p:cNvSpPr>
          <p:nvPr/>
        </p:nvSpPr>
        <p:spPr>
          <a:xfrm>
            <a:off x="424180" y="3768090"/>
            <a:ext cx="11343005" cy="102997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600"/>
              </a:spcBef>
              <a:buNone/>
            </a:pPr>
            <a:r>
              <a:rPr lang="en-US" altLang="zh-CN" sz="2800">
                <a:latin typeface="Calibri" panose="020F0502020204030204" charset="0"/>
                <a:cs typeface="Calibri" panose="020F0502020204030204" charset="0"/>
              </a:rPr>
              <a:t>CREATE DOMAIN </a:t>
            </a:r>
            <a:r>
              <a:rPr lang="en-US" altLang="zh-CN" sz="2800">
                <a:solidFill>
                  <a:srgbClr val="C00000"/>
                </a:solidFill>
                <a:latin typeface="Calibri" panose="020F0502020204030204" charset="0"/>
                <a:cs typeface="Calibri" panose="020F0502020204030204" charset="0"/>
              </a:rPr>
              <a:t>GenderDomain</a:t>
            </a:r>
            <a:r>
              <a:rPr lang="en-US" altLang="zh-CN" sz="2800">
                <a:latin typeface="Calibri" panose="020F0502020204030204" charset="0"/>
                <a:cs typeface="Calibri" panose="020F0502020204030204" charset="0"/>
              </a:rPr>
              <a:t> CHAR(2) </a:t>
            </a:r>
          </a:p>
          <a:p>
            <a:pPr marL="1371600" lvl="3" indent="0">
              <a:lnSpc>
                <a:spcPct val="100000"/>
              </a:lnSpc>
              <a:spcBef>
                <a:spcPts val="600"/>
              </a:spcBef>
              <a:buNone/>
            </a:pPr>
            <a:r>
              <a:rPr lang="en-US" altLang="zh-CN" sz="2800">
                <a:latin typeface="Calibri" panose="020F0502020204030204" charset="0"/>
                <a:cs typeface="Calibri" panose="020F0502020204030204" charset="0"/>
              </a:rPr>
              <a:t>CONSTRAINT  GD  CHECK(VALUE IN (‘</a:t>
            </a:r>
            <a:r>
              <a:rPr lang="zh-CN" altLang="en-US" sz="2800">
                <a:latin typeface="Calibri" panose="020F0502020204030204" charset="0"/>
                <a:cs typeface="Calibri" panose="020F0502020204030204" charset="0"/>
              </a:rPr>
              <a:t>男</a:t>
            </a:r>
            <a:r>
              <a:rPr lang="en-US" altLang="zh-CN" sz="2800">
                <a:latin typeface="Calibri" panose="020F0502020204030204" charset="0"/>
                <a:cs typeface="Calibri" panose="020F0502020204030204" charset="0"/>
              </a:rPr>
              <a:t>’, </a:t>
            </a:r>
            <a:r>
              <a:rPr lang="en-US" altLang="zh-CN" sz="2800">
                <a:latin typeface="Calibri" panose="020F0502020204030204" charset="0"/>
                <a:cs typeface="Calibri" panose="020F0502020204030204" charset="0"/>
                <a:sym typeface="+mn-ea"/>
              </a:rPr>
              <a:t>‘</a:t>
            </a:r>
            <a:r>
              <a:rPr lang="zh-CN" altLang="en-US" sz="2800">
                <a:latin typeface="Calibri" panose="020F0502020204030204" charset="0"/>
                <a:cs typeface="Calibri" panose="020F0502020204030204" charset="0"/>
                <a:sym typeface="+mn-ea"/>
              </a:rPr>
              <a:t>女</a:t>
            </a:r>
            <a:r>
              <a:rPr lang="en-US" altLang="zh-CN" sz="2800">
                <a:latin typeface="Calibri" panose="020F0502020204030204" charset="0"/>
                <a:cs typeface="Calibri" panose="020F0502020204030204" charset="0"/>
                <a:sym typeface="+mn-ea"/>
              </a:rPr>
              <a:t>’</a:t>
            </a:r>
            <a:r>
              <a:rPr lang="en-US" altLang="zh-CN" sz="2800">
                <a:latin typeface="Calibri" panose="020F0502020204030204" charset="0"/>
                <a:cs typeface="Calibri" panose="020F0502020204030204" charset="0"/>
              </a:rPr>
              <a:t>)) ;</a:t>
            </a:r>
          </a:p>
        </p:txBody>
      </p:sp>
      <p:sp>
        <p:nvSpPr>
          <p:cNvPr id="8" name="内容占位符 2"/>
          <p:cNvSpPr>
            <a:spLocks noGrp="1"/>
          </p:cNvSpPr>
          <p:nvPr/>
        </p:nvSpPr>
        <p:spPr>
          <a:xfrm>
            <a:off x="424180" y="4919980"/>
            <a:ext cx="11343005" cy="52197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600"/>
              </a:spcBef>
              <a:buNone/>
            </a:pPr>
            <a:r>
              <a:rPr lang="en-US" altLang="zh-CN" sz="2800">
                <a:latin typeface="Calibri" panose="020F0502020204030204" charset="0"/>
                <a:cs typeface="Calibri" panose="020F0502020204030204" charset="0"/>
                <a:sym typeface="+mn-ea"/>
              </a:rPr>
              <a:t>ALTER DOMAIN </a:t>
            </a:r>
            <a:r>
              <a:rPr lang="en-US" altLang="zh-CN" sz="2800">
                <a:solidFill>
                  <a:srgbClr val="C00000"/>
                </a:solidFill>
                <a:latin typeface="Calibri" panose="020F0502020204030204" charset="0"/>
                <a:cs typeface="Calibri" panose="020F0502020204030204" charset="0"/>
                <a:sym typeface="+mn-ea"/>
              </a:rPr>
              <a:t>GenderDomain</a:t>
            </a:r>
            <a:r>
              <a:rPr lang="en-US" altLang="zh-CN" sz="2800">
                <a:latin typeface="Calibri" panose="020F0502020204030204" charset="0"/>
                <a:cs typeface="Calibri" panose="020F0502020204030204" charset="0"/>
                <a:sym typeface="+mn-ea"/>
              </a:rPr>
              <a:t> DROP CONSTRAINT  GD ;</a:t>
            </a:r>
            <a:endParaRPr lang="en-US" altLang="zh-CN" sz="2800">
              <a:latin typeface="Calibri" panose="020F0502020204030204" charset="0"/>
              <a:cs typeface="Calibri" panose="020F0502020204030204" charset="0"/>
            </a:endParaRPr>
          </a:p>
        </p:txBody>
      </p:sp>
      <p:sp>
        <p:nvSpPr>
          <p:cNvPr id="9" name="内容占位符 2"/>
          <p:cNvSpPr>
            <a:spLocks noGrp="1"/>
          </p:cNvSpPr>
          <p:nvPr/>
        </p:nvSpPr>
        <p:spPr>
          <a:xfrm>
            <a:off x="424180" y="5561965"/>
            <a:ext cx="11343005" cy="1029970"/>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600"/>
              </a:spcBef>
              <a:buNone/>
            </a:pPr>
            <a:r>
              <a:rPr lang="en-US" altLang="zh-CN" sz="2800">
                <a:latin typeface="Calibri" panose="020F0502020204030204" charset="0"/>
                <a:cs typeface="Calibri" panose="020F0502020204030204" charset="0"/>
                <a:sym typeface="+mn-ea"/>
              </a:rPr>
              <a:t>ALTER DOMAIN </a:t>
            </a:r>
            <a:r>
              <a:rPr lang="en-US" altLang="zh-CN" sz="2800">
                <a:solidFill>
                  <a:srgbClr val="C00000"/>
                </a:solidFill>
                <a:latin typeface="Calibri" panose="020F0502020204030204" charset="0"/>
                <a:cs typeface="Calibri" panose="020F0502020204030204" charset="0"/>
                <a:sym typeface="+mn-ea"/>
              </a:rPr>
              <a:t>GenderDomain </a:t>
            </a:r>
            <a:r>
              <a:rPr lang="en-US" altLang="zh-CN" sz="2800">
                <a:latin typeface="Calibri" panose="020F0502020204030204" charset="0"/>
                <a:cs typeface="Calibri" panose="020F0502020204030204" charset="0"/>
                <a:sym typeface="+mn-ea"/>
              </a:rPr>
              <a:t> </a:t>
            </a:r>
            <a:endParaRPr lang="en-US" altLang="zh-CN" sz="2800">
              <a:latin typeface="Calibri" panose="020F0502020204030204" charset="0"/>
              <a:cs typeface="Calibri" panose="020F0502020204030204" charset="0"/>
            </a:endParaRPr>
          </a:p>
          <a:p>
            <a:pPr marL="1371600" lvl="3" indent="0">
              <a:lnSpc>
                <a:spcPct val="100000"/>
              </a:lnSpc>
              <a:spcBef>
                <a:spcPts val="600"/>
              </a:spcBef>
              <a:buNone/>
            </a:pPr>
            <a:r>
              <a:rPr lang="en-US" altLang="zh-CN" sz="2800">
                <a:latin typeface="Calibri" panose="020F0502020204030204" charset="0"/>
                <a:cs typeface="Calibri" panose="020F0502020204030204" charset="0"/>
                <a:sym typeface="+mn-ea"/>
              </a:rPr>
              <a:t>ADD CONSTRAINT  GDD  CHECK(VALUE IN (‘1’, ‘0’)) ;</a:t>
            </a:r>
            <a:endParaRPr lang="en-US" altLang="zh-CN" sz="2800">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ldLvl="0" animBg="1"/>
      <p:bldP spid="8" grpId="0" bldLvl="0" animBg="1"/>
      <p:bldP spid="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solidFill>
                  <a:srgbClr val="FF0000"/>
                </a:solidFill>
                <a:latin typeface="Arial" panose="020B0604020202020204" pitchFamily="34" charset="0"/>
                <a:cs typeface="Arial" panose="020B0604020202020204" pitchFamily="34" charset="0"/>
              </a:rPr>
              <a:t>5.6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断言</a:t>
            </a:r>
          </a:p>
          <a:p>
            <a:pPr marL="0" indent="0">
              <a:buNone/>
            </a:pPr>
            <a:r>
              <a:rPr lang="zh-CN" altLang="en-US">
                <a:latin typeface="Arial" panose="020B0604020202020204" pitchFamily="34" charset="0"/>
                <a:cs typeface="Arial" panose="020B0604020202020204" pitchFamily="34" charset="0"/>
              </a:rPr>
              <a:t>5.7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50</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en-US" altLang="zh-CN"/>
              <a:t>5.6  </a:t>
            </a:r>
            <a:r>
              <a:rPr lang="zh-CN" altLang="zh-CN"/>
              <a:t>断言</a:t>
            </a:r>
          </a:p>
        </p:txBody>
      </p:sp>
      <p:sp>
        <p:nvSpPr>
          <p:cNvPr id="53251" name="内容占位符 2"/>
          <p:cNvSpPr>
            <a:spLocks noGrp="1"/>
          </p:cNvSpPr>
          <p:nvPr>
            <p:ph idx="1"/>
          </p:nvPr>
        </p:nvSpPr>
        <p:spPr/>
        <p:txBody>
          <a:bodyPr>
            <a:noAutofit/>
          </a:bodyPr>
          <a:lstStyle/>
          <a:p>
            <a:r>
              <a:rPr lang="en-US" altLang="zh-CN" dirty="0">
                <a:latin typeface="Arial" panose="020B0604020202020204" pitchFamily="34" charset="0"/>
                <a:cs typeface="Arial" panose="020B0604020202020204" pitchFamily="34" charset="0"/>
              </a:rPr>
              <a:t>SQL</a:t>
            </a:r>
            <a:r>
              <a:rPr lang="zh-CN" altLang="en-US" dirty="0">
                <a:latin typeface="Arial" panose="020B0604020202020204" pitchFamily="34" charset="0"/>
                <a:cs typeface="Arial" panose="020B0604020202020204" pitchFamily="34" charset="0"/>
              </a:rPr>
              <a:t>中，可以使用 </a:t>
            </a:r>
            <a:r>
              <a:rPr lang="en-US" altLang="zh-CN" dirty="0">
                <a:latin typeface="Arial" panose="020B0604020202020204" pitchFamily="34" charset="0"/>
                <a:cs typeface="Arial" panose="020B0604020202020204" pitchFamily="34" charset="0"/>
              </a:rPr>
              <a:t>CREATE ASSERTION </a:t>
            </a:r>
            <a:r>
              <a:rPr lang="zh-CN" altLang="en-US" dirty="0">
                <a:latin typeface="Arial" panose="020B0604020202020204" pitchFamily="34" charset="0"/>
                <a:cs typeface="Arial" panose="020B0604020202020204" pitchFamily="34" charset="0"/>
              </a:rPr>
              <a:t>语句，通过声明性断言来指定更具一般性的约束。</a:t>
            </a:r>
          </a:p>
          <a:p>
            <a:pPr>
              <a:lnSpc>
                <a:spcPct val="110000"/>
              </a:lnSpc>
              <a:spcBef>
                <a:spcPts val="2000"/>
              </a:spcBef>
            </a:pPr>
            <a:r>
              <a:rPr lang="zh-CN" altLang="en-US" dirty="0">
                <a:latin typeface="Arial" panose="020B0604020202020204" pitchFamily="34" charset="0"/>
                <a:cs typeface="Arial" panose="020B0604020202020204" pitchFamily="34" charset="0"/>
              </a:rPr>
              <a:t>可以定义</a:t>
            </a:r>
            <a:r>
              <a:rPr lang="zh-CN" altLang="en-US" dirty="0">
                <a:solidFill>
                  <a:srgbClr val="C00000"/>
                </a:solidFill>
                <a:latin typeface="Arial" panose="020B0604020202020204" pitchFamily="34" charset="0"/>
                <a:cs typeface="Arial" panose="020B0604020202020204" pitchFamily="34" charset="0"/>
              </a:rPr>
              <a:t>涉及多个表</a:t>
            </a:r>
            <a:r>
              <a:rPr lang="zh-CN" altLang="en-US" dirty="0">
                <a:latin typeface="Arial" panose="020B0604020202020204" pitchFamily="34" charset="0"/>
                <a:cs typeface="Arial" panose="020B0604020202020204" pitchFamily="34" charset="0"/>
              </a:rPr>
              <a:t>的或</a:t>
            </a:r>
            <a:r>
              <a:rPr lang="zh-CN" altLang="en-US" dirty="0">
                <a:solidFill>
                  <a:srgbClr val="C00000"/>
                </a:solidFill>
                <a:latin typeface="Arial" panose="020B0604020202020204" pitchFamily="34" charset="0"/>
                <a:cs typeface="Arial" panose="020B0604020202020204" pitchFamily="34" charset="0"/>
              </a:rPr>
              <a:t>聚集操作</a:t>
            </a:r>
            <a:r>
              <a:rPr lang="zh-CN" altLang="en-US" dirty="0">
                <a:latin typeface="Arial" panose="020B0604020202020204" pitchFamily="34" charset="0"/>
                <a:cs typeface="Arial" panose="020B0604020202020204" pitchFamily="34" charset="0"/>
              </a:rPr>
              <a:t>的比较复杂的完整性约束。</a:t>
            </a:r>
          </a:p>
          <a:p>
            <a:pPr>
              <a:lnSpc>
                <a:spcPct val="110000"/>
              </a:lnSpc>
              <a:spcBef>
                <a:spcPts val="2000"/>
              </a:spcBef>
            </a:pPr>
            <a:r>
              <a:rPr lang="zh-CN" altLang="en-US" dirty="0">
                <a:latin typeface="Arial" panose="020B0604020202020204" pitchFamily="34" charset="0"/>
                <a:cs typeface="Arial" panose="020B0604020202020204" pitchFamily="34" charset="0"/>
              </a:rPr>
              <a:t>断言创建以后，任何对断言中所涉及的关系的操作都会触发关系数据库管理系统对断言的检查，任何使断言不为真值的操作都会被拒绝执行。</a:t>
            </a:r>
            <a:endParaRPr lang="en-US" altLang="zh-CN" dirty="0">
              <a:latin typeface="Arial" panose="020B0604020202020204" pitchFamily="34" charset="0"/>
              <a:cs typeface="Arial" panose="020B0604020202020204" pitchFamily="34" charset="0"/>
            </a:endParaRPr>
          </a:p>
          <a:p>
            <a:pPr>
              <a:lnSpc>
                <a:spcPct val="110000"/>
              </a:lnSpc>
              <a:spcBef>
                <a:spcPts val="2000"/>
              </a:spcBef>
            </a:pPr>
            <a:r>
              <a:rPr lang="zh-CN" altLang="en-US" dirty="0">
                <a:latin typeface="Arial" panose="020B0604020202020204" pitchFamily="34" charset="0"/>
                <a:cs typeface="Arial" panose="020B0604020202020204" pitchFamily="34" charset="0"/>
              </a:rPr>
              <a:t>如果断言很复杂，则系统在检测和维护断言的开销较高，这是在使用断言时应该注意的。</a:t>
            </a:r>
          </a:p>
        </p:txBody>
      </p:sp>
      <p:sp>
        <p:nvSpPr>
          <p:cNvPr id="53252" name="页脚占位符 3"/>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51</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断言相关语句</a:t>
            </a:r>
          </a:p>
        </p:txBody>
      </p:sp>
      <p:sp>
        <p:nvSpPr>
          <p:cNvPr id="8" name="内容占位符 7"/>
          <p:cNvSpPr>
            <a:spLocks noGrp="1"/>
          </p:cNvSpPr>
          <p:nvPr>
            <p:ph idx="1"/>
          </p:nvPr>
        </p:nvSpPr>
        <p:spPr/>
        <p:txBody>
          <a:bodyPr>
            <a:noAutofit/>
          </a:bodyPr>
          <a:lstStyle/>
          <a:p>
            <a:r>
              <a:rPr lang="zh-CN" altLang="en-US" dirty="0">
                <a:latin typeface="Arial" panose="020B0604020202020204" pitchFamily="34" charset="0"/>
                <a:cs typeface="Arial" panose="020B0604020202020204" pitchFamily="34" charset="0"/>
              </a:rPr>
              <a:t>创建断言的语句格式</a:t>
            </a:r>
          </a:p>
          <a:p>
            <a:pPr marL="457200" lvl="1" indent="0">
              <a:lnSpc>
                <a:spcPct val="110000"/>
              </a:lnSpc>
              <a:spcBef>
                <a:spcPts val="1000"/>
              </a:spcBef>
              <a:spcAft>
                <a:spcPts val="1000"/>
              </a:spcAft>
              <a:buNone/>
            </a:pPr>
            <a:r>
              <a:rPr lang="en-US" altLang="zh-CN" dirty="0">
                <a:solidFill>
                  <a:srgbClr val="FF0000"/>
                </a:solidFill>
                <a:latin typeface="Arial" panose="020B0604020202020204" pitchFamily="34" charset="0"/>
                <a:cs typeface="Arial" panose="020B0604020202020204" pitchFamily="34" charset="0"/>
              </a:rPr>
              <a:t>CREATE  ASSERTION  &lt;</a:t>
            </a:r>
            <a:r>
              <a:rPr lang="zh-CN" altLang="en-US" dirty="0">
                <a:solidFill>
                  <a:srgbClr val="FF0000"/>
                </a:solidFill>
                <a:latin typeface="Arial" panose="020B0604020202020204" pitchFamily="34" charset="0"/>
                <a:cs typeface="Arial" panose="020B0604020202020204" pitchFamily="34" charset="0"/>
              </a:rPr>
              <a:t>断言名</a:t>
            </a:r>
            <a:r>
              <a:rPr lang="en-US" altLang="zh-CN" dirty="0">
                <a:solidFill>
                  <a:srgbClr val="FF0000"/>
                </a:solidFill>
                <a:latin typeface="Arial" panose="020B0604020202020204" pitchFamily="34" charset="0"/>
                <a:cs typeface="Arial" panose="020B0604020202020204" pitchFamily="34" charset="0"/>
              </a:rPr>
              <a:t>&gt;  &lt;CHECK </a:t>
            </a:r>
            <a:r>
              <a:rPr lang="zh-CN" altLang="en-US" dirty="0">
                <a:solidFill>
                  <a:srgbClr val="FF0000"/>
                </a:solidFill>
                <a:latin typeface="Arial" panose="020B0604020202020204" pitchFamily="34" charset="0"/>
                <a:cs typeface="Arial" panose="020B0604020202020204" pitchFamily="34" charset="0"/>
              </a:rPr>
              <a:t>子句</a:t>
            </a:r>
            <a:r>
              <a:rPr lang="en-US" altLang="zh-CN" dirty="0">
                <a:solidFill>
                  <a:srgbClr val="FF0000"/>
                </a:solidFill>
                <a:latin typeface="Arial" panose="020B0604020202020204" pitchFamily="34" charset="0"/>
                <a:cs typeface="Arial" panose="020B0604020202020204" pitchFamily="34" charset="0"/>
              </a:rPr>
              <a:t>&gt;;</a:t>
            </a:r>
            <a:endParaRPr lang="en-US" altLang="zh-CN" dirty="0">
              <a:latin typeface="Arial" panose="020B0604020202020204" pitchFamily="34" charset="0"/>
              <a:cs typeface="Arial" panose="020B0604020202020204" pitchFamily="34" charset="0"/>
            </a:endParaRPr>
          </a:p>
          <a:p>
            <a:pPr lvl="1">
              <a:lnSpc>
                <a:spcPct val="110000"/>
              </a:lnSpc>
              <a:spcBef>
                <a:spcPts val="2000"/>
              </a:spcBef>
            </a:pPr>
            <a:r>
              <a:rPr lang="zh-CN" altLang="en-US" dirty="0">
                <a:latin typeface="Arial" panose="020B0604020202020204" pitchFamily="34" charset="0"/>
                <a:cs typeface="Arial" panose="020B0604020202020204" pitchFamily="34" charset="0"/>
              </a:rPr>
              <a:t>每个断言都被赋予一个名字，</a:t>
            </a:r>
            <a:r>
              <a:rPr lang="en-US" altLang="zh-CN" dirty="0">
                <a:latin typeface="Arial" panose="020B0604020202020204" pitchFamily="34" charset="0"/>
                <a:cs typeface="Arial" panose="020B0604020202020204" pitchFamily="34" charset="0"/>
              </a:rPr>
              <a:t>&lt;CHECK </a:t>
            </a:r>
            <a:r>
              <a:rPr lang="zh-CN" altLang="en-US" dirty="0">
                <a:latin typeface="Arial" panose="020B0604020202020204" pitchFamily="34" charset="0"/>
                <a:cs typeface="Arial" panose="020B0604020202020204" pitchFamily="34" charset="0"/>
              </a:rPr>
              <a:t>子句</a:t>
            </a:r>
            <a:r>
              <a:rPr lang="en-US" altLang="zh-CN" dirty="0">
                <a:latin typeface="Arial" panose="020B0604020202020204" pitchFamily="34" charset="0"/>
                <a:cs typeface="Arial" panose="020B0604020202020204" pitchFamily="34" charset="0"/>
              </a:rPr>
              <a:t>&gt;</a:t>
            </a:r>
            <a:r>
              <a:rPr lang="zh-CN" altLang="en-US" dirty="0">
                <a:latin typeface="Arial" panose="020B0604020202020204" pitchFamily="34" charset="0"/>
                <a:cs typeface="Arial" panose="020B0604020202020204" pitchFamily="34" charset="0"/>
              </a:rPr>
              <a:t>中的约束条件与</a:t>
            </a:r>
            <a:r>
              <a:rPr lang="en-US" altLang="zh-CN" dirty="0">
                <a:latin typeface="Arial" panose="020B0604020202020204" pitchFamily="34" charset="0"/>
                <a:cs typeface="Arial" panose="020B0604020202020204" pitchFamily="34" charset="0"/>
              </a:rPr>
              <a:t>WHERE</a:t>
            </a:r>
            <a:r>
              <a:rPr lang="zh-CN" altLang="en-US" dirty="0">
                <a:latin typeface="Arial" panose="020B0604020202020204" pitchFamily="34" charset="0"/>
                <a:cs typeface="Arial" panose="020B0604020202020204" pitchFamily="34" charset="0"/>
              </a:rPr>
              <a:t>子句的条件表达式类似。</a:t>
            </a:r>
          </a:p>
          <a:p>
            <a:pPr lvl="1"/>
            <a:endParaRPr lang="en-US" altLang="zh-CN" dirty="0">
              <a:latin typeface="Arial" panose="020B0604020202020204" pitchFamily="34" charset="0"/>
              <a:cs typeface="Arial" panose="020B0604020202020204" pitchFamily="34" charset="0"/>
            </a:endParaRPr>
          </a:p>
          <a:p>
            <a:pPr lvl="1"/>
            <a:endParaRPr lang="en-US" altLang="zh-CN" dirty="0">
              <a:latin typeface="Arial" panose="020B0604020202020204" pitchFamily="34" charset="0"/>
              <a:cs typeface="Arial" panose="020B0604020202020204" pitchFamily="34" charset="0"/>
            </a:endParaRPr>
          </a:p>
          <a:p>
            <a:r>
              <a:rPr lang="zh-CN" altLang="en-US" dirty="0">
                <a:latin typeface="Arial" panose="020B0604020202020204" pitchFamily="34" charset="0"/>
                <a:cs typeface="Arial" panose="020B0604020202020204" pitchFamily="34" charset="0"/>
              </a:rPr>
              <a:t>删除断言的语句格式为</a:t>
            </a:r>
          </a:p>
          <a:p>
            <a:pPr marL="457200" lvl="1" indent="0">
              <a:lnSpc>
                <a:spcPct val="110000"/>
              </a:lnSpc>
              <a:spcBef>
                <a:spcPts val="1000"/>
              </a:spcBef>
              <a:spcAft>
                <a:spcPts val="1000"/>
              </a:spcAft>
              <a:buNone/>
            </a:pPr>
            <a:r>
              <a:rPr lang="en-US" altLang="zh-CN" dirty="0">
                <a:solidFill>
                  <a:srgbClr val="FF0000"/>
                </a:solidFill>
                <a:latin typeface="Arial" panose="020B0604020202020204" pitchFamily="34" charset="0"/>
                <a:cs typeface="Arial" panose="020B0604020202020204" pitchFamily="34" charset="0"/>
              </a:rPr>
              <a:t>DROP ASSERTION &lt;</a:t>
            </a:r>
            <a:r>
              <a:rPr lang="zh-CN" altLang="en-US" dirty="0">
                <a:solidFill>
                  <a:srgbClr val="FF0000"/>
                </a:solidFill>
                <a:latin typeface="Arial" panose="020B0604020202020204" pitchFamily="34" charset="0"/>
                <a:cs typeface="Arial" panose="020B0604020202020204" pitchFamily="34" charset="0"/>
              </a:rPr>
              <a:t>断言名</a:t>
            </a:r>
            <a:r>
              <a:rPr lang="en-US" altLang="zh-CN" dirty="0">
                <a:solidFill>
                  <a:srgbClr val="FF0000"/>
                </a:solidFill>
                <a:latin typeface="Arial" panose="020B0604020202020204" pitchFamily="34" charset="0"/>
                <a:cs typeface="Arial" panose="020B0604020202020204" pitchFamily="34" charset="0"/>
              </a:rPr>
              <a:t>&gt;</a:t>
            </a:r>
            <a:r>
              <a:rPr lang="zh-CN" altLang="en-US" dirty="0">
                <a:solidFill>
                  <a:srgbClr val="FF0000"/>
                </a:solidFill>
                <a:latin typeface="Arial" panose="020B0604020202020204" pitchFamily="34" charset="0"/>
                <a:cs typeface="Arial" panose="020B0604020202020204" pitchFamily="34" charset="0"/>
              </a:rPr>
              <a:t>;</a:t>
            </a:r>
          </a:p>
        </p:txBody>
      </p:sp>
      <p:sp>
        <p:nvSpPr>
          <p:cNvPr id="3" name="灯片编号占位符 2"/>
          <p:cNvSpPr>
            <a:spLocks noGrp="1"/>
          </p:cNvSpPr>
          <p:nvPr>
            <p:ph type="sldNum" sz="quarter" idx="12"/>
          </p:nvPr>
        </p:nvSpPr>
        <p:spPr/>
        <p:txBody>
          <a:bodyPr/>
          <a:lstStyle/>
          <a:p>
            <a:fld id="{565CE74E-AB26-4998-AD42-012C4C1AD076}" type="slidenum">
              <a:rPr lang="zh-CN" altLang="en-US" smtClean="0"/>
              <a:t>52</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创建断言 </a:t>
            </a:r>
            <a:r>
              <a:rPr lang="en-US" altLang="zh-CN" dirty="0"/>
              <a:t>1</a:t>
            </a:r>
            <a:endParaRPr lang="zh-CN" altLang="en-US" dirty="0"/>
          </a:p>
        </p:txBody>
      </p:sp>
      <p:sp>
        <p:nvSpPr>
          <p:cNvPr id="3" name="内容占位符 2"/>
          <p:cNvSpPr>
            <a:spLocks noGrp="1"/>
          </p:cNvSpPr>
          <p:nvPr>
            <p:ph idx="1"/>
          </p:nvPr>
        </p:nvSpPr>
        <p:spPr/>
        <p:txBody>
          <a:bodyPr>
            <a:noAutofit/>
          </a:bodyPr>
          <a:lstStyle/>
          <a:p>
            <a:pPr>
              <a:lnSpc>
                <a:spcPct val="110000"/>
              </a:lnSpc>
              <a:spcBef>
                <a:spcPts val="1000"/>
              </a:spcBef>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a:t>
            </a:r>
            <a:r>
              <a:rPr lang="en-US" altLang="zh-CN" dirty="0">
                <a:latin typeface="Calibri" panose="020F0502020204030204" charset="0"/>
                <a:cs typeface="Calibri" panose="020F0502020204030204" charset="0"/>
              </a:rPr>
              <a:t>5.18] </a:t>
            </a:r>
            <a:r>
              <a:rPr lang="zh-CN" altLang="en-US" dirty="0">
                <a:latin typeface="Calibri" panose="020F0502020204030204" charset="0"/>
                <a:cs typeface="Calibri" panose="020F0502020204030204" charset="0"/>
              </a:rPr>
              <a:t>限制数据库课程最多</a:t>
            </a:r>
            <a:r>
              <a:rPr lang="en-US" altLang="zh-CN" dirty="0">
                <a:latin typeface="Calibri" panose="020F0502020204030204" charset="0"/>
                <a:cs typeface="Calibri" panose="020F0502020204030204" charset="0"/>
              </a:rPr>
              <a:t>60</a:t>
            </a:r>
            <a:r>
              <a:rPr lang="zh-CN" altLang="en-US" dirty="0">
                <a:latin typeface="Calibri" panose="020F0502020204030204" charset="0"/>
                <a:cs typeface="Calibri" panose="020F0502020204030204" charset="0"/>
              </a:rPr>
              <a:t>名学生选修</a:t>
            </a:r>
            <a:endParaRPr lang="en-US" altLang="zh-CN" dirty="0">
              <a:latin typeface="Calibri" panose="020F0502020204030204" charset="0"/>
              <a:cs typeface="Calibri" panose="020F0502020204030204" charset="0"/>
            </a:endParaRPr>
          </a:p>
          <a:p>
            <a:pPr marL="363855" lvl="1" indent="0">
              <a:lnSpc>
                <a:spcPct val="110000"/>
              </a:lnSpc>
              <a:spcBef>
                <a:spcPts val="1000"/>
              </a:spcBef>
              <a:buNone/>
            </a:pPr>
            <a:endParaRPr lang="en-US" altLang="zh-CN" sz="2600" dirty="0">
              <a:latin typeface="Calibri" panose="020F0502020204030204" charset="0"/>
              <a:cs typeface="Calibri" panose="020F0502020204030204" charset="0"/>
            </a:endParaRPr>
          </a:p>
          <a:p>
            <a:pPr marL="363855" lvl="1" indent="0">
              <a:lnSpc>
                <a:spcPct val="110000"/>
              </a:lnSpc>
              <a:spcBef>
                <a:spcPts val="1000"/>
              </a:spcBef>
              <a:buNone/>
            </a:pPr>
            <a:r>
              <a:rPr lang="en-US" altLang="zh-CN" sz="2600" dirty="0">
                <a:latin typeface="Calibri" panose="020F0502020204030204" charset="0"/>
                <a:cs typeface="Calibri" panose="020F0502020204030204" charset="0"/>
              </a:rPr>
              <a:t>CREATE  ASSERTION  ASSE_SC_DB_NUM</a:t>
            </a:r>
          </a:p>
          <a:p>
            <a:pPr marL="363855" lvl="1" indent="0">
              <a:lnSpc>
                <a:spcPct val="110000"/>
              </a:lnSpc>
              <a:spcBef>
                <a:spcPts val="1000"/>
              </a:spcBef>
              <a:buNone/>
            </a:pPr>
            <a:r>
              <a:rPr lang="en-US" altLang="zh-CN" sz="2600" dirty="0">
                <a:latin typeface="Calibri" panose="020F0502020204030204" charset="0"/>
                <a:cs typeface="Calibri" panose="020F0502020204030204" charset="0"/>
              </a:rPr>
              <a:t>CHECK</a:t>
            </a:r>
            <a:r>
              <a:rPr lang="zh-CN" altLang="en-US" sz="2600" dirty="0">
                <a:latin typeface="Calibri" panose="020F0502020204030204" charset="0"/>
                <a:cs typeface="Calibri" panose="020F0502020204030204" charset="0"/>
              </a:rPr>
              <a:t> (</a:t>
            </a:r>
            <a:r>
              <a:rPr lang="en-US" altLang="zh-CN" sz="2600" dirty="0">
                <a:latin typeface="Calibri" panose="020F0502020204030204" charset="0"/>
                <a:cs typeface="Calibri" panose="020F0502020204030204" charset="0"/>
              </a:rPr>
              <a:t> </a:t>
            </a:r>
            <a:r>
              <a:rPr lang="en-US" altLang="zh-CN" sz="2600" dirty="0">
                <a:solidFill>
                  <a:srgbClr val="C00000"/>
                </a:solidFill>
                <a:latin typeface="Calibri" panose="020F0502020204030204" charset="0"/>
                <a:cs typeface="Calibri" panose="020F0502020204030204" charset="0"/>
              </a:rPr>
              <a:t>60 &gt;= </a:t>
            </a:r>
            <a:r>
              <a:rPr lang="zh-CN" altLang="en-US" sz="2600" dirty="0">
                <a:solidFill>
                  <a:srgbClr val="C00000"/>
                </a:solidFill>
                <a:latin typeface="Calibri" panose="020F0502020204030204" charset="0"/>
                <a:cs typeface="Calibri" panose="020F0502020204030204" charset="0"/>
              </a:rPr>
              <a:t>(</a:t>
            </a:r>
            <a:r>
              <a:rPr lang="en-US" altLang="zh-CN" sz="2600" dirty="0">
                <a:solidFill>
                  <a:srgbClr val="C00000"/>
                </a:solidFill>
                <a:latin typeface="Calibri" panose="020F0502020204030204" charset="0"/>
                <a:cs typeface="Calibri" panose="020F0502020204030204" charset="0"/>
              </a:rPr>
              <a:t> Select</a:t>
            </a:r>
            <a:r>
              <a:rPr lang="zh-CN" altLang="en-US" sz="2600" dirty="0">
                <a:solidFill>
                  <a:srgbClr val="C00000"/>
                </a:solidFill>
                <a:latin typeface="Calibri" panose="020F0502020204030204" charset="0"/>
                <a:cs typeface="Calibri" panose="020F0502020204030204" charset="0"/>
              </a:rPr>
              <a:t> </a:t>
            </a:r>
            <a:r>
              <a:rPr lang="en-US" altLang="zh-CN" sz="2600" dirty="0">
                <a:solidFill>
                  <a:srgbClr val="C00000"/>
                </a:solidFill>
                <a:latin typeface="Calibri" panose="020F0502020204030204" charset="0"/>
                <a:cs typeface="Calibri" panose="020F0502020204030204" charset="0"/>
              </a:rPr>
              <a:t> count</a:t>
            </a:r>
            <a:r>
              <a:rPr lang="zh-CN" altLang="en-US" sz="2600" dirty="0">
                <a:solidFill>
                  <a:srgbClr val="C00000"/>
                </a:solidFill>
                <a:latin typeface="Calibri" panose="020F0502020204030204" charset="0"/>
                <a:cs typeface="Calibri" panose="020F0502020204030204" charset="0"/>
              </a:rPr>
              <a:t>(</a:t>
            </a:r>
            <a:r>
              <a:rPr lang="en-US" altLang="zh-CN" sz="2600" dirty="0">
                <a:solidFill>
                  <a:srgbClr val="C00000"/>
                </a:solidFill>
                <a:latin typeface="Calibri" panose="020F0502020204030204" charset="0"/>
                <a:cs typeface="Calibri" panose="020F0502020204030204" charset="0"/>
              </a:rPr>
              <a:t>*</a:t>
            </a:r>
            <a:r>
              <a:rPr lang="zh-CN" altLang="en-US" sz="2600" dirty="0">
                <a:solidFill>
                  <a:srgbClr val="C00000"/>
                </a:solidFill>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  /*</a:t>
            </a:r>
            <a:r>
              <a:rPr lang="zh-CN" altLang="en-US" sz="2600" dirty="0">
                <a:latin typeface="Calibri" panose="020F0502020204030204" charset="0"/>
                <a:cs typeface="Calibri" panose="020F0502020204030204" charset="0"/>
              </a:rPr>
              <a:t>此断言的谓词涉及聚集操作</a:t>
            </a:r>
            <a:r>
              <a:rPr lang="en-US" altLang="zh-CN" sz="2600" dirty="0">
                <a:latin typeface="Calibri" panose="020F0502020204030204" charset="0"/>
                <a:cs typeface="Calibri" panose="020F0502020204030204" charset="0"/>
              </a:rPr>
              <a:t>count</a:t>
            </a: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a:t>
            </a:r>
          </a:p>
          <a:p>
            <a:pPr marL="363855" lvl="1" indent="2165350">
              <a:lnSpc>
                <a:spcPct val="110000"/>
              </a:lnSpc>
              <a:spcBef>
                <a:spcPts val="1000"/>
              </a:spcBef>
              <a:buNone/>
            </a:pPr>
            <a:r>
              <a:rPr lang="en-US" altLang="zh-CN" sz="2600" dirty="0">
                <a:solidFill>
                  <a:srgbClr val="C00000"/>
                </a:solidFill>
                <a:latin typeface="Calibri" panose="020F0502020204030204" charset="0"/>
                <a:cs typeface="Calibri" panose="020F0502020204030204" charset="0"/>
              </a:rPr>
              <a:t>From  </a:t>
            </a:r>
            <a:r>
              <a:rPr lang="en-US" altLang="zh-CN" sz="2600" dirty="0" err="1">
                <a:solidFill>
                  <a:srgbClr val="C00000"/>
                </a:solidFill>
                <a:latin typeface="Calibri" panose="020F0502020204030204" charset="0"/>
                <a:cs typeface="Calibri" panose="020F0502020204030204" charset="0"/>
              </a:rPr>
              <a:t>Course, SC</a:t>
            </a:r>
            <a:endParaRPr lang="en-US" altLang="zh-CN" sz="2600" dirty="0">
              <a:solidFill>
                <a:srgbClr val="C00000"/>
              </a:solidFill>
              <a:latin typeface="Calibri" panose="020F0502020204030204" charset="0"/>
              <a:cs typeface="Calibri" panose="020F0502020204030204" charset="0"/>
            </a:endParaRPr>
          </a:p>
          <a:p>
            <a:pPr marL="363855" lvl="1" indent="2165350">
              <a:lnSpc>
                <a:spcPct val="110000"/>
              </a:lnSpc>
              <a:spcBef>
                <a:spcPts val="1000"/>
              </a:spcBef>
              <a:buNone/>
            </a:pPr>
            <a:r>
              <a:rPr lang="en-US" altLang="zh-CN" sz="2600" dirty="0">
                <a:solidFill>
                  <a:srgbClr val="C00000"/>
                </a:solidFill>
                <a:latin typeface="Calibri" panose="020F0502020204030204" charset="0"/>
                <a:cs typeface="Calibri" panose="020F0502020204030204" charset="0"/>
              </a:rPr>
              <a:t>Where  </a:t>
            </a:r>
            <a:r>
              <a:rPr lang="en-US" altLang="zh-CN" sz="2600" dirty="0" err="1">
                <a:solidFill>
                  <a:srgbClr val="C00000"/>
                </a:solidFill>
                <a:latin typeface="Calibri" panose="020F0502020204030204" charset="0"/>
                <a:cs typeface="Calibri" panose="020F0502020204030204" charset="0"/>
              </a:rPr>
              <a:t>SC.Cno </a:t>
            </a:r>
            <a:r>
              <a:rPr lang="en-US" altLang="zh-CN" sz="2600" dirty="0">
                <a:solidFill>
                  <a:srgbClr val="C00000"/>
                </a:solidFill>
                <a:latin typeface="Calibri" panose="020F0502020204030204" charset="0"/>
                <a:cs typeface="Calibri" panose="020F0502020204030204" charset="0"/>
              </a:rPr>
              <a:t>= </a:t>
            </a:r>
            <a:r>
              <a:rPr lang="en-US" altLang="zh-CN" sz="2600" dirty="0" err="1">
                <a:solidFill>
                  <a:srgbClr val="C00000"/>
                </a:solidFill>
                <a:latin typeface="Calibri" panose="020F0502020204030204" charset="0"/>
                <a:cs typeface="Calibri" panose="020F0502020204030204" charset="0"/>
              </a:rPr>
              <a:t>Course.Cno</a:t>
            </a:r>
            <a:r>
              <a:rPr lang="en-US" altLang="zh-CN" sz="2600" dirty="0">
                <a:solidFill>
                  <a:srgbClr val="C00000"/>
                </a:solidFill>
                <a:latin typeface="Calibri" panose="020F0502020204030204" charset="0"/>
                <a:cs typeface="Calibri" panose="020F0502020204030204" charset="0"/>
              </a:rPr>
              <a:t>  and </a:t>
            </a:r>
          </a:p>
          <a:p>
            <a:pPr marL="363855" lvl="1" indent="3255645">
              <a:lnSpc>
                <a:spcPct val="110000"/>
              </a:lnSpc>
              <a:spcBef>
                <a:spcPts val="1000"/>
              </a:spcBef>
              <a:buNone/>
            </a:pPr>
            <a:r>
              <a:rPr lang="en-US" altLang="zh-CN" sz="2600" dirty="0" err="1">
                <a:solidFill>
                  <a:srgbClr val="C00000"/>
                </a:solidFill>
                <a:latin typeface="Calibri" panose="020F0502020204030204" charset="0"/>
                <a:cs typeface="Calibri" panose="020F0502020204030204" charset="0"/>
              </a:rPr>
              <a:t>Course.Cname</a:t>
            </a:r>
            <a:r>
              <a:rPr lang="en-US" altLang="zh-CN" sz="2600" dirty="0">
                <a:solidFill>
                  <a:srgbClr val="C00000"/>
                </a:solidFill>
                <a:latin typeface="Calibri" panose="020F0502020204030204" charset="0"/>
                <a:cs typeface="Calibri" panose="020F0502020204030204" charset="0"/>
              </a:rPr>
              <a:t> =</a:t>
            </a:r>
            <a:r>
              <a:rPr lang="zh-CN" altLang="en-US" sz="2600" dirty="0">
                <a:solidFill>
                  <a:srgbClr val="C00000"/>
                </a:solidFill>
                <a:latin typeface="Calibri" panose="020F0502020204030204" charset="0"/>
                <a:cs typeface="Calibri" panose="020F0502020204030204" charset="0"/>
              </a:rPr>
              <a:t>'数据库')</a:t>
            </a:r>
          </a:p>
          <a:p>
            <a:pPr marL="363855" lvl="1" indent="0">
              <a:lnSpc>
                <a:spcPct val="110000"/>
              </a:lnSpc>
              <a:spcBef>
                <a:spcPts val="1000"/>
              </a:spcBef>
              <a:buNone/>
            </a:pPr>
            <a:r>
              <a:rPr lang="zh-CN" altLang="en-US" sz="2600" dirty="0">
                <a:latin typeface="Calibri" panose="020F0502020204030204" charset="0"/>
                <a:cs typeface="Calibri" panose="020F0502020204030204" charset="0"/>
              </a:rPr>
              <a:t>)</a:t>
            </a:r>
            <a:r>
              <a:rPr lang="en-US" altLang="zh-CN" sz="2600" dirty="0">
                <a:latin typeface="Calibri" panose="020F0502020204030204" charset="0"/>
                <a:cs typeface="Calibri" panose="020F0502020204030204" charset="0"/>
              </a:rPr>
              <a:t>;</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53</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标题 1"/>
          <p:cNvSpPr>
            <a:spLocks noGrp="1"/>
          </p:cNvSpPr>
          <p:nvPr>
            <p:ph type="title"/>
          </p:nvPr>
        </p:nvSpPr>
        <p:spPr/>
        <p:txBody>
          <a:bodyPr>
            <a:normAutofit fontScale="90000"/>
          </a:bodyPr>
          <a:lstStyle/>
          <a:p>
            <a:r>
              <a:rPr lang="zh-CN" altLang="en-US" dirty="0"/>
              <a:t>创建断言 </a:t>
            </a:r>
            <a:r>
              <a:rPr lang="en-US" altLang="zh-CN" dirty="0"/>
              <a:t>2</a:t>
            </a:r>
          </a:p>
        </p:txBody>
      </p:sp>
      <p:sp>
        <p:nvSpPr>
          <p:cNvPr id="55298" name="内容占位符 2"/>
          <p:cNvSpPr>
            <a:spLocks noGrp="1"/>
          </p:cNvSpPr>
          <p:nvPr>
            <p:ph idx="1"/>
          </p:nvPr>
        </p:nvSpPr>
        <p:spPr/>
        <p:txBody>
          <a:bodyPr>
            <a:noAutofit/>
          </a:bodyPr>
          <a:lstStyle/>
          <a:p>
            <a:pPr>
              <a:lnSpc>
                <a:spcPct val="110000"/>
              </a:lnSpc>
              <a:spcBef>
                <a:spcPts val="1000"/>
              </a:spcBef>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例5.</a:t>
            </a:r>
            <a:r>
              <a:rPr lang="en-US" altLang="zh-CN" dirty="0">
                <a:latin typeface="Calibri" panose="020F0502020204030204" charset="0"/>
                <a:cs typeface="Calibri" panose="020F0502020204030204" charset="0"/>
              </a:rPr>
              <a:t>19] </a:t>
            </a:r>
            <a:r>
              <a:rPr lang="zh-CN" altLang="en-US" dirty="0">
                <a:latin typeface="Calibri" panose="020F0502020204030204" charset="0"/>
                <a:cs typeface="Calibri" panose="020F0502020204030204" charset="0"/>
              </a:rPr>
              <a:t>限制每一门课程最多</a:t>
            </a:r>
            <a:r>
              <a:rPr lang="en-US" altLang="zh-CN" dirty="0">
                <a:latin typeface="Calibri" panose="020F0502020204030204" charset="0"/>
                <a:cs typeface="Calibri" panose="020F0502020204030204" charset="0"/>
              </a:rPr>
              <a:t>60</a:t>
            </a:r>
            <a:r>
              <a:rPr lang="zh-CN" altLang="en-US" dirty="0">
                <a:latin typeface="Calibri" panose="020F0502020204030204" charset="0"/>
                <a:cs typeface="Calibri" panose="020F0502020204030204" charset="0"/>
              </a:rPr>
              <a:t>名学生选修</a:t>
            </a:r>
            <a:endParaRPr lang="en-US" altLang="zh-CN" dirty="0">
              <a:latin typeface="Calibri" panose="020F0502020204030204" charset="0"/>
              <a:cs typeface="Calibri" panose="020F0502020204030204" charset="0"/>
            </a:endParaRPr>
          </a:p>
          <a:p>
            <a:pPr marL="457200" lvl="1" indent="0">
              <a:lnSpc>
                <a:spcPct val="110000"/>
              </a:lnSpc>
              <a:spcBef>
                <a:spcPts val="1000"/>
              </a:spcBef>
              <a:buNone/>
            </a:pPr>
            <a:endParaRPr lang="en-US" altLang="zh-CN" dirty="0">
              <a:latin typeface="Calibri" panose="020F0502020204030204" charset="0"/>
              <a:cs typeface="Calibri" panose="020F0502020204030204" charset="0"/>
            </a:endParaRPr>
          </a:p>
          <a:p>
            <a:pPr marL="457200" lvl="1" indent="0">
              <a:lnSpc>
                <a:spcPct val="110000"/>
              </a:lnSpc>
              <a:spcBef>
                <a:spcPts val="1000"/>
              </a:spcBef>
              <a:buNone/>
            </a:pPr>
            <a:r>
              <a:rPr lang="en-US" altLang="zh-CN" dirty="0">
                <a:latin typeface="Calibri" panose="020F0502020204030204" charset="0"/>
                <a:cs typeface="Calibri" panose="020F0502020204030204" charset="0"/>
              </a:rPr>
              <a:t>CREATE  ASSERTION  ASSE_SC_CNUM1</a:t>
            </a:r>
          </a:p>
          <a:p>
            <a:pPr marL="457200" lvl="1" indent="0">
              <a:lnSpc>
                <a:spcPct val="110000"/>
              </a:lnSpc>
              <a:spcBef>
                <a:spcPts val="1000"/>
              </a:spcBef>
              <a:buNone/>
            </a:pPr>
            <a:r>
              <a:rPr lang="en-US" altLang="zh-CN" dirty="0">
                <a:latin typeface="Calibri" panose="020F0502020204030204" charset="0"/>
                <a:cs typeface="Calibri" panose="020F0502020204030204" charset="0"/>
              </a:rPr>
              <a:t>CHECK </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 </a:t>
            </a:r>
            <a:r>
              <a:rPr lang="en-US" altLang="zh-CN" dirty="0">
                <a:solidFill>
                  <a:srgbClr val="C00000"/>
                </a:solidFill>
                <a:latin typeface="Calibri" panose="020F0502020204030204" charset="0"/>
                <a:cs typeface="Calibri" panose="020F0502020204030204" charset="0"/>
              </a:rPr>
              <a:t>60 &gt;= ALL </a:t>
            </a:r>
            <a:r>
              <a:rPr lang="zh-CN" altLang="en-US" dirty="0">
                <a:solidFill>
                  <a:srgbClr val="C00000"/>
                </a:solidFill>
                <a:latin typeface="Calibri" panose="020F0502020204030204" charset="0"/>
                <a:cs typeface="Calibri" panose="020F0502020204030204" charset="0"/>
              </a:rPr>
              <a:t>(</a:t>
            </a:r>
            <a:r>
              <a:rPr lang="en-US" altLang="zh-CN" dirty="0">
                <a:solidFill>
                  <a:srgbClr val="C00000"/>
                </a:solidFill>
                <a:latin typeface="Calibri" panose="020F0502020204030204" charset="0"/>
                <a:cs typeface="Calibri" panose="020F0502020204030204" charset="0"/>
              </a:rPr>
              <a:t> SELECT  count</a:t>
            </a:r>
            <a:r>
              <a:rPr lang="zh-CN" altLang="en-US" dirty="0">
                <a:solidFill>
                  <a:srgbClr val="C00000"/>
                </a:solidFill>
                <a:latin typeface="Calibri" panose="020F0502020204030204" charset="0"/>
                <a:cs typeface="Calibri" panose="020F0502020204030204" charset="0"/>
              </a:rPr>
              <a:t>(</a:t>
            </a:r>
            <a:r>
              <a:rPr lang="en-US" altLang="zh-CN" dirty="0">
                <a:solidFill>
                  <a:srgbClr val="C00000"/>
                </a:solidFill>
                <a:latin typeface="Calibri" panose="020F0502020204030204" charset="0"/>
                <a:cs typeface="Calibri" panose="020F0502020204030204" charset="0"/>
              </a:rPr>
              <a:t>*</a:t>
            </a:r>
            <a:r>
              <a:rPr lang="zh-CN" altLang="en-US" dirty="0">
                <a:solidFill>
                  <a:srgbClr val="C00000"/>
                </a:solidFill>
                <a:latin typeface="Calibri" panose="020F0502020204030204" charset="0"/>
                <a:cs typeface="Calibri" panose="020F0502020204030204" charset="0"/>
              </a:rPr>
              <a:t>)</a:t>
            </a:r>
            <a:r>
              <a:rPr lang="en-US" altLang="zh-CN" dirty="0">
                <a:solidFill>
                  <a:srgbClr val="C00000"/>
                </a:solidFill>
                <a:latin typeface="Calibri" panose="020F0502020204030204" charset="0"/>
                <a:cs typeface="Calibri" panose="020F0502020204030204" charset="0"/>
              </a:rPr>
              <a:t> </a:t>
            </a:r>
          </a:p>
          <a:p>
            <a:pPr marL="457200" lvl="1" indent="2914650">
              <a:lnSpc>
                <a:spcPct val="110000"/>
              </a:lnSpc>
              <a:spcBef>
                <a:spcPts val="1000"/>
              </a:spcBef>
              <a:buNone/>
            </a:pPr>
            <a:r>
              <a:rPr lang="en-US" altLang="zh-CN" dirty="0">
                <a:solidFill>
                  <a:srgbClr val="C00000"/>
                </a:solidFill>
                <a:latin typeface="Calibri" panose="020F0502020204030204" charset="0"/>
                <a:cs typeface="Calibri" panose="020F0502020204030204" charset="0"/>
              </a:rPr>
              <a:t>FROM	 SC </a:t>
            </a:r>
          </a:p>
          <a:p>
            <a:pPr marL="457200" lvl="1" indent="2914650">
              <a:lnSpc>
                <a:spcPct val="110000"/>
              </a:lnSpc>
              <a:spcBef>
                <a:spcPts val="1000"/>
              </a:spcBef>
              <a:buNone/>
            </a:pPr>
            <a:r>
              <a:rPr lang="en-US" altLang="zh-CN" dirty="0">
                <a:solidFill>
                  <a:srgbClr val="C00000"/>
                </a:solidFill>
                <a:latin typeface="Calibri" panose="020F0502020204030204" charset="0"/>
                <a:cs typeface="Calibri" panose="020F0502020204030204" charset="0"/>
              </a:rPr>
              <a:t>GROUP by  </a:t>
            </a:r>
            <a:r>
              <a:rPr lang="en-US" altLang="zh-CN" dirty="0" err="1">
                <a:solidFill>
                  <a:srgbClr val="C00000"/>
                </a:solidFill>
                <a:latin typeface="Calibri" panose="020F0502020204030204" charset="0"/>
                <a:cs typeface="Calibri" panose="020F0502020204030204" charset="0"/>
              </a:rPr>
              <a:t>Cno </a:t>
            </a:r>
            <a:r>
              <a:rPr lang="zh-CN" altLang="en-US" dirty="0">
                <a:solidFill>
                  <a:srgbClr val="C00000"/>
                </a:solidFill>
                <a:latin typeface="Calibri" panose="020F0502020204030204" charset="0"/>
                <a:cs typeface="Calibri" panose="020F0502020204030204" charset="0"/>
              </a:rPr>
              <a:t>)</a:t>
            </a:r>
            <a:endParaRPr lang="en-US" altLang="zh-CN" dirty="0">
              <a:solidFill>
                <a:srgbClr val="C00000"/>
              </a:solidFill>
              <a:latin typeface="Calibri" panose="020F0502020204030204" charset="0"/>
              <a:cs typeface="Calibri" panose="020F0502020204030204" charset="0"/>
            </a:endParaRPr>
          </a:p>
          <a:p>
            <a:pPr marL="457200" lvl="1" indent="0">
              <a:lnSpc>
                <a:spcPct val="110000"/>
              </a:lnSpc>
              <a:spcBef>
                <a:spcPts val="1000"/>
              </a:spcBef>
              <a:buNone/>
            </a:pP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a:t>
            </a:r>
          </a:p>
          <a:p>
            <a:pPr marL="895985" lvl="1" indent="-437515">
              <a:lnSpc>
                <a:spcPct val="110000"/>
              </a:lnSpc>
              <a:spcBef>
                <a:spcPts val="1000"/>
              </a:spcBef>
              <a:buNone/>
            </a:pPr>
            <a:r>
              <a:rPr lang="zh-CN" altLang="en-US" dirty="0">
                <a:latin typeface="Calibri" panose="020F0502020204030204" charset="0"/>
                <a:cs typeface="Calibri" panose="020F0502020204030204" charset="0"/>
              </a:rPr>
              <a:t> </a:t>
            </a:r>
            <a:r>
              <a:rPr lang="en-US" altLang="zh-CN" dirty="0">
                <a:latin typeface="Calibri" panose="020F0502020204030204" charset="0"/>
                <a:cs typeface="Calibri" panose="020F0502020204030204" charset="0"/>
              </a:rPr>
              <a:t>/* </a:t>
            </a:r>
            <a:r>
              <a:rPr lang="zh-CN" altLang="en-US" dirty="0">
                <a:latin typeface="Calibri" panose="020F0502020204030204" charset="0"/>
                <a:cs typeface="Calibri" panose="020F0502020204030204" charset="0"/>
              </a:rPr>
              <a:t>此断言的谓词，涉及使用到聚集操作</a:t>
            </a:r>
            <a:r>
              <a:rPr lang="en-US" altLang="zh-CN" dirty="0">
                <a:latin typeface="Calibri" panose="020F0502020204030204" charset="0"/>
                <a:cs typeface="Calibri" panose="020F0502020204030204" charset="0"/>
              </a:rPr>
              <a:t>count </a:t>
            </a:r>
            <a:r>
              <a:rPr lang="zh-CN" altLang="en-US" dirty="0">
                <a:latin typeface="Calibri" panose="020F0502020204030204" charset="0"/>
                <a:cs typeface="Calibri" panose="020F0502020204030204" charset="0"/>
              </a:rPr>
              <a:t>和分组函数</a:t>
            </a:r>
            <a:r>
              <a:rPr lang="en-US" altLang="zh-CN" dirty="0">
                <a:latin typeface="Calibri" panose="020F0502020204030204" charset="0"/>
                <a:cs typeface="Calibri" panose="020F0502020204030204" charset="0"/>
              </a:rPr>
              <a:t>group by</a:t>
            </a:r>
            <a:r>
              <a:rPr lang="zh-CN" altLang="en-US" dirty="0">
                <a:latin typeface="Calibri" panose="020F0502020204030204" charset="0"/>
                <a:cs typeface="Calibri" panose="020F0502020204030204" charset="0"/>
              </a:rPr>
              <a:t>的</a:t>
            </a:r>
            <a:r>
              <a:rPr lang="en-US" altLang="zh-CN" dirty="0">
                <a:latin typeface="Calibri" panose="020F0502020204030204" charset="0"/>
                <a:cs typeface="Calibri" panose="020F0502020204030204" charset="0"/>
              </a:rPr>
              <a:t>SQL</a:t>
            </a:r>
            <a:r>
              <a:rPr lang="zh-CN" altLang="en-US" dirty="0">
                <a:latin typeface="Calibri" panose="020F0502020204030204" charset="0"/>
                <a:cs typeface="Calibri" panose="020F0502020204030204" charset="0"/>
              </a:rPr>
              <a:t>语句</a:t>
            </a:r>
            <a:r>
              <a:rPr lang="en-US" altLang="zh-CN" dirty="0">
                <a:latin typeface="Calibri" panose="020F0502020204030204" charset="0"/>
                <a:cs typeface="Calibri" panose="020F0502020204030204" charset="0"/>
              </a:rPr>
              <a:t> </a:t>
            </a:r>
            <a:r>
              <a:rPr lang="zh-CN" altLang="en-US" dirty="0">
                <a:latin typeface="Calibri" panose="020F0502020204030204" charset="0"/>
                <a:cs typeface="Calibri" panose="020F0502020204030204" charset="0"/>
              </a:rPr>
              <a:t>*</a:t>
            </a:r>
            <a:r>
              <a:rPr lang="en-US" altLang="zh-CN" dirty="0">
                <a:latin typeface="Calibri" panose="020F0502020204030204" charset="0"/>
                <a:cs typeface="Calibri" panose="020F0502020204030204" charset="0"/>
              </a:rPr>
              <a:t>/</a:t>
            </a:r>
          </a:p>
        </p:txBody>
      </p:sp>
      <p:sp>
        <p:nvSpPr>
          <p:cNvPr id="55299" name="页脚占位符 3"/>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grpSp>
        <p:nvGrpSpPr>
          <p:cNvPr id="7" name="组合 6"/>
          <p:cNvGrpSpPr/>
          <p:nvPr/>
        </p:nvGrpSpPr>
        <p:grpSpPr>
          <a:xfrm>
            <a:off x="3579495" y="1849755"/>
            <a:ext cx="7576820" cy="2605405"/>
            <a:chOff x="5637" y="2913"/>
            <a:chExt cx="11932" cy="4103"/>
          </a:xfrm>
        </p:grpSpPr>
        <p:sp>
          <p:nvSpPr>
            <p:cNvPr id="5" name="任意多边形 4"/>
            <p:cNvSpPr/>
            <p:nvPr/>
          </p:nvSpPr>
          <p:spPr>
            <a:xfrm>
              <a:off x="5637" y="3808"/>
              <a:ext cx="5107" cy="3208"/>
            </a:xfrm>
            <a:custGeom>
              <a:avLst/>
              <a:gdLst>
                <a:gd name="connisteX0" fmla="*/ 1276702 w 3243015"/>
                <a:gd name="connsiteY0" fmla="*/ 64981 h 2037221"/>
                <a:gd name="connisteX1" fmla="*/ 1212567 w 3243015"/>
                <a:gd name="connsiteY1" fmla="*/ 80856 h 2037221"/>
                <a:gd name="connisteX2" fmla="*/ 1140812 w 3243015"/>
                <a:gd name="connsiteY2" fmla="*/ 104986 h 2037221"/>
                <a:gd name="connisteX3" fmla="*/ 1076677 w 3243015"/>
                <a:gd name="connsiteY3" fmla="*/ 104986 h 2037221"/>
                <a:gd name="connisteX4" fmla="*/ 980157 w 3243015"/>
                <a:gd name="connsiteY4" fmla="*/ 104986 h 2037221"/>
                <a:gd name="connisteX5" fmla="*/ 891892 w 3243015"/>
                <a:gd name="connsiteY5" fmla="*/ 104986 h 2037221"/>
                <a:gd name="connisteX6" fmla="*/ 811882 w 3243015"/>
                <a:gd name="connsiteY6" fmla="*/ 104986 h 2037221"/>
                <a:gd name="connisteX7" fmla="*/ 731872 w 3243015"/>
                <a:gd name="connsiteY7" fmla="*/ 104986 h 2037221"/>
                <a:gd name="connisteX8" fmla="*/ 659482 w 3243015"/>
                <a:gd name="connsiteY8" fmla="*/ 113241 h 2037221"/>
                <a:gd name="connisteX9" fmla="*/ 571217 w 3243015"/>
                <a:gd name="connsiteY9" fmla="*/ 113241 h 2037221"/>
                <a:gd name="connisteX10" fmla="*/ 507082 w 3243015"/>
                <a:gd name="connsiteY10" fmla="*/ 113241 h 2037221"/>
                <a:gd name="connisteX11" fmla="*/ 435327 w 3243015"/>
                <a:gd name="connsiteY11" fmla="*/ 113241 h 2037221"/>
                <a:gd name="connisteX12" fmla="*/ 371192 w 3243015"/>
                <a:gd name="connsiteY12" fmla="*/ 113241 h 2037221"/>
                <a:gd name="connisteX13" fmla="*/ 307057 w 3243015"/>
                <a:gd name="connsiteY13" fmla="*/ 113241 h 2037221"/>
                <a:gd name="connisteX14" fmla="*/ 242922 w 3243015"/>
                <a:gd name="connsiteY14" fmla="*/ 113241 h 2037221"/>
                <a:gd name="connisteX15" fmla="*/ 178787 w 3243015"/>
                <a:gd name="connsiteY15" fmla="*/ 113241 h 2037221"/>
                <a:gd name="connisteX16" fmla="*/ 114652 w 3243015"/>
                <a:gd name="connsiteY16" fmla="*/ 113241 h 2037221"/>
                <a:gd name="connisteX17" fmla="*/ 50517 w 3243015"/>
                <a:gd name="connsiteY17" fmla="*/ 153246 h 2037221"/>
                <a:gd name="connisteX18" fmla="*/ 10512 w 3243015"/>
                <a:gd name="connsiteY18" fmla="*/ 225001 h 2037221"/>
                <a:gd name="connisteX19" fmla="*/ 2257 w 3243015"/>
                <a:gd name="connsiteY19" fmla="*/ 297391 h 2037221"/>
                <a:gd name="connisteX20" fmla="*/ 34642 w 3243015"/>
                <a:gd name="connsiteY20" fmla="*/ 369781 h 2037221"/>
                <a:gd name="connisteX21" fmla="*/ 50517 w 3243015"/>
                <a:gd name="connsiteY21" fmla="*/ 449791 h 2037221"/>
                <a:gd name="connisteX22" fmla="*/ 74647 w 3243015"/>
                <a:gd name="connsiteY22" fmla="*/ 553931 h 2037221"/>
                <a:gd name="connisteX23" fmla="*/ 82267 w 3243015"/>
                <a:gd name="connsiteY23" fmla="*/ 618066 h 2037221"/>
                <a:gd name="connisteX24" fmla="*/ 106397 w 3243015"/>
                <a:gd name="connsiteY24" fmla="*/ 698076 h 2037221"/>
                <a:gd name="connisteX25" fmla="*/ 114652 w 3243015"/>
                <a:gd name="connsiteY25" fmla="*/ 762211 h 2037221"/>
                <a:gd name="connisteX26" fmla="*/ 122272 w 3243015"/>
                <a:gd name="connsiteY26" fmla="*/ 834601 h 2037221"/>
                <a:gd name="connisteX27" fmla="*/ 122272 w 3243015"/>
                <a:gd name="connsiteY27" fmla="*/ 898736 h 2037221"/>
                <a:gd name="connisteX28" fmla="*/ 122272 w 3243015"/>
                <a:gd name="connsiteY28" fmla="*/ 962871 h 2037221"/>
                <a:gd name="connisteX29" fmla="*/ 138782 w 3243015"/>
                <a:gd name="connsiteY29" fmla="*/ 1042881 h 2037221"/>
                <a:gd name="connisteX30" fmla="*/ 146402 w 3243015"/>
                <a:gd name="connsiteY30" fmla="*/ 1107016 h 2037221"/>
                <a:gd name="connisteX31" fmla="*/ 178787 w 3243015"/>
                <a:gd name="connsiteY31" fmla="*/ 1179406 h 2037221"/>
                <a:gd name="connisteX32" fmla="*/ 194662 w 3243015"/>
                <a:gd name="connsiteY32" fmla="*/ 1251161 h 2037221"/>
                <a:gd name="connisteX33" fmla="*/ 210537 w 3243015"/>
                <a:gd name="connsiteY33" fmla="*/ 1315296 h 2037221"/>
                <a:gd name="connisteX34" fmla="*/ 218792 w 3243015"/>
                <a:gd name="connsiteY34" fmla="*/ 1403561 h 2037221"/>
                <a:gd name="connisteX35" fmla="*/ 227047 w 3243015"/>
                <a:gd name="connsiteY35" fmla="*/ 1475951 h 2037221"/>
                <a:gd name="connisteX36" fmla="*/ 242922 w 3243015"/>
                <a:gd name="connsiteY36" fmla="*/ 1540086 h 2037221"/>
                <a:gd name="connisteX37" fmla="*/ 258797 w 3243015"/>
                <a:gd name="connsiteY37" fmla="*/ 1611841 h 2037221"/>
                <a:gd name="connisteX38" fmla="*/ 274672 w 3243015"/>
                <a:gd name="connsiteY38" fmla="*/ 1675976 h 2037221"/>
                <a:gd name="connisteX39" fmla="*/ 298802 w 3243015"/>
                <a:gd name="connsiteY39" fmla="*/ 1740111 h 2037221"/>
                <a:gd name="connisteX40" fmla="*/ 331187 w 3243015"/>
                <a:gd name="connsiteY40" fmla="*/ 1804246 h 2037221"/>
                <a:gd name="connisteX41" fmla="*/ 362937 w 3243015"/>
                <a:gd name="connsiteY41" fmla="*/ 1868381 h 2037221"/>
                <a:gd name="connisteX42" fmla="*/ 427072 w 3243015"/>
                <a:gd name="connsiteY42" fmla="*/ 1932516 h 2037221"/>
                <a:gd name="connisteX43" fmla="*/ 491207 w 3243015"/>
                <a:gd name="connsiteY43" fmla="*/ 1956646 h 2037221"/>
                <a:gd name="connisteX44" fmla="*/ 563597 w 3243015"/>
                <a:gd name="connsiteY44" fmla="*/ 1964901 h 2037221"/>
                <a:gd name="connisteX45" fmla="*/ 635352 w 3243015"/>
                <a:gd name="connsiteY45" fmla="*/ 1988396 h 2037221"/>
                <a:gd name="connisteX46" fmla="*/ 707742 w 3243015"/>
                <a:gd name="connsiteY46" fmla="*/ 1996651 h 2037221"/>
                <a:gd name="connisteX47" fmla="*/ 771877 w 3243015"/>
                <a:gd name="connsiteY47" fmla="*/ 2004906 h 2037221"/>
                <a:gd name="connisteX48" fmla="*/ 876017 w 3243015"/>
                <a:gd name="connsiteY48" fmla="*/ 2004906 h 2037221"/>
                <a:gd name="connisteX49" fmla="*/ 948407 w 3243015"/>
                <a:gd name="connsiteY49" fmla="*/ 2020781 h 2037221"/>
                <a:gd name="connisteX50" fmla="*/ 1028417 w 3243015"/>
                <a:gd name="connsiteY50" fmla="*/ 2029036 h 2037221"/>
                <a:gd name="connisteX51" fmla="*/ 1092552 w 3243015"/>
                <a:gd name="connsiteY51" fmla="*/ 2029036 h 2037221"/>
                <a:gd name="connisteX52" fmla="*/ 1180817 w 3243015"/>
                <a:gd name="connsiteY52" fmla="*/ 2029036 h 2037221"/>
                <a:gd name="connisteX53" fmla="*/ 1244952 w 3243015"/>
                <a:gd name="connsiteY53" fmla="*/ 2029036 h 2037221"/>
                <a:gd name="connisteX54" fmla="*/ 1333217 w 3243015"/>
                <a:gd name="connsiteY54" fmla="*/ 2036656 h 2037221"/>
                <a:gd name="connisteX55" fmla="*/ 1397352 w 3243015"/>
                <a:gd name="connsiteY55" fmla="*/ 2036656 h 2037221"/>
                <a:gd name="connisteX56" fmla="*/ 1477362 w 3243015"/>
                <a:gd name="connsiteY56" fmla="*/ 2036656 h 2037221"/>
                <a:gd name="connisteX57" fmla="*/ 1565627 w 3243015"/>
                <a:gd name="connsiteY57" fmla="*/ 2036656 h 2037221"/>
                <a:gd name="connisteX58" fmla="*/ 1637382 w 3243015"/>
                <a:gd name="connsiteY58" fmla="*/ 2036656 h 2037221"/>
                <a:gd name="connisteX59" fmla="*/ 1709772 w 3243015"/>
                <a:gd name="connsiteY59" fmla="*/ 2036656 h 2037221"/>
                <a:gd name="connisteX60" fmla="*/ 1798037 w 3243015"/>
                <a:gd name="connsiteY60" fmla="*/ 2036656 h 2037221"/>
                <a:gd name="connisteX61" fmla="*/ 1862172 w 3243015"/>
                <a:gd name="connsiteY61" fmla="*/ 2036656 h 2037221"/>
                <a:gd name="connisteX62" fmla="*/ 1933927 w 3243015"/>
                <a:gd name="connsiteY62" fmla="*/ 2036656 h 2037221"/>
                <a:gd name="connisteX63" fmla="*/ 1998062 w 3243015"/>
                <a:gd name="connsiteY63" fmla="*/ 2036656 h 2037221"/>
                <a:gd name="connisteX64" fmla="*/ 2078072 w 3243015"/>
                <a:gd name="connsiteY64" fmla="*/ 2036656 h 2037221"/>
                <a:gd name="connisteX65" fmla="*/ 2142207 w 3243015"/>
                <a:gd name="connsiteY65" fmla="*/ 2029036 h 2037221"/>
                <a:gd name="connisteX66" fmla="*/ 2206342 w 3243015"/>
                <a:gd name="connsiteY66" fmla="*/ 2029036 h 2037221"/>
                <a:gd name="connisteX67" fmla="*/ 2270477 w 3243015"/>
                <a:gd name="connsiteY67" fmla="*/ 2029036 h 2037221"/>
                <a:gd name="connisteX68" fmla="*/ 2334612 w 3243015"/>
                <a:gd name="connsiteY68" fmla="*/ 2029036 h 2037221"/>
                <a:gd name="connisteX69" fmla="*/ 2407002 w 3243015"/>
                <a:gd name="connsiteY69" fmla="*/ 2029036 h 2037221"/>
                <a:gd name="connisteX70" fmla="*/ 2479392 w 3243015"/>
                <a:gd name="connsiteY70" fmla="*/ 2029036 h 2037221"/>
                <a:gd name="connisteX71" fmla="*/ 2551147 w 3243015"/>
                <a:gd name="connsiteY71" fmla="*/ 2029036 h 2037221"/>
                <a:gd name="connisteX72" fmla="*/ 2623537 w 3243015"/>
                <a:gd name="connsiteY72" fmla="*/ 2029036 h 2037221"/>
                <a:gd name="connisteX73" fmla="*/ 2719422 w 3243015"/>
                <a:gd name="connsiteY73" fmla="*/ 2012526 h 2037221"/>
                <a:gd name="connisteX74" fmla="*/ 2800067 w 3243015"/>
                <a:gd name="connsiteY74" fmla="*/ 2004906 h 2037221"/>
                <a:gd name="connisteX75" fmla="*/ 2864202 w 3243015"/>
                <a:gd name="connsiteY75" fmla="*/ 1988396 h 2037221"/>
                <a:gd name="connisteX76" fmla="*/ 2928337 w 3243015"/>
                <a:gd name="connsiteY76" fmla="*/ 1964901 h 2037221"/>
                <a:gd name="connisteX77" fmla="*/ 3015967 w 3243015"/>
                <a:gd name="connsiteY77" fmla="*/ 1932516 h 2037221"/>
                <a:gd name="connisteX78" fmla="*/ 3080102 w 3243015"/>
                <a:gd name="connsiteY78" fmla="*/ 1916641 h 2037221"/>
                <a:gd name="connisteX79" fmla="*/ 3120742 w 3243015"/>
                <a:gd name="connsiteY79" fmla="*/ 1852506 h 2037221"/>
                <a:gd name="connisteX80" fmla="*/ 3176622 w 3243015"/>
                <a:gd name="connsiteY80" fmla="*/ 1780116 h 2037221"/>
                <a:gd name="connisteX81" fmla="*/ 3200752 w 3243015"/>
                <a:gd name="connsiteY81" fmla="*/ 1708361 h 2037221"/>
                <a:gd name="connisteX82" fmla="*/ 3232502 w 3243015"/>
                <a:gd name="connsiteY82" fmla="*/ 1620096 h 2037221"/>
                <a:gd name="connisteX83" fmla="*/ 3240757 w 3243015"/>
                <a:gd name="connsiteY83" fmla="*/ 1555961 h 2037221"/>
                <a:gd name="connisteX84" fmla="*/ 3240757 w 3243015"/>
                <a:gd name="connsiteY84" fmla="*/ 1483571 h 2037221"/>
                <a:gd name="connisteX85" fmla="*/ 3240757 w 3243015"/>
                <a:gd name="connsiteY85" fmla="*/ 1411816 h 2037221"/>
                <a:gd name="connisteX86" fmla="*/ 3240757 w 3243015"/>
                <a:gd name="connsiteY86" fmla="*/ 1347681 h 2037221"/>
                <a:gd name="connisteX87" fmla="*/ 3240757 w 3243015"/>
                <a:gd name="connsiteY87" fmla="*/ 1283546 h 2037221"/>
                <a:gd name="connisteX88" fmla="*/ 3240757 w 3243015"/>
                <a:gd name="connsiteY88" fmla="*/ 1219411 h 2037221"/>
                <a:gd name="connisteX89" fmla="*/ 3240757 w 3243015"/>
                <a:gd name="connsiteY89" fmla="*/ 1147021 h 2037221"/>
                <a:gd name="connisteX90" fmla="*/ 3240757 w 3243015"/>
                <a:gd name="connsiteY90" fmla="*/ 1067011 h 2037221"/>
                <a:gd name="connisteX91" fmla="*/ 3240757 w 3243015"/>
                <a:gd name="connsiteY91" fmla="*/ 987001 h 2037221"/>
                <a:gd name="connisteX92" fmla="*/ 3240757 w 3243015"/>
                <a:gd name="connsiteY92" fmla="*/ 914611 h 2037221"/>
                <a:gd name="connisteX93" fmla="*/ 3240757 w 3243015"/>
                <a:gd name="connsiteY93" fmla="*/ 842221 h 2037221"/>
                <a:gd name="connisteX94" fmla="*/ 3216627 w 3243015"/>
                <a:gd name="connsiteY94" fmla="*/ 762211 h 2037221"/>
                <a:gd name="connisteX95" fmla="*/ 3208372 w 3243015"/>
                <a:gd name="connsiteY95" fmla="*/ 682201 h 2037221"/>
                <a:gd name="connisteX96" fmla="*/ 3200752 w 3243015"/>
                <a:gd name="connsiteY96" fmla="*/ 609811 h 2037221"/>
                <a:gd name="connisteX97" fmla="*/ 3184877 w 3243015"/>
                <a:gd name="connsiteY97" fmla="*/ 545676 h 2037221"/>
                <a:gd name="connisteX98" fmla="*/ 3160747 w 3243015"/>
                <a:gd name="connsiteY98" fmla="*/ 481541 h 2037221"/>
                <a:gd name="connisteX99" fmla="*/ 3152492 w 3243015"/>
                <a:gd name="connsiteY99" fmla="*/ 409786 h 2037221"/>
                <a:gd name="connisteX100" fmla="*/ 3112487 w 3243015"/>
                <a:gd name="connsiteY100" fmla="*/ 329141 h 2037221"/>
                <a:gd name="connisteX101" fmla="*/ 3048352 w 3243015"/>
                <a:gd name="connsiteY101" fmla="*/ 257386 h 2037221"/>
                <a:gd name="connisteX102" fmla="*/ 2975962 w 3243015"/>
                <a:gd name="connsiteY102" fmla="*/ 193251 h 2037221"/>
                <a:gd name="connisteX103" fmla="*/ 2911827 w 3243015"/>
                <a:gd name="connsiteY103" fmla="*/ 153246 h 2037221"/>
                <a:gd name="connisteX104" fmla="*/ 2847692 w 3243015"/>
                <a:gd name="connsiteY104" fmla="*/ 120861 h 2037221"/>
                <a:gd name="connisteX105" fmla="*/ 2783557 w 3243015"/>
                <a:gd name="connsiteY105" fmla="*/ 104986 h 2037221"/>
                <a:gd name="connisteX106" fmla="*/ 2719422 w 3243015"/>
                <a:gd name="connsiteY106" fmla="*/ 96731 h 2037221"/>
                <a:gd name="connisteX107" fmla="*/ 2647667 w 3243015"/>
                <a:gd name="connsiteY107" fmla="*/ 73236 h 2037221"/>
                <a:gd name="connisteX108" fmla="*/ 2575277 w 3243015"/>
                <a:gd name="connsiteY108" fmla="*/ 64981 h 2037221"/>
                <a:gd name="connisteX109" fmla="*/ 2503522 w 3243015"/>
                <a:gd name="connsiteY109" fmla="*/ 64981 h 2037221"/>
                <a:gd name="connisteX110" fmla="*/ 2415257 w 3243015"/>
                <a:gd name="connsiteY110" fmla="*/ 56726 h 2037221"/>
                <a:gd name="connisteX111" fmla="*/ 2351122 w 3243015"/>
                <a:gd name="connsiteY111" fmla="*/ 56726 h 2037221"/>
                <a:gd name="connisteX112" fmla="*/ 2286987 w 3243015"/>
                <a:gd name="connsiteY112" fmla="*/ 56726 h 2037221"/>
                <a:gd name="connisteX113" fmla="*/ 2214597 w 3243015"/>
                <a:gd name="connsiteY113" fmla="*/ 56726 h 2037221"/>
                <a:gd name="connisteX114" fmla="*/ 2150462 w 3243015"/>
                <a:gd name="connsiteY114" fmla="*/ 56726 h 2037221"/>
                <a:gd name="connisteX115" fmla="*/ 2078072 w 3243015"/>
                <a:gd name="connsiteY115" fmla="*/ 56726 h 2037221"/>
                <a:gd name="connisteX116" fmla="*/ 2006317 w 3243015"/>
                <a:gd name="connsiteY116" fmla="*/ 56726 h 2037221"/>
                <a:gd name="connisteX117" fmla="*/ 1926307 w 3243015"/>
                <a:gd name="connsiteY117" fmla="*/ 49106 h 2037221"/>
                <a:gd name="connisteX118" fmla="*/ 1862172 w 3243015"/>
                <a:gd name="connsiteY118" fmla="*/ 32596 h 2037221"/>
                <a:gd name="connisteX119" fmla="*/ 1789782 w 3243015"/>
                <a:gd name="connsiteY119" fmla="*/ 24976 h 2037221"/>
                <a:gd name="connisteX120" fmla="*/ 1709772 w 3243015"/>
                <a:gd name="connsiteY120" fmla="*/ 9101 h 2037221"/>
                <a:gd name="connisteX121" fmla="*/ 1645637 w 3243015"/>
                <a:gd name="connsiteY121" fmla="*/ 9101 h 2037221"/>
                <a:gd name="connisteX122" fmla="*/ 1581502 w 3243015"/>
                <a:gd name="connsiteY122" fmla="*/ 846 h 2037221"/>
                <a:gd name="connisteX123" fmla="*/ 1517367 w 3243015"/>
                <a:gd name="connsiteY123" fmla="*/ 846 h 2037221"/>
                <a:gd name="connisteX124" fmla="*/ 1453232 w 3243015"/>
                <a:gd name="connsiteY124" fmla="*/ 846 h 2037221"/>
                <a:gd name="connisteX125" fmla="*/ 1373222 w 3243015"/>
                <a:gd name="connsiteY125" fmla="*/ 9101 h 2037221"/>
                <a:gd name="connisteX126" fmla="*/ 1309087 w 3243015"/>
                <a:gd name="connsiteY126" fmla="*/ 32596 h 2037221"/>
                <a:gd name="connisteX127" fmla="*/ 1244952 w 3243015"/>
                <a:gd name="connsiteY127" fmla="*/ 56726 h 20372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Lst>
              <a:rect l="l" t="t" r="r" b="b"/>
              <a:pathLst>
                <a:path w="3243015" h="2037221">
                  <a:moveTo>
                    <a:pt x="1276703" y="64982"/>
                  </a:moveTo>
                  <a:cubicBezTo>
                    <a:pt x="1265273" y="67522"/>
                    <a:pt x="1239873" y="72602"/>
                    <a:pt x="1212568" y="80857"/>
                  </a:cubicBezTo>
                  <a:cubicBezTo>
                    <a:pt x="1185263" y="89112"/>
                    <a:pt x="1168118" y="99907"/>
                    <a:pt x="1140813" y="104987"/>
                  </a:cubicBezTo>
                  <a:cubicBezTo>
                    <a:pt x="1113508" y="110067"/>
                    <a:pt x="1109063" y="104987"/>
                    <a:pt x="1076678" y="104987"/>
                  </a:cubicBezTo>
                  <a:cubicBezTo>
                    <a:pt x="1044293" y="104987"/>
                    <a:pt x="1016988" y="104987"/>
                    <a:pt x="980158" y="104987"/>
                  </a:cubicBezTo>
                  <a:cubicBezTo>
                    <a:pt x="943328" y="104987"/>
                    <a:pt x="925548" y="104987"/>
                    <a:pt x="891893" y="104987"/>
                  </a:cubicBezTo>
                  <a:cubicBezTo>
                    <a:pt x="858238" y="104987"/>
                    <a:pt x="843633" y="104987"/>
                    <a:pt x="811883" y="104987"/>
                  </a:cubicBezTo>
                  <a:cubicBezTo>
                    <a:pt x="780133" y="104987"/>
                    <a:pt x="762353" y="103082"/>
                    <a:pt x="731873" y="104987"/>
                  </a:cubicBezTo>
                  <a:cubicBezTo>
                    <a:pt x="701393" y="106892"/>
                    <a:pt x="691868" y="111337"/>
                    <a:pt x="659483" y="113242"/>
                  </a:cubicBezTo>
                  <a:cubicBezTo>
                    <a:pt x="627098" y="115147"/>
                    <a:pt x="601698" y="113242"/>
                    <a:pt x="571218" y="113242"/>
                  </a:cubicBezTo>
                  <a:cubicBezTo>
                    <a:pt x="540738" y="113242"/>
                    <a:pt x="534388" y="113242"/>
                    <a:pt x="507083" y="113242"/>
                  </a:cubicBezTo>
                  <a:cubicBezTo>
                    <a:pt x="479778" y="113242"/>
                    <a:pt x="462633" y="113242"/>
                    <a:pt x="435328" y="113242"/>
                  </a:cubicBezTo>
                  <a:cubicBezTo>
                    <a:pt x="408023" y="113242"/>
                    <a:pt x="396593" y="113242"/>
                    <a:pt x="371193" y="113242"/>
                  </a:cubicBezTo>
                  <a:cubicBezTo>
                    <a:pt x="345793" y="113242"/>
                    <a:pt x="332458" y="113242"/>
                    <a:pt x="307058" y="113242"/>
                  </a:cubicBezTo>
                  <a:cubicBezTo>
                    <a:pt x="281658" y="113242"/>
                    <a:pt x="268323" y="113242"/>
                    <a:pt x="242923" y="113242"/>
                  </a:cubicBezTo>
                  <a:cubicBezTo>
                    <a:pt x="217523" y="113242"/>
                    <a:pt x="204188" y="113242"/>
                    <a:pt x="178788" y="113242"/>
                  </a:cubicBezTo>
                  <a:cubicBezTo>
                    <a:pt x="153388" y="113242"/>
                    <a:pt x="140053" y="104987"/>
                    <a:pt x="114653" y="113242"/>
                  </a:cubicBezTo>
                  <a:cubicBezTo>
                    <a:pt x="89253" y="121497"/>
                    <a:pt x="71473" y="131022"/>
                    <a:pt x="50518" y="153247"/>
                  </a:cubicBezTo>
                  <a:cubicBezTo>
                    <a:pt x="29563" y="175472"/>
                    <a:pt x="20038" y="196427"/>
                    <a:pt x="10513" y="225002"/>
                  </a:cubicBezTo>
                  <a:cubicBezTo>
                    <a:pt x="988" y="253577"/>
                    <a:pt x="-2822" y="268182"/>
                    <a:pt x="2258" y="297392"/>
                  </a:cubicBezTo>
                  <a:cubicBezTo>
                    <a:pt x="7338" y="326602"/>
                    <a:pt x="25118" y="339302"/>
                    <a:pt x="34643" y="369782"/>
                  </a:cubicBezTo>
                  <a:cubicBezTo>
                    <a:pt x="44168" y="400262"/>
                    <a:pt x="42263" y="412962"/>
                    <a:pt x="50518" y="449792"/>
                  </a:cubicBezTo>
                  <a:cubicBezTo>
                    <a:pt x="58773" y="486622"/>
                    <a:pt x="68298" y="520277"/>
                    <a:pt x="74648" y="553932"/>
                  </a:cubicBezTo>
                  <a:cubicBezTo>
                    <a:pt x="80998" y="587587"/>
                    <a:pt x="75918" y="589492"/>
                    <a:pt x="82268" y="618067"/>
                  </a:cubicBezTo>
                  <a:cubicBezTo>
                    <a:pt x="88618" y="646642"/>
                    <a:pt x="100048" y="669502"/>
                    <a:pt x="106398" y="698077"/>
                  </a:cubicBezTo>
                  <a:cubicBezTo>
                    <a:pt x="112748" y="726652"/>
                    <a:pt x="111478" y="734907"/>
                    <a:pt x="114653" y="762212"/>
                  </a:cubicBezTo>
                  <a:cubicBezTo>
                    <a:pt x="117828" y="789517"/>
                    <a:pt x="121003" y="807297"/>
                    <a:pt x="122273" y="834602"/>
                  </a:cubicBezTo>
                  <a:cubicBezTo>
                    <a:pt x="123543" y="861907"/>
                    <a:pt x="122273" y="873337"/>
                    <a:pt x="122273" y="898737"/>
                  </a:cubicBezTo>
                  <a:cubicBezTo>
                    <a:pt x="122273" y="924137"/>
                    <a:pt x="119098" y="934297"/>
                    <a:pt x="122273" y="962872"/>
                  </a:cubicBezTo>
                  <a:cubicBezTo>
                    <a:pt x="125448" y="991447"/>
                    <a:pt x="133703" y="1014307"/>
                    <a:pt x="138783" y="1042882"/>
                  </a:cubicBezTo>
                  <a:cubicBezTo>
                    <a:pt x="143863" y="1071457"/>
                    <a:pt x="138148" y="1079712"/>
                    <a:pt x="146403" y="1107017"/>
                  </a:cubicBezTo>
                  <a:cubicBezTo>
                    <a:pt x="154658" y="1134322"/>
                    <a:pt x="169263" y="1150832"/>
                    <a:pt x="178788" y="1179407"/>
                  </a:cubicBezTo>
                  <a:cubicBezTo>
                    <a:pt x="188313" y="1207982"/>
                    <a:pt x="188313" y="1223857"/>
                    <a:pt x="194663" y="1251162"/>
                  </a:cubicBezTo>
                  <a:cubicBezTo>
                    <a:pt x="201013" y="1278467"/>
                    <a:pt x="205458" y="1284817"/>
                    <a:pt x="210538" y="1315297"/>
                  </a:cubicBezTo>
                  <a:cubicBezTo>
                    <a:pt x="215618" y="1345777"/>
                    <a:pt x="215618" y="1371177"/>
                    <a:pt x="218793" y="1403562"/>
                  </a:cubicBezTo>
                  <a:cubicBezTo>
                    <a:pt x="221968" y="1435947"/>
                    <a:pt x="221968" y="1448647"/>
                    <a:pt x="227048" y="1475952"/>
                  </a:cubicBezTo>
                  <a:cubicBezTo>
                    <a:pt x="232128" y="1503257"/>
                    <a:pt x="236573" y="1512782"/>
                    <a:pt x="242923" y="1540087"/>
                  </a:cubicBezTo>
                  <a:cubicBezTo>
                    <a:pt x="249273" y="1567392"/>
                    <a:pt x="252448" y="1584537"/>
                    <a:pt x="258798" y="1611842"/>
                  </a:cubicBezTo>
                  <a:cubicBezTo>
                    <a:pt x="265148" y="1639147"/>
                    <a:pt x="266418" y="1650577"/>
                    <a:pt x="274673" y="1675977"/>
                  </a:cubicBezTo>
                  <a:cubicBezTo>
                    <a:pt x="282928" y="1701377"/>
                    <a:pt x="287373" y="1714712"/>
                    <a:pt x="298803" y="1740112"/>
                  </a:cubicBezTo>
                  <a:cubicBezTo>
                    <a:pt x="310233" y="1765512"/>
                    <a:pt x="318488" y="1778847"/>
                    <a:pt x="331188" y="1804247"/>
                  </a:cubicBezTo>
                  <a:cubicBezTo>
                    <a:pt x="343888" y="1829647"/>
                    <a:pt x="343888" y="1842982"/>
                    <a:pt x="362938" y="1868382"/>
                  </a:cubicBezTo>
                  <a:cubicBezTo>
                    <a:pt x="381988" y="1893782"/>
                    <a:pt x="401673" y="1914737"/>
                    <a:pt x="427073" y="1932517"/>
                  </a:cubicBezTo>
                  <a:cubicBezTo>
                    <a:pt x="452473" y="1950297"/>
                    <a:pt x="463903" y="1950297"/>
                    <a:pt x="491208" y="1956647"/>
                  </a:cubicBezTo>
                  <a:cubicBezTo>
                    <a:pt x="518513" y="1962997"/>
                    <a:pt x="535023" y="1958552"/>
                    <a:pt x="563598" y="1964902"/>
                  </a:cubicBezTo>
                  <a:cubicBezTo>
                    <a:pt x="592173" y="1971252"/>
                    <a:pt x="606778" y="1982047"/>
                    <a:pt x="635353" y="1988397"/>
                  </a:cubicBezTo>
                  <a:cubicBezTo>
                    <a:pt x="663928" y="1994747"/>
                    <a:pt x="680438" y="1993477"/>
                    <a:pt x="707743" y="1996652"/>
                  </a:cubicBezTo>
                  <a:cubicBezTo>
                    <a:pt x="735048" y="1999827"/>
                    <a:pt x="738223" y="2003002"/>
                    <a:pt x="771878" y="2004907"/>
                  </a:cubicBezTo>
                  <a:cubicBezTo>
                    <a:pt x="805533" y="2006812"/>
                    <a:pt x="840458" y="2001732"/>
                    <a:pt x="876018" y="2004907"/>
                  </a:cubicBezTo>
                  <a:cubicBezTo>
                    <a:pt x="911578" y="2008082"/>
                    <a:pt x="917928" y="2015702"/>
                    <a:pt x="948408" y="2020782"/>
                  </a:cubicBezTo>
                  <a:cubicBezTo>
                    <a:pt x="978888" y="2025862"/>
                    <a:pt x="999843" y="2027132"/>
                    <a:pt x="1028418" y="2029037"/>
                  </a:cubicBezTo>
                  <a:cubicBezTo>
                    <a:pt x="1056993" y="2030942"/>
                    <a:pt x="1062073" y="2029037"/>
                    <a:pt x="1092553" y="2029037"/>
                  </a:cubicBezTo>
                  <a:cubicBezTo>
                    <a:pt x="1123033" y="2029037"/>
                    <a:pt x="1150338" y="2029037"/>
                    <a:pt x="1180818" y="2029037"/>
                  </a:cubicBezTo>
                  <a:cubicBezTo>
                    <a:pt x="1211298" y="2029037"/>
                    <a:pt x="1214473" y="2027767"/>
                    <a:pt x="1244953" y="2029037"/>
                  </a:cubicBezTo>
                  <a:cubicBezTo>
                    <a:pt x="1275433" y="2030307"/>
                    <a:pt x="1302738" y="2035387"/>
                    <a:pt x="1333218" y="2036657"/>
                  </a:cubicBezTo>
                  <a:cubicBezTo>
                    <a:pt x="1363698" y="2037927"/>
                    <a:pt x="1368778" y="2036657"/>
                    <a:pt x="1397353" y="2036657"/>
                  </a:cubicBezTo>
                  <a:cubicBezTo>
                    <a:pt x="1425928" y="2036657"/>
                    <a:pt x="1443708" y="2036657"/>
                    <a:pt x="1477363" y="2036657"/>
                  </a:cubicBezTo>
                  <a:cubicBezTo>
                    <a:pt x="1511018" y="2036657"/>
                    <a:pt x="1533878" y="2036657"/>
                    <a:pt x="1565628" y="2036657"/>
                  </a:cubicBezTo>
                  <a:cubicBezTo>
                    <a:pt x="1597378" y="2036657"/>
                    <a:pt x="1608808" y="2036657"/>
                    <a:pt x="1637383" y="2036657"/>
                  </a:cubicBezTo>
                  <a:cubicBezTo>
                    <a:pt x="1665958" y="2036657"/>
                    <a:pt x="1677388" y="2036657"/>
                    <a:pt x="1709773" y="2036657"/>
                  </a:cubicBezTo>
                  <a:cubicBezTo>
                    <a:pt x="1742158" y="2036657"/>
                    <a:pt x="1767558" y="2036657"/>
                    <a:pt x="1798038" y="2036657"/>
                  </a:cubicBezTo>
                  <a:cubicBezTo>
                    <a:pt x="1828518" y="2036657"/>
                    <a:pt x="1834868" y="2036657"/>
                    <a:pt x="1862173" y="2036657"/>
                  </a:cubicBezTo>
                  <a:cubicBezTo>
                    <a:pt x="1889478" y="2036657"/>
                    <a:pt x="1906623" y="2036657"/>
                    <a:pt x="1933928" y="2036657"/>
                  </a:cubicBezTo>
                  <a:cubicBezTo>
                    <a:pt x="1961233" y="2036657"/>
                    <a:pt x="1969488" y="2036657"/>
                    <a:pt x="1998063" y="2036657"/>
                  </a:cubicBezTo>
                  <a:cubicBezTo>
                    <a:pt x="2026638" y="2036657"/>
                    <a:pt x="2049498" y="2037927"/>
                    <a:pt x="2078073" y="2036657"/>
                  </a:cubicBezTo>
                  <a:cubicBezTo>
                    <a:pt x="2106648" y="2035387"/>
                    <a:pt x="2116808" y="2030307"/>
                    <a:pt x="2142208" y="2029037"/>
                  </a:cubicBezTo>
                  <a:cubicBezTo>
                    <a:pt x="2167608" y="2027767"/>
                    <a:pt x="2180943" y="2029037"/>
                    <a:pt x="2206343" y="2029037"/>
                  </a:cubicBezTo>
                  <a:cubicBezTo>
                    <a:pt x="2231743" y="2029037"/>
                    <a:pt x="2245078" y="2029037"/>
                    <a:pt x="2270478" y="2029037"/>
                  </a:cubicBezTo>
                  <a:cubicBezTo>
                    <a:pt x="2295878" y="2029037"/>
                    <a:pt x="2307308" y="2029037"/>
                    <a:pt x="2334613" y="2029037"/>
                  </a:cubicBezTo>
                  <a:cubicBezTo>
                    <a:pt x="2361918" y="2029037"/>
                    <a:pt x="2377793" y="2029037"/>
                    <a:pt x="2407003" y="2029037"/>
                  </a:cubicBezTo>
                  <a:cubicBezTo>
                    <a:pt x="2436213" y="2029037"/>
                    <a:pt x="2450818" y="2029037"/>
                    <a:pt x="2479393" y="2029037"/>
                  </a:cubicBezTo>
                  <a:cubicBezTo>
                    <a:pt x="2507968" y="2029037"/>
                    <a:pt x="2522573" y="2029037"/>
                    <a:pt x="2551148" y="2029037"/>
                  </a:cubicBezTo>
                  <a:cubicBezTo>
                    <a:pt x="2579723" y="2029037"/>
                    <a:pt x="2589883" y="2032212"/>
                    <a:pt x="2623538" y="2029037"/>
                  </a:cubicBezTo>
                  <a:cubicBezTo>
                    <a:pt x="2657193" y="2025862"/>
                    <a:pt x="2683863" y="2017607"/>
                    <a:pt x="2719423" y="2012527"/>
                  </a:cubicBezTo>
                  <a:cubicBezTo>
                    <a:pt x="2754983" y="2007447"/>
                    <a:pt x="2770858" y="2009987"/>
                    <a:pt x="2800068" y="2004907"/>
                  </a:cubicBezTo>
                  <a:cubicBezTo>
                    <a:pt x="2829278" y="1999827"/>
                    <a:pt x="2838803" y="1996652"/>
                    <a:pt x="2864203" y="1988397"/>
                  </a:cubicBezTo>
                  <a:cubicBezTo>
                    <a:pt x="2889603" y="1980142"/>
                    <a:pt x="2897858" y="1976332"/>
                    <a:pt x="2928338" y="1964902"/>
                  </a:cubicBezTo>
                  <a:cubicBezTo>
                    <a:pt x="2958818" y="1953472"/>
                    <a:pt x="2985488" y="1942042"/>
                    <a:pt x="3015968" y="1932517"/>
                  </a:cubicBezTo>
                  <a:cubicBezTo>
                    <a:pt x="3046448" y="1922992"/>
                    <a:pt x="3059148" y="1932517"/>
                    <a:pt x="3080103" y="1916642"/>
                  </a:cubicBezTo>
                  <a:cubicBezTo>
                    <a:pt x="3101058" y="1900767"/>
                    <a:pt x="3101693" y="1879812"/>
                    <a:pt x="3120743" y="1852507"/>
                  </a:cubicBezTo>
                  <a:cubicBezTo>
                    <a:pt x="3139793" y="1825202"/>
                    <a:pt x="3160748" y="1808692"/>
                    <a:pt x="3176623" y="1780117"/>
                  </a:cubicBezTo>
                  <a:cubicBezTo>
                    <a:pt x="3192498" y="1751542"/>
                    <a:pt x="3189323" y="1740112"/>
                    <a:pt x="3200753" y="1708362"/>
                  </a:cubicBezTo>
                  <a:cubicBezTo>
                    <a:pt x="3212183" y="1676612"/>
                    <a:pt x="3224248" y="1650577"/>
                    <a:pt x="3232503" y="1620097"/>
                  </a:cubicBezTo>
                  <a:cubicBezTo>
                    <a:pt x="3240758" y="1589617"/>
                    <a:pt x="3238853" y="1583267"/>
                    <a:pt x="3240758" y="1555962"/>
                  </a:cubicBezTo>
                  <a:cubicBezTo>
                    <a:pt x="3242663" y="1528657"/>
                    <a:pt x="3240758" y="1512147"/>
                    <a:pt x="3240758" y="1483572"/>
                  </a:cubicBezTo>
                  <a:cubicBezTo>
                    <a:pt x="3240758" y="1454997"/>
                    <a:pt x="3240758" y="1439122"/>
                    <a:pt x="3240758" y="1411817"/>
                  </a:cubicBezTo>
                  <a:cubicBezTo>
                    <a:pt x="3240758" y="1384512"/>
                    <a:pt x="3240758" y="1373082"/>
                    <a:pt x="3240758" y="1347682"/>
                  </a:cubicBezTo>
                  <a:cubicBezTo>
                    <a:pt x="3240758" y="1322282"/>
                    <a:pt x="3240758" y="1308947"/>
                    <a:pt x="3240758" y="1283547"/>
                  </a:cubicBezTo>
                  <a:cubicBezTo>
                    <a:pt x="3240758" y="1258147"/>
                    <a:pt x="3240758" y="1246717"/>
                    <a:pt x="3240758" y="1219412"/>
                  </a:cubicBezTo>
                  <a:cubicBezTo>
                    <a:pt x="3240758" y="1192107"/>
                    <a:pt x="3240758" y="1177502"/>
                    <a:pt x="3240758" y="1147022"/>
                  </a:cubicBezTo>
                  <a:cubicBezTo>
                    <a:pt x="3240758" y="1116542"/>
                    <a:pt x="3240758" y="1098762"/>
                    <a:pt x="3240758" y="1067012"/>
                  </a:cubicBezTo>
                  <a:cubicBezTo>
                    <a:pt x="3240758" y="1035262"/>
                    <a:pt x="3240758" y="1017482"/>
                    <a:pt x="3240758" y="987002"/>
                  </a:cubicBezTo>
                  <a:cubicBezTo>
                    <a:pt x="3240758" y="956522"/>
                    <a:pt x="3240758" y="943822"/>
                    <a:pt x="3240758" y="914612"/>
                  </a:cubicBezTo>
                  <a:cubicBezTo>
                    <a:pt x="3240758" y="885402"/>
                    <a:pt x="3245838" y="872702"/>
                    <a:pt x="3240758" y="842222"/>
                  </a:cubicBezTo>
                  <a:cubicBezTo>
                    <a:pt x="3235678" y="811742"/>
                    <a:pt x="3222978" y="793962"/>
                    <a:pt x="3216628" y="762212"/>
                  </a:cubicBezTo>
                  <a:cubicBezTo>
                    <a:pt x="3210278" y="730462"/>
                    <a:pt x="3211548" y="712682"/>
                    <a:pt x="3208373" y="682202"/>
                  </a:cubicBezTo>
                  <a:cubicBezTo>
                    <a:pt x="3205198" y="651722"/>
                    <a:pt x="3205198" y="637117"/>
                    <a:pt x="3200753" y="609812"/>
                  </a:cubicBezTo>
                  <a:cubicBezTo>
                    <a:pt x="3196308" y="582507"/>
                    <a:pt x="3193133" y="571077"/>
                    <a:pt x="3184878" y="545677"/>
                  </a:cubicBezTo>
                  <a:cubicBezTo>
                    <a:pt x="3176623" y="520277"/>
                    <a:pt x="3167098" y="508847"/>
                    <a:pt x="3160748" y="481542"/>
                  </a:cubicBezTo>
                  <a:cubicBezTo>
                    <a:pt x="3154398" y="454237"/>
                    <a:pt x="3162018" y="440267"/>
                    <a:pt x="3152493" y="409787"/>
                  </a:cubicBezTo>
                  <a:cubicBezTo>
                    <a:pt x="3142968" y="379307"/>
                    <a:pt x="3133443" y="359622"/>
                    <a:pt x="3112488" y="329142"/>
                  </a:cubicBezTo>
                  <a:cubicBezTo>
                    <a:pt x="3091533" y="298662"/>
                    <a:pt x="3075658" y="284692"/>
                    <a:pt x="3048353" y="257387"/>
                  </a:cubicBezTo>
                  <a:cubicBezTo>
                    <a:pt x="3021048" y="230082"/>
                    <a:pt x="3003268" y="214207"/>
                    <a:pt x="2975963" y="193252"/>
                  </a:cubicBezTo>
                  <a:cubicBezTo>
                    <a:pt x="2948658" y="172297"/>
                    <a:pt x="2937228" y="167852"/>
                    <a:pt x="2911828" y="153247"/>
                  </a:cubicBezTo>
                  <a:cubicBezTo>
                    <a:pt x="2886428" y="138642"/>
                    <a:pt x="2873093" y="130387"/>
                    <a:pt x="2847693" y="120862"/>
                  </a:cubicBezTo>
                  <a:cubicBezTo>
                    <a:pt x="2822293" y="111337"/>
                    <a:pt x="2808958" y="110067"/>
                    <a:pt x="2783558" y="104987"/>
                  </a:cubicBezTo>
                  <a:cubicBezTo>
                    <a:pt x="2758158" y="99907"/>
                    <a:pt x="2746728" y="103082"/>
                    <a:pt x="2719423" y="96732"/>
                  </a:cubicBezTo>
                  <a:cubicBezTo>
                    <a:pt x="2692118" y="90382"/>
                    <a:pt x="2676243" y="79587"/>
                    <a:pt x="2647668" y="73237"/>
                  </a:cubicBezTo>
                  <a:cubicBezTo>
                    <a:pt x="2619093" y="66887"/>
                    <a:pt x="2603853" y="66887"/>
                    <a:pt x="2575278" y="64982"/>
                  </a:cubicBezTo>
                  <a:cubicBezTo>
                    <a:pt x="2546703" y="63077"/>
                    <a:pt x="2535273" y="66887"/>
                    <a:pt x="2503523" y="64982"/>
                  </a:cubicBezTo>
                  <a:cubicBezTo>
                    <a:pt x="2471773" y="63077"/>
                    <a:pt x="2445738" y="58632"/>
                    <a:pt x="2415258" y="56727"/>
                  </a:cubicBezTo>
                  <a:cubicBezTo>
                    <a:pt x="2384778" y="54822"/>
                    <a:pt x="2376523" y="56727"/>
                    <a:pt x="2351123" y="56727"/>
                  </a:cubicBezTo>
                  <a:cubicBezTo>
                    <a:pt x="2325723" y="56727"/>
                    <a:pt x="2314293" y="56727"/>
                    <a:pt x="2286988" y="56727"/>
                  </a:cubicBezTo>
                  <a:cubicBezTo>
                    <a:pt x="2259683" y="56727"/>
                    <a:pt x="2241903" y="56727"/>
                    <a:pt x="2214598" y="56727"/>
                  </a:cubicBezTo>
                  <a:cubicBezTo>
                    <a:pt x="2187293" y="56727"/>
                    <a:pt x="2177768" y="56727"/>
                    <a:pt x="2150463" y="56727"/>
                  </a:cubicBezTo>
                  <a:cubicBezTo>
                    <a:pt x="2123158" y="56727"/>
                    <a:pt x="2106648" y="56727"/>
                    <a:pt x="2078073" y="56727"/>
                  </a:cubicBezTo>
                  <a:cubicBezTo>
                    <a:pt x="2049498" y="56727"/>
                    <a:pt x="2036798" y="57997"/>
                    <a:pt x="2006318" y="56727"/>
                  </a:cubicBezTo>
                  <a:cubicBezTo>
                    <a:pt x="1975838" y="55457"/>
                    <a:pt x="1954883" y="54187"/>
                    <a:pt x="1926308" y="49107"/>
                  </a:cubicBezTo>
                  <a:cubicBezTo>
                    <a:pt x="1897733" y="44027"/>
                    <a:pt x="1889478" y="37677"/>
                    <a:pt x="1862173" y="32597"/>
                  </a:cubicBezTo>
                  <a:cubicBezTo>
                    <a:pt x="1834868" y="27517"/>
                    <a:pt x="1820263" y="29422"/>
                    <a:pt x="1789783" y="24977"/>
                  </a:cubicBezTo>
                  <a:cubicBezTo>
                    <a:pt x="1759303" y="20532"/>
                    <a:pt x="1738348" y="12277"/>
                    <a:pt x="1709773" y="9102"/>
                  </a:cubicBezTo>
                  <a:cubicBezTo>
                    <a:pt x="1681198" y="5927"/>
                    <a:pt x="1671038" y="11007"/>
                    <a:pt x="1645638" y="9102"/>
                  </a:cubicBezTo>
                  <a:cubicBezTo>
                    <a:pt x="1620238" y="7197"/>
                    <a:pt x="1606903" y="2752"/>
                    <a:pt x="1581503" y="847"/>
                  </a:cubicBezTo>
                  <a:cubicBezTo>
                    <a:pt x="1556103" y="-1058"/>
                    <a:pt x="1542768" y="847"/>
                    <a:pt x="1517368" y="847"/>
                  </a:cubicBezTo>
                  <a:cubicBezTo>
                    <a:pt x="1491968" y="847"/>
                    <a:pt x="1481808" y="-1058"/>
                    <a:pt x="1453233" y="847"/>
                  </a:cubicBezTo>
                  <a:cubicBezTo>
                    <a:pt x="1424658" y="2752"/>
                    <a:pt x="1401798" y="2752"/>
                    <a:pt x="1373223" y="9102"/>
                  </a:cubicBezTo>
                  <a:cubicBezTo>
                    <a:pt x="1344648" y="15452"/>
                    <a:pt x="1334488" y="23072"/>
                    <a:pt x="1309088" y="32597"/>
                  </a:cubicBezTo>
                  <a:cubicBezTo>
                    <a:pt x="1283688" y="42122"/>
                    <a:pt x="1256383" y="52282"/>
                    <a:pt x="1244953" y="56727"/>
                  </a:cubicBezTo>
                </a:path>
              </a:pathLst>
            </a:custGeom>
            <a:ln w="12700" cap="flat" cmpd="sng" algn="ctr">
              <a:solidFill>
                <a:srgbClr val="C00000"/>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圆角矩形标注 5"/>
            <p:cNvSpPr/>
            <p:nvPr/>
          </p:nvSpPr>
          <p:spPr>
            <a:xfrm>
              <a:off x="11511" y="2913"/>
              <a:ext cx="6059" cy="1464"/>
            </a:xfrm>
            <a:prstGeom prst="wedgeRoundRectCallout">
              <a:avLst>
                <a:gd name="adj1" fmla="val -61255"/>
                <a:gd name="adj2" fmla="val 123702"/>
                <a:gd name="adj3" fmla="val 16667"/>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rPr>
                <a:t>子查询存在语法错误</a:t>
              </a: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标题 1"/>
          <p:cNvSpPr>
            <a:spLocks noGrp="1"/>
          </p:cNvSpPr>
          <p:nvPr>
            <p:ph type="title"/>
          </p:nvPr>
        </p:nvSpPr>
        <p:spPr/>
        <p:txBody>
          <a:bodyPr>
            <a:normAutofit fontScale="90000"/>
          </a:bodyPr>
          <a:lstStyle/>
          <a:p>
            <a:r>
              <a:rPr lang="zh-CN" altLang="en-US" dirty="0"/>
              <a:t>创建断言 </a:t>
            </a:r>
            <a:r>
              <a:rPr lang="en-US" altLang="zh-CN" dirty="0"/>
              <a:t>3</a:t>
            </a:r>
          </a:p>
        </p:txBody>
      </p:sp>
      <p:sp>
        <p:nvSpPr>
          <p:cNvPr id="56322" name="内容占位符 2"/>
          <p:cNvSpPr>
            <a:spLocks noGrp="1"/>
          </p:cNvSpPr>
          <p:nvPr>
            <p:ph idx="1"/>
          </p:nvPr>
        </p:nvSpPr>
        <p:spPr/>
        <p:txBody>
          <a:bodyPr>
            <a:noAutofit/>
          </a:bodyPr>
          <a:lstStyle/>
          <a:p>
            <a:r>
              <a:rPr lang="en-US" altLang="zh-CN">
                <a:latin typeface="Calibri" panose="020F0502020204030204" charset="0"/>
                <a:cs typeface="Calibri" panose="020F0502020204030204" charset="0"/>
              </a:rPr>
              <a:t>[</a:t>
            </a:r>
            <a:r>
              <a:rPr lang="zh-CN" altLang="en-US">
                <a:latin typeface="Calibri" panose="020F0502020204030204" charset="0"/>
                <a:cs typeface="Calibri" panose="020F0502020204030204" charset="0"/>
              </a:rPr>
              <a:t>例5.</a:t>
            </a:r>
            <a:r>
              <a:rPr lang="en-US" altLang="zh-CN">
                <a:latin typeface="Calibri" panose="020F0502020204030204" charset="0"/>
                <a:cs typeface="Calibri" panose="020F0502020204030204" charset="0"/>
              </a:rPr>
              <a:t>20] </a:t>
            </a:r>
            <a:r>
              <a:rPr lang="zh-CN" altLang="en-US">
                <a:latin typeface="Calibri" panose="020F0502020204030204" charset="0"/>
                <a:cs typeface="Calibri" panose="020F0502020204030204" charset="0"/>
              </a:rPr>
              <a:t>限制每个学期每一门课程最多</a:t>
            </a:r>
            <a:r>
              <a:rPr lang="en-US" altLang="zh-CN">
                <a:latin typeface="Calibri" panose="020F0502020204030204" charset="0"/>
                <a:cs typeface="Calibri" panose="020F0502020204030204" charset="0"/>
              </a:rPr>
              <a:t>60</a:t>
            </a:r>
            <a:r>
              <a:rPr lang="zh-CN" altLang="en-US">
                <a:latin typeface="Calibri" panose="020F0502020204030204" charset="0"/>
                <a:cs typeface="Calibri" panose="020F0502020204030204" charset="0"/>
              </a:rPr>
              <a:t>名学生选修。</a:t>
            </a:r>
          </a:p>
          <a:p>
            <a:pPr lvl="1">
              <a:lnSpc>
                <a:spcPct val="110000"/>
              </a:lnSpc>
              <a:spcBef>
                <a:spcPts val="3000"/>
              </a:spcBef>
              <a:spcAft>
                <a:spcPts val="1000"/>
              </a:spcAft>
            </a:pPr>
            <a:r>
              <a:rPr lang="zh-CN" altLang="en-US">
                <a:latin typeface="Calibri" panose="020F0502020204030204" charset="0"/>
                <a:cs typeface="Calibri" panose="020F0502020204030204" charset="0"/>
              </a:rPr>
              <a:t>首先需要修改</a:t>
            </a:r>
            <a:r>
              <a:rPr lang="en-US" altLang="zh-CN">
                <a:latin typeface="Calibri" panose="020F0502020204030204" charset="0"/>
                <a:cs typeface="Calibri" panose="020F0502020204030204" charset="0"/>
              </a:rPr>
              <a:t>SC</a:t>
            </a:r>
            <a:r>
              <a:rPr lang="zh-CN" altLang="en-US">
                <a:latin typeface="Calibri" panose="020F0502020204030204" charset="0"/>
                <a:cs typeface="Calibri" panose="020F0502020204030204" charset="0"/>
              </a:rPr>
              <a:t>表的模式，增加一个“学期</a:t>
            </a:r>
            <a:r>
              <a:rPr lang="en-US" altLang="zh-CN">
                <a:latin typeface="Calibri" panose="020F0502020204030204" charset="0"/>
                <a:cs typeface="Calibri" panose="020F0502020204030204" charset="0"/>
              </a:rPr>
              <a:t>(TERM)</a:t>
            </a:r>
            <a:r>
              <a:rPr lang="zh-CN" altLang="en-US">
                <a:latin typeface="Calibri" panose="020F0502020204030204" charset="0"/>
                <a:cs typeface="Calibri" panose="020F0502020204030204" charset="0"/>
              </a:rPr>
              <a:t>”列</a:t>
            </a:r>
            <a:endParaRPr lang="en-US" altLang="zh-CN">
              <a:latin typeface="Calibri" panose="020F0502020204030204" charset="0"/>
              <a:cs typeface="Calibri" panose="020F0502020204030204" charset="0"/>
            </a:endParaRPr>
          </a:p>
          <a:p>
            <a:pPr marL="914400" lvl="2" indent="0">
              <a:buNone/>
            </a:pPr>
            <a:r>
              <a:rPr lang="en-US" altLang="zh-CN">
                <a:latin typeface="Calibri" panose="020F0502020204030204" charset="0"/>
                <a:cs typeface="Calibri" panose="020F0502020204030204" charset="0"/>
              </a:rPr>
              <a:t>ALTER  TABLE  SC  </a:t>
            </a:r>
            <a:r>
              <a:rPr lang="en-US" altLang="zh-CN">
                <a:solidFill>
                  <a:srgbClr val="C00000"/>
                </a:solidFill>
                <a:latin typeface="Calibri" panose="020F0502020204030204" charset="0"/>
                <a:cs typeface="Calibri" panose="020F0502020204030204" charset="0"/>
              </a:rPr>
              <a:t>ADD  TERM  DATE</a:t>
            </a:r>
            <a:r>
              <a:rPr lang="en-US" altLang="zh-CN">
                <a:latin typeface="Calibri" panose="020F0502020204030204" charset="0"/>
                <a:cs typeface="Calibri" panose="020F0502020204030204" charset="0"/>
              </a:rPr>
              <a:t>;</a:t>
            </a:r>
            <a:endParaRPr lang="zh-CN" altLang="en-US">
              <a:latin typeface="Calibri" panose="020F0502020204030204" charset="0"/>
              <a:cs typeface="Calibri" panose="020F0502020204030204" charset="0"/>
            </a:endParaRPr>
          </a:p>
          <a:p>
            <a:pPr lvl="1">
              <a:lnSpc>
                <a:spcPct val="110000"/>
              </a:lnSpc>
              <a:spcBef>
                <a:spcPts val="4000"/>
              </a:spcBef>
              <a:spcAft>
                <a:spcPts val="1000"/>
              </a:spcAft>
            </a:pPr>
            <a:r>
              <a:rPr lang="zh-CN" altLang="en-US">
                <a:latin typeface="Calibri" panose="020F0502020204030204" charset="0"/>
                <a:cs typeface="Calibri" panose="020F0502020204030204" charset="0"/>
              </a:rPr>
              <a:t>然后，定义断言</a:t>
            </a:r>
          </a:p>
          <a:p>
            <a:pPr marL="914400" lvl="2" indent="0">
              <a:buNone/>
            </a:pPr>
            <a:r>
              <a:rPr lang="en-US" altLang="zh-CN">
                <a:latin typeface="Calibri" panose="020F0502020204030204" charset="0"/>
                <a:cs typeface="Calibri" panose="020F0502020204030204" charset="0"/>
              </a:rPr>
              <a:t>CREATE ASSERTION ASSE_SC_CNUM2</a:t>
            </a:r>
          </a:p>
          <a:p>
            <a:pPr marL="914400" lvl="2" indent="0">
              <a:buNone/>
            </a:pPr>
            <a:r>
              <a:rPr lang="en-US" altLang="zh-CN">
                <a:latin typeface="Calibri" panose="020F0502020204030204" charset="0"/>
                <a:cs typeface="Calibri" panose="020F0502020204030204" charset="0"/>
              </a:rPr>
              <a:t>CHECK </a:t>
            </a:r>
            <a:r>
              <a:rPr lang="zh-CN" altLang="en-US">
                <a:latin typeface="Calibri" panose="020F0502020204030204" charset="0"/>
                <a:cs typeface="Calibri" panose="020F0502020204030204" charset="0"/>
              </a:rPr>
              <a:t>(</a:t>
            </a:r>
            <a:r>
              <a:rPr lang="en-US" altLang="zh-CN">
                <a:latin typeface="Calibri" panose="020F0502020204030204" charset="0"/>
                <a:cs typeface="Calibri" panose="020F0502020204030204" charset="0"/>
              </a:rPr>
              <a:t> </a:t>
            </a:r>
            <a:r>
              <a:rPr lang="en-US" altLang="zh-CN">
                <a:solidFill>
                  <a:srgbClr val="C00000"/>
                </a:solidFill>
                <a:latin typeface="Calibri" panose="020F0502020204030204" charset="0"/>
                <a:cs typeface="Calibri" panose="020F0502020204030204" charset="0"/>
              </a:rPr>
              <a:t>60 &gt;= ALL </a:t>
            </a:r>
            <a:r>
              <a:rPr lang="zh-CN" altLang="en-US">
                <a:solidFill>
                  <a:srgbClr val="C00000"/>
                </a:solidFill>
                <a:latin typeface="Calibri" panose="020F0502020204030204" charset="0"/>
                <a:cs typeface="Calibri" panose="020F0502020204030204" charset="0"/>
              </a:rPr>
              <a:t>(</a:t>
            </a:r>
            <a:r>
              <a:rPr lang="en-US" altLang="zh-CN">
                <a:solidFill>
                  <a:srgbClr val="C00000"/>
                </a:solidFill>
                <a:latin typeface="Calibri" panose="020F0502020204030204" charset="0"/>
                <a:cs typeface="Calibri" panose="020F0502020204030204" charset="0"/>
              </a:rPr>
              <a:t> SELECT  count</a:t>
            </a:r>
            <a:r>
              <a:rPr lang="zh-CN" altLang="en-US">
                <a:solidFill>
                  <a:srgbClr val="C00000"/>
                </a:solidFill>
                <a:latin typeface="Calibri" panose="020F0502020204030204" charset="0"/>
                <a:cs typeface="Calibri" panose="020F0502020204030204" charset="0"/>
              </a:rPr>
              <a:t>(</a:t>
            </a:r>
            <a:r>
              <a:rPr lang="en-US" altLang="zh-CN">
                <a:solidFill>
                  <a:srgbClr val="C00000"/>
                </a:solidFill>
                <a:latin typeface="Calibri" panose="020F0502020204030204" charset="0"/>
                <a:cs typeface="Calibri" panose="020F0502020204030204" charset="0"/>
              </a:rPr>
              <a:t>*</a:t>
            </a:r>
            <a:r>
              <a:rPr lang="zh-CN" altLang="en-US">
                <a:solidFill>
                  <a:srgbClr val="C00000"/>
                </a:solidFill>
                <a:latin typeface="Calibri" panose="020F0502020204030204" charset="0"/>
                <a:cs typeface="Calibri" panose="020F0502020204030204" charset="0"/>
              </a:rPr>
              <a:t>)</a:t>
            </a:r>
            <a:endParaRPr lang="en-US" altLang="zh-CN">
              <a:solidFill>
                <a:srgbClr val="C00000"/>
              </a:solidFill>
              <a:latin typeface="Calibri" panose="020F0502020204030204" charset="0"/>
              <a:cs typeface="Calibri" panose="020F0502020204030204" charset="0"/>
            </a:endParaRPr>
          </a:p>
          <a:p>
            <a:pPr marL="914400" lvl="2" indent="2913380">
              <a:buNone/>
            </a:pPr>
            <a:r>
              <a:rPr lang="en-US" altLang="zh-CN">
                <a:solidFill>
                  <a:srgbClr val="C00000"/>
                </a:solidFill>
                <a:latin typeface="Calibri" panose="020F0502020204030204" charset="0"/>
                <a:cs typeface="Calibri" panose="020F0502020204030204" charset="0"/>
              </a:rPr>
              <a:t>FROM  SC</a:t>
            </a:r>
          </a:p>
          <a:p>
            <a:pPr marL="914400" lvl="2" indent="2913380">
              <a:buNone/>
            </a:pPr>
            <a:r>
              <a:rPr lang="en-US" altLang="zh-CN">
                <a:solidFill>
                  <a:srgbClr val="C00000"/>
                </a:solidFill>
                <a:latin typeface="Calibri" panose="020F0502020204030204" charset="0"/>
                <a:cs typeface="Calibri" panose="020F0502020204030204" charset="0"/>
              </a:rPr>
              <a:t>GROUP by  cno</a:t>
            </a:r>
            <a:r>
              <a:rPr lang="zh-CN" altLang="en-US">
                <a:solidFill>
                  <a:srgbClr val="C00000"/>
                </a:solidFill>
                <a:latin typeface="Calibri" panose="020F0502020204030204" charset="0"/>
                <a:cs typeface="Calibri" panose="020F0502020204030204" charset="0"/>
              </a:rPr>
              <a:t>,</a:t>
            </a:r>
            <a:r>
              <a:rPr lang="en-US" altLang="zh-CN">
                <a:solidFill>
                  <a:srgbClr val="C00000"/>
                </a:solidFill>
                <a:latin typeface="Calibri" panose="020F0502020204030204" charset="0"/>
                <a:cs typeface="Calibri" panose="020F0502020204030204" charset="0"/>
              </a:rPr>
              <a:t> TERM </a:t>
            </a:r>
            <a:r>
              <a:rPr lang="zh-CN" altLang="en-US">
                <a:solidFill>
                  <a:srgbClr val="C00000"/>
                </a:solidFill>
                <a:latin typeface="Calibri" panose="020F0502020204030204" charset="0"/>
                <a:cs typeface="Calibri" panose="020F0502020204030204" charset="0"/>
              </a:rPr>
              <a:t>)</a:t>
            </a:r>
            <a:endParaRPr lang="zh-CN" altLang="en-US">
              <a:latin typeface="Calibri" panose="020F0502020204030204" charset="0"/>
              <a:cs typeface="Calibri" panose="020F0502020204030204" charset="0"/>
            </a:endParaRPr>
          </a:p>
          <a:p>
            <a:pPr marL="914400" lvl="2" indent="0">
              <a:buNone/>
            </a:pPr>
            <a:r>
              <a:rPr lang="zh-CN" altLang="en-US">
                <a:latin typeface="Calibri" panose="020F0502020204030204" charset="0"/>
                <a:cs typeface="Calibri" panose="020F0502020204030204" charset="0"/>
              </a:rPr>
              <a:t>)</a:t>
            </a:r>
            <a:r>
              <a:rPr lang="en-US" altLang="zh-CN">
                <a:latin typeface="Calibri" panose="020F0502020204030204" charset="0"/>
                <a:cs typeface="Calibri" panose="020F0502020204030204" charset="0"/>
              </a:rPr>
              <a:t>;</a:t>
            </a:r>
            <a:endParaRPr lang="zh-CN" altLang="en-US" dirty="0">
              <a:latin typeface="Calibri" panose="020F0502020204030204" charset="0"/>
              <a:cs typeface="Calibri" panose="020F0502020204030204" charset="0"/>
            </a:endParaRPr>
          </a:p>
        </p:txBody>
      </p:sp>
      <p:sp>
        <p:nvSpPr>
          <p:cNvPr id="56323" name="页脚占位符 3"/>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55</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grpSp>
        <p:nvGrpSpPr>
          <p:cNvPr id="7" name="组合 6"/>
          <p:cNvGrpSpPr/>
          <p:nvPr/>
        </p:nvGrpSpPr>
        <p:grpSpPr>
          <a:xfrm>
            <a:off x="3994150" y="3613150"/>
            <a:ext cx="7649845" cy="2292985"/>
            <a:chOff x="5523" y="2913"/>
            <a:chExt cx="12047" cy="3611"/>
          </a:xfrm>
        </p:grpSpPr>
        <p:sp>
          <p:nvSpPr>
            <p:cNvPr id="5" name="任意多边形 4"/>
            <p:cNvSpPr/>
            <p:nvPr/>
          </p:nvSpPr>
          <p:spPr>
            <a:xfrm>
              <a:off x="5523" y="3808"/>
              <a:ext cx="6117" cy="2716"/>
            </a:xfrm>
            <a:custGeom>
              <a:avLst/>
              <a:gdLst>
                <a:gd name="connisteX0" fmla="*/ 1276702 w 3243015"/>
                <a:gd name="connsiteY0" fmla="*/ 64981 h 2037221"/>
                <a:gd name="connisteX1" fmla="*/ 1212567 w 3243015"/>
                <a:gd name="connsiteY1" fmla="*/ 80856 h 2037221"/>
                <a:gd name="connisteX2" fmla="*/ 1140812 w 3243015"/>
                <a:gd name="connsiteY2" fmla="*/ 104986 h 2037221"/>
                <a:gd name="connisteX3" fmla="*/ 1076677 w 3243015"/>
                <a:gd name="connsiteY3" fmla="*/ 104986 h 2037221"/>
                <a:gd name="connisteX4" fmla="*/ 980157 w 3243015"/>
                <a:gd name="connsiteY4" fmla="*/ 104986 h 2037221"/>
                <a:gd name="connisteX5" fmla="*/ 891892 w 3243015"/>
                <a:gd name="connsiteY5" fmla="*/ 104986 h 2037221"/>
                <a:gd name="connisteX6" fmla="*/ 811882 w 3243015"/>
                <a:gd name="connsiteY6" fmla="*/ 104986 h 2037221"/>
                <a:gd name="connisteX7" fmla="*/ 731872 w 3243015"/>
                <a:gd name="connsiteY7" fmla="*/ 104986 h 2037221"/>
                <a:gd name="connisteX8" fmla="*/ 659482 w 3243015"/>
                <a:gd name="connsiteY8" fmla="*/ 113241 h 2037221"/>
                <a:gd name="connisteX9" fmla="*/ 571217 w 3243015"/>
                <a:gd name="connsiteY9" fmla="*/ 113241 h 2037221"/>
                <a:gd name="connisteX10" fmla="*/ 507082 w 3243015"/>
                <a:gd name="connsiteY10" fmla="*/ 113241 h 2037221"/>
                <a:gd name="connisteX11" fmla="*/ 435327 w 3243015"/>
                <a:gd name="connsiteY11" fmla="*/ 113241 h 2037221"/>
                <a:gd name="connisteX12" fmla="*/ 371192 w 3243015"/>
                <a:gd name="connsiteY12" fmla="*/ 113241 h 2037221"/>
                <a:gd name="connisteX13" fmla="*/ 307057 w 3243015"/>
                <a:gd name="connsiteY13" fmla="*/ 113241 h 2037221"/>
                <a:gd name="connisteX14" fmla="*/ 242922 w 3243015"/>
                <a:gd name="connsiteY14" fmla="*/ 113241 h 2037221"/>
                <a:gd name="connisteX15" fmla="*/ 178787 w 3243015"/>
                <a:gd name="connsiteY15" fmla="*/ 113241 h 2037221"/>
                <a:gd name="connisteX16" fmla="*/ 114652 w 3243015"/>
                <a:gd name="connsiteY16" fmla="*/ 113241 h 2037221"/>
                <a:gd name="connisteX17" fmla="*/ 50517 w 3243015"/>
                <a:gd name="connsiteY17" fmla="*/ 153246 h 2037221"/>
                <a:gd name="connisteX18" fmla="*/ 10512 w 3243015"/>
                <a:gd name="connsiteY18" fmla="*/ 225001 h 2037221"/>
                <a:gd name="connisteX19" fmla="*/ 2257 w 3243015"/>
                <a:gd name="connsiteY19" fmla="*/ 297391 h 2037221"/>
                <a:gd name="connisteX20" fmla="*/ 34642 w 3243015"/>
                <a:gd name="connsiteY20" fmla="*/ 369781 h 2037221"/>
                <a:gd name="connisteX21" fmla="*/ 50517 w 3243015"/>
                <a:gd name="connsiteY21" fmla="*/ 449791 h 2037221"/>
                <a:gd name="connisteX22" fmla="*/ 74647 w 3243015"/>
                <a:gd name="connsiteY22" fmla="*/ 553931 h 2037221"/>
                <a:gd name="connisteX23" fmla="*/ 82267 w 3243015"/>
                <a:gd name="connsiteY23" fmla="*/ 618066 h 2037221"/>
                <a:gd name="connisteX24" fmla="*/ 106397 w 3243015"/>
                <a:gd name="connsiteY24" fmla="*/ 698076 h 2037221"/>
                <a:gd name="connisteX25" fmla="*/ 114652 w 3243015"/>
                <a:gd name="connsiteY25" fmla="*/ 762211 h 2037221"/>
                <a:gd name="connisteX26" fmla="*/ 122272 w 3243015"/>
                <a:gd name="connsiteY26" fmla="*/ 834601 h 2037221"/>
                <a:gd name="connisteX27" fmla="*/ 122272 w 3243015"/>
                <a:gd name="connsiteY27" fmla="*/ 898736 h 2037221"/>
                <a:gd name="connisteX28" fmla="*/ 122272 w 3243015"/>
                <a:gd name="connsiteY28" fmla="*/ 962871 h 2037221"/>
                <a:gd name="connisteX29" fmla="*/ 138782 w 3243015"/>
                <a:gd name="connsiteY29" fmla="*/ 1042881 h 2037221"/>
                <a:gd name="connisteX30" fmla="*/ 146402 w 3243015"/>
                <a:gd name="connsiteY30" fmla="*/ 1107016 h 2037221"/>
                <a:gd name="connisteX31" fmla="*/ 178787 w 3243015"/>
                <a:gd name="connsiteY31" fmla="*/ 1179406 h 2037221"/>
                <a:gd name="connisteX32" fmla="*/ 194662 w 3243015"/>
                <a:gd name="connsiteY32" fmla="*/ 1251161 h 2037221"/>
                <a:gd name="connisteX33" fmla="*/ 210537 w 3243015"/>
                <a:gd name="connsiteY33" fmla="*/ 1315296 h 2037221"/>
                <a:gd name="connisteX34" fmla="*/ 218792 w 3243015"/>
                <a:gd name="connsiteY34" fmla="*/ 1403561 h 2037221"/>
                <a:gd name="connisteX35" fmla="*/ 227047 w 3243015"/>
                <a:gd name="connsiteY35" fmla="*/ 1475951 h 2037221"/>
                <a:gd name="connisteX36" fmla="*/ 242922 w 3243015"/>
                <a:gd name="connsiteY36" fmla="*/ 1540086 h 2037221"/>
                <a:gd name="connisteX37" fmla="*/ 258797 w 3243015"/>
                <a:gd name="connsiteY37" fmla="*/ 1611841 h 2037221"/>
                <a:gd name="connisteX38" fmla="*/ 274672 w 3243015"/>
                <a:gd name="connsiteY38" fmla="*/ 1675976 h 2037221"/>
                <a:gd name="connisteX39" fmla="*/ 298802 w 3243015"/>
                <a:gd name="connsiteY39" fmla="*/ 1740111 h 2037221"/>
                <a:gd name="connisteX40" fmla="*/ 331187 w 3243015"/>
                <a:gd name="connsiteY40" fmla="*/ 1804246 h 2037221"/>
                <a:gd name="connisteX41" fmla="*/ 362937 w 3243015"/>
                <a:gd name="connsiteY41" fmla="*/ 1868381 h 2037221"/>
                <a:gd name="connisteX42" fmla="*/ 427072 w 3243015"/>
                <a:gd name="connsiteY42" fmla="*/ 1932516 h 2037221"/>
                <a:gd name="connisteX43" fmla="*/ 491207 w 3243015"/>
                <a:gd name="connsiteY43" fmla="*/ 1956646 h 2037221"/>
                <a:gd name="connisteX44" fmla="*/ 563597 w 3243015"/>
                <a:gd name="connsiteY44" fmla="*/ 1964901 h 2037221"/>
                <a:gd name="connisteX45" fmla="*/ 635352 w 3243015"/>
                <a:gd name="connsiteY45" fmla="*/ 1988396 h 2037221"/>
                <a:gd name="connisteX46" fmla="*/ 707742 w 3243015"/>
                <a:gd name="connsiteY46" fmla="*/ 1996651 h 2037221"/>
                <a:gd name="connisteX47" fmla="*/ 771877 w 3243015"/>
                <a:gd name="connsiteY47" fmla="*/ 2004906 h 2037221"/>
                <a:gd name="connisteX48" fmla="*/ 876017 w 3243015"/>
                <a:gd name="connsiteY48" fmla="*/ 2004906 h 2037221"/>
                <a:gd name="connisteX49" fmla="*/ 948407 w 3243015"/>
                <a:gd name="connsiteY49" fmla="*/ 2020781 h 2037221"/>
                <a:gd name="connisteX50" fmla="*/ 1028417 w 3243015"/>
                <a:gd name="connsiteY50" fmla="*/ 2029036 h 2037221"/>
                <a:gd name="connisteX51" fmla="*/ 1092552 w 3243015"/>
                <a:gd name="connsiteY51" fmla="*/ 2029036 h 2037221"/>
                <a:gd name="connisteX52" fmla="*/ 1180817 w 3243015"/>
                <a:gd name="connsiteY52" fmla="*/ 2029036 h 2037221"/>
                <a:gd name="connisteX53" fmla="*/ 1244952 w 3243015"/>
                <a:gd name="connsiteY53" fmla="*/ 2029036 h 2037221"/>
                <a:gd name="connisteX54" fmla="*/ 1333217 w 3243015"/>
                <a:gd name="connsiteY54" fmla="*/ 2036656 h 2037221"/>
                <a:gd name="connisteX55" fmla="*/ 1397352 w 3243015"/>
                <a:gd name="connsiteY55" fmla="*/ 2036656 h 2037221"/>
                <a:gd name="connisteX56" fmla="*/ 1477362 w 3243015"/>
                <a:gd name="connsiteY56" fmla="*/ 2036656 h 2037221"/>
                <a:gd name="connisteX57" fmla="*/ 1565627 w 3243015"/>
                <a:gd name="connsiteY57" fmla="*/ 2036656 h 2037221"/>
                <a:gd name="connisteX58" fmla="*/ 1637382 w 3243015"/>
                <a:gd name="connsiteY58" fmla="*/ 2036656 h 2037221"/>
                <a:gd name="connisteX59" fmla="*/ 1709772 w 3243015"/>
                <a:gd name="connsiteY59" fmla="*/ 2036656 h 2037221"/>
                <a:gd name="connisteX60" fmla="*/ 1798037 w 3243015"/>
                <a:gd name="connsiteY60" fmla="*/ 2036656 h 2037221"/>
                <a:gd name="connisteX61" fmla="*/ 1862172 w 3243015"/>
                <a:gd name="connsiteY61" fmla="*/ 2036656 h 2037221"/>
                <a:gd name="connisteX62" fmla="*/ 1933927 w 3243015"/>
                <a:gd name="connsiteY62" fmla="*/ 2036656 h 2037221"/>
                <a:gd name="connisteX63" fmla="*/ 1998062 w 3243015"/>
                <a:gd name="connsiteY63" fmla="*/ 2036656 h 2037221"/>
                <a:gd name="connisteX64" fmla="*/ 2078072 w 3243015"/>
                <a:gd name="connsiteY64" fmla="*/ 2036656 h 2037221"/>
                <a:gd name="connisteX65" fmla="*/ 2142207 w 3243015"/>
                <a:gd name="connsiteY65" fmla="*/ 2029036 h 2037221"/>
                <a:gd name="connisteX66" fmla="*/ 2206342 w 3243015"/>
                <a:gd name="connsiteY66" fmla="*/ 2029036 h 2037221"/>
                <a:gd name="connisteX67" fmla="*/ 2270477 w 3243015"/>
                <a:gd name="connsiteY67" fmla="*/ 2029036 h 2037221"/>
                <a:gd name="connisteX68" fmla="*/ 2334612 w 3243015"/>
                <a:gd name="connsiteY68" fmla="*/ 2029036 h 2037221"/>
                <a:gd name="connisteX69" fmla="*/ 2407002 w 3243015"/>
                <a:gd name="connsiteY69" fmla="*/ 2029036 h 2037221"/>
                <a:gd name="connisteX70" fmla="*/ 2479392 w 3243015"/>
                <a:gd name="connsiteY70" fmla="*/ 2029036 h 2037221"/>
                <a:gd name="connisteX71" fmla="*/ 2551147 w 3243015"/>
                <a:gd name="connsiteY71" fmla="*/ 2029036 h 2037221"/>
                <a:gd name="connisteX72" fmla="*/ 2623537 w 3243015"/>
                <a:gd name="connsiteY72" fmla="*/ 2029036 h 2037221"/>
                <a:gd name="connisteX73" fmla="*/ 2719422 w 3243015"/>
                <a:gd name="connsiteY73" fmla="*/ 2012526 h 2037221"/>
                <a:gd name="connisteX74" fmla="*/ 2800067 w 3243015"/>
                <a:gd name="connsiteY74" fmla="*/ 2004906 h 2037221"/>
                <a:gd name="connisteX75" fmla="*/ 2864202 w 3243015"/>
                <a:gd name="connsiteY75" fmla="*/ 1988396 h 2037221"/>
                <a:gd name="connisteX76" fmla="*/ 2928337 w 3243015"/>
                <a:gd name="connsiteY76" fmla="*/ 1964901 h 2037221"/>
                <a:gd name="connisteX77" fmla="*/ 3015967 w 3243015"/>
                <a:gd name="connsiteY77" fmla="*/ 1932516 h 2037221"/>
                <a:gd name="connisteX78" fmla="*/ 3080102 w 3243015"/>
                <a:gd name="connsiteY78" fmla="*/ 1916641 h 2037221"/>
                <a:gd name="connisteX79" fmla="*/ 3120742 w 3243015"/>
                <a:gd name="connsiteY79" fmla="*/ 1852506 h 2037221"/>
                <a:gd name="connisteX80" fmla="*/ 3176622 w 3243015"/>
                <a:gd name="connsiteY80" fmla="*/ 1780116 h 2037221"/>
                <a:gd name="connisteX81" fmla="*/ 3200752 w 3243015"/>
                <a:gd name="connsiteY81" fmla="*/ 1708361 h 2037221"/>
                <a:gd name="connisteX82" fmla="*/ 3232502 w 3243015"/>
                <a:gd name="connsiteY82" fmla="*/ 1620096 h 2037221"/>
                <a:gd name="connisteX83" fmla="*/ 3240757 w 3243015"/>
                <a:gd name="connsiteY83" fmla="*/ 1555961 h 2037221"/>
                <a:gd name="connisteX84" fmla="*/ 3240757 w 3243015"/>
                <a:gd name="connsiteY84" fmla="*/ 1483571 h 2037221"/>
                <a:gd name="connisteX85" fmla="*/ 3240757 w 3243015"/>
                <a:gd name="connsiteY85" fmla="*/ 1411816 h 2037221"/>
                <a:gd name="connisteX86" fmla="*/ 3240757 w 3243015"/>
                <a:gd name="connsiteY86" fmla="*/ 1347681 h 2037221"/>
                <a:gd name="connisteX87" fmla="*/ 3240757 w 3243015"/>
                <a:gd name="connsiteY87" fmla="*/ 1283546 h 2037221"/>
                <a:gd name="connisteX88" fmla="*/ 3240757 w 3243015"/>
                <a:gd name="connsiteY88" fmla="*/ 1219411 h 2037221"/>
                <a:gd name="connisteX89" fmla="*/ 3240757 w 3243015"/>
                <a:gd name="connsiteY89" fmla="*/ 1147021 h 2037221"/>
                <a:gd name="connisteX90" fmla="*/ 3240757 w 3243015"/>
                <a:gd name="connsiteY90" fmla="*/ 1067011 h 2037221"/>
                <a:gd name="connisteX91" fmla="*/ 3240757 w 3243015"/>
                <a:gd name="connsiteY91" fmla="*/ 987001 h 2037221"/>
                <a:gd name="connisteX92" fmla="*/ 3240757 w 3243015"/>
                <a:gd name="connsiteY92" fmla="*/ 914611 h 2037221"/>
                <a:gd name="connisteX93" fmla="*/ 3240757 w 3243015"/>
                <a:gd name="connsiteY93" fmla="*/ 842221 h 2037221"/>
                <a:gd name="connisteX94" fmla="*/ 3216627 w 3243015"/>
                <a:gd name="connsiteY94" fmla="*/ 762211 h 2037221"/>
                <a:gd name="connisteX95" fmla="*/ 3208372 w 3243015"/>
                <a:gd name="connsiteY95" fmla="*/ 682201 h 2037221"/>
                <a:gd name="connisteX96" fmla="*/ 3200752 w 3243015"/>
                <a:gd name="connsiteY96" fmla="*/ 609811 h 2037221"/>
                <a:gd name="connisteX97" fmla="*/ 3184877 w 3243015"/>
                <a:gd name="connsiteY97" fmla="*/ 545676 h 2037221"/>
                <a:gd name="connisteX98" fmla="*/ 3160747 w 3243015"/>
                <a:gd name="connsiteY98" fmla="*/ 481541 h 2037221"/>
                <a:gd name="connisteX99" fmla="*/ 3152492 w 3243015"/>
                <a:gd name="connsiteY99" fmla="*/ 409786 h 2037221"/>
                <a:gd name="connisteX100" fmla="*/ 3112487 w 3243015"/>
                <a:gd name="connsiteY100" fmla="*/ 329141 h 2037221"/>
                <a:gd name="connisteX101" fmla="*/ 3048352 w 3243015"/>
                <a:gd name="connsiteY101" fmla="*/ 257386 h 2037221"/>
                <a:gd name="connisteX102" fmla="*/ 2975962 w 3243015"/>
                <a:gd name="connsiteY102" fmla="*/ 193251 h 2037221"/>
                <a:gd name="connisteX103" fmla="*/ 2911827 w 3243015"/>
                <a:gd name="connsiteY103" fmla="*/ 153246 h 2037221"/>
                <a:gd name="connisteX104" fmla="*/ 2847692 w 3243015"/>
                <a:gd name="connsiteY104" fmla="*/ 120861 h 2037221"/>
                <a:gd name="connisteX105" fmla="*/ 2783557 w 3243015"/>
                <a:gd name="connsiteY105" fmla="*/ 104986 h 2037221"/>
                <a:gd name="connisteX106" fmla="*/ 2719422 w 3243015"/>
                <a:gd name="connsiteY106" fmla="*/ 96731 h 2037221"/>
                <a:gd name="connisteX107" fmla="*/ 2647667 w 3243015"/>
                <a:gd name="connsiteY107" fmla="*/ 73236 h 2037221"/>
                <a:gd name="connisteX108" fmla="*/ 2575277 w 3243015"/>
                <a:gd name="connsiteY108" fmla="*/ 64981 h 2037221"/>
                <a:gd name="connisteX109" fmla="*/ 2503522 w 3243015"/>
                <a:gd name="connsiteY109" fmla="*/ 64981 h 2037221"/>
                <a:gd name="connisteX110" fmla="*/ 2415257 w 3243015"/>
                <a:gd name="connsiteY110" fmla="*/ 56726 h 2037221"/>
                <a:gd name="connisteX111" fmla="*/ 2351122 w 3243015"/>
                <a:gd name="connsiteY111" fmla="*/ 56726 h 2037221"/>
                <a:gd name="connisteX112" fmla="*/ 2286987 w 3243015"/>
                <a:gd name="connsiteY112" fmla="*/ 56726 h 2037221"/>
                <a:gd name="connisteX113" fmla="*/ 2214597 w 3243015"/>
                <a:gd name="connsiteY113" fmla="*/ 56726 h 2037221"/>
                <a:gd name="connisteX114" fmla="*/ 2150462 w 3243015"/>
                <a:gd name="connsiteY114" fmla="*/ 56726 h 2037221"/>
                <a:gd name="connisteX115" fmla="*/ 2078072 w 3243015"/>
                <a:gd name="connsiteY115" fmla="*/ 56726 h 2037221"/>
                <a:gd name="connisteX116" fmla="*/ 2006317 w 3243015"/>
                <a:gd name="connsiteY116" fmla="*/ 56726 h 2037221"/>
                <a:gd name="connisteX117" fmla="*/ 1926307 w 3243015"/>
                <a:gd name="connsiteY117" fmla="*/ 49106 h 2037221"/>
                <a:gd name="connisteX118" fmla="*/ 1862172 w 3243015"/>
                <a:gd name="connsiteY118" fmla="*/ 32596 h 2037221"/>
                <a:gd name="connisteX119" fmla="*/ 1789782 w 3243015"/>
                <a:gd name="connsiteY119" fmla="*/ 24976 h 2037221"/>
                <a:gd name="connisteX120" fmla="*/ 1709772 w 3243015"/>
                <a:gd name="connsiteY120" fmla="*/ 9101 h 2037221"/>
                <a:gd name="connisteX121" fmla="*/ 1645637 w 3243015"/>
                <a:gd name="connsiteY121" fmla="*/ 9101 h 2037221"/>
                <a:gd name="connisteX122" fmla="*/ 1581502 w 3243015"/>
                <a:gd name="connsiteY122" fmla="*/ 846 h 2037221"/>
                <a:gd name="connisteX123" fmla="*/ 1517367 w 3243015"/>
                <a:gd name="connsiteY123" fmla="*/ 846 h 2037221"/>
                <a:gd name="connisteX124" fmla="*/ 1453232 w 3243015"/>
                <a:gd name="connsiteY124" fmla="*/ 846 h 2037221"/>
                <a:gd name="connisteX125" fmla="*/ 1373222 w 3243015"/>
                <a:gd name="connsiteY125" fmla="*/ 9101 h 2037221"/>
                <a:gd name="connisteX126" fmla="*/ 1309087 w 3243015"/>
                <a:gd name="connsiteY126" fmla="*/ 32596 h 2037221"/>
                <a:gd name="connisteX127" fmla="*/ 1244952 w 3243015"/>
                <a:gd name="connsiteY127" fmla="*/ 56726 h 203722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Lst>
              <a:rect l="l" t="t" r="r" b="b"/>
              <a:pathLst>
                <a:path w="3243015" h="2037221">
                  <a:moveTo>
                    <a:pt x="1276703" y="64982"/>
                  </a:moveTo>
                  <a:cubicBezTo>
                    <a:pt x="1265273" y="67522"/>
                    <a:pt x="1239873" y="72602"/>
                    <a:pt x="1212568" y="80857"/>
                  </a:cubicBezTo>
                  <a:cubicBezTo>
                    <a:pt x="1185263" y="89112"/>
                    <a:pt x="1168118" y="99907"/>
                    <a:pt x="1140813" y="104987"/>
                  </a:cubicBezTo>
                  <a:cubicBezTo>
                    <a:pt x="1113508" y="110067"/>
                    <a:pt x="1109063" y="104987"/>
                    <a:pt x="1076678" y="104987"/>
                  </a:cubicBezTo>
                  <a:cubicBezTo>
                    <a:pt x="1044293" y="104987"/>
                    <a:pt x="1016988" y="104987"/>
                    <a:pt x="980158" y="104987"/>
                  </a:cubicBezTo>
                  <a:cubicBezTo>
                    <a:pt x="943328" y="104987"/>
                    <a:pt x="925548" y="104987"/>
                    <a:pt x="891893" y="104987"/>
                  </a:cubicBezTo>
                  <a:cubicBezTo>
                    <a:pt x="858238" y="104987"/>
                    <a:pt x="843633" y="104987"/>
                    <a:pt x="811883" y="104987"/>
                  </a:cubicBezTo>
                  <a:cubicBezTo>
                    <a:pt x="780133" y="104987"/>
                    <a:pt x="762353" y="103082"/>
                    <a:pt x="731873" y="104987"/>
                  </a:cubicBezTo>
                  <a:cubicBezTo>
                    <a:pt x="701393" y="106892"/>
                    <a:pt x="691868" y="111337"/>
                    <a:pt x="659483" y="113242"/>
                  </a:cubicBezTo>
                  <a:cubicBezTo>
                    <a:pt x="627098" y="115147"/>
                    <a:pt x="601698" y="113242"/>
                    <a:pt x="571218" y="113242"/>
                  </a:cubicBezTo>
                  <a:cubicBezTo>
                    <a:pt x="540738" y="113242"/>
                    <a:pt x="534388" y="113242"/>
                    <a:pt x="507083" y="113242"/>
                  </a:cubicBezTo>
                  <a:cubicBezTo>
                    <a:pt x="479778" y="113242"/>
                    <a:pt x="462633" y="113242"/>
                    <a:pt x="435328" y="113242"/>
                  </a:cubicBezTo>
                  <a:cubicBezTo>
                    <a:pt x="408023" y="113242"/>
                    <a:pt x="396593" y="113242"/>
                    <a:pt x="371193" y="113242"/>
                  </a:cubicBezTo>
                  <a:cubicBezTo>
                    <a:pt x="345793" y="113242"/>
                    <a:pt x="332458" y="113242"/>
                    <a:pt x="307058" y="113242"/>
                  </a:cubicBezTo>
                  <a:cubicBezTo>
                    <a:pt x="281658" y="113242"/>
                    <a:pt x="268323" y="113242"/>
                    <a:pt x="242923" y="113242"/>
                  </a:cubicBezTo>
                  <a:cubicBezTo>
                    <a:pt x="217523" y="113242"/>
                    <a:pt x="204188" y="113242"/>
                    <a:pt x="178788" y="113242"/>
                  </a:cubicBezTo>
                  <a:cubicBezTo>
                    <a:pt x="153388" y="113242"/>
                    <a:pt x="140053" y="104987"/>
                    <a:pt x="114653" y="113242"/>
                  </a:cubicBezTo>
                  <a:cubicBezTo>
                    <a:pt x="89253" y="121497"/>
                    <a:pt x="71473" y="131022"/>
                    <a:pt x="50518" y="153247"/>
                  </a:cubicBezTo>
                  <a:cubicBezTo>
                    <a:pt x="29563" y="175472"/>
                    <a:pt x="20038" y="196427"/>
                    <a:pt x="10513" y="225002"/>
                  </a:cubicBezTo>
                  <a:cubicBezTo>
                    <a:pt x="988" y="253577"/>
                    <a:pt x="-2822" y="268182"/>
                    <a:pt x="2258" y="297392"/>
                  </a:cubicBezTo>
                  <a:cubicBezTo>
                    <a:pt x="7338" y="326602"/>
                    <a:pt x="25118" y="339302"/>
                    <a:pt x="34643" y="369782"/>
                  </a:cubicBezTo>
                  <a:cubicBezTo>
                    <a:pt x="44168" y="400262"/>
                    <a:pt x="42263" y="412962"/>
                    <a:pt x="50518" y="449792"/>
                  </a:cubicBezTo>
                  <a:cubicBezTo>
                    <a:pt x="58773" y="486622"/>
                    <a:pt x="68298" y="520277"/>
                    <a:pt x="74648" y="553932"/>
                  </a:cubicBezTo>
                  <a:cubicBezTo>
                    <a:pt x="80998" y="587587"/>
                    <a:pt x="75918" y="589492"/>
                    <a:pt x="82268" y="618067"/>
                  </a:cubicBezTo>
                  <a:cubicBezTo>
                    <a:pt x="88618" y="646642"/>
                    <a:pt x="100048" y="669502"/>
                    <a:pt x="106398" y="698077"/>
                  </a:cubicBezTo>
                  <a:cubicBezTo>
                    <a:pt x="112748" y="726652"/>
                    <a:pt x="111478" y="734907"/>
                    <a:pt x="114653" y="762212"/>
                  </a:cubicBezTo>
                  <a:cubicBezTo>
                    <a:pt x="117828" y="789517"/>
                    <a:pt x="121003" y="807297"/>
                    <a:pt x="122273" y="834602"/>
                  </a:cubicBezTo>
                  <a:cubicBezTo>
                    <a:pt x="123543" y="861907"/>
                    <a:pt x="122273" y="873337"/>
                    <a:pt x="122273" y="898737"/>
                  </a:cubicBezTo>
                  <a:cubicBezTo>
                    <a:pt x="122273" y="924137"/>
                    <a:pt x="119098" y="934297"/>
                    <a:pt x="122273" y="962872"/>
                  </a:cubicBezTo>
                  <a:cubicBezTo>
                    <a:pt x="125448" y="991447"/>
                    <a:pt x="133703" y="1014307"/>
                    <a:pt x="138783" y="1042882"/>
                  </a:cubicBezTo>
                  <a:cubicBezTo>
                    <a:pt x="143863" y="1071457"/>
                    <a:pt x="138148" y="1079712"/>
                    <a:pt x="146403" y="1107017"/>
                  </a:cubicBezTo>
                  <a:cubicBezTo>
                    <a:pt x="154658" y="1134322"/>
                    <a:pt x="169263" y="1150832"/>
                    <a:pt x="178788" y="1179407"/>
                  </a:cubicBezTo>
                  <a:cubicBezTo>
                    <a:pt x="188313" y="1207982"/>
                    <a:pt x="188313" y="1223857"/>
                    <a:pt x="194663" y="1251162"/>
                  </a:cubicBezTo>
                  <a:cubicBezTo>
                    <a:pt x="201013" y="1278467"/>
                    <a:pt x="205458" y="1284817"/>
                    <a:pt x="210538" y="1315297"/>
                  </a:cubicBezTo>
                  <a:cubicBezTo>
                    <a:pt x="215618" y="1345777"/>
                    <a:pt x="215618" y="1371177"/>
                    <a:pt x="218793" y="1403562"/>
                  </a:cubicBezTo>
                  <a:cubicBezTo>
                    <a:pt x="221968" y="1435947"/>
                    <a:pt x="221968" y="1448647"/>
                    <a:pt x="227048" y="1475952"/>
                  </a:cubicBezTo>
                  <a:cubicBezTo>
                    <a:pt x="232128" y="1503257"/>
                    <a:pt x="236573" y="1512782"/>
                    <a:pt x="242923" y="1540087"/>
                  </a:cubicBezTo>
                  <a:cubicBezTo>
                    <a:pt x="249273" y="1567392"/>
                    <a:pt x="252448" y="1584537"/>
                    <a:pt x="258798" y="1611842"/>
                  </a:cubicBezTo>
                  <a:cubicBezTo>
                    <a:pt x="265148" y="1639147"/>
                    <a:pt x="266418" y="1650577"/>
                    <a:pt x="274673" y="1675977"/>
                  </a:cubicBezTo>
                  <a:cubicBezTo>
                    <a:pt x="282928" y="1701377"/>
                    <a:pt x="287373" y="1714712"/>
                    <a:pt x="298803" y="1740112"/>
                  </a:cubicBezTo>
                  <a:cubicBezTo>
                    <a:pt x="310233" y="1765512"/>
                    <a:pt x="318488" y="1778847"/>
                    <a:pt x="331188" y="1804247"/>
                  </a:cubicBezTo>
                  <a:cubicBezTo>
                    <a:pt x="343888" y="1829647"/>
                    <a:pt x="343888" y="1842982"/>
                    <a:pt x="362938" y="1868382"/>
                  </a:cubicBezTo>
                  <a:cubicBezTo>
                    <a:pt x="381988" y="1893782"/>
                    <a:pt x="401673" y="1914737"/>
                    <a:pt x="427073" y="1932517"/>
                  </a:cubicBezTo>
                  <a:cubicBezTo>
                    <a:pt x="452473" y="1950297"/>
                    <a:pt x="463903" y="1950297"/>
                    <a:pt x="491208" y="1956647"/>
                  </a:cubicBezTo>
                  <a:cubicBezTo>
                    <a:pt x="518513" y="1962997"/>
                    <a:pt x="535023" y="1958552"/>
                    <a:pt x="563598" y="1964902"/>
                  </a:cubicBezTo>
                  <a:cubicBezTo>
                    <a:pt x="592173" y="1971252"/>
                    <a:pt x="606778" y="1982047"/>
                    <a:pt x="635353" y="1988397"/>
                  </a:cubicBezTo>
                  <a:cubicBezTo>
                    <a:pt x="663928" y="1994747"/>
                    <a:pt x="680438" y="1993477"/>
                    <a:pt x="707743" y="1996652"/>
                  </a:cubicBezTo>
                  <a:cubicBezTo>
                    <a:pt x="735048" y="1999827"/>
                    <a:pt x="738223" y="2003002"/>
                    <a:pt x="771878" y="2004907"/>
                  </a:cubicBezTo>
                  <a:cubicBezTo>
                    <a:pt x="805533" y="2006812"/>
                    <a:pt x="840458" y="2001732"/>
                    <a:pt x="876018" y="2004907"/>
                  </a:cubicBezTo>
                  <a:cubicBezTo>
                    <a:pt x="911578" y="2008082"/>
                    <a:pt x="917928" y="2015702"/>
                    <a:pt x="948408" y="2020782"/>
                  </a:cubicBezTo>
                  <a:cubicBezTo>
                    <a:pt x="978888" y="2025862"/>
                    <a:pt x="999843" y="2027132"/>
                    <a:pt x="1028418" y="2029037"/>
                  </a:cubicBezTo>
                  <a:cubicBezTo>
                    <a:pt x="1056993" y="2030942"/>
                    <a:pt x="1062073" y="2029037"/>
                    <a:pt x="1092553" y="2029037"/>
                  </a:cubicBezTo>
                  <a:cubicBezTo>
                    <a:pt x="1123033" y="2029037"/>
                    <a:pt x="1150338" y="2029037"/>
                    <a:pt x="1180818" y="2029037"/>
                  </a:cubicBezTo>
                  <a:cubicBezTo>
                    <a:pt x="1211298" y="2029037"/>
                    <a:pt x="1214473" y="2027767"/>
                    <a:pt x="1244953" y="2029037"/>
                  </a:cubicBezTo>
                  <a:cubicBezTo>
                    <a:pt x="1275433" y="2030307"/>
                    <a:pt x="1302738" y="2035387"/>
                    <a:pt x="1333218" y="2036657"/>
                  </a:cubicBezTo>
                  <a:cubicBezTo>
                    <a:pt x="1363698" y="2037927"/>
                    <a:pt x="1368778" y="2036657"/>
                    <a:pt x="1397353" y="2036657"/>
                  </a:cubicBezTo>
                  <a:cubicBezTo>
                    <a:pt x="1425928" y="2036657"/>
                    <a:pt x="1443708" y="2036657"/>
                    <a:pt x="1477363" y="2036657"/>
                  </a:cubicBezTo>
                  <a:cubicBezTo>
                    <a:pt x="1511018" y="2036657"/>
                    <a:pt x="1533878" y="2036657"/>
                    <a:pt x="1565628" y="2036657"/>
                  </a:cubicBezTo>
                  <a:cubicBezTo>
                    <a:pt x="1597378" y="2036657"/>
                    <a:pt x="1608808" y="2036657"/>
                    <a:pt x="1637383" y="2036657"/>
                  </a:cubicBezTo>
                  <a:cubicBezTo>
                    <a:pt x="1665958" y="2036657"/>
                    <a:pt x="1677388" y="2036657"/>
                    <a:pt x="1709773" y="2036657"/>
                  </a:cubicBezTo>
                  <a:cubicBezTo>
                    <a:pt x="1742158" y="2036657"/>
                    <a:pt x="1767558" y="2036657"/>
                    <a:pt x="1798038" y="2036657"/>
                  </a:cubicBezTo>
                  <a:cubicBezTo>
                    <a:pt x="1828518" y="2036657"/>
                    <a:pt x="1834868" y="2036657"/>
                    <a:pt x="1862173" y="2036657"/>
                  </a:cubicBezTo>
                  <a:cubicBezTo>
                    <a:pt x="1889478" y="2036657"/>
                    <a:pt x="1906623" y="2036657"/>
                    <a:pt x="1933928" y="2036657"/>
                  </a:cubicBezTo>
                  <a:cubicBezTo>
                    <a:pt x="1961233" y="2036657"/>
                    <a:pt x="1969488" y="2036657"/>
                    <a:pt x="1998063" y="2036657"/>
                  </a:cubicBezTo>
                  <a:cubicBezTo>
                    <a:pt x="2026638" y="2036657"/>
                    <a:pt x="2049498" y="2037927"/>
                    <a:pt x="2078073" y="2036657"/>
                  </a:cubicBezTo>
                  <a:cubicBezTo>
                    <a:pt x="2106648" y="2035387"/>
                    <a:pt x="2116808" y="2030307"/>
                    <a:pt x="2142208" y="2029037"/>
                  </a:cubicBezTo>
                  <a:cubicBezTo>
                    <a:pt x="2167608" y="2027767"/>
                    <a:pt x="2180943" y="2029037"/>
                    <a:pt x="2206343" y="2029037"/>
                  </a:cubicBezTo>
                  <a:cubicBezTo>
                    <a:pt x="2231743" y="2029037"/>
                    <a:pt x="2245078" y="2029037"/>
                    <a:pt x="2270478" y="2029037"/>
                  </a:cubicBezTo>
                  <a:cubicBezTo>
                    <a:pt x="2295878" y="2029037"/>
                    <a:pt x="2307308" y="2029037"/>
                    <a:pt x="2334613" y="2029037"/>
                  </a:cubicBezTo>
                  <a:cubicBezTo>
                    <a:pt x="2361918" y="2029037"/>
                    <a:pt x="2377793" y="2029037"/>
                    <a:pt x="2407003" y="2029037"/>
                  </a:cubicBezTo>
                  <a:cubicBezTo>
                    <a:pt x="2436213" y="2029037"/>
                    <a:pt x="2450818" y="2029037"/>
                    <a:pt x="2479393" y="2029037"/>
                  </a:cubicBezTo>
                  <a:cubicBezTo>
                    <a:pt x="2507968" y="2029037"/>
                    <a:pt x="2522573" y="2029037"/>
                    <a:pt x="2551148" y="2029037"/>
                  </a:cubicBezTo>
                  <a:cubicBezTo>
                    <a:pt x="2579723" y="2029037"/>
                    <a:pt x="2589883" y="2032212"/>
                    <a:pt x="2623538" y="2029037"/>
                  </a:cubicBezTo>
                  <a:cubicBezTo>
                    <a:pt x="2657193" y="2025862"/>
                    <a:pt x="2683863" y="2017607"/>
                    <a:pt x="2719423" y="2012527"/>
                  </a:cubicBezTo>
                  <a:cubicBezTo>
                    <a:pt x="2754983" y="2007447"/>
                    <a:pt x="2770858" y="2009987"/>
                    <a:pt x="2800068" y="2004907"/>
                  </a:cubicBezTo>
                  <a:cubicBezTo>
                    <a:pt x="2829278" y="1999827"/>
                    <a:pt x="2838803" y="1996652"/>
                    <a:pt x="2864203" y="1988397"/>
                  </a:cubicBezTo>
                  <a:cubicBezTo>
                    <a:pt x="2889603" y="1980142"/>
                    <a:pt x="2897858" y="1976332"/>
                    <a:pt x="2928338" y="1964902"/>
                  </a:cubicBezTo>
                  <a:cubicBezTo>
                    <a:pt x="2958818" y="1953472"/>
                    <a:pt x="2985488" y="1942042"/>
                    <a:pt x="3015968" y="1932517"/>
                  </a:cubicBezTo>
                  <a:cubicBezTo>
                    <a:pt x="3046448" y="1922992"/>
                    <a:pt x="3059148" y="1932517"/>
                    <a:pt x="3080103" y="1916642"/>
                  </a:cubicBezTo>
                  <a:cubicBezTo>
                    <a:pt x="3101058" y="1900767"/>
                    <a:pt x="3101693" y="1879812"/>
                    <a:pt x="3120743" y="1852507"/>
                  </a:cubicBezTo>
                  <a:cubicBezTo>
                    <a:pt x="3139793" y="1825202"/>
                    <a:pt x="3160748" y="1808692"/>
                    <a:pt x="3176623" y="1780117"/>
                  </a:cubicBezTo>
                  <a:cubicBezTo>
                    <a:pt x="3192498" y="1751542"/>
                    <a:pt x="3189323" y="1740112"/>
                    <a:pt x="3200753" y="1708362"/>
                  </a:cubicBezTo>
                  <a:cubicBezTo>
                    <a:pt x="3212183" y="1676612"/>
                    <a:pt x="3224248" y="1650577"/>
                    <a:pt x="3232503" y="1620097"/>
                  </a:cubicBezTo>
                  <a:cubicBezTo>
                    <a:pt x="3240758" y="1589617"/>
                    <a:pt x="3238853" y="1583267"/>
                    <a:pt x="3240758" y="1555962"/>
                  </a:cubicBezTo>
                  <a:cubicBezTo>
                    <a:pt x="3242663" y="1528657"/>
                    <a:pt x="3240758" y="1512147"/>
                    <a:pt x="3240758" y="1483572"/>
                  </a:cubicBezTo>
                  <a:cubicBezTo>
                    <a:pt x="3240758" y="1454997"/>
                    <a:pt x="3240758" y="1439122"/>
                    <a:pt x="3240758" y="1411817"/>
                  </a:cubicBezTo>
                  <a:cubicBezTo>
                    <a:pt x="3240758" y="1384512"/>
                    <a:pt x="3240758" y="1373082"/>
                    <a:pt x="3240758" y="1347682"/>
                  </a:cubicBezTo>
                  <a:cubicBezTo>
                    <a:pt x="3240758" y="1322282"/>
                    <a:pt x="3240758" y="1308947"/>
                    <a:pt x="3240758" y="1283547"/>
                  </a:cubicBezTo>
                  <a:cubicBezTo>
                    <a:pt x="3240758" y="1258147"/>
                    <a:pt x="3240758" y="1246717"/>
                    <a:pt x="3240758" y="1219412"/>
                  </a:cubicBezTo>
                  <a:cubicBezTo>
                    <a:pt x="3240758" y="1192107"/>
                    <a:pt x="3240758" y="1177502"/>
                    <a:pt x="3240758" y="1147022"/>
                  </a:cubicBezTo>
                  <a:cubicBezTo>
                    <a:pt x="3240758" y="1116542"/>
                    <a:pt x="3240758" y="1098762"/>
                    <a:pt x="3240758" y="1067012"/>
                  </a:cubicBezTo>
                  <a:cubicBezTo>
                    <a:pt x="3240758" y="1035262"/>
                    <a:pt x="3240758" y="1017482"/>
                    <a:pt x="3240758" y="987002"/>
                  </a:cubicBezTo>
                  <a:cubicBezTo>
                    <a:pt x="3240758" y="956522"/>
                    <a:pt x="3240758" y="943822"/>
                    <a:pt x="3240758" y="914612"/>
                  </a:cubicBezTo>
                  <a:cubicBezTo>
                    <a:pt x="3240758" y="885402"/>
                    <a:pt x="3245838" y="872702"/>
                    <a:pt x="3240758" y="842222"/>
                  </a:cubicBezTo>
                  <a:cubicBezTo>
                    <a:pt x="3235678" y="811742"/>
                    <a:pt x="3222978" y="793962"/>
                    <a:pt x="3216628" y="762212"/>
                  </a:cubicBezTo>
                  <a:cubicBezTo>
                    <a:pt x="3210278" y="730462"/>
                    <a:pt x="3211548" y="712682"/>
                    <a:pt x="3208373" y="682202"/>
                  </a:cubicBezTo>
                  <a:cubicBezTo>
                    <a:pt x="3205198" y="651722"/>
                    <a:pt x="3205198" y="637117"/>
                    <a:pt x="3200753" y="609812"/>
                  </a:cubicBezTo>
                  <a:cubicBezTo>
                    <a:pt x="3196308" y="582507"/>
                    <a:pt x="3193133" y="571077"/>
                    <a:pt x="3184878" y="545677"/>
                  </a:cubicBezTo>
                  <a:cubicBezTo>
                    <a:pt x="3176623" y="520277"/>
                    <a:pt x="3167098" y="508847"/>
                    <a:pt x="3160748" y="481542"/>
                  </a:cubicBezTo>
                  <a:cubicBezTo>
                    <a:pt x="3154398" y="454237"/>
                    <a:pt x="3162018" y="440267"/>
                    <a:pt x="3152493" y="409787"/>
                  </a:cubicBezTo>
                  <a:cubicBezTo>
                    <a:pt x="3142968" y="379307"/>
                    <a:pt x="3133443" y="359622"/>
                    <a:pt x="3112488" y="329142"/>
                  </a:cubicBezTo>
                  <a:cubicBezTo>
                    <a:pt x="3091533" y="298662"/>
                    <a:pt x="3075658" y="284692"/>
                    <a:pt x="3048353" y="257387"/>
                  </a:cubicBezTo>
                  <a:cubicBezTo>
                    <a:pt x="3021048" y="230082"/>
                    <a:pt x="3003268" y="214207"/>
                    <a:pt x="2975963" y="193252"/>
                  </a:cubicBezTo>
                  <a:cubicBezTo>
                    <a:pt x="2948658" y="172297"/>
                    <a:pt x="2937228" y="167852"/>
                    <a:pt x="2911828" y="153247"/>
                  </a:cubicBezTo>
                  <a:cubicBezTo>
                    <a:pt x="2886428" y="138642"/>
                    <a:pt x="2873093" y="130387"/>
                    <a:pt x="2847693" y="120862"/>
                  </a:cubicBezTo>
                  <a:cubicBezTo>
                    <a:pt x="2822293" y="111337"/>
                    <a:pt x="2808958" y="110067"/>
                    <a:pt x="2783558" y="104987"/>
                  </a:cubicBezTo>
                  <a:cubicBezTo>
                    <a:pt x="2758158" y="99907"/>
                    <a:pt x="2746728" y="103082"/>
                    <a:pt x="2719423" y="96732"/>
                  </a:cubicBezTo>
                  <a:cubicBezTo>
                    <a:pt x="2692118" y="90382"/>
                    <a:pt x="2676243" y="79587"/>
                    <a:pt x="2647668" y="73237"/>
                  </a:cubicBezTo>
                  <a:cubicBezTo>
                    <a:pt x="2619093" y="66887"/>
                    <a:pt x="2603853" y="66887"/>
                    <a:pt x="2575278" y="64982"/>
                  </a:cubicBezTo>
                  <a:cubicBezTo>
                    <a:pt x="2546703" y="63077"/>
                    <a:pt x="2535273" y="66887"/>
                    <a:pt x="2503523" y="64982"/>
                  </a:cubicBezTo>
                  <a:cubicBezTo>
                    <a:pt x="2471773" y="63077"/>
                    <a:pt x="2445738" y="58632"/>
                    <a:pt x="2415258" y="56727"/>
                  </a:cubicBezTo>
                  <a:cubicBezTo>
                    <a:pt x="2384778" y="54822"/>
                    <a:pt x="2376523" y="56727"/>
                    <a:pt x="2351123" y="56727"/>
                  </a:cubicBezTo>
                  <a:cubicBezTo>
                    <a:pt x="2325723" y="56727"/>
                    <a:pt x="2314293" y="56727"/>
                    <a:pt x="2286988" y="56727"/>
                  </a:cubicBezTo>
                  <a:cubicBezTo>
                    <a:pt x="2259683" y="56727"/>
                    <a:pt x="2241903" y="56727"/>
                    <a:pt x="2214598" y="56727"/>
                  </a:cubicBezTo>
                  <a:cubicBezTo>
                    <a:pt x="2187293" y="56727"/>
                    <a:pt x="2177768" y="56727"/>
                    <a:pt x="2150463" y="56727"/>
                  </a:cubicBezTo>
                  <a:cubicBezTo>
                    <a:pt x="2123158" y="56727"/>
                    <a:pt x="2106648" y="56727"/>
                    <a:pt x="2078073" y="56727"/>
                  </a:cubicBezTo>
                  <a:cubicBezTo>
                    <a:pt x="2049498" y="56727"/>
                    <a:pt x="2036798" y="57997"/>
                    <a:pt x="2006318" y="56727"/>
                  </a:cubicBezTo>
                  <a:cubicBezTo>
                    <a:pt x="1975838" y="55457"/>
                    <a:pt x="1954883" y="54187"/>
                    <a:pt x="1926308" y="49107"/>
                  </a:cubicBezTo>
                  <a:cubicBezTo>
                    <a:pt x="1897733" y="44027"/>
                    <a:pt x="1889478" y="37677"/>
                    <a:pt x="1862173" y="32597"/>
                  </a:cubicBezTo>
                  <a:cubicBezTo>
                    <a:pt x="1834868" y="27517"/>
                    <a:pt x="1820263" y="29422"/>
                    <a:pt x="1789783" y="24977"/>
                  </a:cubicBezTo>
                  <a:cubicBezTo>
                    <a:pt x="1759303" y="20532"/>
                    <a:pt x="1738348" y="12277"/>
                    <a:pt x="1709773" y="9102"/>
                  </a:cubicBezTo>
                  <a:cubicBezTo>
                    <a:pt x="1681198" y="5927"/>
                    <a:pt x="1671038" y="11007"/>
                    <a:pt x="1645638" y="9102"/>
                  </a:cubicBezTo>
                  <a:cubicBezTo>
                    <a:pt x="1620238" y="7197"/>
                    <a:pt x="1606903" y="2752"/>
                    <a:pt x="1581503" y="847"/>
                  </a:cubicBezTo>
                  <a:cubicBezTo>
                    <a:pt x="1556103" y="-1058"/>
                    <a:pt x="1542768" y="847"/>
                    <a:pt x="1517368" y="847"/>
                  </a:cubicBezTo>
                  <a:cubicBezTo>
                    <a:pt x="1491968" y="847"/>
                    <a:pt x="1481808" y="-1058"/>
                    <a:pt x="1453233" y="847"/>
                  </a:cubicBezTo>
                  <a:cubicBezTo>
                    <a:pt x="1424658" y="2752"/>
                    <a:pt x="1401798" y="2752"/>
                    <a:pt x="1373223" y="9102"/>
                  </a:cubicBezTo>
                  <a:cubicBezTo>
                    <a:pt x="1344648" y="15452"/>
                    <a:pt x="1334488" y="23072"/>
                    <a:pt x="1309088" y="32597"/>
                  </a:cubicBezTo>
                  <a:cubicBezTo>
                    <a:pt x="1283688" y="42122"/>
                    <a:pt x="1256383" y="52282"/>
                    <a:pt x="1244953" y="56727"/>
                  </a:cubicBezTo>
                </a:path>
              </a:pathLst>
            </a:custGeom>
            <a:ln w="12700" cap="flat" cmpd="sng" algn="ctr">
              <a:solidFill>
                <a:srgbClr val="C00000"/>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圆角矩形标注 5"/>
            <p:cNvSpPr/>
            <p:nvPr/>
          </p:nvSpPr>
          <p:spPr>
            <a:xfrm>
              <a:off x="11511" y="2913"/>
              <a:ext cx="6059" cy="1464"/>
            </a:xfrm>
            <a:prstGeom prst="wedgeRoundRectCallout">
              <a:avLst>
                <a:gd name="adj1" fmla="val -47309"/>
                <a:gd name="adj2" fmla="val 114207"/>
                <a:gd name="adj3" fmla="val 16667"/>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solidFill>
                    <a:schemeClr val="tx1"/>
                  </a:solidFill>
                </a:rPr>
                <a:t>子查询存在语法错误</a:t>
              </a: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xEl>
                                              <p:pRg st="1" end="1"/>
                                            </p:txEl>
                                          </p:spTgt>
                                        </p:tgtEl>
                                        <p:attrNameLst>
                                          <p:attrName>style.visibility</p:attrName>
                                        </p:attrNameLst>
                                      </p:cBhvr>
                                      <p:to>
                                        <p:strVal val="visible"/>
                                      </p:to>
                                    </p:set>
                                    <p:animEffect transition="in" filter="blinds(horizontal)">
                                      <p:cBhvr>
                                        <p:cTn id="7" dur="500"/>
                                        <p:tgtEl>
                                          <p:spTgt spid="5632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6322">
                                            <p:txEl>
                                              <p:pRg st="2" end="2"/>
                                            </p:txEl>
                                          </p:spTgt>
                                        </p:tgtEl>
                                        <p:attrNameLst>
                                          <p:attrName>style.visibility</p:attrName>
                                        </p:attrNameLst>
                                      </p:cBhvr>
                                      <p:to>
                                        <p:strVal val="visible"/>
                                      </p:to>
                                    </p:set>
                                    <p:animEffect transition="in" filter="blinds(horizontal)">
                                      <p:cBhvr>
                                        <p:cTn id="10" dur="500"/>
                                        <p:tgtEl>
                                          <p:spTgt spid="5632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6322">
                                            <p:txEl>
                                              <p:pRg st="3" end="3"/>
                                            </p:txEl>
                                          </p:spTgt>
                                        </p:tgtEl>
                                        <p:attrNameLst>
                                          <p:attrName>style.visibility</p:attrName>
                                        </p:attrNameLst>
                                      </p:cBhvr>
                                      <p:to>
                                        <p:strVal val="visible"/>
                                      </p:to>
                                    </p:set>
                                    <p:animEffect transition="in" filter="blinds(horizontal)">
                                      <p:cBhvr>
                                        <p:cTn id="15" dur="500"/>
                                        <p:tgtEl>
                                          <p:spTgt spid="56322">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6322">
                                            <p:txEl>
                                              <p:pRg st="4" end="4"/>
                                            </p:txEl>
                                          </p:spTgt>
                                        </p:tgtEl>
                                        <p:attrNameLst>
                                          <p:attrName>style.visibility</p:attrName>
                                        </p:attrNameLst>
                                      </p:cBhvr>
                                      <p:to>
                                        <p:strVal val="visible"/>
                                      </p:to>
                                    </p:set>
                                    <p:animEffect transition="in" filter="blinds(horizontal)">
                                      <p:cBhvr>
                                        <p:cTn id="18" dur="500"/>
                                        <p:tgtEl>
                                          <p:spTgt spid="56322">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6322">
                                            <p:txEl>
                                              <p:pRg st="5" end="5"/>
                                            </p:txEl>
                                          </p:spTgt>
                                        </p:tgtEl>
                                        <p:attrNameLst>
                                          <p:attrName>style.visibility</p:attrName>
                                        </p:attrNameLst>
                                      </p:cBhvr>
                                      <p:to>
                                        <p:strVal val="visible"/>
                                      </p:to>
                                    </p:set>
                                    <p:animEffect transition="in" filter="blinds(horizontal)">
                                      <p:cBhvr>
                                        <p:cTn id="21" dur="500"/>
                                        <p:tgtEl>
                                          <p:spTgt spid="56322">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6322">
                                            <p:txEl>
                                              <p:pRg st="6" end="6"/>
                                            </p:txEl>
                                          </p:spTgt>
                                        </p:tgtEl>
                                        <p:attrNameLst>
                                          <p:attrName>style.visibility</p:attrName>
                                        </p:attrNameLst>
                                      </p:cBhvr>
                                      <p:to>
                                        <p:strVal val="visible"/>
                                      </p:to>
                                    </p:set>
                                    <p:animEffect transition="in" filter="blinds(horizontal)">
                                      <p:cBhvr>
                                        <p:cTn id="24" dur="500"/>
                                        <p:tgtEl>
                                          <p:spTgt spid="56322">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6322">
                                            <p:txEl>
                                              <p:pRg st="7" end="7"/>
                                            </p:txEl>
                                          </p:spTgt>
                                        </p:tgtEl>
                                        <p:attrNameLst>
                                          <p:attrName>style.visibility</p:attrName>
                                        </p:attrNameLst>
                                      </p:cBhvr>
                                      <p:to>
                                        <p:strVal val="visible"/>
                                      </p:to>
                                    </p:set>
                                    <p:animEffect transition="in" filter="blinds(horizontal)">
                                      <p:cBhvr>
                                        <p:cTn id="27" dur="500"/>
                                        <p:tgtEl>
                                          <p:spTgt spid="56322">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6322">
                                            <p:txEl>
                                              <p:pRg st="8" end="8"/>
                                            </p:txEl>
                                          </p:spTgt>
                                        </p:tgtEl>
                                        <p:attrNameLst>
                                          <p:attrName>style.visibility</p:attrName>
                                        </p:attrNameLst>
                                      </p:cBhvr>
                                      <p:to>
                                        <p:strVal val="visible"/>
                                      </p:to>
                                    </p:set>
                                    <p:animEffect transition="in" filter="blinds(horizontal)">
                                      <p:cBhvr>
                                        <p:cTn id="30" dur="500"/>
                                        <p:tgtEl>
                                          <p:spTgt spid="56322">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noFill/>
        </p:spPr>
        <p:txBody>
          <a:bodyPr/>
          <a:lstStyle/>
          <a:p>
            <a:r>
              <a:rPr lang="zh-CN" altLang="en-US" b="1">
                <a:latin typeface="Arial" panose="020B0604020202020204" pitchFamily="34" charset="0"/>
                <a:ea typeface="楷体" panose="02010609060101010101" charset="-122"/>
                <a:cs typeface="Arial" panose="020B0604020202020204" pitchFamily="34" charset="0"/>
              </a:rPr>
              <a:t>查询</a:t>
            </a:r>
            <a:r>
              <a:rPr lang="en-US" altLang="zh-CN" b="1">
                <a:latin typeface="Arial" panose="020B0604020202020204" pitchFamily="34" charset="0"/>
                <a:ea typeface="楷体" panose="02010609060101010101" charset="-122"/>
                <a:cs typeface="Arial" panose="020B0604020202020204" pitchFamily="34" charset="0"/>
              </a:rPr>
              <a:t> </a:t>
            </a:r>
            <a:r>
              <a:rPr lang="zh-CN" altLang="en-US" b="1">
                <a:latin typeface="Arial" panose="020B0604020202020204" pitchFamily="34" charset="0"/>
                <a:ea typeface="楷体" panose="02010609060101010101" charset="-122"/>
                <a:cs typeface="Arial" panose="020B0604020202020204" pitchFamily="34" charset="0"/>
              </a:rPr>
              <a:t>例</a:t>
            </a:r>
            <a:r>
              <a:rPr lang="en-US" altLang="zh-CN" b="1">
                <a:latin typeface="Arial" panose="020B0604020202020204" pitchFamily="34" charset="0"/>
                <a:ea typeface="楷体" panose="02010609060101010101" charset="-122"/>
                <a:cs typeface="Arial" panose="020B0604020202020204" pitchFamily="34" charset="0"/>
              </a:rPr>
              <a:t>5.19 </a:t>
            </a:r>
            <a:r>
              <a:rPr lang="zh-CN" altLang="en-US" b="1">
                <a:latin typeface="Arial" panose="020B0604020202020204" pitchFamily="34" charset="0"/>
                <a:ea typeface="楷体" panose="02010609060101010101" charset="-122"/>
                <a:cs typeface="Arial" panose="020B0604020202020204" pitchFamily="34" charset="0"/>
              </a:rPr>
              <a:t>和</a:t>
            </a:r>
            <a:r>
              <a:rPr lang="en-US" altLang="zh-CN" b="1">
                <a:latin typeface="Arial" panose="020B0604020202020204" pitchFamily="34" charset="0"/>
                <a:ea typeface="楷体" panose="02010609060101010101" charset="-122"/>
                <a:cs typeface="Arial" panose="020B0604020202020204" pitchFamily="34" charset="0"/>
              </a:rPr>
              <a:t> </a:t>
            </a:r>
            <a:r>
              <a:rPr lang="zh-CN" altLang="en-US" b="1">
                <a:latin typeface="Arial" panose="020B0604020202020204" pitchFamily="34" charset="0"/>
                <a:ea typeface="楷体" panose="02010609060101010101" charset="-122"/>
                <a:cs typeface="Arial" panose="020B0604020202020204" pitchFamily="34" charset="0"/>
              </a:rPr>
              <a:t>例</a:t>
            </a:r>
            <a:r>
              <a:rPr lang="en-US" altLang="zh-CN" b="1">
                <a:latin typeface="Arial" panose="020B0604020202020204" pitchFamily="34" charset="0"/>
                <a:ea typeface="楷体" panose="02010609060101010101" charset="-122"/>
                <a:cs typeface="Arial" panose="020B0604020202020204" pitchFamily="34" charset="0"/>
              </a:rPr>
              <a:t>5.20 </a:t>
            </a:r>
            <a:r>
              <a:rPr lang="zh-CN" altLang="en-US" b="1">
                <a:latin typeface="Arial" panose="020B0604020202020204" pitchFamily="34" charset="0"/>
                <a:ea typeface="楷体" panose="02010609060101010101" charset="-122"/>
                <a:cs typeface="Arial" panose="020B0604020202020204" pitchFamily="34" charset="0"/>
              </a:rPr>
              <a:t>的正确写法</a:t>
            </a:r>
          </a:p>
        </p:txBody>
      </p:sp>
      <p:sp>
        <p:nvSpPr>
          <p:cNvPr id="7" name="内容占位符 6"/>
          <p:cNvSpPr>
            <a:spLocks noGrp="1"/>
          </p:cNvSpPr>
          <p:nvPr>
            <p:ph sz="half" idx="1"/>
          </p:nvPr>
        </p:nvSpPr>
        <p:spPr>
          <a:solidFill>
            <a:schemeClr val="accent3">
              <a:lumMod val="20000"/>
              <a:lumOff val="80000"/>
              <a:alpha val="50000"/>
            </a:schemeClr>
          </a:solidFill>
        </p:spPr>
        <p:txBody>
          <a:bodyPr/>
          <a:lstStyle/>
          <a:p>
            <a:pPr>
              <a:lnSpc>
                <a:spcPct val="100000"/>
              </a:lnSpc>
              <a:spcBef>
                <a:spcPts val="0"/>
              </a:spcBef>
            </a:pPr>
            <a:r>
              <a:rPr lang="en-US" altLang="zh-CN" sz="2400" dirty="0">
                <a:latin typeface="Calibri" panose="020F0502020204030204" charset="0"/>
                <a:cs typeface="Calibri" panose="020F0502020204030204" charset="0"/>
                <a:sym typeface="+mn-ea"/>
              </a:rPr>
              <a:t>[</a:t>
            </a:r>
            <a:r>
              <a:rPr lang="zh-CN" altLang="en-US" sz="2400" dirty="0">
                <a:latin typeface="Calibri" panose="020F0502020204030204" charset="0"/>
                <a:cs typeface="Calibri" panose="020F0502020204030204" charset="0"/>
                <a:sym typeface="+mn-ea"/>
              </a:rPr>
              <a:t>例5.</a:t>
            </a:r>
            <a:r>
              <a:rPr lang="en-US" altLang="zh-CN" sz="2400" dirty="0">
                <a:latin typeface="Calibri" panose="020F0502020204030204" charset="0"/>
                <a:cs typeface="Calibri" panose="020F0502020204030204" charset="0"/>
                <a:sym typeface="+mn-ea"/>
              </a:rPr>
              <a:t>19] </a:t>
            </a:r>
            <a:r>
              <a:rPr lang="zh-CN" altLang="en-US" sz="2400" dirty="0">
                <a:latin typeface="Calibri" panose="020F0502020204030204" charset="0"/>
                <a:cs typeface="Calibri" panose="020F0502020204030204" charset="0"/>
                <a:sym typeface="+mn-ea"/>
              </a:rPr>
              <a:t>限制每一门课程最多</a:t>
            </a:r>
            <a:r>
              <a:rPr lang="en-US" altLang="zh-CN" sz="2400" dirty="0">
                <a:latin typeface="Calibri" panose="020F0502020204030204" charset="0"/>
                <a:cs typeface="Calibri" panose="020F0502020204030204" charset="0"/>
                <a:sym typeface="+mn-ea"/>
              </a:rPr>
              <a:t>60</a:t>
            </a:r>
            <a:r>
              <a:rPr lang="zh-CN" altLang="en-US" sz="2400" dirty="0">
                <a:latin typeface="Calibri" panose="020F0502020204030204" charset="0"/>
                <a:cs typeface="Calibri" panose="020F0502020204030204" charset="0"/>
                <a:sym typeface="+mn-ea"/>
              </a:rPr>
              <a:t>名学生选修</a:t>
            </a:r>
            <a:endParaRPr lang="zh-CN" altLang="en-US" sz="2400">
              <a:latin typeface="Calibri" panose="020F0502020204030204" charset="0"/>
              <a:cs typeface="Calibri" panose="020F0502020204030204" charset="0"/>
            </a:endParaRPr>
          </a:p>
        </p:txBody>
      </p:sp>
      <p:sp>
        <p:nvSpPr>
          <p:cNvPr id="8" name="内容占位符 7"/>
          <p:cNvSpPr>
            <a:spLocks noGrp="1"/>
          </p:cNvSpPr>
          <p:nvPr>
            <p:ph sz="half" idx="2"/>
          </p:nvPr>
        </p:nvSpPr>
        <p:spPr>
          <a:solidFill>
            <a:schemeClr val="accent1">
              <a:lumMod val="20000"/>
              <a:lumOff val="80000"/>
              <a:alpha val="50000"/>
            </a:schemeClr>
          </a:solidFill>
        </p:spPr>
        <p:txBody>
          <a:bodyPr/>
          <a:lstStyle/>
          <a:p>
            <a:pPr>
              <a:lnSpc>
                <a:spcPct val="100000"/>
              </a:lnSpc>
              <a:spcBef>
                <a:spcPts val="0"/>
              </a:spcBef>
            </a:pPr>
            <a:r>
              <a:rPr lang="en-US" altLang="zh-CN" sz="2400" dirty="0">
                <a:latin typeface="Calibri" panose="020F0502020204030204" charset="0"/>
                <a:cs typeface="Calibri" panose="020F0502020204030204" charset="0"/>
                <a:sym typeface="+mn-ea"/>
              </a:rPr>
              <a:t>[</a:t>
            </a:r>
            <a:r>
              <a:rPr lang="zh-CN" altLang="en-US" sz="2400" dirty="0">
                <a:latin typeface="Calibri" panose="020F0502020204030204" charset="0"/>
                <a:cs typeface="Calibri" panose="020F0502020204030204" charset="0"/>
                <a:sym typeface="+mn-ea"/>
              </a:rPr>
              <a:t>例5.</a:t>
            </a:r>
            <a:r>
              <a:rPr lang="en-US" altLang="zh-CN" sz="2400" dirty="0">
                <a:latin typeface="Calibri" panose="020F0502020204030204" charset="0"/>
                <a:cs typeface="Calibri" panose="020F0502020204030204" charset="0"/>
                <a:sym typeface="+mn-ea"/>
              </a:rPr>
              <a:t>20] </a:t>
            </a:r>
            <a:r>
              <a:rPr lang="zh-CN" altLang="en-US" sz="2400">
                <a:latin typeface="Calibri" panose="020F0502020204030204" charset="0"/>
                <a:cs typeface="Calibri" panose="020F0502020204030204" charset="0"/>
                <a:sym typeface="+mn-ea"/>
              </a:rPr>
              <a:t>限制每个学期每一门课程最多</a:t>
            </a:r>
            <a:r>
              <a:rPr lang="en-US" altLang="zh-CN" sz="2400">
                <a:latin typeface="Calibri" panose="020F0502020204030204" charset="0"/>
                <a:cs typeface="Calibri" panose="020F0502020204030204" charset="0"/>
                <a:sym typeface="+mn-ea"/>
              </a:rPr>
              <a:t>60</a:t>
            </a:r>
            <a:r>
              <a:rPr lang="zh-CN" altLang="en-US" sz="2400">
                <a:latin typeface="Calibri" panose="020F0502020204030204" charset="0"/>
                <a:cs typeface="Calibri" panose="020F0502020204030204" charset="0"/>
                <a:sym typeface="+mn-ea"/>
              </a:rPr>
              <a:t>名学生选修</a:t>
            </a:r>
            <a:endParaRPr lang="zh-CN" altLang="en-US" sz="2400">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p:txBody>
          <a:bodyPr/>
          <a:lstStyle/>
          <a:p>
            <a:fld id="{565CE74E-AB26-4998-AD42-012C4C1AD076}" type="slidenum">
              <a:rPr lang="zh-CN" altLang="en-US" smtClean="0"/>
              <a:t>56</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
        <p:nvSpPr>
          <p:cNvPr id="4" name="内容占位符 6"/>
          <p:cNvSpPr>
            <a:spLocks noGrp="1"/>
          </p:cNvSpPr>
          <p:nvPr/>
        </p:nvSpPr>
        <p:spPr>
          <a:xfrm>
            <a:off x="424815" y="1827530"/>
            <a:ext cx="5579745" cy="3636010"/>
          </a:xfrm>
          <a:prstGeom prst="rect">
            <a:avLst/>
          </a:prstGeom>
          <a:no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spcBef>
                <a:spcPts val="0"/>
              </a:spcBef>
              <a:buNone/>
            </a:pPr>
            <a:r>
              <a:rPr lang="en-US" altLang="zh-CN" sz="2400" dirty="0">
                <a:latin typeface="Calibri" panose="020F0502020204030204" charset="0"/>
                <a:cs typeface="Calibri" panose="020F0502020204030204" charset="0"/>
                <a:sym typeface="+mn-ea"/>
              </a:rPr>
              <a:t>CREATE  ASSERTION  ASSE_SC_CNUM1</a:t>
            </a:r>
            <a:endParaRPr lang="en-US" altLang="zh-CN" sz="2400" dirty="0">
              <a:latin typeface="Calibri" panose="020F0502020204030204" charset="0"/>
              <a:cs typeface="Calibri" panose="020F0502020204030204" charset="0"/>
            </a:endParaRPr>
          </a:p>
          <a:p>
            <a:pPr marL="0" lvl="0" indent="0">
              <a:lnSpc>
                <a:spcPct val="120000"/>
              </a:lnSpc>
              <a:spcBef>
                <a:spcPts val="0"/>
              </a:spcBef>
              <a:buNone/>
            </a:pPr>
            <a:r>
              <a:rPr lang="en-US" altLang="zh-CN" sz="2400" dirty="0">
                <a:latin typeface="Calibri" panose="020F0502020204030204" charset="0"/>
                <a:cs typeface="Calibri" panose="020F0502020204030204" charset="0"/>
                <a:sym typeface="+mn-ea"/>
              </a:rPr>
              <a:t>CHECK </a:t>
            </a:r>
            <a:r>
              <a:rPr lang="zh-CN" altLang="en-US" sz="2400" dirty="0">
                <a:latin typeface="Calibri" panose="020F0502020204030204" charset="0"/>
                <a:cs typeface="Calibri" panose="020F0502020204030204" charset="0"/>
                <a:sym typeface="+mn-ea"/>
              </a:rPr>
              <a:t>(</a:t>
            </a:r>
            <a:r>
              <a:rPr lang="en-US" altLang="zh-CN" sz="2400" dirty="0">
                <a:latin typeface="Calibri" panose="020F0502020204030204" charset="0"/>
                <a:cs typeface="Calibri" panose="020F0502020204030204" charset="0"/>
                <a:sym typeface="+mn-ea"/>
              </a:rPr>
              <a:t> </a:t>
            </a:r>
          </a:p>
          <a:p>
            <a:pPr marL="457200" lvl="1" indent="0">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NOT EXISTS (</a:t>
            </a:r>
          </a:p>
          <a:p>
            <a:pPr marL="914400" lvl="2" indent="0">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SELECT  Cno </a:t>
            </a:r>
            <a:endParaRPr lang="en-US" altLang="zh-CN" sz="2400" dirty="0">
              <a:solidFill>
                <a:srgbClr val="C00000"/>
              </a:solidFill>
              <a:latin typeface="Calibri" panose="020F0502020204030204" charset="0"/>
              <a:cs typeface="Calibri" panose="020F0502020204030204" charset="0"/>
            </a:endParaRPr>
          </a:p>
          <a:p>
            <a:pPr marL="914400" lvl="2" indent="19685">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FROM   SC </a:t>
            </a:r>
            <a:endParaRPr lang="en-US" altLang="zh-CN" sz="2400" dirty="0">
              <a:solidFill>
                <a:srgbClr val="C00000"/>
              </a:solidFill>
              <a:latin typeface="Calibri" panose="020F0502020204030204" charset="0"/>
              <a:cs typeface="Calibri" panose="020F0502020204030204" charset="0"/>
            </a:endParaRPr>
          </a:p>
          <a:p>
            <a:pPr marL="914400" lvl="2" indent="19685">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GROUP by  </a:t>
            </a:r>
            <a:r>
              <a:rPr lang="en-US" altLang="zh-CN" sz="2400" dirty="0" err="1">
                <a:solidFill>
                  <a:srgbClr val="C00000"/>
                </a:solidFill>
                <a:latin typeface="Calibri" panose="020F0502020204030204" charset="0"/>
                <a:cs typeface="Calibri" panose="020F0502020204030204" charset="0"/>
                <a:sym typeface="+mn-ea"/>
              </a:rPr>
              <a:t>Cno</a:t>
            </a:r>
          </a:p>
          <a:p>
            <a:pPr marL="914400" lvl="2" indent="19685">
              <a:lnSpc>
                <a:spcPct val="120000"/>
              </a:lnSpc>
              <a:spcBef>
                <a:spcPts val="0"/>
              </a:spcBef>
              <a:buNone/>
            </a:pPr>
            <a:r>
              <a:rPr lang="en-US" altLang="zh-CN" sz="2400" dirty="0" err="1">
                <a:solidFill>
                  <a:srgbClr val="C00000"/>
                </a:solidFill>
                <a:latin typeface="Calibri" panose="020F0502020204030204" charset="0"/>
                <a:cs typeface="Calibri" panose="020F0502020204030204" charset="0"/>
                <a:sym typeface="+mn-ea"/>
              </a:rPr>
              <a:t>HAVING  count(*) &gt; 60 </a:t>
            </a:r>
            <a:r>
              <a:rPr lang="zh-CN" altLang="en-US" sz="2400" dirty="0">
                <a:solidFill>
                  <a:srgbClr val="C00000"/>
                </a:solidFill>
                <a:latin typeface="Calibri" panose="020F0502020204030204" charset="0"/>
                <a:cs typeface="Calibri" panose="020F0502020204030204" charset="0"/>
                <a:sym typeface="+mn-ea"/>
              </a:rPr>
              <a:t>)</a:t>
            </a:r>
            <a:endParaRPr lang="en-US" altLang="zh-CN" sz="2400" dirty="0">
              <a:solidFill>
                <a:srgbClr val="C00000"/>
              </a:solidFill>
              <a:latin typeface="Calibri" panose="020F0502020204030204" charset="0"/>
              <a:cs typeface="Calibri" panose="020F0502020204030204" charset="0"/>
            </a:endParaRPr>
          </a:p>
          <a:p>
            <a:pPr marL="0" lvl="0" indent="0">
              <a:lnSpc>
                <a:spcPct val="120000"/>
              </a:lnSpc>
              <a:spcBef>
                <a:spcPts val="0"/>
              </a:spcBef>
              <a:buNone/>
            </a:pPr>
            <a:r>
              <a:rPr lang="zh-CN" altLang="en-US" sz="2400" dirty="0">
                <a:latin typeface="Calibri" panose="020F0502020204030204" charset="0"/>
                <a:cs typeface="Calibri" panose="020F0502020204030204" charset="0"/>
                <a:sym typeface="+mn-ea"/>
              </a:rPr>
              <a:t>)</a:t>
            </a:r>
            <a:r>
              <a:rPr lang="en-US" altLang="zh-CN" sz="2400" dirty="0">
                <a:latin typeface="Calibri" panose="020F0502020204030204" charset="0"/>
                <a:cs typeface="Calibri" panose="020F0502020204030204" charset="0"/>
                <a:sym typeface="+mn-ea"/>
              </a:rPr>
              <a:t>;</a:t>
            </a:r>
            <a:endParaRPr lang="zh-CN" altLang="en-US" sz="2400">
              <a:latin typeface="Calibri" panose="020F0502020204030204" charset="0"/>
              <a:cs typeface="Calibri" panose="020F0502020204030204" charset="0"/>
            </a:endParaRPr>
          </a:p>
        </p:txBody>
      </p:sp>
      <p:sp>
        <p:nvSpPr>
          <p:cNvPr id="5" name="内容占位符 7"/>
          <p:cNvSpPr>
            <a:spLocks noGrp="1"/>
          </p:cNvSpPr>
          <p:nvPr/>
        </p:nvSpPr>
        <p:spPr>
          <a:xfrm>
            <a:off x="6172200" y="1827530"/>
            <a:ext cx="5588635" cy="4078605"/>
          </a:xfrm>
          <a:prstGeom prst="rect">
            <a:avLst/>
          </a:prstGeom>
          <a:no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spcBef>
                <a:spcPts val="0"/>
              </a:spcBef>
              <a:buNone/>
            </a:pPr>
            <a:r>
              <a:rPr lang="en-US" altLang="zh-CN" sz="2400" dirty="0">
                <a:latin typeface="Calibri" panose="020F0502020204030204" charset="0"/>
                <a:cs typeface="Calibri" panose="020F0502020204030204" charset="0"/>
                <a:sym typeface="+mn-ea"/>
              </a:rPr>
              <a:t>CREATE  ASSERTION  ASSE_SC_CNUM2</a:t>
            </a:r>
            <a:endParaRPr lang="en-US" altLang="zh-CN" sz="2400" dirty="0">
              <a:latin typeface="Calibri" panose="020F0502020204030204" charset="0"/>
              <a:cs typeface="Calibri" panose="020F0502020204030204" charset="0"/>
            </a:endParaRPr>
          </a:p>
          <a:p>
            <a:pPr marL="0" lvl="0" indent="0">
              <a:lnSpc>
                <a:spcPct val="120000"/>
              </a:lnSpc>
              <a:spcBef>
                <a:spcPts val="0"/>
              </a:spcBef>
              <a:buNone/>
            </a:pPr>
            <a:r>
              <a:rPr lang="en-US" altLang="zh-CN" sz="2400" dirty="0">
                <a:latin typeface="Calibri" panose="020F0502020204030204" charset="0"/>
                <a:cs typeface="Calibri" panose="020F0502020204030204" charset="0"/>
                <a:sym typeface="+mn-ea"/>
              </a:rPr>
              <a:t>CHECK </a:t>
            </a:r>
            <a:r>
              <a:rPr lang="zh-CN" altLang="en-US" sz="2400" dirty="0">
                <a:latin typeface="Calibri" panose="020F0502020204030204" charset="0"/>
                <a:cs typeface="Calibri" panose="020F0502020204030204" charset="0"/>
                <a:sym typeface="+mn-ea"/>
              </a:rPr>
              <a:t>(</a:t>
            </a:r>
            <a:r>
              <a:rPr lang="en-US" altLang="zh-CN" sz="2400" dirty="0">
                <a:latin typeface="Calibri" panose="020F0502020204030204" charset="0"/>
                <a:cs typeface="Calibri" panose="020F0502020204030204" charset="0"/>
                <a:sym typeface="+mn-ea"/>
              </a:rPr>
              <a:t> </a:t>
            </a:r>
          </a:p>
          <a:p>
            <a:pPr marL="457200" lvl="1" indent="0">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NOT EXISTS (</a:t>
            </a:r>
          </a:p>
          <a:p>
            <a:pPr marL="914400" lvl="2" indent="0">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SELECT  Cno</a:t>
            </a:r>
            <a:r>
              <a:rPr lang="en-US" altLang="zh-CN" sz="2400" dirty="0" err="1">
                <a:solidFill>
                  <a:srgbClr val="C00000"/>
                </a:solidFill>
                <a:latin typeface="Calibri" panose="020F0502020204030204" charset="0"/>
                <a:cs typeface="Calibri" panose="020F0502020204030204" charset="0"/>
                <a:sym typeface="+mn-ea"/>
              </a:rPr>
              <a:t>, TERM</a:t>
            </a:r>
            <a:r>
              <a:rPr lang="en-US" altLang="zh-CN" sz="2400" dirty="0">
                <a:solidFill>
                  <a:srgbClr val="C00000"/>
                </a:solidFill>
                <a:latin typeface="Calibri" panose="020F0502020204030204" charset="0"/>
                <a:cs typeface="Calibri" panose="020F0502020204030204" charset="0"/>
                <a:sym typeface="+mn-ea"/>
              </a:rPr>
              <a:t> </a:t>
            </a:r>
            <a:endParaRPr lang="en-US" altLang="zh-CN" sz="2400" dirty="0">
              <a:solidFill>
                <a:srgbClr val="C00000"/>
              </a:solidFill>
              <a:latin typeface="Calibri" panose="020F0502020204030204" charset="0"/>
              <a:cs typeface="Calibri" panose="020F0502020204030204" charset="0"/>
            </a:endParaRPr>
          </a:p>
          <a:p>
            <a:pPr marL="914400" lvl="2" indent="-4445">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FROM   SC </a:t>
            </a:r>
            <a:endParaRPr lang="en-US" altLang="zh-CN" sz="2400" dirty="0">
              <a:solidFill>
                <a:srgbClr val="C00000"/>
              </a:solidFill>
              <a:latin typeface="Calibri" panose="020F0502020204030204" charset="0"/>
              <a:cs typeface="Calibri" panose="020F0502020204030204" charset="0"/>
            </a:endParaRPr>
          </a:p>
          <a:p>
            <a:pPr marL="914400" lvl="2" indent="-4445">
              <a:lnSpc>
                <a:spcPct val="120000"/>
              </a:lnSpc>
              <a:spcBef>
                <a:spcPts val="0"/>
              </a:spcBef>
              <a:buNone/>
            </a:pPr>
            <a:r>
              <a:rPr lang="en-US" altLang="zh-CN" sz="2400" dirty="0">
                <a:solidFill>
                  <a:srgbClr val="C00000"/>
                </a:solidFill>
                <a:latin typeface="Calibri" panose="020F0502020204030204" charset="0"/>
                <a:cs typeface="Calibri" panose="020F0502020204030204" charset="0"/>
                <a:sym typeface="+mn-ea"/>
              </a:rPr>
              <a:t>GROUP by  </a:t>
            </a:r>
            <a:r>
              <a:rPr lang="en-US" altLang="zh-CN" sz="2400" dirty="0" err="1">
                <a:solidFill>
                  <a:srgbClr val="C00000"/>
                </a:solidFill>
                <a:latin typeface="Calibri" panose="020F0502020204030204" charset="0"/>
                <a:cs typeface="Calibri" panose="020F0502020204030204" charset="0"/>
                <a:sym typeface="+mn-ea"/>
              </a:rPr>
              <a:t>Cno, TERM</a:t>
            </a:r>
          </a:p>
          <a:p>
            <a:pPr marL="914400" lvl="2" indent="-4445">
              <a:lnSpc>
                <a:spcPct val="120000"/>
              </a:lnSpc>
              <a:spcBef>
                <a:spcPts val="0"/>
              </a:spcBef>
              <a:buNone/>
            </a:pPr>
            <a:r>
              <a:rPr lang="en-US" altLang="zh-CN" sz="2400" dirty="0" err="1">
                <a:solidFill>
                  <a:srgbClr val="C00000"/>
                </a:solidFill>
                <a:latin typeface="Calibri" panose="020F0502020204030204" charset="0"/>
                <a:cs typeface="Calibri" panose="020F0502020204030204" charset="0"/>
                <a:sym typeface="+mn-ea"/>
              </a:rPr>
              <a:t>HAVING  count(*) &gt; 60 </a:t>
            </a:r>
            <a:r>
              <a:rPr lang="zh-CN" altLang="en-US" sz="2400" dirty="0">
                <a:solidFill>
                  <a:srgbClr val="C00000"/>
                </a:solidFill>
                <a:latin typeface="Calibri" panose="020F0502020204030204" charset="0"/>
                <a:cs typeface="Calibri" panose="020F0502020204030204" charset="0"/>
                <a:sym typeface="+mn-ea"/>
              </a:rPr>
              <a:t>)</a:t>
            </a:r>
            <a:endParaRPr lang="en-US" altLang="zh-CN" sz="2400" dirty="0">
              <a:solidFill>
                <a:srgbClr val="C00000"/>
              </a:solidFill>
              <a:latin typeface="Calibri" panose="020F0502020204030204" charset="0"/>
              <a:cs typeface="Calibri" panose="020F0502020204030204" charset="0"/>
            </a:endParaRPr>
          </a:p>
          <a:p>
            <a:pPr marL="0" lvl="0" indent="0">
              <a:lnSpc>
                <a:spcPct val="120000"/>
              </a:lnSpc>
              <a:spcBef>
                <a:spcPts val="0"/>
              </a:spcBef>
              <a:buNone/>
            </a:pPr>
            <a:r>
              <a:rPr lang="zh-CN" altLang="en-US" sz="2400" dirty="0">
                <a:latin typeface="Calibri" panose="020F0502020204030204" charset="0"/>
                <a:cs typeface="Calibri" panose="020F0502020204030204" charset="0"/>
                <a:sym typeface="+mn-ea"/>
              </a:rPr>
              <a:t>)</a:t>
            </a:r>
            <a:r>
              <a:rPr lang="en-US" altLang="zh-CN" sz="2400" dirty="0">
                <a:latin typeface="Calibri" panose="020F0502020204030204" charset="0"/>
                <a:cs typeface="Calibri" panose="020F0502020204030204" charset="0"/>
                <a:sym typeface="+mn-ea"/>
              </a:rPr>
              <a:t>;</a:t>
            </a:r>
            <a:endParaRPr lang="zh-CN" altLang="en-US" sz="2400">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a:t>
            </a:r>
            <a:r>
              <a:rPr lang="en-US" altLang="zh-CN"/>
              <a:t> </a:t>
            </a:r>
            <a:r>
              <a:rPr lang="zh-CN" altLang="en-US"/>
              <a:t>数据库完整性</a:t>
            </a:r>
          </a:p>
        </p:txBody>
      </p:sp>
      <p:sp>
        <p:nvSpPr>
          <p:cNvPr id="3" name="内容占位符 2"/>
          <p:cNvSpPr>
            <a:spLocks noGrp="1"/>
          </p:cNvSpPr>
          <p:nvPr>
            <p:ph idx="1"/>
          </p:nvPr>
        </p:nvSpPr>
        <p:spPr/>
        <p:txBody>
          <a:bodyPr/>
          <a:lstStyle/>
          <a:p>
            <a:pPr marL="0" indent="0">
              <a:buNone/>
            </a:pPr>
            <a:r>
              <a:rPr lang="zh-CN" altLang="en-US">
                <a:latin typeface="Arial" panose="020B0604020202020204" pitchFamily="34" charset="0"/>
                <a:cs typeface="Arial" panose="020B0604020202020204" pitchFamily="34" charset="0"/>
              </a:rPr>
              <a:t>5.1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实体完整性</a:t>
            </a:r>
          </a:p>
          <a:p>
            <a:pPr marL="0" indent="0">
              <a:buNone/>
            </a:pPr>
            <a:r>
              <a:rPr lang="zh-CN" altLang="en-US">
                <a:latin typeface="Arial" panose="020B0604020202020204" pitchFamily="34" charset="0"/>
                <a:cs typeface="Arial" panose="020B0604020202020204" pitchFamily="34" charset="0"/>
              </a:rPr>
              <a:t>5.2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参照完整性</a:t>
            </a:r>
          </a:p>
          <a:p>
            <a:pPr marL="0" indent="0">
              <a:buNone/>
            </a:pPr>
            <a:r>
              <a:rPr lang="zh-CN" altLang="en-US">
                <a:latin typeface="Arial" panose="020B0604020202020204" pitchFamily="34" charset="0"/>
                <a:cs typeface="Arial" panose="020B0604020202020204" pitchFamily="34" charset="0"/>
              </a:rPr>
              <a:t>5.3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用户定义的完整性</a:t>
            </a:r>
          </a:p>
          <a:p>
            <a:pPr marL="0" indent="0">
              <a:buNone/>
            </a:pPr>
            <a:r>
              <a:rPr lang="zh-CN" altLang="en-US">
                <a:latin typeface="Arial" panose="020B0604020202020204" pitchFamily="34" charset="0"/>
                <a:cs typeface="Arial" panose="020B0604020202020204" pitchFamily="34" charset="0"/>
              </a:rPr>
              <a:t>5.4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完整性约束命名字句</a:t>
            </a:r>
          </a:p>
          <a:p>
            <a:pPr marL="0" indent="0">
              <a:buNone/>
            </a:pPr>
            <a:r>
              <a:rPr lang="zh-CN" altLang="en-US">
                <a:latin typeface="Arial" panose="020B0604020202020204" pitchFamily="34" charset="0"/>
                <a:cs typeface="Arial" panose="020B0604020202020204" pitchFamily="34" charset="0"/>
              </a:rPr>
              <a:t>5.5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域中的完整性限制</a:t>
            </a:r>
          </a:p>
          <a:p>
            <a:pPr marL="0" indent="0">
              <a:buNone/>
            </a:pPr>
            <a:r>
              <a:rPr lang="zh-CN" altLang="en-US">
                <a:latin typeface="Arial" panose="020B0604020202020204" pitchFamily="34" charset="0"/>
                <a:cs typeface="Arial" panose="020B0604020202020204" pitchFamily="34" charset="0"/>
              </a:rPr>
              <a:t>5.6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断言</a:t>
            </a:r>
          </a:p>
          <a:p>
            <a:pPr marL="0" indent="0">
              <a:buNone/>
            </a:pPr>
            <a:r>
              <a:rPr lang="zh-CN" altLang="en-US">
                <a:solidFill>
                  <a:srgbClr val="FF0000"/>
                </a:solidFill>
                <a:latin typeface="Arial" panose="020B0604020202020204" pitchFamily="34" charset="0"/>
                <a:cs typeface="Arial" panose="020B0604020202020204" pitchFamily="34" charset="0"/>
              </a:rPr>
              <a:t>5.7 </a:t>
            </a:r>
            <a:r>
              <a:rPr lang="en-US" altLang="zh-CN">
                <a:solidFill>
                  <a:srgbClr val="FF0000"/>
                </a:solidFill>
                <a:latin typeface="Arial" panose="020B0604020202020204" pitchFamily="34" charset="0"/>
                <a:cs typeface="Arial" panose="020B0604020202020204" pitchFamily="34" charset="0"/>
              </a:rPr>
              <a:t> </a:t>
            </a:r>
            <a:r>
              <a:rPr lang="zh-CN" altLang="en-US">
                <a:solidFill>
                  <a:srgbClr val="FF0000"/>
                </a:solidFill>
                <a:latin typeface="Arial" panose="020B0604020202020204" pitchFamily="34" charset="0"/>
                <a:cs typeface="Arial" panose="020B0604020202020204" pitchFamily="34" charset="0"/>
              </a:rPr>
              <a:t>触发器</a:t>
            </a:r>
          </a:p>
          <a:p>
            <a:pPr marL="0" indent="0">
              <a:buNone/>
            </a:pPr>
            <a:r>
              <a:rPr lang="zh-CN" altLang="en-US">
                <a:latin typeface="Arial" panose="020B0604020202020204" pitchFamily="34" charset="0"/>
                <a:cs typeface="Arial" panose="020B0604020202020204" pitchFamily="34" charset="0"/>
              </a:rPr>
              <a:t>5.8 </a:t>
            </a:r>
            <a:r>
              <a:rPr lang="en-US" altLang="zh-CN">
                <a:latin typeface="Arial" panose="020B0604020202020204" pitchFamily="34" charset="0"/>
                <a:cs typeface="Arial" panose="020B0604020202020204" pitchFamily="34" charset="0"/>
              </a:rPr>
              <a:t> </a:t>
            </a:r>
            <a:r>
              <a:rPr lang="zh-CN" altLang="en-US">
                <a:latin typeface="Arial" panose="020B0604020202020204" pitchFamily="34" charset="0"/>
                <a:cs typeface="Arial" panose="020B0604020202020204" pitchFamily="34" charset="0"/>
              </a:rPr>
              <a:t>小结</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57</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59395" name="Rectangle 2"/>
          <p:cNvSpPr>
            <a:spLocks noGrp="1" noChangeArrowheads="1"/>
          </p:cNvSpPr>
          <p:nvPr>
            <p:ph type="title"/>
          </p:nvPr>
        </p:nvSpPr>
        <p:spPr/>
        <p:txBody>
          <a:bodyPr/>
          <a:lstStyle/>
          <a:p>
            <a:r>
              <a:rPr lang="en-US" altLang="zh-CN"/>
              <a:t>5.7  </a:t>
            </a:r>
            <a:r>
              <a:rPr lang="zh-CN" altLang="zh-CN"/>
              <a:t>触发器</a:t>
            </a:r>
          </a:p>
        </p:txBody>
      </p:sp>
      <p:sp>
        <p:nvSpPr>
          <p:cNvPr id="59396" name="Rectangle 3"/>
          <p:cNvSpPr>
            <a:spLocks noGrp="1" noChangeArrowheads="1"/>
          </p:cNvSpPr>
          <p:nvPr>
            <p:ph idx="1"/>
          </p:nvPr>
        </p:nvSpPr>
        <p:spPr/>
        <p:txBody>
          <a:bodyPr>
            <a:noAutofit/>
          </a:bodyPr>
          <a:lstStyle/>
          <a:p>
            <a:r>
              <a:rPr lang="zh-CN" altLang="en-US" dirty="0"/>
              <a:t>触发器（</a:t>
            </a:r>
            <a:r>
              <a:rPr lang="en-US" altLang="zh-CN" dirty="0"/>
              <a:t>Trigger</a:t>
            </a:r>
            <a:r>
              <a:rPr lang="zh-CN" altLang="en-US" dirty="0"/>
              <a:t>）是用户定义在关系表上的一类由事件驱动的特殊过程</a:t>
            </a:r>
          </a:p>
          <a:p>
            <a:pPr lvl="1"/>
            <a:r>
              <a:rPr lang="zh-CN" altLang="en-US" dirty="0"/>
              <a:t>触发器保存在数据库服务器中</a:t>
            </a:r>
            <a:endParaRPr lang="en-US" altLang="zh-CN" dirty="0"/>
          </a:p>
          <a:p>
            <a:pPr lvl="1"/>
            <a:r>
              <a:rPr lang="zh-CN" altLang="en-US" dirty="0"/>
              <a:t>任何用户对表的增、删、改操作均由服务器自动激活相应的触发器</a:t>
            </a:r>
          </a:p>
          <a:p>
            <a:pPr lvl="1"/>
            <a:r>
              <a:rPr lang="zh-CN" altLang="en-US" dirty="0"/>
              <a:t>触发器可以实施更为复杂的检查和操作，具有更精细和更强大的数据控制能力 </a:t>
            </a:r>
          </a:p>
          <a:p>
            <a:pPr lvl="1"/>
            <a:endParaRPr lang="en-US" altLang="zh-CN" dirty="0"/>
          </a:p>
          <a:p>
            <a:r>
              <a:rPr lang="zh-CN" altLang="en-US" dirty="0"/>
              <a:t>不同的</a:t>
            </a:r>
            <a:r>
              <a:rPr lang="en-US" altLang="zh-CN" dirty="0"/>
              <a:t>RDBMS</a:t>
            </a:r>
            <a:r>
              <a:rPr lang="zh-CN" altLang="en-US" dirty="0"/>
              <a:t>产品实现的触发器语法各不相同、互不兼容。</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58</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61443" name="Rectangle 2"/>
          <p:cNvSpPr>
            <a:spLocks noGrp="1" noChangeArrowheads="1"/>
          </p:cNvSpPr>
          <p:nvPr>
            <p:ph type="title"/>
          </p:nvPr>
        </p:nvSpPr>
        <p:spPr/>
        <p:txBody>
          <a:bodyPr/>
          <a:lstStyle/>
          <a:p>
            <a:r>
              <a:rPr lang="zh-CN" altLang="en-US" dirty="0"/>
              <a:t>定义触发器 </a:t>
            </a:r>
            <a:r>
              <a:rPr lang="en-US" altLang="zh-CN" dirty="0"/>
              <a:t>1</a:t>
            </a:r>
            <a:endParaRPr lang="zh-CN" altLang="en-US" dirty="0"/>
          </a:p>
        </p:txBody>
      </p:sp>
      <p:sp>
        <p:nvSpPr>
          <p:cNvPr id="61444" name="Rectangle 3"/>
          <p:cNvSpPr>
            <a:spLocks noGrp="1" noChangeArrowheads="1"/>
          </p:cNvSpPr>
          <p:nvPr>
            <p:ph idx="1"/>
          </p:nvPr>
        </p:nvSpPr>
        <p:spPr/>
        <p:txBody>
          <a:bodyPr>
            <a:noAutofit/>
          </a:bodyPr>
          <a:lstStyle/>
          <a:p>
            <a:r>
              <a:rPr lang="en-US" altLang="zh-CN" dirty="0">
                <a:latin typeface="Arial" panose="020B0604020202020204" pitchFamily="34" charset="0"/>
                <a:cs typeface="Arial" panose="020B0604020202020204" pitchFamily="34" charset="0"/>
              </a:rPr>
              <a:t>CREATE TRIGGER</a:t>
            </a:r>
            <a:r>
              <a:rPr lang="zh-CN" altLang="en-US" dirty="0">
                <a:latin typeface="Arial" panose="020B0604020202020204" pitchFamily="34" charset="0"/>
                <a:cs typeface="Arial" panose="020B0604020202020204" pitchFamily="34" charset="0"/>
              </a:rPr>
              <a:t>语法格式</a:t>
            </a:r>
          </a:p>
          <a:p>
            <a:pPr marL="809625" lvl="2" indent="0">
              <a:buNone/>
            </a:pPr>
            <a:r>
              <a:rPr lang="en-US" altLang="zh-CN" dirty="0">
                <a:solidFill>
                  <a:srgbClr val="FF0000"/>
                </a:solidFill>
                <a:latin typeface="Arial" panose="020B0604020202020204" pitchFamily="34" charset="0"/>
                <a:cs typeface="Arial" panose="020B0604020202020204" pitchFamily="34" charset="0"/>
              </a:rPr>
              <a:t>CREATE  TRIGGER  &lt;</a:t>
            </a:r>
            <a:r>
              <a:rPr lang="zh-CN" altLang="en-US" dirty="0">
                <a:solidFill>
                  <a:srgbClr val="FF0000"/>
                </a:solidFill>
                <a:latin typeface="Arial" panose="020B0604020202020204" pitchFamily="34" charset="0"/>
                <a:cs typeface="Arial" panose="020B0604020202020204" pitchFamily="34" charset="0"/>
              </a:rPr>
              <a:t>触发器名</a:t>
            </a:r>
            <a:r>
              <a:rPr lang="en-US" altLang="zh-CN" dirty="0">
                <a:solidFill>
                  <a:srgbClr val="FF0000"/>
                </a:solidFill>
                <a:latin typeface="Arial" panose="020B0604020202020204" pitchFamily="34" charset="0"/>
                <a:cs typeface="Arial" panose="020B0604020202020204" pitchFamily="34" charset="0"/>
              </a:rPr>
              <a:t>&gt;  </a:t>
            </a:r>
          </a:p>
          <a:p>
            <a:pPr marL="809625" lvl="2" indent="0">
              <a:buNone/>
            </a:pPr>
            <a:r>
              <a:rPr lang="en-US" altLang="zh-CN" dirty="0">
                <a:solidFill>
                  <a:srgbClr val="FF0000"/>
                </a:solidFill>
                <a:latin typeface="Arial" panose="020B0604020202020204" pitchFamily="34" charset="0"/>
                <a:cs typeface="Arial" panose="020B0604020202020204" pitchFamily="34" charset="0"/>
              </a:rPr>
              <a:t>{ BEFORE | AFTER } &lt;</a:t>
            </a:r>
            <a:r>
              <a:rPr lang="zh-CN" altLang="en-US" dirty="0">
                <a:solidFill>
                  <a:srgbClr val="FF0000"/>
                </a:solidFill>
                <a:latin typeface="Arial" panose="020B0604020202020204" pitchFamily="34" charset="0"/>
                <a:cs typeface="Arial" panose="020B0604020202020204" pitchFamily="34" charset="0"/>
              </a:rPr>
              <a:t>触发事件</a:t>
            </a:r>
            <a:r>
              <a:rPr lang="en-US" altLang="zh-CN" dirty="0">
                <a:solidFill>
                  <a:srgbClr val="FF0000"/>
                </a:solidFill>
                <a:latin typeface="Arial" panose="020B0604020202020204" pitchFamily="34" charset="0"/>
                <a:cs typeface="Arial" panose="020B0604020202020204" pitchFamily="34" charset="0"/>
              </a:rPr>
              <a:t>&gt; ON &lt;</a:t>
            </a:r>
            <a:r>
              <a:rPr lang="zh-CN" altLang="en-US" dirty="0">
                <a:solidFill>
                  <a:srgbClr val="FF0000"/>
                </a:solidFill>
                <a:latin typeface="Arial" panose="020B0604020202020204" pitchFamily="34" charset="0"/>
                <a:cs typeface="Arial" panose="020B0604020202020204" pitchFamily="34" charset="0"/>
              </a:rPr>
              <a:t>表名</a:t>
            </a:r>
            <a:r>
              <a:rPr lang="en-US" altLang="zh-CN" dirty="0">
                <a:solidFill>
                  <a:srgbClr val="FF0000"/>
                </a:solidFill>
                <a:latin typeface="Arial" panose="020B0604020202020204" pitchFamily="34" charset="0"/>
                <a:cs typeface="Arial" panose="020B0604020202020204" pitchFamily="34" charset="0"/>
              </a:rPr>
              <a:t>&gt;</a:t>
            </a:r>
          </a:p>
          <a:p>
            <a:pPr marL="809625" lvl="2" indent="0">
              <a:buNone/>
            </a:pPr>
            <a:r>
              <a:rPr lang="en-US" altLang="zh-CN" dirty="0">
                <a:solidFill>
                  <a:srgbClr val="FF0000"/>
                </a:solidFill>
                <a:latin typeface="Arial" panose="020B0604020202020204" pitchFamily="34" charset="0"/>
                <a:cs typeface="Arial" panose="020B0604020202020204" pitchFamily="34" charset="0"/>
              </a:rPr>
              <a:t>REFERENCING  NEW | OLD  ROW  AS &lt;</a:t>
            </a:r>
            <a:r>
              <a:rPr lang="zh-CN" altLang="en-US" dirty="0">
                <a:solidFill>
                  <a:srgbClr val="FF0000"/>
                </a:solidFill>
                <a:latin typeface="Arial" panose="020B0604020202020204" pitchFamily="34" charset="0"/>
                <a:cs typeface="Arial" panose="020B0604020202020204" pitchFamily="34" charset="0"/>
              </a:rPr>
              <a:t>变量</a:t>
            </a:r>
            <a:r>
              <a:rPr lang="en-US" altLang="zh-CN" dirty="0">
                <a:solidFill>
                  <a:srgbClr val="FF0000"/>
                </a:solidFill>
                <a:latin typeface="Arial" panose="020B0604020202020204" pitchFamily="34" charset="0"/>
                <a:cs typeface="Arial" panose="020B0604020202020204" pitchFamily="34" charset="0"/>
              </a:rPr>
              <a:t>&gt;</a:t>
            </a:r>
            <a:endParaRPr lang="zh-CN" altLang="en-US" dirty="0">
              <a:solidFill>
                <a:srgbClr val="FF0000"/>
              </a:solidFill>
              <a:latin typeface="Arial" panose="020B0604020202020204" pitchFamily="34" charset="0"/>
              <a:cs typeface="Arial" panose="020B0604020202020204" pitchFamily="34" charset="0"/>
            </a:endParaRPr>
          </a:p>
          <a:p>
            <a:pPr marL="809625" lvl="2" indent="0">
              <a:buNone/>
            </a:pPr>
            <a:r>
              <a:rPr lang="en-US" altLang="zh-CN" dirty="0">
                <a:solidFill>
                  <a:srgbClr val="FF0000"/>
                </a:solidFill>
                <a:latin typeface="Arial" panose="020B0604020202020204" pitchFamily="34" charset="0"/>
                <a:cs typeface="Arial" panose="020B0604020202020204" pitchFamily="34" charset="0"/>
              </a:rPr>
              <a:t>FOR EACH  { ROW | STATEMENT }</a:t>
            </a:r>
          </a:p>
          <a:p>
            <a:pPr marL="809625" lvl="2" indent="0">
              <a:buNone/>
            </a:pPr>
            <a:r>
              <a:rPr lang="en-US" altLang="zh-CN" dirty="0">
                <a:solidFill>
                  <a:srgbClr val="FF0000"/>
                </a:solidFill>
                <a:latin typeface="Arial" panose="020B0604020202020204" pitchFamily="34" charset="0"/>
                <a:cs typeface="Arial" panose="020B0604020202020204" pitchFamily="34" charset="0"/>
              </a:rPr>
              <a:t>[ WHEN &lt;</a:t>
            </a:r>
            <a:r>
              <a:rPr lang="zh-CN" altLang="en-US" dirty="0">
                <a:solidFill>
                  <a:srgbClr val="FF0000"/>
                </a:solidFill>
                <a:latin typeface="Arial" panose="020B0604020202020204" pitchFamily="34" charset="0"/>
                <a:cs typeface="Arial" panose="020B0604020202020204" pitchFamily="34" charset="0"/>
              </a:rPr>
              <a:t>触发条件</a:t>
            </a:r>
            <a:r>
              <a:rPr lang="en-US" altLang="zh-CN" dirty="0">
                <a:solidFill>
                  <a:srgbClr val="FF0000"/>
                </a:solidFill>
                <a:latin typeface="Arial" panose="020B0604020202020204" pitchFamily="34" charset="0"/>
                <a:cs typeface="Arial" panose="020B0604020202020204" pitchFamily="34" charset="0"/>
              </a:rPr>
              <a:t>&gt;] &lt;</a:t>
            </a:r>
            <a:r>
              <a:rPr lang="zh-CN" altLang="en-US" dirty="0">
                <a:solidFill>
                  <a:srgbClr val="FF0000"/>
                </a:solidFill>
                <a:latin typeface="Arial" panose="020B0604020202020204" pitchFamily="34" charset="0"/>
                <a:cs typeface="Arial" panose="020B0604020202020204" pitchFamily="34" charset="0"/>
              </a:rPr>
              <a:t>触发动作体</a:t>
            </a:r>
            <a:r>
              <a:rPr lang="en-US" altLang="zh-CN" dirty="0">
                <a:solidFill>
                  <a:srgbClr val="FF0000"/>
                </a:solidFill>
                <a:latin typeface="Arial" panose="020B0604020202020204" pitchFamily="34" charset="0"/>
                <a:cs typeface="Arial" panose="020B0604020202020204" pitchFamily="34" charset="0"/>
              </a:rPr>
              <a:t>&gt;</a:t>
            </a:r>
          </a:p>
          <a:p>
            <a:pPr>
              <a:lnSpc>
                <a:spcPct val="110000"/>
              </a:lnSpc>
              <a:spcBef>
                <a:spcPts val="2000"/>
              </a:spcBef>
            </a:pPr>
            <a:r>
              <a:rPr lang="zh-CN" altLang="en-US" dirty="0">
                <a:latin typeface="Arial" panose="020B0604020202020204" pitchFamily="34" charset="0"/>
                <a:cs typeface="Arial" panose="020B0604020202020204" pitchFamily="34" charset="0"/>
              </a:rPr>
              <a:t>触发器又叫做</a:t>
            </a:r>
            <a:r>
              <a:rPr lang="en-US" altLang="zh-CN" dirty="0">
                <a:latin typeface="Arial" panose="020B0604020202020204" pitchFamily="34" charset="0"/>
                <a:cs typeface="Arial" panose="020B0604020202020204" pitchFamily="34" charset="0"/>
              </a:rPr>
              <a:t>‘</a:t>
            </a:r>
            <a:r>
              <a:rPr lang="zh-CN" altLang="en-US" dirty="0">
                <a:solidFill>
                  <a:srgbClr val="C00000"/>
                </a:solidFill>
                <a:latin typeface="Arial" panose="020B0604020202020204" pitchFamily="34" charset="0"/>
                <a:cs typeface="Arial" panose="020B0604020202020204" pitchFamily="34" charset="0"/>
              </a:rPr>
              <a:t>事件</a:t>
            </a:r>
            <a:r>
              <a:rPr lang="en-US" altLang="zh-CN" dirty="0">
                <a:solidFill>
                  <a:srgbClr val="C00000"/>
                </a:solidFill>
                <a:latin typeface="Arial" panose="020B0604020202020204" pitchFamily="34" charset="0"/>
                <a:cs typeface="Arial" panose="020B0604020202020204" pitchFamily="34" charset="0"/>
              </a:rPr>
              <a:t>-</a:t>
            </a:r>
            <a:r>
              <a:rPr lang="zh-CN" altLang="en-US" dirty="0">
                <a:solidFill>
                  <a:srgbClr val="C00000"/>
                </a:solidFill>
                <a:latin typeface="Arial" panose="020B0604020202020204" pitchFamily="34" charset="0"/>
                <a:cs typeface="Arial" panose="020B0604020202020204" pitchFamily="34" charset="0"/>
              </a:rPr>
              <a:t>条件</a:t>
            </a:r>
            <a:r>
              <a:rPr lang="en-US" altLang="zh-CN" dirty="0">
                <a:solidFill>
                  <a:srgbClr val="C00000"/>
                </a:solidFill>
                <a:latin typeface="Arial" panose="020B0604020202020204" pitchFamily="34" charset="0"/>
                <a:cs typeface="Arial" panose="020B0604020202020204" pitchFamily="34" charset="0"/>
              </a:rPr>
              <a:t>-</a:t>
            </a:r>
            <a:r>
              <a:rPr lang="zh-CN" altLang="en-US" dirty="0">
                <a:solidFill>
                  <a:srgbClr val="C00000"/>
                </a:solidFill>
                <a:latin typeface="Arial" panose="020B0604020202020204" pitchFamily="34" charset="0"/>
                <a:cs typeface="Arial" panose="020B0604020202020204" pitchFamily="34" charset="0"/>
              </a:rPr>
              <a:t>动作</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event-condition-action</a:t>
            </a:r>
            <a:r>
              <a:rPr lang="zh-CN" altLang="en-US" dirty="0">
                <a:latin typeface="Arial" panose="020B0604020202020204" pitchFamily="34" charset="0"/>
                <a:cs typeface="Arial" panose="020B0604020202020204" pitchFamily="34" charset="0"/>
              </a:rPr>
              <a:t>）规则。</a:t>
            </a:r>
            <a:endParaRPr lang="en-US" altLang="zh-CN" dirty="0">
              <a:latin typeface="Arial" panose="020B0604020202020204" pitchFamily="34" charset="0"/>
              <a:cs typeface="Arial" panose="020B0604020202020204" pitchFamily="34" charset="0"/>
            </a:endParaRPr>
          </a:p>
          <a:p>
            <a:pPr lvl="1"/>
            <a:r>
              <a:rPr lang="zh-CN" altLang="en-US" dirty="0">
                <a:latin typeface="Arial" panose="020B0604020202020204" pitchFamily="34" charset="0"/>
                <a:cs typeface="Arial" panose="020B0604020202020204" pitchFamily="34" charset="0"/>
              </a:rPr>
              <a:t>当特定的系统事件</a:t>
            </a:r>
            <a:r>
              <a:rPr lang="en-US" altLang="zh-CN" dirty="0">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sym typeface="+mn-ea"/>
              </a:rPr>
              <a:t>&lt;</a:t>
            </a:r>
            <a:r>
              <a:rPr lang="zh-CN" altLang="en-US" dirty="0">
                <a:solidFill>
                  <a:srgbClr val="FF0000"/>
                </a:solidFill>
                <a:latin typeface="Arial" panose="020B0604020202020204" pitchFamily="34" charset="0"/>
                <a:cs typeface="Arial" panose="020B0604020202020204" pitchFamily="34" charset="0"/>
                <a:sym typeface="+mn-ea"/>
              </a:rPr>
              <a:t>触发事件</a:t>
            </a:r>
            <a:r>
              <a:rPr lang="en-US" altLang="zh-CN" dirty="0">
                <a:solidFill>
                  <a:srgbClr val="FF0000"/>
                </a:solidFill>
                <a:latin typeface="Arial" panose="020B0604020202020204" pitchFamily="34" charset="0"/>
                <a:cs typeface="Arial" panose="020B0604020202020204" pitchFamily="34" charset="0"/>
                <a:sym typeface="+mn-ea"/>
              </a:rPr>
              <a:t>&gt; ON &lt;</a:t>
            </a:r>
            <a:r>
              <a:rPr lang="zh-CN" altLang="en-US" dirty="0">
                <a:solidFill>
                  <a:srgbClr val="FF0000"/>
                </a:solidFill>
                <a:latin typeface="Arial" panose="020B0604020202020204" pitchFamily="34" charset="0"/>
                <a:cs typeface="Arial" panose="020B0604020202020204" pitchFamily="34" charset="0"/>
                <a:sym typeface="+mn-ea"/>
              </a:rPr>
              <a:t>表名</a:t>
            </a:r>
            <a:r>
              <a:rPr lang="en-US" altLang="zh-CN" dirty="0">
                <a:solidFill>
                  <a:srgbClr val="FF0000"/>
                </a:solidFill>
                <a:latin typeface="Arial" panose="020B0604020202020204" pitchFamily="34" charset="0"/>
                <a:cs typeface="Arial" panose="020B0604020202020204" pitchFamily="34" charset="0"/>
                <a:sym typeface="+mn-ea"/>
              </a:rPr>
              <a:t>&gt;</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发生时，对规则的</a:t>
            </a:r>
            <a:r>
              <a:rPr lang="en-US" altLang="zh-CN" dirty="0">
                <a:solidFill>
                  <a:srgbClr val="FF0000"/>
                </a:solidFill>
                <a:latin typeface="Arial" panose="020B0604020202020204" pitchFamily="34" charset="0"/>
                <a:cs typeface="Arial" panose="020B0604020202020204" pitchFamily="34" charset="0"/>
                <a:sym typeface="+mn-ea"/>
              </a:rPr>
              <a:t>&lt;</a:t>
            </a:r>
            <a:r>
              <a:rPr lang="zh-CN" altLang="en-US" dirty="0">
                <a:solidFill>
                  <a:srgbClr val="FF0000"/>
                </a:solidFill>
                <a:latin typeface="Arial" panose="020B0604020202020204" pitchFamily="34" charset="0"/>
                <a:cs typeface="Arial" panose="020B0604020202020204" pitchFamily="34" charset="0"/>
                <a:sym typeface="+mn-ea"/>
              </a:rPr>
              <a:t>触发条件</a:t>
            </a:r>
            <a:r>
              <a:rPr lang="en-US" altLang="zh-CN" dirty="0">
                <a:solidFill>
                  <a:srgbClr val="FF0000"/>
                </a:solidFill>
                <a:latin typeface="Arial" panose="020B0604020202020204" pitchFamily="34" charset="0"/>
                <a:cs typeface="Arial" panose="020B0604020202020204" pitchFamily="34" charset="0"/>
                <a:sym typeface="+mn-ea"/>
              </a:rPr>
              <a:t>&gt;</a:t>
            </a:r>
            <a:r>
              <a:rPr lang="zh-CN" altLang="en-US" dirty="0">
                <a:latin typeface="Arial" panose="020B0604020202020204" pitchFamily="34" charset="0"/>
                <a:cs typeface="Arial" panose="020B0604020202020204" pitchFamily="34" charset="0"/>
              </a:rPr>
              <a:t>进行检查，如果</a:t>
            </a:r>
            <a:r>
              <a:rPr lang="en-US" altLang="zh-CN" dirty="0">
                <a:solidFill>
                  <a:srgbClr val="FF0000"/>
                </a:solidFill>
                <a:latin typeface="Arial" panose="020B0604020202020204" pitchFamily="34" charset="0"/>
                <a:cs typeface="Arial" panose="020B0604020202020204" pitchFamily="34" charset="0"/>
                <a:sym typeface="+mn-ea"/>
              </a:rPr>
              <a:t>&lt;</a:t>
            </a:r>
            <a:r>
              <a:rPr lang="zh-CN" altLang="en-US" dirty="0">
                <a:solidFill>
                  <a:srgbClr val="FF0000"/>
                </a:solidFill>
                <a:latin typeface="Arial" panose="020B0604020202020204" pitchFamily="34" charset="0"/>
                <a:cs typeface="Arial" panose="020B0604020202020204" pitchFamily="34" charset="0"/>
                <a:sym typeface="+mn-ea"/>
              </a:rPr>
              <a:t>触发条件</a:t>
            </a:r>
            <a:r>
              <a:rPr lang="en-US" altLang="zh-CN" dirty="0">
                <a:solidFill>
                  <a:srgbClr val="FF0000"/>
                </a:solidFill>
                <a:latin typeface="Arial" panose="020B0604020202020204" pitchFamily="34" charset="0"/>
                <a:cs typeface="Arial" panose="020B0604020202020204" pitchFamily="34" charset="0"/>
                <a:sym typeface="+mn-ea"/>
              </a:rPr>
              <a:t>&gt;</a:t>
            </a:r>
            <a:r>
              <a:rPr lang="zh-CN" altLang="en-US" dirty="0">
                <a:latin typeface="Arial" panose="020B0604020202020204" pitchFamily="34" charset="0"/>
                <a:cs typeface="Arial" panose="020B0604020202020204" pitchFamily="34" charset="0"/>
              </a:rPr>
              <a:t>成立则执行规则中的动作</a:t>
            </a:r>
            <a:r>
              <a:rPr lang="en-US" altLang="zh-CN" dirty="0">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sym typeface="+mn-ea"/>
              </a:rPr>
              <a:t>&lt;</a:t>
            </a:r>
            <a:r>
              <a:rPr lang="zh-CN" altLang="en-US" dirty="0">
                <a:solidFill>
                  <a:srgbClr val="FF0000"/>
                </a:solidFill>
                <a:latin typeface="Arial" panose="020B0604020202020204" pitchFamily="34" charset="0"/>
                <a:cs typeface="Arial" panose="020B0604020202020204" pitchFamily="34" charset="0"/>
                <a:sym typeface="+mn-ea"/>
              </a:rPr>
              <a:t>触发动作体</a:t>
            </a:r>
            <a:r>
              <a:rPr lang="en-US" altLang="zh-CN" dirty="0">
                <a:solidFill>
                  <a:srgbClr val="FF0000"/>
                </a:solidFill>
                <a:latin typeface="Arial" panose="020B0604020202020204" pitchFamily="34" charset="0"/>
                <a:cs typeface="Arial" panose="020B0604020202020204" pitchFamily="34" charset="0"/>
                <a:sym typeface="+mn-ea"/>
              </a:rPr>
              <a:t>&gt;</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，否则不执行该动作。</a:t>
            </a:r>
          </a:p>
          <a:p>
            <a:pPr lvl="1"/>
            <a:r>
              <a:rPr lang="zh-CN" altLang="en-US" dirty="0">
                <a:latin typeface="Arial" panose="020B0604020202020204" pitchFamily="34" charset="0"/>
                <a:cs typeface="Arial" panose="020B0604020202020204" pitchFamily="34" charset="0"/>
              </a:rPr>
              <a:t>规则中的</a:t>
            </a:r>
            <a:r>
              <a:rPr lang="en-US" altLang="zh-CN" dirty="0">
                <a:solidFill>
                  <a:srgbClr val="FF0000"/>
                </a:solidFill>
                <a:latin typeface="Arial" panose="020B0604020202020204" pitchFamily="34" charset="0"/>
                <a:cs typeface="Arial" panose="020B0604020202020204" pitchFamily="34" charset="0"/>
                <a:sym typeface="+mn-ea"/>
              </a:rPr>
              <a:t>&lt;</a:t>
            </a:r>
            <a:r>
              <a:rPr lang="zh-CN" altLang="en-US" dirty="0">
                <a:solidFill>
                  <a:srgbClr val="FF0000"/>
                </a:solidFill>
                <a:latin typeface="Arial" panose="020B0604020202020204" pitchFamily="34" charset="0"/>
                <a:cs typeface="Arial" panose="020B0604020202020204" pitchFamily="34" charset="0"/>
                <a:sym typeface="+mn-ea"/>
              </a:rPr>
              <a:t>触发动作体</a:t>
            </a:r>
            <a:r>
              <a:rPr lang="en-US" altLang="zh-CN" dirty="0">
                <a:solidFill>
                  <a:srgbClr val="FF0000"/>
                </a:solidFill>
                <a:latin typeface="Arial" panose="020B0604020202020204" pitchFamily="34" charset="0"/>
                <a:cs typeface="Arial" panose="020B0604020202020204" pitchFamily="34" charset="0"/>
                <a:sym typeface="+mn-ea"/>
              </a:rPr>
              <a:t>&gt;</a:t>
            </a:r>
            <a:r>
              <a:rPr lang="zh-CN" altLang="en-US" dirty="0">
                <a:latin typeface="Arial" panose="020B0604020202020204" pitchFamily="34" charset="0"/>
                <a:cs typeface="Arial" panose="020B0604020202020204" pitchFamily="34" charset="0"/>
              </a:rPr>
              <a:t>可以很复杂，通常是一段</a:t>
            </a:r>
            <a:r>
              <a:rPr lang="en-US" altLang="zh-CN" dirty="0">
                <a:latin typeface="Arial" panose="020B0604020202020204" pitchFamily="34" charset="0"/>
                <a:cs typeface="Arial" panose="020B0604020202020204" pitchFamily="34" charset="0"/>
              </a:rPr>
              <a:t>SQL</a:t>
            </a:r>
            <a:r>
              <a:rPr lang="zh-CN" altLang="en-US" dirty="0">
                <a:latin typeface="Arial" panose="020B0604020202020204" pitchFamily="34" charset="0"/>
                <a:cs typeface="Arial" panose="020B0604020202020204" pitchFamily="34" charset="0"/>
              </a:rPr>
              <a:t>存储过程。</a:t>
            </a:r>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59</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44">
                                            <p:txEl>
                                              <p:pRg st="6" end="6"/>
                                            </p:txEl>
                                          </p:spTgt>
                                        </p:tgtEl>
                                        <p:attrNameLst>
                                          <p:attrName>style.visibility</p:attrName>
                                        </p:attrNameLst>
                                      </p:cBhvr>
                                      <p:to>
                                        <p:strVal val="visible"/>
                                      </p:to>
                                    </p:set>
                                    <p:anim calcmode="lin" valueType="num">
                                      <p:cBhvr additive="base">
                                        <p:cTn id="7" dur="500" fill="hold"/>
                                        <p:tgtEl>
                                          <p:spTgt spid="6144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444">
                                            <p:txEl>
                                              <p:pRg st="7" end="7"/>
                                            </p:txEl>
                                          </p:spTgt>
                                        </p:tgtEl>
                                        <p:attrNameLst>
                                          <p:attrName>style.visibility</p:attrName>
                                        </p:attrNameLst>
                                      </p:cBhvr>
                                      <p:to>
                                        <p:strVal val="visible"/>
                                      </p:to>
                                    </p:set>
                                    <p:anim calcmode="lin" valueType="num">
                                      <p:cBhvr additive="base">
                                        <p:cTn id="11" dur="500" fill="hold"/>
                                        <p:tgtEl>
                                          <p:spTgt spid="61444">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44">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1444">
                                            <p:txEl>
                                              <p:pRg st="8" end="8"/>
                                            </p:txEl>
                                          </p:spTgt>
                                        </p:tgtEl>
                                        <p:attrNameLst>
                                          <p:attrName>style.visibility</p:attrName>
                                        </p:attrNameLst>
                                      </p:cBhvr>
                                      <p:to>
                                        <p:strVal val="visible"/>
                                      </p:to>
                                    </p:set>
                                    <p:anim calcmode="lin" valueType="num">
                                      <p:cBhvr additive="base">
                                        <p:cTn id="15" dur="500" fill="hold"/>
                                        <p:tgtEl>
                                          <p:spTgt spid="61444">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144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p:cNvSpPr>
          <p:nvPr>
            <p:ph type="title"/>
          </p:nvPr>
        </p:nvSpPr>
        <p:spPr/>
        <p:txBody>
          <a:bodyPr wrap="square" tIns="0" bIns="0" anchor="ctr"/>
          <a:lstStyle/>
          <a:p>
            <a:pPr eaLnBrk="1" hangingPunct="1"/>
            <a:r>
              <a:rPr lang="zh-CN" altLang="zh-CN">
                <a:sym typeface="+mn-ea"/>
              </a:rPr>
              <a:t>详细的触发器定义命令</a:t>
            </a:r>
            <a:r>
              <a:rPr lang="en-US" altLang="zh-CN">
                <a:sym typeface="+mn-ea"/>
              </a:rPr>
              <a:t> 1</a:t>
            </a:r>
          </a:p>
        </p:txBody>
      </p:sp>
      <p:sp>
        <p:nvSpPr>
          <p:cNvPr id="94213" name="Text Box 4"/>
          <p:cNvSpPr txBox="1"/>
          <p:nvPr/>
        </p:nvSpPr>
        <p:spPr>
          <a:xfrm>
            <a:off x="424180" y="868680"/>
            <a:ext cx="11343640" cy="4984750"/>
          </a:xfrm>
          <a:prstGeom prst="rect">
            <a:avLst/>
          </a:prstGeom>
          <a:noFill/>
          <a:ln w="9525">
            <a:noFill/>
          </a:ln>
        </p:spPr>
        <p:txBody>
          <a:bodyPr wrap="square" anchor="t">
            <a:noAutofit/>
          </a:bodyPr>
          <a:lstStyle/>
          <a:p>
            <a:pPr>
              <a:lnSpc>
                <a:spcPct val="100000"/>
              </a:lnSpc>
              <a:spcBef>
                <a:spcPts val="1000"/>
              </a:spcBef>
              <a:spcAft>
                <a:spcPts val="0"/>
              </a:spcAft>
              <a:buClr>
                <a:schemeClr val="accent2"/>
              </a:buClr>
              <a:buFont typeface="Wingdings" panose="05000000000000000000" pitchFamily="2" charset="2"/>
            </a:pPr>
            <a:r>
              <a:rPr lang="en-US" altLang="zh-CN" sz="2800" b="1" dirty="0">
                <a:solidFill>
                  <a:srgbClr val="C00000"/>
                </a:solidFill>
                <a:latin typeface="Arial" panose="020B0604020202020204" pitchFamily="34" charset="0"/>
              </a:rPr>
              <a:t>CREATE TRIGGER</a:t>
            </a:r>
            <a:r>
              <a:rPr lang="en-US" altLang="zh-CN" sz="2800" b="1" dirty="0">
                <a:solidFill>
                  <a:schemeClr val="accent2"/>
                </a:solidFill>
                <a:latin typeface="Arial" panose="020B0604020202020204" pitchFamily="34" charset="0"/>
              </a:rPr>
              <a:t> </a:t>
            </a:r>
            <a:r>
              <a:rPr lang="en-US" altLang="zh-CN" sz="2800" b="1" dirty="0">
                <a:latin typeface="Arial" panose="020B0604020202020204" pitchFamily="34" charset="0"/>
              </a:rPr>
              <a:t>trigger_name</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BEFORE</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AFTER </a:t>
            </a:r>
            <a:r>
              <a:rPr lang="en-US" altLang="zh-CN" sz="2800" b="1" dirty="0">
                <a:solidFill>
                  <a:srgbClr val="FF0066"/>
                </a:solidFill>
                <a:latin typeface="Arial" panose="020B0604020202020204" pitchFamily="34" charset="0"/>
              </a:rPr>
              <a:t>}</a:t>
            </a: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INSERT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DELETE</a:t>
            </a:r>
            <a:endParaRPr lang="en-US" altLang="zh-CN" sz="2800" b="1" dirty="0">
              <a:solidFill>
                <a:schemeClr val="accent2"/>
              </a:solidFill>
              <a:latin typeface="Arial" panose="020B0604020202020204" pitchFamily="34" charset="0"/>
            </a:endParaRP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chemeClr val="accent2"/>
                </a:solidFill>
                <a:latin typeface="Arial" panose="020B0604020202020204" pitchFamily="34" charset="0"/>
              </a:rPr>
              <a:t> </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UPDATE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OF </a:t>
            </a:r>
            <a:r>
              <a:rPr lang="en-US" altLang="zh-CN" sz="2800" b="1" dirty="0">
                <a:latin typeface="Arial" panose="020B0604020202020204" pitchFamily="34" charset="0"/>
              </a:rPr>
              <a:t>colname</a:t>
            </a:r>
            <a:r>
              <a:rPr lang="en-US" altLang="zh-CN" sz="2800" b="1" dirty="0">
                <a:solidFill>
                  <a:srgbClr val="FF0066"/>
                </a:solidFill>
                <a:latin typeface="Arial" panose="020B0604020202020204" pitchFamily="34" charset="0"/>
              </a:rPr>
              <a:t> { , </a:t>
            </a:r>
            <a:r>
              <a:rPr lang="en-US" altLang="zh-CN" sz="2800" b="1" dirty="0">
                <a:latin typeface="Arial" panose="020B0604020202020204" pitchFamily="34" charset="0"/>
              </a:rPr>
              <a:t>colname</a:t>
            </a:r>
            <a:r>
              <a:rPr lang="en-US" altLang="zh-CN" sz="2800" b="1" dirty="0">
                <a:solidFill>
                  <a:srgbClr val="FF0066"/>
                </a:solidFill>
                <a:latin typeface="Arial" panose="020B0604020202020204" pitchFamily="34" charset="0"/>
              </a:rPr>
              <a:t> ... } ] }</a:t>
            </a: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chemeClr val="accent2"/>
                </a:solidFill>
                <a:latin typeface="Arial" panose="020B0604020202020204" pitchFamily="34" charset="0"/>
              </a:rPr>
              <a:t>    </a:t>
            </a:r>
            <a:r>
              <a:rPr lang="en-US" altLang="zh-CN" sz="2800" b="1" dirty="0">
                <a:solidFill>
                  <a:srgbClr val="C00000"/>
                </a:solidFill>
                <a:latin typeface="Arial" panose="020B0604020202020204" pitchFamily="34" charset="0"/>
              </a:rPr>
              <a:t>ON </a:t>
            </a:r>
            <a:r>
              <a:rPr lang="en-US" altLang="zh-CN" sz="2800" b="1" dirty="0">
                <a:latin typeface="Arial" panose="020B0604020202020204" pitchFamily="34" charset="0"/>
              </a:rPr>
              <a:t>table_name</a:t>
            </a:r>
            <a:r>
              <a:rPr lang="en-US" altLang="zh-CN" sz="2800" b="1" dirty="0">
                <a:solidFill>
                  <a:srgbClr val="FF0066"/>
                </a:solidFill>
                <a:latin typeface="Arial" panose="020B0604020202020204" pitchFamily="34" charset="0"/>
              </a:rPr>
              <a:t> </a:t>
            </a: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REFERENCING </a:t>
            </a:r>
            <a:r>
              <a:rPr lang="en-US" altLang="zh-CN" sz="2800" b="1" dirty="0">
                <a:latin typeface="Arial" panose="020B0604020202020204" pitchFamily="34" charset="0"/>
              </a:rPr>
              <a:t>corr_name_def</a:t>
            </a:r>
            <a:r>
              <a:rPr lang="en-US" altLang="zh-CN" sz="2800" b="1" dirty="0">
                <a:solidFill>
                  <a:srgbClr val="FF0066"/>
                </a:solidFill>
                <a:latin typeface="Arial" panose="020B0604020202020204" pitchFamily="34" charset="0"/>
              </a:rPr>
              <a:t> { </a:t>
            </a:r>
            <a:r>
              <a:rPr lang="en-US" altLang="zh-CN" sz="2800" b="1" dirty="0">
                <a:latin typeface="Arial" panose="020B0604020202020204" pitchFamily="34" charset="0"/>
              </a:rPr>
              <a:t>, ......</a:t>
            </a:r>
            <a:r>
              <a:rPr lang="en-US" altLang="zh-CN" sz="2800" b="1" dirty="0">
                <a:solidFill>
                  <a:srgbClr val="FF0066"/>
                </a:solidFill>
                <a:latin typeface="Arial" panose="020B0604020202020204" pitchFamily="34" charset="0"/>
              </a:rPr>
              <a:t> } ]</a:t>
            </a: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FOR EACH ROW </a:t>
            </a:r>
            <a:r>
              <a:rPr lang="en-US" altLang="zh-CN" sz="2800" b="1" dirty="0">
                <a:solidFill>
                  <a:srgbClr val="FF0066"/>
                </a:solidFill>
                <a:latin typeface="Arial" panose="020B0604020202020204" pitchFamily="34" charset="0"/>
              </a:rPr>
              <a:t>| </a:t>
            </a:r>
            <a:r>
              <a:rPr lang="en-US" altLang="zh-CN" sz="2800" b="1" u="sng" dirty="0">
                <a:solidFill>
                  <a:srgbClr val="C00000"/>
                </a:solidFill>
                <a:latin typeface="Arial" panose="020B0604020202020204" pitchFamily="34" charset="0"/>
              </a:rPr>
              <a:t>FOR EACH STATEMENT</a:t>
            </a:r>
            <a:r>
              <a:rPr lang="en-US" altLang="zh-CN" sz="2800" b="1" dirty="0">
                <a:solidFill>
                  <a:srgbClr val="C00000"/>
                </a:solidFill>
                <a:latin typeface="Arial" panose="020B0604020202020204" pitchFamily="34" charset="0"/>
              </a:rPr>
              <a:t> </a:t>
            </a:r>
            <a:r>
              <a:rPr lang="en-US" altLang="zh-CN" sz="2800" b="1" dirty="0">
                <a:solidFill>
                  <a:srgbClr val="FF0066"/>
                </a:solidFill>
                <a:latin typeface="Arial" panose="020B0604020202020204" pitchFamily="34" charset="0"/>
              </a:rPr>
              <a:t>]</a:t>
            </a:r>
          </a:p>
          <a:p>
            <a:pPr lvl="1"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WHEN (</a:t>
            </a:r>
            <a:r>
              <a:rPr lang="en-US" altLang="zh-CN" sz="2800" b="1" dirty="0">
                <a:solidFill>
                  <a:schemeClr val="accent2"/>
                </a:solidFill>
                <a:latin typeface="Arial" panose="020B0604020202020204" pitchFamily="34" charset="0"/>
              </a:rPr>
              <a:t> </a:t>
            </a:r>
            <a:r>
              <a:rPr lang="en-US" altLang="zh-CN" sz="2800" b="1" dirty="0">
                <a:latin typeface="Arial" panose="020B0604020202020204" pitchFamily="34" charset="0"/>
              </a:rPr>
              <a:t>search_condition</a:t>
            </a:r>
            <a:r>
              <a:rPr lang="en-US" altLang="zh-CN" sz="2800" b="1" dirty="0">
                <a:solidFill>
                  <a:schemeClr val="accent2"/>
                </a:solidFill>
                <a:latin typeface="Arial" panose="020B0604020202020204" pitchFamily="34" charset="0"/>
              </a:rPr>
              <a:t> </a:t>
            </a:r>
            <a:r>
              <a:rPr lang="en-US" altLang="zh-CN" sz="2800" b="1" dirty="0">
                <a:solidFill>
                  <a:srgbClr val="C00000"/>
                </a:solidFill>
                <a:latin typeface="Arial" panose="020B0604020202020204" pitchFamily="34" charset="0"/>
              </a:rPr>
              <a:t>)</a:t>
            </a:r>
            <a:r>
              <a:rPr lang="en-US" altLang="zh-CN" sz="2800" b="1" dirty="0">
                <a:solidFill>
                  <a:srgbClr val="FF0066"/>
                </a:solidFill>
                <a:latin typeface="Arial" panose="020B0604020202020204" pitchFamily="34" charset="0"/>
              </a:rPr>
              <a:t> ]</a:t>
            </a:r>
          </a:p>
          <a:p>
            <a:pPr lvl="2"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statement</a:t>
            </a:r>
          </a:p>
          <a:p>
            <a:pPr lvl="2" indent="0" algn="l" eaLnBrk="1" hangingPunct="1">
              <a:lnSpc>
                <a:spcPct val="100000"/>
              </a:lnSpc>
              <a:spcBef>
                <a:spcPts val="1000"/>
              </a:spcBef>
              <a:spcAft>
                <a:spcPts val="0"/>
              </a:spcAft>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BEGIN ATOMIC </a:t>
            </a:r>
            <a:r>
              <a:rPr lang="en-US" altLang="zh-CN" sz="2800" b="1" dirty="0">
                <a:latin typeface="Arial" panose="020B0604020202020204" pitchFamily="34" charset="0"/>
              </a:rPr>
              <a:t>statement; </a:t>
            </a: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statement; ...</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END</a:t>
            </a:r>
            <a:endParaRPr lang="en-US" altLang="zh-CN" sz="2800" b="1" dirty="0">
              <a:solidFill>
                <a:schemeClr val="accent2"/>
              </a:solidFill>
              <a:latin typeface="Arial" panose="020B0604020202020204" pitchFamily="3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p:cNvSpPr>
          <p:nvPr>
            <p:ph type="title"/>
          </p:nvPr>
        </p:nvSpPr>
        <p:spPr/>
        <p:txBody>
          <a:bodyPr wrap="square" tIns="0" bIns="0" anchor="ctr"/>
          <a:lstStyle/>
          <a:p>
            <a:pPr eaLnBrk="1" hangingPunct="1"/>
            <a:r>
              <a:rPr lang="zh-CN" altLang="zh-CN">
                <a:sym typeface="+mn-ea"/>
              </a:rPr>
              <a:t>详细的触发器定义命令</a:t>
            </a:r>
            <a:r>
              <a:rPr lang="en-US" altLang="zh-CN">
                <a:sym typeface="+mn-ea"/>
              </a:rPr>
              <a:t> 2</a:t>
            </a:r>
          </a:p>
        </p:txBody>
      </p:sp>
      <p:sp>
        <p:nvSpPr>
          <p:cNvPr id="94213" name="Text Box 4"/>
          <p:cNvSpPr txBox="1"/>
          <p:nvPr/>
        </p:nvSpPr>
        <p:spPr>
          <a:xfrm>
            <a:off x="424180" y="868680"/>
            <a:ext cx="11343640" cy="5381625"/>
          </a:xfrm>
          <a:prstGeom prst="rect">
            <a:avLst/>
          </a:prstGeom>
          <a:noFill/>
          <a:ln w="9525">
            <a:noFill/>
          </a:ln>
        </p:spPr>
        <p:txBody>
          <a:bodyPr wrap="square" anchor="t">
            <a:spAutoFit/>
          </a:bodyPr>
          <a:lstStyle/>
          <a:p>
            <a:pPr indent="0" fontAlgn="auto">
              <a:lnSpc>
                <a:spcPct val="110000"/>
              </a:lnSpc>
              <a:spcBef>
                <a:spcPts val="1000"/>
              </a:spcBef>
              <a:spcAft>
                <a:spcPts val="0"/>
              </a:spcAft>
              <a:buClr>
                <a:schemeClr val="accent2"/>
              </a:buClr>
              <a:buFont typeface="Wingdings" panose="05000000000000000000" pitchFamily="2" charset="2"/>
            </a:pPr>
            <a:r>
              <a:rPr lang="en-US" altLang="zh-CN" sz="2800" b="1" dirty="0">
                <a:solidFill>
                  <a:srgbClr val="0000C8"/>
                </a:solidFill>
                <a:latin typeface="Arial" panose="020B0604020202020204" pitchFamily="34" charset="0"/>
              </a:rPr>
              <a:t>CREATE TRIGGER trigger_name { BEFORE | AFTER }</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INSERT | DELETE</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 UPDATE [ OF colname { , colname ... } ] }</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ON table_name </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REFERENCING corr_name_def { , ...... } ]</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FOR EACH ROW | </a:t>
            </a:r>
            <a:r>
              <a:rPr lang="en-US" altLang="zh-CN" sz="2800" b="1" u="sng" dirty="0">
                <a:solidFill>
                  <a:srgbClr val="0000C8"/>
                </a:solidFill>
                <a:latin typeface="Arial" panose="020B0604020202020204" pitchFamily="34" charset="0"/>
              </a:rPr>
              <a:t>FOR EACH STATEMENT</a:t>
            </a:r>
            <a:r>
              <a:rPr lang="en-US" altLang="zh-CN" sz="2800" b="1" dirty="0">
                <a:solidFill>
                  <a:srgbClr val="0000C8"/>
                </a:solidFill>
                <a:latin typeface="Arial" panose="020B0604020202020204" pitchFamily="34" charset="0"/>
              </a:rPr>
              <a:t> ]</a:t>
            </a:r>
          </a:p>
          <a:p>
            <a:pPr lvl="1"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WHEN ( search_condition ) ]</a:t>
            </a:r>
          </a:p>
          <a:p>
            <a:pPr lvl="2"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statement</a:t>
            </a:r>
          </a:p>
          <a:p>
            <a:pPr lvl="2" indent="0" algn="l" fontAlgn="auto">
              <a:lnSpc>
                <a:spcPct val="110000"/>
              </a:lnSpc>
              <a:spcBef>
                <a:spcPts val="1000"/>
              </a:spcBef>
              <a:spcAft>
                <a:spcPts val="0"/>
              </a:spcAft>
              <a:buClr>
                <a:schemeClr val="accent2"/>
              </a:buClr>
              <a:buFont typeface="Wingdings" panose="05000000000000000000" pitchFamily="2" charset="2"/>
              <a:buNone/>
            </a:pPr>
            <a:r>
              <a:rPr lang="en-US" altLang="zh-CN" sz="2800" b="1" dirty="0">
                <a:solidFill>
                  <a:srgbClr val="0000C8"/>
                </a:solidFill>
                <a:latin typeface="Arial" panose="020B0604020202020204" pitchFamily="34" charset="0"/>
              </a:rPr>
              <a:t>| BEGIN ATOMIC statement; { statement; ... } END</a:t>
            </a:r>
          </a:p>
        </p:txBody>
      </p:sp>
      <p:sp>
        <p:nvSpPr>
          <p:cNvPr id="4" name="任意多边形 3"/>
          <p:cNvSpPr/>
          <p:nvPr/>
        </p:nvSpPr>
        <p:spPr>
          <a:xfrm>
            <a:off x="367030" y="1359535"/>
            <a:ext cx="10838180" cy="2007870"/>
          </a:xfrm>
          <a:custGeom>
            <a:avLst/>
            <a:gdLst>
              <a:gd name="txL" fmla="*/ 0 w 7896665"/>
              <a:gd name="txT" fmla="*/ 0 h 2152746"/>
              <a:gd name="txR" fmla="*/ 7896665 w 7896665"/>
              <a:gd name="txB" fmla="*/ 2152746 h 2152746"/>
            </a:gdLst>
            <a:ahLst/>
            <a:cxnLst>
              <a:cxn ang="0">
                <a:pos x="830272" y="3207"/>
              </a:cxn>
              <a:cxn ang="0">
                <a:pos x="130923" y="850334"/>
              </a:cxn>
              <a:cxn ang="0">
                <a:pos x="736129" y="1791586"/>
              </a:cxn>
              <a:cxn ang="0">
                <a:pos x="6963022" y="2087408"/>
              </a:cxn>
              <a:cxn ang="0">
                <a:pos x="7232002" y="621744"/>
              </a:cxn>
              <a:cxn ang="0">
                <a:pos x="830272" y="3207"/>
              </a:cxn>
            </a:cxnLst>
            <a:rect l="txL" t="txT" r="txR" b="txB"/>
            <a:pathLst>
              <a:path w="7896665" h="2152746">
                <a:moveTo>
                  <a:pt x="830151" y="3207"/>
                </a:moveTo>
                <a:cubicBezTo>
                  <a:pt x="-353190" y="41307"/>
                  <a:pt x="146592" y="552296"/>
                  <a:pt x="130904" y="850372"/>
                </a:cubicBezTo>
                <a:cubicBezTo>
                  <a:pt x="115216" y="1148448"/>
                  <a:pt x="-402496" y="1585478"/>
                  <a:pt x="736022" y="1791666"/>
                </a:cubicBezTo>
                <a:cubicBezTo>
                  <a:pt x="1874540" y="1997854"/>
                  <a:pt x="5879522" y="2282483"/>
                  <a:pt x="6962010" y="2087501"/>
                </a:cubicBezTo>
                <a:cubicBezTo>
                  <a:pt x="8044498" y="1892519"/>
                  <a:pt x="8255169" y="971395"/>
                  <a:pt x="7230951" y="621772"/>
                </a:cubicBezTo>
                <a:cubicBezTo>
                  <a:pt x="6206733" y="272149"/>
                  <a:pt x="2013492" y="-34893"/>
                  <a:pt x="830151" y="3207"/>
                </a:cubicBezTo>
                <a:close/>
              </a:path>
            </a:pathLst>
          </a:custGeom>
          <a:noFill/>
          <a:ln w="25400" cap="flat" cmpd="sng">
            <a:solidFill>
              <a:srgbClr val="FF0000"/>
            </a:solidFill>
            <a:prstDash val="solid"/>
            <a:miter/>
            <a:headEnd type="none" w="med" len="med"/>
            <a:tailEnd type="triangle" w="med" len="med"/>
          </a:ln>
        </p:spPr>
        <p:txBody>
          <a:bodyPr anchor="t"/>
          <a:lstStyle/>
          <a:p>
            <a:pPr algn="r"/>
            <a:r>
              <a:rPr lang="zh-CN" altLang="en-US" sz="2800" b="1" dirty="0">
                <a:solidFill>
                  <a:srgbClr val="FF0000"/>
                </a:solidFill>
                <a:latin typeface="Times New Roman" panose="02020603050405020304" pitchFamily="2" charset="0"/>
              </a:rPr>
              <a:t>触发事件</a:t>
            </a:r>
          </a:p>
        </p:txBody>
      </p:sp>
      <p:grpSp>
        <p:nvGrpSpPr>
          <p:cNvPr id="94215" name="组合 94214"/>
          <p:cNvGrpSpPr/>
          <p:nvPr/>
        </p:nvGrpSpPr>
        <p:grpSpPr>
          <a:xfrm>
            <a:off x="652464" y="857250"/>
            <a:ext cx="11356975" cy="4220210"/>
            <a:chOff x="-312584" y="160033"/>
            <a:chExt cx="11362988" cy="4220535"/>
          </a:xfrm>
        </p:grpSpPr>
        <p:grpSp>
          <p:nvGrpSpPr>
            <p:cNvPr id="95239" name="组合 94215"/>
            <p:cNvGrpSpPr/>
            <p:nvPr/>
          </p:nvGrpSpPr>
          <p:grpSpPr>
            <a:xfrm>
              <a:off x="-312584" y="160033"/>
              <a:ext cx="9143097" cy="4220535"/>
              <a:chOff x="-312584" y="160033"/>
              <a:chExt cx="9143097" cy="4220535"/>
            </a:xfrm>
          </p:grpSpPr>
          <p:sp>
            <p:nvSpPr>
              <p:cNvPr id="95240" name="任意多边形 6"/>
              <p:cNvSpPr/>
              <p:nvPr/>
            </p:nvSpPr>
            <p:spPr>
              <a:xfrm>
                <a:off x="5105659" y="160033"/>
                <a:ext cx="3724854" cy="692630"/>
              </a:xfrm>
              <a:custGeom>
                <a:avLst/>
                <a:gdLst/>
                <a:ahLst/>
                <a:cxnLst>
                  <a:cxn ang="0">
                    <a:pos x="476149" y="17560"/>
                  </a:cxn>
                  <a:cxn ang="0">
                    <a:pos x="287890" y="515101"/>
                  </a:cxn>
                  <a:cxn ang="0">
                    <a:pos x="3326925" y="676466"/>
                  </a:cxn>
                  <a:cxn ang="0">
                    <a:pos x="3380714" y="165477"/>
                  </a:cxn>
                  <a:cxn ang="0">
                    <a:pos x="476149" y="17560"/>
                  </a:cxn>
                </a:cxnLst>
                <a:rect l="0" t="0" r="0" b="0"/>
                <a:pathLst>
                  <a:path w="3724854" h="692630">
                    <a:moveTo>
                      <a:pt x="476149" y="17560"/>
                    </a:moveTo>
                    <a:cubicBezTo>
                      <a:pt x="-39322" y="75831"/>
                      <a:pt x="-187239" y="405283"/>
                      <a:pt x="287890" y="515101"/>
                    </a:cubicBezTo>
                    <a:cubicBezTo>
                      <a:pt x="763019" y="624919"/>
                      <a:pt x="2811454" y="734737"/>
                      <a:pt x="3326925" y="676466"/>
                    </a:cubicBezTo>
                    <a:cubicBezTo>
                      <a:pt x="3842396" y="618195"/>
                      <a:pt x="3853602" y="275295"/>
                      <a:pt x="3380714" y="165477"/>
                    </a:cubicBezTo>
                    <a:cubicBezTo>
                      <a:pt x="2907826" y="55659"/>
                      <a:pt x="991620" y="-40711"/>
                      <a:pt x="476149" y="17560"/>
                    </a:cubicBezTo>
                    <a:close/>
                  </a:path>
                </a:pathLst>
              </a:custGeom>
              <a:noFill/>
              <a:ln w="25400" cap="flat" cmpd="sng">
                <a:solidFill>
                  <a:srgbClr val="FF0000"/>
                </a:solidFill>
                <a:prstDash val="solid"/>
                <a:round/>
                <a:headEnd type="none" w="med" len="med"/>
                <a:tailEnd type="triangle" w="med" len="med"/>
              </a:ln>
            </p:spPr>
            <p:txBody>
              <a:bodyPr/>
              <a:lstStyle/>
              <a:p>
                <a:endParaRPr lang="zh-CN" altLang="en-US"/>
              </a:p>
            </p:txBody>
          </p:sp>
          <p:sp>
            <p:nvSpPr>
              <p:cNvPr id="95241" name="任意多边形 7"/>
              <p:cNvSpPr/>
              <p:nvPr/>
            </p:nvSpPr>
            <p:spPr>
              <a:xfrm>
                <a:off x="-312584" y="3069827"/>
                <a:ext cx="8203461" cy="711890"/>
              </a:xfrm>
              <a:custGeom>
                <a:avLst/>
                <a:gdLst/>
                <a:ahLst/>
                <a:cxnLst>
                  <a:cxn ang="0">
                    <a:pos x="615154" y="45383"/>
                  </a:cxn>
                  <a:cxn ang="0">
                    <a:pos x="373107" y="381559"/>
                  </a:cxn>
                  <a:cxn ang="0">
                    <a:pos x="574813" y="610159"/>
                  </a:cxn>
                  <a:cxn ang="0">
                    <a:pos x="7325237" y="677395"/>
                  </a:cxn>
                  <a:cxn ang="0">
                    <a:pos x="6894931" y="72277"/>
                  </a:cxn>
                  <a:cxn ang="0">
                    <a:pos x="615154" y="45383"/>
                  </a:cxn>
                </a:cxnLst>
                <a:rect l="0" t="0" r="0" b="0"/>
                <a:pathLst>
                  <a:path w="7951975" h="711923">
                    <a:moveTo>
                      <a:pt x="615154" y="45383"/>
                    </a:moveTo>
                    <a:cubicBezTo>
                      <a:pt x="-471817" y="96930"/>
                      <a:pt x="379831" y="287430"/>
                      <a:pt x="373107" y="381559"/>
                    </a:cubicBezTo>
                    <a:cubicBezTo>
                      <a:pt x="366383" y="475688"/>
                      <a:pt x="-583875" y="560853"/>
                      <a:pt x="574813" y="610159"/>
                    </a:cubicBezTo>
                    <a:cubicBezTo>
                      <a:pt x="1733501" y="659465"/>
                      <a:pt x="6271884" y="767042"/>
                      <a:pt x="7325237" y="677395"/>
                    </a:cubicBezTo>
                    <a:cubicBezTo>
                      <a:pt x="8378590" y="587748"/>
                      <a:pt x="8015519" y="177612"/>
                      <a:pt x="6894931" y="72277"/>
                    </a:cubicBezTo>
                    <a:cubicBezTo>
                      <a:pt x="5774343" y="-33058"/>
                      <a:pt x="1702125" y="-6164"/>
                      <a:pt x="615154" y="45383"/>
                    </a:cubicBezTo>
                    <a:close/>
                  </a:path>
                </a:pathLst>
              </a:custGeom>
              <a:noFill/>
              <a:ln w="25400" cap="flat" cmpd="sng">
                <a:solidFill>
                  <a:srgbClr val="FF0000"/>
                </a:solidFill>
                <a:prstDash val="solid"/>
                <a:round/>
                <a:headEnd type="none" w="med" len="med"/>
                <a:tailEnd type="triangle" w="med" len="med"/>
              </a:ln>
            </p:spPr>
            <p:txBody>
              <a:bodyPr/>
              <a:lstStyle/>
              <a:p>
                <a:endParaRPr lang="zh-CN" altLang="en-US"/>
              </a:p>
            </p:txBody>
          </p:sp>
          <p:sp>
            <p:nvSpPr>
              <p:cNvPr id="95242" name="任意多边形 8"/>
              <p:cNvSpPr/>
              <p:nvPr/>
            </p:nvSpPr>
            <p:spPr>
              <a:xfrm>
                <a:off x="-203265" y="3781966"/>
                <a:ext cx="5691271" cy="598602"/>
              </a:xfrm>
              <a:custGeom>
                <a:avLst/>
                <a:gdLst/>
                <a:ahLst/>
                <a:cxnLst>
                  <a:cxn ang="0">
                    <a:pos x="485818" y="193"/>
                  </a:cxn>
                  <a:cxn ang="0">
                    <a:pos x="216877" y="188452"/>
                  </a:cxn>
                  <a:cxn ang="0">
                    <a:pos x="405136" y="551523"/>
                  </a:cxn>
                  <a:cxn ang="0">
                    <a:pos x="4869560" y="551523"/>
                  </a:cxn>
                  <a:cxn ang="0">
                    <a:pos x="5286418" y="161558"/>
                  </a:cxn>
                  <a:cxn ang="0">
                    <a:pos x="485818" y="193"/>
                  </a:cxn>
                </a:cxnLst>
                <a:rect l="0" t="0" r="0" b="0"/>
                <a:pathLst>
                  <a:path w="5691271" h="598602">
                    <a:moveTo>
                      <a:pt x="485818" y="193"/>
                    </a:moveTo>
                    <a:cubicBezTo>
                      <a:pt x="-359105" y="4675"/>
                      <a:pt x="230324" y="96564"/>
                      <a:pt x="216877" y="188452"/>
                    </a:cubicBezTo>
                    <a:cubicBezTo>
                      <a:pt x="203430" y="280340"/>
                      <a:pt x="-370311" y="491011"/>
                      <a:pt x="405136" y="551523"/>
                    </a:cubicBezTo>
                    <a:cubicBezTo>
                      <a:pt x="1180583" y="612035"/>
                      <a:pt x="4056013" y="616517"/>
                      <a:pt x="4869560" y="551523"/>
                    </a:cubicBezTo>
                    <a:cubicBezTo>
                      <a:pt x="5683107" y="486529"/>
                      <a:pt x="6019283" y="253446"/>
                      <a:pt x="5286418" y="161558"/>
                    </a:cubicBezTo>
                    <a:cubicBezTo>
                      <a:pt x="4553553" y="69670"/>
                      <a:pt x="1330741" y="-4289"/>
                      <a:pt x="485818" y="193"/>
                    </a:cubicBezTo>
                    <a:close/>
                  </a:path>
                </a:pathLst>
              </a:custGeom>
              <a:noFill/>
              <a:ln w="25400" cap="flat" cmpd="sng">
                <a:solidFill>
                  <a:srgbClr val="FF0000"/>
                </a:solidFill>
                <a:prstDash val="solid"/>
                <a:round/>
                <a:headEnd type="none" w="med" len="med"/>
                <a:tailEnd type="triangle" w="med" len="med"/>
              </a:ln>
            </p:spPr>
            <p:txBody>
              <a:bodyPr/>
              <a:lstStyle/>
              <a:p>
                <a:endParaRPr lang="zh-CN" altLang="en-US"/>
              </a:p>
            </p:txBody>
          </p:sp>
        </p:grpSp>
        <p:sp>
          <p:nvSpPr>
            <p:cNvPr id="95243" name="TextBox 10"/>
            <p:cNvSpPr txBox="1"/>
            <p:nvPr/>
          </p:nvSpPr>
          <p:spPr>
            <a:xfrm>
              <a:off x="7523653" y="2919321"/>
              <a:ext cx="3526751" cy="522010"/>
            </a:xfrm>
            <a:prstGeom prst="rect">
              <a:avLst/>
            </a:prstGeom>
            <a:noFill/>
            <a:ln w="9525">
              <a:noFill/>
            </a:ln>
          </p:spPr>
          <p:txBody>
            <a:bodyPr wrap="square" anchor="t">
              <a:spAutoFit/>
            </a:bodyPr>
            <a:lstStyle/>
            <a:p>
              <a:pPr algn="ctr"/>
              <a:r>
                <a:rPr lang="zh-CN" altLang="en-US" sz="2800" b="1" dirty="0">
                  <a:solidFill>
                    <a:srgbClr val="FF0000"/>
                  </a:solidFill>
                  <a:latin typeface="Times New Roman" panose="02020603050405020304" pitchFamily="2" charset="0"/>
                </a:rPr>
                <a:t>触发条件</a:t>
              </a:r>
              <a:r>
                <a:rPr lang="en-US" altLang="zh-CN" sz="2800" b="1" dirty="0">
                  <a:solidFill>
                    <a:srgbClr val="FF0000"/>
                  </a:solidFill>
                  <a:latin typeface="Times New Roman" panose="02020603050405020304" pitchFamily="2" charset="0"/>
                </a:rPr>
                <a:t> / </a:t>
              </a:r>
              <a:r>
                <a:rPr lang="zh-CN" altLang="en-US" sz="2800" b="1" dirty="0">
                  <a:solidFill>
                    <a:srgbClr val="FF0000"/>
                  </a:solidFill>
                  <a:latin typeface="Times New Roman" panose="02020603050405020304" pitchFamily="2" charset="0"/>
                </a:rPr>
                <a:t>执行方式</a:t>
              </a:r>
            </a:p>
          </p:txBody>
        </p:sp>
      </p:grpSp>
      <p:sp>
        <p:nvSpPr>
          <p:cNvPr id="94214" name="任意多边形 4"/>
          <p:cNvSpPr/>
          <p:nvPr/>
        </p:nvSpPr>
        <p:spPr>
          <a:xfrm>
            <a:off x="708025" y="5077460"/>
            <a:ext cx="11060430" cy="1373505"/>
          </a:xfrm>
          <a:custGeom>
            <a:avLst/>
            <a:gdLst>
              <a:gd name="txL" fmla="*/ 0 w 8728580"/>
              <a:gd name="txT" fmla="*/ 0 h 1373393"/>
              <a:gd name="txR" fmla="*/ 8728580 w 8728580"/>
              <a:gd name="txB" fmla="*/ 1373393 h 1373393"/>
            </a:gdLst>
            <a:ahLst/>
            <a:cxnLst>
              <a:cxn ang="0">
                <a:pos x="772912" y="34858"/>
              </a:cxn>
              <a:cxn ang="0">
                <a:pos x="463648" y="424765"/>
              </a:cxn>
              <a:cxn ang="0">
                <a:pos x="638449" y="1244913"/>
              </a:cxn>
              <a:cxn ang="0">
                <a:pos x="8343168" y="1258358"/>
              </a:cxn>
              <a:cxn ang="0">
                <a:pos x="6864078" y="155864"/>
              </a:cxn>
              <a:cxn ang="0">
                <a:pos x="772912" y="34858"/>
              </a:cxn>
            </a:cxnLst>
            <a:rect l="txL" t="txT" r="txR" b="txB"/>
            <a:pathLst>
              <a:path w="8728580" h="1373393">
                <a:moveTo>
                  <a:pt x="772957" y="34863"/>
                </a:moveTo>
                <a:cubicBezTo>
                  <a:pt x="-293843" y="79686"/>
                  <a:pt x="486087" y="223122"/>
                  <a:pt x="463675" y="424828"/>
                </a:cubicBezTo>
                <a:cubicBezTo>
                  <a:pt x="441263" y="626534"/>
                  <a:pt x="-674843" y="1106146"/>
                  <a:pt x="638486" y="1245099"/>
                </a:cubicBezTo>
                <a:cubicBezTo>
                  <a:pt x="1951815" y="1384052"/>
                  <a:pt x="7305986" y="1440081"/>
                  <a:pt x="8343651" y="1258546"/>
                </a:cubicBezTo>
                <a:cubicBezTo>
                  <a:pt x="9381316" y="1077011"/>
                  <a:pt x="8128498" y="357593"/>
                  <a:pt x="6864475" y="155887"/>
                </a:cubicBezTo>
                <a:cubicBezTo>
                  <a:pt x="5600452" y="-45819"/>
                  <a:pt x="1839757" y="-9960"/>
                  <a:pt x="772957" y="34863"/>
                </a:cubicBezTo>
                <a:close/>
              </a:path>
            </a:pathLst>
          </a:custGeom>
          <a:noFill/>
          <a:ln w="25400" cap="flat" cmpd="sng">
            <a:solidFill>
              <a:srgbClr val="FF0000"/>
            </a:solidFill>
            <a:prstDash val="solid"/>
            <a:miter/>
            <a:headEnd type="none" w="med" len="med"/>
            <a:tailEnd type="triangle" w="med" len="med"/>
          </a:ln>
        </p:spPr>
        <p:txBody>
          <a:bodyPr anchor="t"/>
          <a:lstStyle/>
          <a:p>
            <a:pPr algn="r"/>
            <a:r>
              <a:rPr lang="zh-CN" altLang="en-US" sz="2800" b="1" dirty="0">
                <a:solidFill>
                  <a:srgbClr val="FF0000"/>
                </a:solidFill>
                <a:latin typeface="Times New Roman" panose="02020603050405020304" pitchFamily="2" charset="0"/>
              </a:rPr>
              <a:t>结果事件</a:t>
            </a:r>
            <a:r>
              <a:rPr lang="en-US" altLang="zh-CN" sz="2800" b="1" dirty="0">
                <a:solidFill>
                  <a:srgbClr val="FF0000"/>
                </a:solidFill>
                <a:latin typeface="Times New Roman" panose="02020603050405020304" pitchFamily="2" charset="0"/>
              </a:rPr>
              <a:t> / </a:t>
            </a:r>
            <a:r>
              <a:rPr lang="zh-CN" altLang="en-US" sz="2800" b="1" dirty="0">
                <a:solidFill>
                  <a:srgbClr val="FF0000"/>
                </a:solidFill>
                <a:latin typeface="Times New Roman" panose="02020603050405020304" pitchFamily="2" charset="0"/>
              </a:rPr>
              <a:t>触发动作体</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61</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5"/>
                                        </p:tgtEl>
                                        <p:attrNameLst>
                                          <p:attrName>style.visibility</p:attrName>
                                        </p:attrNameLst>
                                      </p:cBhvr>
                                      <p:to>
                                        <p:strVal val="visible"/>
                                      </p:to>
                                    </p:set>
                                  </p:childTnLst>
                                  <p:subTnLst>
                                    <p:set>
                                      <p:cBhvr override="childStyle">
                                        <p:cTn dur="65" fill="hold" display="1" masterRel="nextClick" afterEffect="1"/>
                                        <p:tgtEl>
                                          <p:spTgt spid="9421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4"/>
                                        </p:tgtEl>
                                        <p:attrNameLst>
                                          <p:attrName>style.visibility</p:attrName>
                                        </p:attrNameLst>
                                      </p:cBhvr>
                                      <p:to>
                                        <p:strVal val="visible"/>
                                      </p:to>
                                    </p:set>
                                  </p:childTnLst>
                                  <p:subTnLst>
                                    <p:set>
                                      <p:cBhvr override="childStyle">
                                        <p:cTn dur="1" fill="hold" display="0" masterRel="nextClick" afterEffect="1"/>
                                        <p:tgtEl>
                                          <p:spTgt spid="942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94214"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dirty="0"/>
              <a:t>定义触发器</a:t>
            </a:r>
            <a:r>
              <a:rPr lang="en-US" altLang="zh-CN" dirty="0"/>
              <a:t> 2</a:t>
            </a:r>
          </a:p>
        </p:txBody>
      </p:sp>
      <p:sp>
        <p:nvSpPr>
          <p:cNvPr id="62467" name="Rectangle 3"/>
          <p:cNvSpPr>
            <a:spLocks noGrp="1" noChangeArrowheads="1"/>
          </p:cNvSpPr>
          <p:nvPr>
            <p:ph idx="1"/>
          </p:nvPr>
        </p:nvSpPr>
        <p:spPr/>
        <p:txBody>
          <a:bodyPr>
            <a:noAutofit/>
          </a:bodyPr>
          <a:lstStyle/>
          <a:p>
            <a:pPr>
              <a:lnSpc>
                <a:spcPct val="100000"/>
              </a:lnSpc>
            </a:pPr>
            <a:r>
              <a:rPr lang="zh-CN" altLang="en-US" sz="2400" dirty="0">
                <a:latin typeface="Arial" panose="020B0604020202020204" pitchFamily="34" charset="0"/>
                <a:cs typeface="Arial" panose="020B0604020202020204" pitchFamily="34" charset="0"/>
              </a:rPr>
              <a:t>表的拥有者才可以在表上创建触发器</a:t>
            </a:r>
          </a:p>
          <a:p>
            <a:pPr>
              <a:lnSpc>
                <a:spcPct val="100000"/>
              </a:lnSpc>
            </a:pPr>
            <a:r>
              <a:rPr lang="en-US" altLang="zh-CN" sz="2400" dirty="0">
                <a:solidFill>
                  <a:srgbClr val="FF0000"/>
                </a:solidFill>
                <a:latin typeface="Arial" panose="020B0604020202020204" pitchFamily="34" charset="0"/>
                <a:cs typeface="Arial" panose="020B0604020202020204" pitchFamily="34" charset="0"/>
              </a:rPr>
              <a:t>  [&lt;</a:t>
            </a:r>
            <a:r>
              <a:rPr lang="zh-CN" altLang="en-US" sz="2400" dirty="0">
                <a:solidFill>
                  <a:srgbClr val="FF0000"/>
                </a:solidFill>
                <a:latin typeface="Arial" panose="020B0604020202020204" pitchFamily="34" charset="0"/>
                <a:cs typeface="Arial" panose="020B0604020202020204" pitchFamily="34" charset="0"/>
              </a:rPr>
              <a:t>模式名</a:t>
            </a:r>
            <a:r>
              <a:rPr lang="en-US" altLang="zh-CN" sz="2400" dirty="0">
                <a:solidFill>
                  <a:srgbClr val="FF0000"/>
                </a:solidFill>
                <a:latin typeface="Arial" panose="020B0604020202020204" pitchFamily="34" charset="0"/>
                <a:cs typeface="Arial" panose="020B0604020202020204" pitchFamily="34" charset="0"/>
              </a:rPr>
              <a:t>&gt;.]&lt;</a:t>
            </a:r>
            <a:r>
              <a:rPr lang="zh-CN" altLang="en-US" sz="2400" dirty="0">
                <a:solidFill>
                  <a:srgbClr val="FF0000"/>
                </a:solidFill>
                <a:latin typeface="Arial" panose="020B0604020202020204" pitchFamily="34" charset="0"/>
                <a:cs typeface="Arial" panose="020B0604020202020204" pitchFamily="34" charset="0"/>
              </a:rPr>
              <a:t>触发器名</a:t>
            </a:r>
            <a:r>
              <a:rPr lang="en-US" altLang="zh-CN" sz="2400" dirty="0">
                <a:solidFill>
                  <a:srgbClr val="FF0000"/>
                </a:solidFill>
                <a:latin typeface="Arial" panose="020B0604020202020204" pitchFamily="34" charset="0"/>
                <a:cs typeface="Arial" panose="020B0604020202020204" pitchFamily="34" charset="0"/>
              </a:rPr>
              <a:t>&gt;</a:t>
            </a:r>
            <a:endParaRPr lang="zh-CN" altLang="en-US" sz="2400" dirty="0">
              <a:solidFill>
                <a:srgbClr val="FF0000"/>
              </a:solidFill>
              <a:latin typeface="Arial" panose="020B0604020202020204" pitchFamily="34" charset="0"/>
              <a:cs typeface="Arial" panose="020B0604020202020204" pitchFamily="34" charset="0"/>
            </a:endParaRPr>
          </a:p>
          <a:p>
            <a:pPr lvl="1">
              <a:lnSpc>
                <a:spcPct val="100000"/>
              </a:lnSpc>
            </a:pPr>
            <a:r>
              <a:rPr lang="zh-CN" altLang="en-US" sz="2400" dirty="0">
                <a:latin typeface="Arial" panose="020B0604020202020204" pitchFamily="34" charset="0"/>
                <a:cs typeface="Arial" panose="020B0604020202020204" pitchFamily="34" charset="0"/>
              </a:rPr>
              <a:t>触发器名可以包含模式名，也可以不包含模式名</a:t>
            </a:r>
          </a:p>
          <a:p>
            <a:pPr lvl="1">
              <a:lnSpc>
                <a:spcPct val="100000"/>
              </a:lnSpc>
            </a:pPr>
            <a:r>
              <a:rPr lang="zh-CN" altLang="en-US" sz="2400" dirty="0">
                <a:latin typeface="Arial" panose="020B0604020202020204" pitchFamily="34" charset="0"/>
                <a:cs typeface="Arial" panose="020B0604020202020204" pitchFamily="34" charset="0"/>
              </a:rPr>
              <a:t>同一模式下，触发器名必须是唯一的</a:t>
            </a:r>
          </a:p>
          <a:p>
            <a:pPr lvl="1">
              <a:lnSpc>
                <a:spcPct val="100000"/>
              </a:lnSpc>
            </a:pPr>
            <a:r>
              <a:rPr lang="zh-CN" altLang="en-US" sz="2400" dirty="0">
                <a:latin typeface="Arial" panose="020B0604020202020204" pitchFamily="34" charset="0"/>
                <a:cs typeface="Arial" panose="020B0604020202020204" pitchFamily="34" charset="0"/>
              </a:rPr>
              <a:t>触发器名和表名必须在同一模式下</a:t>
            </a:r>
          </a:p>
          <a:p>
            <a:pPr>
              <a:lnSpc>
                <a:spcPct val="100000"/>
              </a:lnSpc>
            </a:pPr>
            <a:r>
              <a:rPr lang="en-US" altLang="zh-CN" sz="2400" dirty="0">
                <a:solidFill>
                  <a:srgbClr val="FF0000"/>
                </a:solidFill>
                <a:latin typeface="Arial" panose="020B0604020202020204" pitchFamily="34" charset="0"/>
                <a:cs typeface="Arial" panose="020B0604020202020204" pitchFamily="34" charset="0"/>
                <a:sym typeface="+mn-ea"/>
              </a:rPr>
              <a:t>  { BEFORE | AFTER } &lt;</a:t>
            </a:r>
            <a:r>
              <a:rPr lang="zh-CN" altLang="en-US" sz="2400" dirty="0">
                <a:solidFill>
                  <a:srgbClr val="FF0000"/>
                </a:solidFill>
                <a:latin typeface="Arial" panose="020B0604020202020204" pitchFamily="34" charset="0"/>
                <a:cs typeface="Arial" panose="020B0604020202020204" pitchFamily="34" charset="0"/>
                <a:sym typeface="+mn-ea"/>
              </a:rPr>
              <a:t>触发事件</a:t>
            </a:r>
            <a:r>
              <a:rPr lang="en-US" altLang="zh-CN" sz="2400" dirty="0">
                <a:solidFill>
                  <a:srgbClr val="FF0000"/>
                </a:solidFill>
                <a:latin typeface="Arial" panose="020B0604020202020204" pitchFamily="34" charset="0"/>
                <a:cs typeface="Arial" panose="020B0604020202020204" pitchFamily="34" charset="0"/>
                <a:sym typeface="+mn-ea"/>
              </a:rPr>
              <a:t>&gt; ON &lt;</a:t>
            </a:r>
            <a:r>
              <a:rPr lang="zh-CN" altLang="en-US" sz="2400" dirty="0">
                <a:solidFill>
                  <a:srgbClr val="FF0000"/>
                </a:solidFill>
                <a:latin typeface="Arial" panose="020B0604020202020204" pitchFamily="34" charset="0"/>
                <a:cs typeface="Arial" panose="020B0604020202020204" pitchFamily="34" charset="0"/>
                <a:sym typeface="+mn-ea"/>
              </a:rPr>
              <a:t>表名</a:t>
            </a:r>
            <a:r>
              <a:rPr lang="en-US" altLang="zh-CN" sz="2400" dirty="0">
                <a:solidFill>
                  <a:srgbClr val="FF0000"/>
                </a:solidFill>
                <a:latin typeface="Arial" panose="020B0604020202020204" pitchFamily="34" charset="0"/>
                <a:cs typeface="Arial" panose="020B0604020202020204" pitchFamily="34" charset="0"/>
                <a:sym typeface="+mn-ea"/>
              </a:rPr>
              <a:t>&gt;</a:t>
            </a:r>
            <a:endParaRPr lang="zh-CN" altLang="en-US" sz="2400" dirty="0">
              <a:latin typeface="Arial" panose="020B0604020202020204" pitchFamily="34" charset="0"/>
              <a:cs typeface="Arial" panose="020B0604020202020204" pitchFamily="34" charset="0"/>
            </a:endParaRPr>
          </a:p>
          <a:p>
            <a:pPr lvl="1">
              <a:lnSpc>
                <a:spcPct val="100000"/>
              </a:lnSpc>
            </a:pPr>
            <a:r>
              <a:rPr lang="zh-CN" altLang="en-US" sz="2400" dirty="0">
                <a:latin typeface="Arial" panose="020B0604020202020204" pitchFamily="34" charset="0"/>
                <a:cs typeface="Arial" panose="020B0604020202020204" pitchFamily="34" charset="0"/>
              </a:rPr>
              <a:t>触发器只能定义在基本表上，不能定义在视图上</a:t>
            </a:r>
            <a:endParaRPr lang="en-US" altLang="zh-CN" sz="2400" dirty="0">
              <a:latin typeface="Arial" panose="020B0604020202020204" pitchFamily="34" charset="0"/>
              <a:cs typeface="Arial" panose="020B0604020202020204" pitchFamily="34" charset="0"/>
            </a:endParaRPr>
          </a:p>
          <a:p>
            <a:pPr lvl="1">
              <a:lnSpc>
                <a:spcPct val="100000"/>
              </a:lnSpc>
            </a:pPr>
            <a:r>
              <a:rPr lang="zh-CN" altLang="en-US" sz="2400" dirty="0">
                <a:latin typeface="Arial" panose="020B0604020202020204" pitchFamily="34" charset="0"/>
                <a:cs typeface="Arial" panose="020B0604020202020204" pitchFamily="34" charset="0"/>
              </a:rPr>
              <a:t>当基本表的数据发生变化时，将激活定义在该表上相应触发事件的触发器</a:t>
            </a:r>
            <a:endParaRPr lang="en-US" altLang="zh-CN" sz="2400" dirty="0">
              <a:latin typeface="Arial" panose="020B0604020202020204" pitchFamily="34" charset="0"/>
              <a:cs typeface="Arial" panose="020B0604020202020204" pitchFamily="34" charset="0"/>
            </a:endParaRPr>
          </a:p>
          <a:p>
            <a:pPr lvl="1">
              <a:lnSpc>
                <a:spcPct val="100000"/>
              </a:lnSpc>
              <a:spcBef>
                <a:spcPts val="1500"/>
              </a:spcBef>
            </a:pPr>
            <a:r>
              <a:rPr lang="zh-CN" altLang="en-US" sz="2400" dirty="0">
                <a:latin typeface="Arial" panose="020B0604020202020204" pitchFamily="34" charset="0"/>
                <a:cs typeface="Arial" panose="020B0604020202020204" pitchFamily="34" charset="0"/>
              </a:rPr>
              <a:t>触发事件可以是</a:t>
            </a:r>
            <a:r>
              <a:rPr lang="en-US" altLang="zh-CN" sz="2400" dirty="0">
                <a:latin typeface="Arial" panose="020B0604020202020204" pitchFamily="34" charset="0"/>
                <a:cs typeface="Arial" panose="020B0604020202020204" pitchFamily="34" charset="0"/>
              </a:rPr>
              <a:t>INSERT</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DELETE</a:t>
            </a:r>
            <a:r>
              <a:rPr lang="zh-CN" altLang="en-US" sz="2400" dirty="0">
                <a:latin typeface="Arial" panose="020B0604020202020204" pitchFamily="34" charset="0"/>
                <a:cs typeface="Arial" panose="020B0604020202020204" pitchFamily="34" charset="0"/>
              </a:rPr>
              <a:t>或</a:t>
            </a:r>
            <a:r>
              <a:rPr lang="en-US" altLang="zh-CN" sz="2400" dirty="0">
                <a:latin typeface="Arial" panose="020B0604020202020204" pitchFamily="34" charset="0"/>
                <a:cs typeface="Arial" panose="020B0604020202020204" pitchFamily="34" charset="0"/>
              </a:rPr>
              <a:t>UPDATE</a:t>
            </a:r>
            <a:r>
              <a:rPr lang="zh-CN" altLang="en-US" sz="2400" dirty="0">
                <a:latin typeface="Arial" panose="020B0604020202020204" pitchFamily="34" charset="0"/>
                <a:cs typeface="Arial" panose="020B0604020202020204" pitchFamily="34" charset="0"/>
              </a:rPr>
              <a:t>，也可以是这几个事件的组合</a:t>
            </a:r>
          </a:p>
          <a:p>
            <a:pPr lvl="1">
              <a:lnSpc>
                <a:spcPct val="100000"/>
              </a:lnSpc>
            </a:pPr>
            <a:r>
              <a:rPr lang="zh-CN" altLang="en-US" sz="2400" dirty="0">
                <a:latin typeface="Arial" panose="020B0604020202020204" pitchFamily="34" charset="0"/>
                <a:cs typeface="Arial" panose="020B0604020202020204" pitchFamily="34" charset="0"/>
                <a:sym typeface="+mn-ea"/>
              </a:rPr>
              <a:t>触发事件也</a:t>
            </a:r>
            <a:r>
              <a:rPr lang="zh-CN" altLang="en-US" sz="2400" dirty="0">
                <a:latin typeface="Arial" panose="020B0604020202020204" pitchFamily="34" charset="0"/>
                <a:cs typeface="Arial" panose="020B0604020202020204" pitchFamily="34" charset="0"/>
              </a:rPr>
              <a:t>可以是</a:t>
            </a:r>
            <a:r>
              <a:rPr lang="en-US" altLang="zh-CN" sz="2400" dirty="0">
                <a:latin typeface="Arial" panose="020B0604020202020204" pitchFamily="34" charset="0"/>
                <a:cs typeface="Arial" panose="020B0604020202020204" pitchFamily="34" charset="0"/>
              </a:rPr>
              <a:t>UPDATE OF &lt;</a:t>
            </a:r>
            <a:r>
              <a:rPr lang="zh-CN" altLang="en-US" sz="2400" dirty="0">
                <a:latin typeface="Arial" panose="020B0604020202020204" pitchFamily="34" charset="0"/>
                <a:cs typeface="Arial" panose="020B0604020202020204" pitchFamily="34" charset="0"/>
              </a:rPr>
              <a:t>列名</a:t>
            </a:r>
            <a:r>
              <a:rPr lang="en-US" altLang="zh-CN" sz="2400" dirty="0">
                <a:latin typeface="Arial" panose="020B0604020202020204" pitchFamily="34" charset="0"/>
                <a:cs typeface="Arial" panose="020B0604020202020204" pitchFamily="34" charset="0"/>
              </a:rPr>
              <a:t>&gt;[, </a:t>
            </a:r>
            <a:r>
              <a:rPr lang="en-US" altLang="zh-CN" sz="2400" dirty="0">
                <a:latin typeface="Arial" panose="020B0604020202020204" pitchFamily="34" charset="0"/>
                <a:cs typeface="Arial" panose="020B0604020202020204" pitchFamily="34" charset="0"/>
                <a:sym typeface="+mn-ea"/>
              </a:rPr>
              <a:t>&lt;</a:t>
            </a:r>
            <a:r>
              <a:rPr lang="zh-CN" altLang="en-US" sz="2400" dirty="0">
                <a:latin typeface="Arial" panose="020B0604020202020204" pitchFamily="34" charset="0"/>
                <a:cs typeface="Arial" panose="020B0604020202020204" pitchFamily="34" charset="0"/>
                <a:sym typeface="+mn-ea"/>
              </a:rPr>
              <a:t>列名</a:t>
            </a:r>
            <a:r>
              <a:rPr lang="en-US" altLang="zh-CN" sz="2400" dirty="0">
                <a:latin typeface="Arial" panose="020B0604020202020204" pitchFamily="34" charset="0"/>
                <a:cs typeface="Arial" panose="020B0604020202020204" pitchFamily="34" charset="0"/>
                <a:sym typeface="+mn-ea"/>
              </a:rPr>
              <a:t>&gt;</a:t>
            </a:r>
            <a:r>
              <a:rPr lang="en-US" altLang="zh-CN"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sym typeface="+mn-ea"/>
              </a:rPr>
              <a:t>...</a:t>
            </a:r>
            <a:r>
              <a:rPr lang="zh-CN" altLang="en-US" sz="2400" dirty="0">
                <a:latin typeface="Arial" panose="020B0604020202020204" pitchFamily="34" charset="0"/>
                <a:cs typeface="Arial" panose="020B0604020202020204" pitchFamily="34" charset="0"/>
              </a:rPr>
              <a:t>，即进一步指明修改哪些列时激活触发器</a:t>
            </a:r>
            <a:endParaRPr lang="en-US" altLang="en-US" sz="2400" dirty="0">
              <a:latin typeface="Arial" panose="020B0604020202020204" pitchFamily="34" charset="0"/>
              <a:cs typeface="Arial" panose="020B0604020202020204" pitchFamily="34" charset="0"/>
            </a:endParaRPr>
          </a:p>
          <a:p>
            <a:pPr lvl="1">
              <a:lnSpc>
                <a:spcPct val="100000"/>
              </a:lnSpc>
              <a:spcBef>
                <a:spcPts val="1500"/>
              </a:spcBef>
            </a:pPr>
            <a:r>
              <a:rPr lang="en-US" altLang="zh-CN" sz="2400" dirty="0">
                <a:latin typeface="Arial" panose="020B0604020202020204" pitchFamily="34" charset="0"/>
                <a:cs typeface="Arial" panose="020B0604020202020204" pitchFamily="34" charset="0"/>
              </a:rPr>
              <a:t>AFTER/BEFORE</a:t>
            </a:r>
            <a:r>
              <a:rPr lang="zh-CN" altLang="en-US" sz="2400" dirty="0">
                <a:latin typeface="Arial" panose="020B0604020202020204" pitchFamily="34" charset="0"/>
                <a:cs typeface="Arial" panose="020B0604020202020204" pitchFamily="34" charset="0"/>
              </a:rPr>
              <a:t>是触发的时机</a:t>
            </a:r>
            <a:endParaRPr lang="en-US" altLang="en-US" sz="2400" dirty="0">
              <a:latin typeface="Arial" panose="020B0604020202020204" pitchFamily="34" charset="0"/>
              <a:cs typeface="Arial" panose="020B0604020202020204" pitchFamily="34" charset="0"/>
            </a:endParaRPr>
          </a:p>
          <a:p>
            <a:pPr lvl="2">
              <a:lnSpc>
                <a:spcPct val="100000"/>
              </a:lnSpc>
            </a:pPr>
            <a:r>
              <a:rPr lang="en-US" altLang="zh-CN" sz="2400" dirty="0">
                <a:latin typeface="Arial" panose="020B0604020202020204" pitchFamily="34" charset="0"/>
                <a:cs typeface="Arial" panose="020B0604020202020204" pitchFamily="34" charset="0"/>
              </a:rPr>
              <a:t>AFTER</a:t>
            </a:r>
            <a:r>
              <a:rPr lang="zh-CN" altLang="en-US" sz="2400" dirty="0">
                <a:latin typeface="Arial" panose="020B0604020202020204" pitchFamily="34" charset="0"/>
                <a:cs typeface="Arial" panose="020B0604020202020204" pitchFamily="34" charset="0"/>
              </a:rPr>
              <a:t>表示在触发事件的操作执行之后激活触发器</a:t>
            </a:r>
            <a:endParaRPr lang="en-US" altLang="zh-CN" sz="2400" dirty="0">
              <a:latin typeface="Arial" panose="020B0604020202020204" pitchFamily="34" charset="0"/>
              <a:cs typeface="Arial" panose="020B0604020202020204" pitchFamily="34" charset="0"/>
            </a:endParaRPr>
          </a:p>
          <a:p>
            <a:pPr lvl="2">
              <a:lnSpc>
                <a:spcPct val="100000"/>
              </a:lnSpc>
            </a:pPr>
            <a:r>
              <a:rPr lang="en-US" altLang="zh-CN" sz="2400" dirty="0">
                <a:latin typeface="Arial" panose="020B0604020202020204" pitchFamily="34" charset="0"/>
                <a:cs typeface="Arial" panose="020B0604020202020204" pitchFamily="34" charset="0"/>
              </a:rPr>
              <a:t>BEFORE</a:t>
            </a:r>
            <a:r>
              <a:rPr lang="zh-CN" altLang="en-US" sz="2400" dirty="0">
                <a:latin typeface="Arial" panose="020B0604020202020204" pitchFamily="34" charset="0"/>
                <a:cs typeface="Arial" panose="020B0604020202020204" pitchFamily="34" charset="0"/>
              </a:rPr>
              <a:t>表示在触发事件的操作执行之前激活触发器</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62</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7">
                                            <p:txEl>
                                              <p:pRg st="5" end="5"/>
                                            </p:txEl>
                                          </p:spTgt>
                                        </p:tgtEl>
                                        <p:attrNameLst>
                                          <p:attrName>style.visibility</p:attrName>
                                        </p:attrNameLst>
                                      </p:cBhvr>
                                      <p:to>
                                        <p:strVal val="visible"/>
                                      </p:to>
                                    </p:set>
                                    <p:anim calcmode="lin" valueType="num">
                                      <p:cBhvr additive="base">
                                        <p:cTn id="7" dur="500" fill="hold"/>
                                        <p:tgtEl>
                                          <p:spTgt spid="6246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467">
                                            <p:txEl>
                                              <p:pRg st="6" end="6"/>
                                            </p:txEl>
                                          </p:spTgt>
                                        </p:tgtEl>
                                        <p:attrNameLst>
                                          <p:attrName>style.visibility</p:attrName>
                                        </p:attrNameLst>
                                      </p:cBhvr>
                                      <p:to>
                                        <p:strVal val="visible"/>
                                      </p:to>
                                    </p:set>
                                    <p:anim calcmode="lin" valueType="num">
                                      <p:cBhvr additive="base">
                                        <p:cTn id="11" dur="500" fill="hold"/>
                                        <p:tgtEl>
                                          <p:spTgt spid="6246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467">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467">
                                            <p:txEl>
                                              <p:pRg st="7" end="7"/>
                                            </p:txEl>
                                          </p:spTgt>
                                        </p:tgtEl>
                                        <p:attrNameLst>
                                          <p:attrName>style.visibility</p:attrName>
                                        </p:attrNameLst>
                                      </p:cBhvr>
                                      <p:to>
                                        <p:strVal val="visible"/>
                                      </p:to>
                                    </p:set>
                                    <p:anim calcmode="lin" valueType="num">
                                      <p:cBhvr additive="base">
                                        <p:cTn id="15" dur="500" fill="hold"/>
                                        <p:tgtEl>
                                          <p:spTgt spid="62467">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467">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467">
                                            <p:txEl>
                                              <p:pRg st="8" end="8"/>
                                            </p:txEl>
                                          </p:spTgt>
                                        </p:tgtEl>
                                        <p:attrNameLst>
                                          <p:attrName>style.visibility</p:attrName>
                                        </p:attrNameLst>
                                      </p:cBhvr>
                                      <p:to>
                                        <p:strVal val="visible"/>
                                      </p:to>
                                    </p:set>
                                    <p:anim calcmode="lin" valueType="num">
                                      <p:cBhvr additive="base">
                                        <p:cTn id="19" dur="500" fill="hold"/>
                                        <p:tgtEl>
                                          <p:spTgt spid="6246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2467">
                                            <p:txEl>
                                              <p:pRg st="9" end="9"/>
                                            </p:txEl>
                                          </p:spTgt>
                                        </p:tgtEl>
                                        <p:attrNameLst>
                                          <p:attrName>style.visibility</p:attrName>
                                        </p:attrNameLst>
                                      </p:cBhvr>
                                      <p:to>
                                        <p:strVal val="visible"/>
                                      </p:to>
                                    </p:set>
                                    <p:anim calcmode="lin" valueType="num">
                                      <p:cBhvr additive="base">
                                        <p:cTn id="23" dur="500" fill="hold"/>
                                        <p:tgtEl>
                                          <p:spTgt spid="62467">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2467">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2467">
                                            <p:txEl>
                                              <p:pRg st="10" end="10"/>
                                            </p:txEl>
                                          </p:spTgt>
                                        </p:tgtEl>
                                        <p:attrNameLst>
                                          <p:attrName>style.visibility</p:attrName>
                                        </p:attrNameLst>
                                      </p:cBhvr>
                                      <p:to>
                                        <p:strVal val="visible"/>
                                      </p:to>
                                    </p:set>
                                    <p:anim calcmode="lin" valueType="num">
                                      <p:cBhvr additive="base">
                                        <p:cTn id="27" dur="500" fill="hold"/>
                                        <p:tgtEl>
                                          <p:spTgt spid="62467">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2467">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2467">
                                            <p:txEl>
                                              <p:pRg st="11" end="11"/>
                                            </p:txEl>
                                          </p:spTgt>
                                        </p:tgtEl>
                                        <p:attrNameLst>
                                          <p:attrName>style.visibility</p:attrName>
                                        </p:attrNameLst>
                                      </p:cBhvr>
                                      <p:to>
                                        <p:strVal val="visible"/>
                                      </p:to>
                                    </p:set>
                                    <p:anim calcmode="lin" valueType="num">
                                      <p:cBhvr additive="base">
                                        <p:cTn id="31" dur="500" fill="hold"/>
                                        <p:tgtEl>
                                          <p:spTgt spid="62467">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467">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2467">
                                            <p:txEl>
                                              <p:pRg st="12" end="12"/>
                                            </p:txEl>
                                          </p:spTgt>
                                        </p:tgtEl>
                                        <p:attrNameLst>
                                          <p:attrName>style.visibility</p:attrName>
                                        </p:attrNameLst>
                                      </p:cBhvr>
                                      <p:to>
                                        <p:strVal val="visible"/>
                                      </p:to>
                                    </p:set>
                                    <p:anim calcmode="lin" valueType="num">
                                      <p:cBhvr additive="base">
                                        <p:cTn id="35" dur="500" fill="hold"/>
                                        <p:tgtEl>
                                          <p:spTgt spid="62467">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246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p:cNvSpPr>
          <p:nvPr>
            <p:ph type="title"/>
          </p:nvPr>
        </p:nvSpPr>
        <p:spPr/>
        <p:txBody>
          <a:bodyPr wrap="square" tIns="0" bIns="0" anchor="ctr"/>
          <a:lstStyle/>
          <a:p>
            <a:pPr eaLnBrk="1" hangingPunct="1"/>
            <a:r>
              <a:rPr lang="zh-CN" altLang="en-US" dirty="0">
                <a:sym typeface="+mn-ea"/>
              </a:rPr>
              <a:t>定义触发器</a:t>
            </a:r>
            <a:r>
              <a:rPr lang="en-US" altLang="zh-CN" dirty="0">
                <a:sym typeface="+mn-ea"/>
              </a:rPr>
              <a:t> 4</a:t>
            </a:r>
            <a:endParaRPr lang="zh-CN" altLang="en-US"/>
          </a:p>
        </p:txBody>
      </p:sp>
      <p:sp>
        <p:nvSpPr>
          <p:cNvPr id="96260" name="Rectangle 3"/>
          <p:cNvSpPr>
            <a:spLocks noGrp="1"/>
          </p:cNvSpPr>
          <p:nvPr>
            <p:ph idx="1"/>
          </p:nvPr>
        </p:nvSpPr>
        <p:spPr/>
        <p:txBody>
          <a:bodyPr wrap="square" anchor="t"/>
          <a:lstStyle/>
          <a:p>
            <a:pPr eaLnBrk="1" hangingPunct="1"/>
            <a:r>
              <a:rPr lang="zh-CN" altLang="en-US" dirty="0"/>
              <a:t>触发器的定义命令（续）</a:t>
            </a:r>
            <a:endParaRPr lang="en-US" altLang="zh-CN" dirty="0"/>
          </a:p>
        </p:txBody>
      </p:sp>
      <p:sp>
        <p:nvSpPr>
          <p:cNvPr id="96261" name="Text Box 5"/>
          <p:cNvSpPr txBox="1"/>
          <p:nvPr/>
        </p:nvSpPr>
        <p:spPr>
          <a:xfrm>
            <a:off x="424180" y="1447800"/>
            <a:ext cx="11343640" cy="706120"/>
          </a:xfrm>
          <a:prstGeom prst="rect">
            <a:avLst/>
          </a:prstGeom>
          <a:noFill/>
          <a:ln w="9525">
            <a:noFill/>
          </a:ln>
        </p:spPr>
        <p:txBody>
          <a:bodyPr wrap="square" lIns="252095" bIns="144145" anchor="t">
            <a:spAutoFit/>
          </a:bodyPr>
          <a:lstStyle/>
          <a:p>
            <a:pPr>
              <a:lnSpc>
                <a:spcPct val="120000"/>
              </a:lnSpc>
              <a:spcBef>
                <a:spcPct val="20000"/>
              </a:spcBef>
              <a:buClr>
                <a:schemeClr val="accent2"/>
              </a:buClr>
              <a:buFont typeface="Wingdings" panose="05000000000000000000" pitchFamily="2" charset="2"/>
            </a:pPr>
            <a:r>
              <a:rPr lang="en-US" altLang="zh-CN" sz="2800" b="1" dirty="0">
                <a:solidFill>
                  <a:srgbClr val="0000C8"/>
                </a:solidFill>
                <a:latin typeface="Arial" panose="020B0604020202020204" pitchFamily="34" charset="0"/>
              </a:rPr>
              <a:t>The </a:t>
            </a:r>
            <a:r>
              <a:rPr lang="en-US" altLang="zh-CN" sz="2800" b="1" dirty="0">
                <a:solidFill>
                  <a:srgbClr val="FF0000"/>
                </a:solidFill>
                <a:latin typeface="Arial" panose="020B0604020202020204" pitchFamily="34" charset="0"/>
              </a:rPr>
              <a:t>corr_name_def </a:t>
            </a:r>
            <a:r>
              <a:rPr lang="en-US" altLang="zh-CN" sz="2800" b="1" dirty="0">
                <a:solidFill>
                  <a:srgbClr val="0000C8"/>
                </a:solidFill>
                <a:latin typeface="Arial" panose="020B0604020202020204" pitchFamily="34" charset="0"/>
              </a:rPr>
              <a:t>that defines a correlation name follows:</a:t>
            </a:r>
          </a:p>
        </p:txBody>
      </p:sp>
      <p:sp>
        <p:nvSpPr>
          <p:cNvPr id="2" name="Text Box 5"/>
          <p:cNvSpPr txBox="1"/>
          <p:nvPr/>
        </p:nvSpPr>
        <p:spPr>
          <a:xfrm>
            <a:off x="424180" y="2493010"/>
            <a:ext cx="11343640" cy="3117215"/>
          </a:xfrm>
          <a:prstGeom prst="rect">
            <a:avLst/>
          </a:prstGeom>
          <a:solidFill>
            <a:schemeClr val="bg1"/>
          </a:solidFill>
          <a:ln w="9525">
            <a:solidFill>
              <a:schemeClr val="accent1"/>
            </a:solidFill>
          </a:ln>
        </p:spPr>
        <p:txBody>
          <a:bodyPr wrap="square" lIns="252095" bIns="144145" anchor="t">
            <a:spAutoFit/>
          </a:bodyPr>
          <a:lstStyle/>
          <a:p>
            <a:pPr lvl="1" indent="0" algn="l" eaLnBrk="1" hangingPunct="1">
              <a:lnSpc>
                <a:spcPct val="120000"/>
              </a:lnSpc>
              <a:spcBef>
                <a:spcPct val="20000"/>
              </a:spcBef>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OLD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ROW </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AS </a:t>
            </a: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old_row_corr_name</a:t>
            </a:r>
          </a:p>
          <a:p>
            <a:pPr lvl="2" indent="0" algn="l" eaLnBrk="1" hangingPunct="1">
              <a:lnSpc>
                <a:spcPct val="120000"/>
              </a:lnSpc>
              <a:spcBef>
                <a:spcPct val="20000"/>
              </a:spcBef>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NEW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ROW </a:t>
            </a:r>
            <a:r>
              <a:rPr lang="en-US" altLang="zh-CN" sz="2800" b="1" dirty="0">
                <a:solidFill>
                  <a:srgbClr val="FF0066"/>
                </a:solidFill>
                <a:latin typeface="Arial" panose="020B0604020202020204" pitchFamily="34" charset="0"/>
              </a:rPr>
              <a:t>] [ </a:t>
            </a:r>
            <a:r>
              <a:rPr lang="en-US" altLang="zh-CN" sz="2800" b="1" dirty="0">
                <a:solidFill>
                  <a:srgbClr val="C00000"/>
                </a:solidFill>
                <a:latin typeface="Arial" panose="020B0604020202020204" pitchFamily="34" charset="0"/>
              </a:rPr>
              <a:t>AS </a:t>
            </a: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new_row_corr_name</a:t>
            </a:r>
          </a:p>
          <a:p>
            <a:pPr lvl="2" indent="0" algn="l" eaLnBrk="1" hangingPunct="1">
              <a:lnSpc>
                <a:spcPct val="120000"/>
              </a:lnSpc>
              <a:spcBef>
                <a:spcPct val="20000"/>
              </a:spcBef>
              <a:buClr>
                <a:schemeClr val="accent2"/>
              </a:buClr>
              <a:buFont typeface="Wingdings" panose="05000000000000000000" pitchFamily="2" charset="2"/>
              <a:buNone/>
            </a:pPr>
            <a:endParaRPr lang="en-US" altLang="zh-CN" sz="2800" b="1" dirty="0">
              <a:latin typeface="Arial" panose="020B0604020202020204" pitchFamily="34" charset="0"/>
            </a:endParaRPr>
          </a:p>
          <a:p>
            <a:pPr lvl="2" indent="0" algn="l" eaLnBrk="1" hangingPunct="1">
              <a:lnSpc>
                <a:spcPct val="120000"/>
              </a:lnSpc>
              <a:spcBef>
                <a:spcPct val="20000"/>
              </a:spcBef>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OLD TABLE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AS </a:t>
            </a: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old_table_corr_name</a:t>
            </a:r>
          </a:p>
          <a:p>
            <a:pPr lvl="2" indent="0" algn="l" eaLnBrk="1" hangingPunct="1">
              <a:lnSpc>
                <a:spcPct val="120000"/>
              </a:lnSpc>
              <a:spcBef>
                <a:spcPct val="20000"/>
              </a:spcBef>
              <a:buClr>
                <a:schemeClr val="accent2"/>
              </a:buClr>
              <a:buFont typeface="Wingdings" panose="05000000000000000000" pitchFamily="2" charset="2"/>
              <a:buNone/>
            </a:pP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NEW TABLE </a:t>
            </a:r>
            <a:r>
              <a:rPr lang="en-US" altLang="zh-CN" sz="2800" b="1" dirty="0">
                <a:solidFill>
                  <a:srgbClr val="FF0066"/>
                </a:solidFill>
                <a:latin typeface="Arial" panose="020B0604020202020204" pitchFamily="34" charset="0"/>
              </a:rPr>
              <a:t>[ </a:t>
            </a:r>
            <a:r>
              <a:rPr lang="en-US" altLang="zh-CN" sz="2800" b="1" dirty="0">
                <a:solidFill>
                  <a:srgbClr val="C00000"/>
                </a:solidFill>
                <a:latin typeface="Arial" panose="020B0604020202020204" pitchFamily="34" charset="0"/>
              </a:rPr>
              <a:t>AS </a:t>
            </a:r>
            <a:r>
              <a:rPr lang="en-US" altLang="zh-CN" sz="2800" b="1" dirty="0">
                <a:solidFill>
                  <a:srgbClr val="FF0066"/>
                </a:solidFill>
                <a:latin typeface="Arial" panose="020B0604020202020204" pitchFamily="34" charset="0"/>
              </a:rPr>
              <a:t>] </a:t>
            </a:r>
            <a:r>
              <a:rPr lang="en-US" altLang="zh-CN" sz="2800" b="1" dirty="0">
                <a:latin typeface="Arial" panose="020B0604020202020204" pitchFamily="34" charset="0"/>
              </a:rPr>
              <a:t>new_table_corr_name</a:t>
            </a:r>
            <a:r>
              <a:rPr lang="en-US" altLang="zh-CN" sz="2800" b="1" dirty="0">
                <a:solidFill>
                  <a:srgbClr val="FF0066"/>
                </a:solidFill>
                <a:latin typeface="Arial" panose="020B0604020202020204" pitchFamily="34" charset="0"/>
              </a:rPr>
              <a:t>    }</a:t>
            </a:r>
          </a:p>
        </p:txBody>
      </p:sp>
      <p:sp>
        <p:nvSpPr>
          <p:cNvPr id="5" name="灯片编号占位符 4"/>
          <p:cNvSpPr>
            <a:spLocks noGrp="1"/>
          </p:cNvSpPr>
          <p:nvPr>
            <p:ph type="sldNum" sz="quarter" idx="12"/>
          </p:nvPr>
        </p:nvSpPr>
        <p:spPr/>
        <p:txBody>
          <a:bodyPr/>
          <a:lstStyle/>
          <a:p>
            <a:fld id="{565CE74E-AB26-4998-AD42-012C4C1AD076}" type="slidenum">
              <a:rPr lang="zh-CN" altLang="en-US" smtClean="0"/>
              <a:t>63</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dirty="0"/>
              <a:t>定义触发器</a:t>
            </a:r>
            <a:r>
              <a:rPr lang="en-US" altLang="zh-CN" dirty="0"/>
              <a:t> 3</a:t>
            </a:r>
          </a:p>
        </p:txBody>
      </p:sp>
      <p:sp>
        <p:nvSpPr>
          <p:cNvPr id="9" name="内容占位符 8"/>
          <p:cNvSpPr>
            <a:spLocks noGrp="1"/>
          </p:cNvSpPr>
          <p:nvPr>
            <p:ph idx="1"/>
          </p:nvPr>
        </p:nvSpPr>
        <p:spPr/>
        <p:txBody>
          <a:bodyPr>
            <a:noAutofit/>
          </a:bodyPr>
          <a:lstStyle/>
          <a:p>
            <a:pPr>
              <a:lnSpc>
                <a:spcPct val="100000"/>
              </a:lnSpc>
              <a:spcBef>
                <a:spcPct val="0"/>
              </a:spcBef>
            </a:pPr>
            <a:r>
              <a:rPr lang="zh-CN" altLang="en-US" sz="2400" dirty="0">
                <a:solidFill>
                  <a:srgbClr val="C00000"/>
                </a:solidFill>
                <a:latin typeface="Arial" panose="020B0604020202020204" pitchFamily="34" charset="0"/>
                <a:cs typeface="Arial" panose="020B0604020202020204" pitchFamily="34" charset="0"/>
              </a:rPr>
              <a:t>触发器类型</a:t>
            </a:r>
          </a:p>
          <a:p>
            <a:pPr lvl="1">
              <a:lnSpc>
                <a:spcPct val="100000"/>
              </a:lnSpc>
              <a:spcBef>
                <a:spcPct val="0"/>
              </a:spcBef>
            </a:pPr>
            <a:r>
              <a:rPr lang="zh-CN" altLang="en-US" sz="2400" dirty="0">
                <a:latin typeface="Arial" panose="020B0604020202020204" pitchFamily="34" charset="0"/>
                <a:cs typeface="Arial" panose="020B0604020202020204" pitchFamily="34" charset="0"/>
              </a:rPr>
              <a:t>行级触发器（</a:t>
            </a:r>
            <a:r>
              <a:rPr lang="en-US" altLang="zh-CN" sz="2400" dirty="0">
                <a:solidFill>
                  <a:srgbClr val="FF0000"/>
                </a:solidFill>
                <a:latin typeface="Arial" panose="020B0604020202020204" pitchFamily="34" charset="0"/>
                <a:cs typeface="Arial" panose="020B0604020202020204" pitchFamily="34" charset="0"/>
              </a:rPr>
              <a:t>FOR EACH ROW</a:t>
            </a:r>
            <a:r>
              <a:rPr lang="zh-CN" altLang="en-US" sz="2400" dirty="0">
                <a:latin typeface="Arial" panose="020B0604020202020204" pitchFamily="34" charset="0"/>
                <a:cs typeface="Arial" panose="020B0604020202020204" pitchFamily="34" charset="0"/>
              </a:rPr>
              <a:t>）</a:t>
            </a:r>
          </a:p>
          <a:p>
            <a:pPr lvl="1">
              <a:lnSpc>
                <a:spcPct val="100000"/>
              </a:lnSpc>
              <a:spcBef>
                <a:spcPct val="0"/>
              </a:spcBef>
            </a:pPr>
            <a:r>
              <a:rPr lang="zh-CN" altLang="en-US" sz="2400" dirty="0">
                <a:latin typeface="Arial" panose="020B0604020202020204" pitchFamily="34" charset="0"/>
                <a:cs typeface="Arial" panose="020B0604020202020204" pitchFamily="34" charset="0"/>
              </a:rPr>
              <a:t>语句级触发器（</a:t>
            </a:r>
            <a:r>
              <a:rPr lang="en-US" altLang="zh-CN" sz="2400" dirty="0">
                <a:solidFill>
                  <a:srgbClr val="FF0000"/>
                </a:solidFill>
                <a:latin typeface="Arial" panose="020B0604020202020204" pitchFamily="34" charset="0"/>
                <a:cs typeface="Arial" panose="020B0604020202020204" pitchFamily="34" charset="0"/>
              </a:rPr>
              <a:t>FOR EACH STATEMENT</a:t>
            </a:r>
            <a:r>
              <a:rPr lang="zh-CN" altLang="en-US" sz="2400" dirty="0">
                <a:latin typeface="Arial" panose="020B0604020202020204" pitchFamily="34" charset="0"/>
                <a:cs typeface="Arial" panose="020B0604020202020204" pitchFamily="34" charset="0"/>
              </a:rPr>
              <a:t>） </a:t>
            </a:r>
          </a:p>
          <a:p>
            <a:pPr lvl="1">
              <a:lnSpc>
                <a:spcPct val="100000"/>
              </a:lnSpc>
              <a:spcBef>
                <a:spcPct val="0"/>
              </a:spcBef>
            </a:pPr>
            <a:endParaRPr lang="en-US" altLang="zh-CN" sz="2400" dirty="0">
              <a:latin typeface="Arial" panose="020B0604020202020204" pitchFamily="34" charset="0"/>
              <a:cs typeface="Arial" panose="020B0604020202020204" pitchFamily="34" charset="0"/>
            </a:endParaRPr>
          </a:p>
          <a:p>
            <a:pPr>
              <a:lnSpc>
                <a:spcPct val="100000"/>
              </a:lnSpc>
              <a:spcBef>
                <a:spcPct val="0"/>
              </a:spcBef>
            </a:pPr>
            <a:r>
              <a:rPr lang="zh-CN" altLang="en-US" sz="2400" dirty="0">
                <a:solidFill>
                  <a:srgbClr val="C00000"/>
                </a:solidFill>
                <a:latin typeface="Arial" panose="020B0604020202020204" pitchFamily="34" charset="0"/>
                <a:cs typeface="Arial" panose="020B0604020202020204" pitchFamily="34" charset="0"/>
              </a:rPr>
              <a:t>触发条件</a:t>
            </a:r>
            <a:endParaRPr lang="zh-CN" altLang="en-US" sz="2400" dirty="0">
              <a:latin typeface="Arial" panose="020B0604020202020204" pitchFamily="34" charset="0"/>
              <a:cs typeface="Arial" panose="020B0604020202020204" pitchFamily="34" charset="0"/>
            </a:endParaRPr>
          </a:p>
          <a:p>
            <a:pPr lvl="1">
              <a:lnSpc>
                <a:spcPct val="100000"/>
              </a:lnSpc>
              <a:spcBef>
                <a:spcPct val="0"/>
              </a:spcBef>
            </a:pPr>
            <a:r>
              <a:rPr lang="zh-CN" altLang="en-US" sz="2400" dirty="0">
                <a:latin typeface="Arial" panose="020B0604020202020204" pitchFamily="34" charset="0"/>
                <a:cs typeface="Arial" panose="020B0604020202020204" pitchFamily="34" charset="0"/>
              </a:rPr>
              <a:t>触发器被激活时，只有当</a:t>
            </a:r>
            <a:r>
              <a:rPr lang="en-US" altLang="zh-CN" sz="2400" dirty="0">
                <a:solidFill>
                  <a:srgbClr val="FF0000"/>
                </a:solidFill>
                <a:latin typeface="Arial" panose="020B0604020202020204" pitchFamily="34" charset="0"/>
                <a:cs typeface="Arial" panose="020B0604020202020204" pitchFamily="34" charset="0"/>
              </a:rPr>
              <a:t>&lt;</a:t>
            </a:r>
            <a:r>
              <a:rPr lang="zh-CN" altLang="en-US" sz="2400" dirty="0">
                <a:solidFill>
                  <a:srgbClr val="FF0000"/>
                </a:solidFill>
                <a:latin typeface="Arial" panose="020B0604020202020204" pitchFamily="34" charset="0"/>
                <a:cs typeface="Arial" panose="020B0604020202020204" pitchFamily="34" charset="0"/>
              </a:rPr>
              <a:t>触发条件</a:t>
            </a:r>
            <a:r>
              <a:rPr lang="en-US" altLang="zh-CN" sz="2400" dirty="0">
                <a:solidFill>
                  <a:srgbClr val="FF0000"/>
                </a:solidFill>
                <a:latin typeface="Arial" panose="020B0604020202020204" pitchFamily="34" charset="0"/>
                <a:cs typeface="Arial" panose="020B0604020202020204" pitchFamily="34" charset="0"/>
              </a:rPr>
              <a:t>&gt;</a:t>
            </a:r>
            <a:r>
              <a:rPr lang="zh-CN" altLang="en-US" sz="2400" dirty="0">
                <a:latin typeface="Arial" panose="020B0604020202020204" pitchFamily="34" charset="0"/>
                <a:cs typeface="Arial" panose="020B0604020202020204" pitchFamily="34" charset="0"/>
              </a:rPr>
              <a:t>为真时</a:t>
            </a:r>
            <a:r>
              <a:rPr lang="zh-CN" altLang="en-US" sz="2400" dirty="0">
                <a:latin typeface="Arial" panose="020B0604020202020204" pitchFamily="34" charset="0"/>
                <a:cs typeface="Arial" panose="020B0604020202020204" pitchFamily="34" charset="0"/>
                <a:sym typeface="+mn-ea"/>
              </a:rPr>
              <a:t>才执行</a:t>
            </a:r>
            <a:r>
              <a:rPr lang="en-US" altLang="zh-CN" sz="2400" dirty="0">
                <a:solidFill>
                  <a:srgbClr val="FF0000"/>
                </a:solidFill>
                <a:latin typeface="Arial" panose="020B0604020202020204" pitchFamily="34" charset="0"/>
                <a:cs typeface="Arial" panose="020B0604020202020204" pitchFamily="34" charset="0"/>
                <a:sym typeface="+mn-ea"/>
              </a:rPr>
              <a:t>&lt;</a:t>
            </a:r>
            <a:r>
              <a:rPr lang="zh-CN" altLang="en-US" sz="2400" dirty="0">
                <a:solidFill>
                  <a:srgbClr val="FF0000"/>
                </a:solidFill>
                <a:latin typeface="Arial" panose="020B0604020202020204" pitchFamily="34" charset="0"/>
                <a:cs typeface="Arial" panose="020B0604020202020204" pitchFamily="34" charset="0"/>
              </a:rPr>
              <a:t>触发动作体</a:t>
            </a:r>
            <a:r>
              <a:rPr lang="en-US" altLang="zh-CN" sz="2400" dirty="0">
                <a:solidFill>
                  <a:srgbClr val="FF0000"/>
                </a:solidFill>
                <a:latin typeface="Arial" panose="020B0604020202020204" pitchFamily="34" charset="0"/>
                <a:cs typeface="Arial" panose="020B0604020202020204" pitchFamily="34" charset="0"/>
              </a:rPr>
              <a:t>&gt;</a:t>
            </a:r>
            <a:r>
              <a:rPr lang="zh-CN" altLang="en-US" sz="2400" dirty="0">
                <a:latin typeface="Arial" panose="020B0604020202020204" pitchFamily="34" charset="0"/>
                <a:cs typeface="Arial" panose="020B0604020202020204" pitchFamily="34" charset="0"/>
              </a:rPr>
              <a:t>；否则</a:t>
            </a:r>
            <a:r>
              <a:rPr lang="en-US" altLang="zh-CN" sz="2400" dirty="0">
                <a:solidFill>
                  <a:srgbClr val="FF0000"/>
                </a:solidFill>
                <a:latin typeface="Arial" panose="020B0604020202020204" pitchFamily="34" charset="0"/>
                <a:cs typeface="Arial" panose="020B0604020202020204" pitchFamily="34" charset="0"/>
              </a:rPr>
              <a:t>&lt;</a:t>
            </a:r>
            <a:r>
              <a:rPr lang="zh-CN" altLang="en-US" sz="2400" dirty="0">
                <a:solidFill>
                  <a:srgbClr val="FF0000"/>
                </a:solidFill>
                <a:latin typeface="Arial" panose="020B0604020202020204" pitchFamily="34" charset="0"/>
                <a:cs typeface="Arial" panose="020B0604020202020204" pitchFamily="34" charset="0"/>
              </a:rPr>
              <a:t>触发动作体</a:t>
            </a:r>
            <a:r>
              <a:rPr lang="en-US" altLang="zh-CN" sz="2400" dirty="0">
                <a:solidFill>
                  <a:srgbClr val="FF0000"/>
                </a:solidFill>
                <a:latin typeface="Arial" panose="020B0604020202020204" pitchFamily="34" charset="0"/>
                <a:cs typeface="Arial" panose="020B0604020202020204" pitchFamily="34" charset="0"/>
              </a:rPr>
              <a:t>&gt;</a:t>
            </a:r>
            <a:r>
              <a:rPr lang="zh-CN" altLang="en-US" sz="2400" dirty="0">
                <a:latin typeface="Arial" panose="020B0604020202020204" pitchFamily="34" charset="0"/>
                <a:cs typeface="Arial" panose="020B0604020202020204" pitchFamily="34" charset="0"/>
              </a:rPr>
              <a:t>不执行。</a:t>
            </a:r>
          </a:p>
          <a:p>
            <a:pPr lvl="1">
              <a:lnSpc>
                <a:spcPct val="100000"/>
              </a:lnSpc>
              <a:spcBef>
                <a:spcPct val="0"/>
              </a:spcBef>
            </a:pPr>
            <a:r>
              <a:rPr lang="zh-CN" altLang="en-US" sz="2400" dirty="0">
                <a:latin typeface="Arial" panose="020B0604020202020204" pitchFamily="34" charset="0"/>
                <a:cs typeface="Arial" panose="020B0604020202020204" pitchFamily="34" charset="0"/>
              </a:rPr>
              <a:t>如果省略</a:t>
            </a:r>
            <a:r>
              <a:rPr lang="en-US" altLang="zh-CN" sz="2400" dirty="0">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WHEN &lt;</a:t>
            </a:r>
            <a:r>
              <a:rPr lang="zh-CN" altLang="en-US" sz="2400" dirty="0">
                <a:solidFill>
                  <a:srgbClr val="FF0000"/>
                </a:solidFill>
                <a:latin typeface="Arial" panose="020B0604020202020204" pitchFamily="34" charset="0"/>
                <a:cs typeface="Arial" panose="020B0604020202020204" pitchFamily="34" charset="0"/>
              </a:rPr>
              <a:t>触发条件</a:t>
            </a:r>
            <a:r>
              <a:rPr lang="en-US" altLang="zh-CN" sz="2400" dirty="0">
                <a:solidFill>
                  <a:srgbClr val="FF0000"/>
                </a:solidFill>
                <a:latin typeface="Arial" panose="020B0604020202020204" pitchFamily="34" charset="0"/>
                <a:cs typeface="Arial" panose="020B0604020202020204" pitchFamily="34" charset="0"/>
              </a:rPr>
              <a:t>&gt;</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，则</a:t>
            </a:r>
            <a:r>
              <a:rPr lang="en-US" altLang="zh-CN" sz="2400" dirty="0">
                <a:solidFill>
                  <a:srgbClr val="FF0000"/>
                </a:solidFill>
                <a:latin typeface="Arial" panose="020B0604020202020204" pitchFamily="34" charset="0"/>
                <a:cs typeface="Arial" panose="020B0604020202020204" pitchFamily="34" charset="0"/>
                <a:sym typeface="+mn-ea"/>
              </a:rPr>
              <a:t>&lt;</a:t>
            </a:r>
            <a:r>
              <a:rPr lang="zh-CN" altLang="en-US" sz="2400" dirty="0">
                <a:solidFill>
                  <a:srgbClr val="FF0000"/>
                </a:solidFill>
                <a:latin typeface="Arial" panose="020B0604020202020204" pitchFamily="34" charset="0"/>
                <a:cs typeface="Arial" panose="020B0604020202020204" pitchFamily="34" charset="0"/>
                <a:sym typeface="+mn-ea"/>
              </a:rPr>
              <a:t>触发动作体</a:t>
            </a:r>
            <a:r>
              <a:rPr lang="en-US" altLang="zh-CN" sz="2400" dirty="0">
                <a:solidFill>
                  <a:srgbClr val="FF0000"/>
                </a:solidFill>
                <a:latin typeface="Arial" panose="020B0604020202020204" pitchFamily="34" charset="0"/>
                <a:cs typeface="Arial" panose="020B0604020202020204" pitchFamily="34" charset="0"/>
                <a:sym typeface="+mn-ea"/>
              </a:rPr>
              <a:t>&gt;</a:t>
            </a:r>
            <a:r>
              <a:rPr lang="zh-CN" altLang="en-US" sz="2400" dirty="0">
                <a:latin typeface="Arial" panose="020B0604020202020204" pitchFamily="34" charset="0"/>
                <a:cs typeface="Arial" panose="020B0604020202020204" pitchFamily="34" charset="0"/>
              </a:rPr>
              <a:t>在触发器激活后立即执行。</a:t>
            </a:r>
          </a:p>
          <a:p>
            <a:pPr lvl="1">
              <a:lnSpc>
                <a:spcPct val="100000"/>
              </a:lnSpc>
              <a:spcBef>
                <a:spcPct val="0"/>
              </a:spcBef>
            </a:pPr>
            <a:endParaRPr lang="zh-CN" altLang="en-US" sz="2400" dirty="0">
              <a:latin typeface="Arial" panose="020B0604020202020204" pitchFamily="34" charset="0"/>
              <a:cs typeface="Arial" panose="020B0604020202020204" pitchFamily="34" charset="0"/>
            </a:endParaRPr>
          </a:p>
          <a:p>
            <a:pPr>
              <a:lnSpc>
                <a:spcPct val="100000"/>
              </a:lnSpc>
              <a:spcBef>
                <a:spcPct val="0"/>
              </a:spcBef>
            </a:pPr>
            <a:r>
              <a:rPr lang="zh-CN" altLang="en-US" sz="2400" dirty="0">
                <a:solidFill>
                  <a:srgbClr val="C00000"/>
                </a:solidFill>
                <a:latin typeface="Arial" panose="020B0604020202020204" pitchFamily="34" charset="0"/>
                <a:cs typeface="Arial" panose="020B0604020202020204" pitchFamily="34" charset="0"/>
              </a:rPr>
              <a:t>触发动作体</a:t>
            </a:r>
            <a:endParaRPr lang="zh-CN" altLang="en-US" sz="2400" dirty="0">
              <a:latin typeface="Arial" panose="020B0604020202020204" pitchFamily="34" charset="0"/>
              <a:cs typeface="Arial" panose="020B0604020202020204" pitchFamily="34" charset="0"/>
            </a:endParaRPr>
          </a:p>
          <a:p>
            <a:pPr lvl="1">
              <a:lnSpc>
                <a:spcPct val="100000"/>
              </a:lnSpc>
              <a:spcBef>
                <a:spcPct val="0"/>
              </a:spcBef>
            </a:pPr>
            <a:r>
              <a:rPr lang="zh-CN" altLang="en-US" sz="2400" dirty="0">
                <a:latin typeface="Arial" panose="020B0604020202020204" pitchFamily="34" charset="0"/>
                <a:cs typeface="Arial" panose="020B0604020202020204" pitchFamily="34" charset="0"/>
              </a:rPr>
              <a:t>触发动作体可以是一个匿名</a:t>
            </a:r>
            <a:r>
              <a:rPr lang="en-US" altLang="zh-CN" sz="2400" dirty="0">
                <a:latin typeface="Arial" panose="020B0604020202020204" pitchFamily="34" charset="0"/>
                <a:cs typeface="Arial" panose="020B0604020202020204" pitchFamily="34" charset="0"/>
              </a:rPr>
              <a:t>PL/SQL</a:t>
            </a:r>
            <a:r>
              <a:rPr lang="zh-CN" altLang="en-US" sz="2400" dirty="0">
                <a:latin typeface="Arial" panose="020B0604020202020204" pitchFamily="34" charset="0"/>
                <a:cs typeface="Arial" panose="020B0604020202020204" pitchFamily="34" charset="0"/>
              </a:rPr>
              <a:t>过程块</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也可以是对已创建存储过程的调用</a:t>
            </a:r>
          </a:p>
          <a:p>
            <a:pPr lvl="1">
              <a:lnSpc>
                <a:spcPct val="100000"/>
              </a:lnSpc>
              <a:spcBef>
                <a:spcPct val="0"/>
              </a:spcBef>
            </a:pPr>
            <a:r>
              <a:rPr lang="zh-CN" altLang="en-US" sz="2400" dirty="0">
                <a:latin typeface="Arial" panose="020B0604020202020204" pitchFamily="34" charset="0"/>
                <a:cs typeface="Arial" panose="020B0604020202020204" pitchFamily="34" charset="0"/>
              </a:rPr>
              <a:t>如果是行级触发器，用户可以在过程体中使用</a:t>
            </a:r>
            <a:r>
              <a:rPr lang="en-US" altLang="zh-CN" sz="2400" dirty="0">
                <a:latin typeface="Arial" panose="020B0604020202020204" pitchFamily="34" charset="0"/>
                <a:cs typeface="Arial" panose="020B0604020202020204" pitchFamily="34" charset="0"/>
              </a:rPr>
              <a:t>NEW</a:t>
            </a:r>
            <a:r>
              <a:rPr lang="zh-CN" altLang="en-US" sz="2400" dirty="0">
                <a:latin typeface="Arial" panose="020B0604020202020204" pitchFamily="34" charset="0"/>
                <a:cs typeface="Arial" panose="020B0604020202020204" pitchFamily="34" charset="0"/>
              </a:rPr>
              <a:t>和</a:t>
            </a:r>
            <a:r>
              <a:rPr lang="en-US" altLang="zh-CN" sz="2400" dirty="0">
                <a:latin typeface="Arial" panose="020B0604020202020204" pitchFamily="34" charset="0"/>
                <a:cs typeface="Arial" panose="020B0604020202020204" pitchFamily="34" charset="0"/>
              </a:rPr>
              <a:t>OLD</a:t>
            </a:r>
            <a:r>
              <a:rPr lang="zh-CN" altLang="en-US" sz="2400" dirty="0">
                <a:latin typeface="Arial" panose="020B0604020202020204" pitchFamily="34" charset="0"/>
                <a:cs typeface="Arial" panose="020B0604020202020204" pitchFamily="34" charset="0"/>
              </a:rPr>
              <a:t>引用事件之后的新值和事件之前的旧值</a:t>
            </a:r>
          </a:p>
          <a:p>
            <a:pPr lvl="1">
              <a:lnSpc>
                <a:spcPct val="100000"/>
              </a:lnSpc>
              <a:spcBef>
                <a:spcPct val="0"/>
              </a:spcBef>
            </a:pPr>
            <a:r>
              <a:rPr lang="zh-CN" altLang="en-US" sz="2400" dirty="0">
                <a:latin typeface="Arial" panose="020B0604020202020204" pitchFamily="34" charset="0"/>
                <a:cs typeface="Arial" panose="020B0604020202020204" pitchFamily="34" charset="0"/>
              </a:rPr>
              <a:t>如果是语句级触发器，则不能在触发动作体中使用</a:t>
            </a:r>
            <a:r>
              <a:rPr lang="en-US" altLang="zh-CN" sz="2400" dirty="0">
                <a:latin typeface="Arial" panose="020B0604020202020204" pitchFamily="34" charset="0"/>
                <a:cs typeface="Arial" panose="020B0604020202020204" pitchFamily="34" charset="0"/>
              </a:rPr>
              <a:t>NEW</a:t>
            </a:r>
            <a:r>
              <a:rPr lang="zh-CN" altLang="en-US" sz="2400" dirty="0">
                <a:latin typeface="Arial" panose="020B0604020202020204" pitchFamily="34" charset="0"/>
                <a:cs typeface="Arial" panose="020B0604020202020204" pitchFamily="34" charset="0"/>
              </a:rPr>
              <a:t>或</a:t>
            </a:r>
            <a:r>
              <a:rPr lang="en-US" altLang="zh-CN" sz="2400" dirty="0">
                <a:latin typeface="Arial" panose="020B0604020202020204" pitchFamily="34" charset="0"/>
                <a:cs typeface="Arial" panose="020B0604020202020204" pitchFamily="34" charset="0"/>
              </a:rPr>
              <a:t>OLD</a:t>
            </a:r>
            <a:r>
              <a:rPr lang="zh-CN" altLang="en-US" sz="2400" dirty="0">
                <a:latin typeface="Arial" panose="020B0604020202020204" pitchFamily="34" charset="0"/>
                <a:cs typeface="Arial" panose="020B0604020202020204" pitchFamily="34" charset="0"/>
              </a:rPr>
              <a:t>进行引用</a:t>
            </a:r>
          </a:p>
          <a:p>
            <a:pPr lvl="1">
              <a:lnSpc>
                <a:spcPct val="100000"/>
              </a:lnSpc>
              <a:spcBef>
                <a:spcPct val="0"/>
              </a:spcBef>
            </a:pPr>
            <a:r>
              <a:rPr lang="zh-CN" altLang="en-US" sz="2400" dirty="0">
                <a:latin typeface="Arial" panose="020B0604020202020204" pitchFamily="34" charset="0"/>
                <a:cs typeface="Arial" panose="020B0604020202020204" pitchFamily="34" charset="0"/>
              </a:rPr>
              <a:t>如果触发动作体执行失败，激活触发器的事件就会终止执行，触发器的目标表或触发器可能影响的其他对象不发生任何变化</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64</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blinds(horizontal)">
                                      <p:cBhvr>
                                        <p:cTn id="7" dur="500"/>
                                        <p:tgtEl>
                                          <p:spTgt spid="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
                                            <p:txEl>
                                              <p:pRg st="5" end="5"/>
                                            </p:txEl>
                                          </p:spTgt>
                                        </p:tgtEl>
                                        <p:attrNameLst>
                                          <p:attrName>style.visibility</p:attrName>
                                        </p:attrNameLst>
                                      </p:cBhvr>
                                      <p:to>
                                        <p:strVal val="visible"/>
                                      </p:to>
                                    </p:set>
                                    <p:animEffect transition="in" filter="blinds(horizontal)">
                                      <p:cBhvr>
                                        <p:cTn id="10" dur="500"/>
                                        <p:tgtEl>
                                          <p:spTgt spid="9">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animEffect transition="in" filter="blinds(horizontal)">
                                      <p:cBhvr>
                                        <p:cTn id="13" dur="500"/>
                                        <p:tgtEl>
                                          <p:spTgt spid="9">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xEl>
                                              <p:pRg st="8" end="8"/>
                                            </p:txEl>
                                          </p:spTgt>
                                        </p:tgtEl>
                                        <p:attrNameLst>
                                          <p:attrName>style.visibility</p:attrName>
                                        </p:attrNameLst>
                                      </p:cBhvr>
                                      <p:to>
                                        <p:strVal val="visible"/>
                                      </p:to>
                                    </p:set>
                                    <p:anim calcmode="lin" valueType="num">
                                      <p:cBhvr additive="base">
                                        <p:cTn id="18"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9">
                                            <p:txEl>
                                              <p:pRg st="8" end="8"/>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9">
                                            <p:txEl>
                                              <p:pRg st="9" end="9"/>
                                            </p:txEl>
                                          </p:spTgt>
                                        </p:tgtEl>
                                        <p:attrNameLst>
                                          <p:attrName>style.visibility</p:attrName>
                                        </p:attrNameLst>
                                      </p:cBhvr>
                                      <p:to>
                                        <p:strVal val="visible"/>
                                      </p:to>
                                    </p:set>
                                    <p:anim calcmode="lin" valueType="num">
                                      <p:cBhvr additive="base">
                                        <p:cTn id="22"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
                                            <p:txEl>
                                              <p:pRg st="9" end="9"/>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9">
                                            <p:txEl>
                                              <p:pRg st="10" end="10"/>
                                            </p:txEl>
                                          </p:spTgt>
                                        </p:tgtEl>
                                        <p:attrNameLst>
                                          <p:attrName>style.visibility</p:attrName>
                                        </p:attrNameLst>
                                      </p:cBhvr>
                                      <p:to>
                                        <p:strVal val="visible"/>
                                      </p:to>
                                    </p:set>
                                    <p:anim calcmode="lin" valueType="num">
                                      <p:cBhvr additive="base">
                                        <p:cTn id="26"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9">
                                            <p:txEl>
                                              <p:pRg st="11" end="11"/>
                                            </p:txEl>
                                          </p:spTgt>
                                        </p:tgtEl>
                                        <p:attrNameLst>
                                          <p:attrName>style.visibility</p:attrName>
                                        </p:attrNameLst>
                                      </p:cBhvr>
                                      <p:to>
                                        <p:strVal val="visible"/>
                                      </p:to>
                                    </p:set>
                                    <p:anim calcmode="lin" valueType="num">
                                      <p:cBhvr additive="base">
                                        <p:cTn id="30"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9">
                                            <p:txEl>
                                              <p:pRg st="12" end="12"/>
                                            </p:txEl>
                                          </p:spTgt>
                                        </p:tgtEl>
                                        <p:attrNameLst>
                                          <p:attrName>style.visibility</p:attrName>
                                        </p:attrNameLst>
                                      </p:cBhvr>
                                      <p:to>
                                        <p:strVal val="visible"/>
                                      </p:to>
                                    </p:set>
                                    <p:anim calcmode="lin" valueType="num">
                                      <p:cBhvr additive="base">
                                        <p:cTn id="34"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9">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dirty="0"/>
              <a:t>触发器类型</a:t>
            </a:r>
            <a:endParaRPr lang="en-US" altLang="zh-CN" dirty="0"/>
          </a:p>
        </p:txBody>
      </p:sp>
      <p:sp>
        <p:nvSpPr>
          <p:cNvPr id="64515" name="Rectangle 3"/>
          <p:cNvSpPr>
            <a:spLocks noGrp="1" noChangeArrowheads="1"/>
          </p:cNvSpPr>
          <p:nvPr>
            <p:ph idx="1"/>
          </p:nvPr>
        </p:nvSpPr>
        <p:spPr/>
        <p:txBody>
          <a:bodyPr>
            <a:noAutofit/>
          </a:bodyPr>
          <a:lstStyle/>
          <a:p>
            <a:pPr>
              <a:lnSpc>
                <a:spcPct val="110000"/>
              </a:lnSpc>
              <a:spcBef>
                <a:spcPts val="1000"/>
              </a:spcBef>
            </a:pPr>
            <a:r>
              <a:rPr lang="zh-CN" altLang="en-US" dirty="0">
                <a:highlight>
                  <a:srgbClr val="FFFF00"/>
                </a:highlight>
                <a:latin typeface="Arial" panose="020B0604020202020204" pitchFamily="34" charset="0"/>
                <a:cs typeface="Arial" panose="020B0604020202020204" pitchFamily="34" charset="0"/>
              </a:rPr>
              <a:t>例如，先在例</a:t>
            </a:r>
            <a:r>
              <a:rPr lang="en-US" altLang="zh-CN" dirty="0">
                <a:highlight>
                  <a:srgbClr val="FFFF00"/>
                </a:highlight>
                <a:latin typeface="Arial" panose="020B0604020202020204" pitchFamily="34" charset="0"/>
                <a:cs typeface="Arial" panose="020B0604020202020204" pitchFamily="34" charset="0"/>
              </a:rPr>
              <a:t>5.11</a:t>
            </a:r>
            <a:r>
              <a:rPr lang="zh-CN" altLang="en-US" dirty="0">
                <a:highlight>
                  <a:srgbClr val="FFFF00"/>
                </a:highlight>
                <a:latin typeface="Arial" panose="020B0604020202020204" pitchFamily="34" charset="0"/>
                <a:cs typeface="Arial" panose="020B0604020202020204" pitchFamily="34" charset="0"/>
              </a:rPr>
              <a:t>的</a:t>
            </a:r>
            <a:r>
              <a:rPr lang="en-US" altLang="zh-CN" dirty="0">
                <a:highlight>
                  <a:srgbClr val="FFFF00"/>
                </a:highlight>
                <a:latin typeface="Arial" panose="020B0604020202020204" pitchFamily="34" charset="0"/>
                <a:cs typeface="Arial" panose="020B0604020202020204" pitchFamily="34" charset="0"/>
              </a:rPr>
              <a:t>TEACHER</a:t>
            </a:r>
            <a:r>
              <a:rPr lang="zh-CN" altLang="en-US" dirty="0">
                <a:highlight>
                  <a:srgbClr val="FFFF00"/>
                </a:highlight>
                <a:latin typeface="Arial" panose="020B0604020202020204" pitchFamily="34" charset="0"/>
                <a:cs typeface="Arial" panose="020B0604020202020204" pitchFamily="34" charset="0"/>
              </a:rPr>
              <a:t>表上创建一个</a:t>
            </a:r>
            <a:r>
              <a:rPr lang="en-US" altLang="zh-CN" dirty="0">
                <a:highlight>
                  <a:srgbClr val="FFFF00"/>
                </a:highlight>
                <a:latin typeface="Arial" panose="020B0604020202020204" pitchFamily="34" charset="0"/>
                <a:cs typeface="Arial" panose="020B0604020202020204" pitchFamily="34" charset="0"/>
              </a:rPr>
              <a:t>AFTER UPDATE</a:t>
            </a:r>
            <a:r>
              <a:rPr lang="zh-CN" altLang="en-US" dirty="0">
                <a:highlight>
                  <a:srgbClr val="FFFF00"/>
                </a:highlight>
                <a:latin typeface="Arial" panose="020B0604020202020204" pitchFamily="34" charset="0"/>
                <a:cs typeface="Arial" panose="020B0604020202020204" pitchFamily="34" charset="0"/>
              </a:rPr>
              <a:t>触发器，触发事件是</a:t>
            </a:r>
            <a:r>
              <a:rPr lang="en-US" altLang="zh-CN" dirty="0">
                <a:highlight>
                  <a:srgbClr val="FFFF00"/>
                </a:highlight>
                <a:latin typeface="Arial" panose="020B0604020202020204" pitchFamily="34" charset="0"/>
                <a:cs typeface="Arial" panose="020B0604020202020204" pitchFamily="34" charset="0"/>
              </a:rPr>
              <a:t>UPDATE</a:t>
            </a:r>
            <a:r>
              <a:rPr lang="zh-CN" altLang="en-US" dirty="0">
                <a:highlight>
                  <a:srgbClr val="FFFF00"/>
                </a:highlight>
                <a:latin typeface="Arial" panose="020B0604020202020204" pitchFamily="34" charset="0"/>
                <a:cs typeface="Arial" panose="020B0604020202020204" pitchFamily="34" charset="0"/>
              </a:rPr>
              <a:t>语句。然后执行下述</a:t>
            </a:r>
            <a:r>
              <a:rPr lang="en-US" altLang="zh-CN" dirty="0">
                <a:highlight>
                  <a:srgbClr val="FFFF00"/>
                </a:highlight>
                <a:latin typeface="Arial" panose="020B0604020202020204" pitchFamily="34" charset="0"/>
                <a:cs typeface="Arial" panose="020B0604020202020204" pitchFamily="34" charset="0"/>
              </a:rPr>
              <a:t>UPDATE</a:t>
            </a:r>
            <a:r>
              <a:rPr lang="zh-CN" altLang="en-US" dirty="0">
                <a:highlight>
                  <a:srgbClr val="FFFF00"/>
                </a:highlight>
                <a:latin typeface="Arial" panose="020B0604020202020204" pitchFamily="34" charset="0"/>
                <a:cs typeface="Arial" panose="020B0604020202020204" pitchFamily="34" charset="0"/>
              </a:rPr>
              <a:t>操作：</a:t>
            </a:r>
            <a:endParaRPr lang="zh-CN" altLang="en-US" dirty="0">
              <a:latin typeface="Arial" panose="020B0604020202020204" pitchFamily="34" charset="0"/>
              <a:cs typeface="Arial" panose="020B0604020202020204" pitchFamily="34" charset="0"/>
            </a:endParaRPr>
          </a:p>
          <a:p>
            <a:pPr marL="914400" lvl="2" indent="0">
              <a:lnSpc>
                <a:spcPct val="110000"/>
              </a:lnSpc>
              <a:spcBef>
                <a:spcPts val="1000"/>
              </a:spcBef>
              <a:buNone/>
            </a:pPr>
            <a:r>
              <a:rPr lang="en-US" altLang="zh-CN" dirty="0">
                <a:latin typeface="Arial" panose="020B0604020202020204" pitchFamily="34" charset="0"/>
                <a:cs typeface="Arial" panose="020B0604020202020204" pitchFamily="34" charset="0"/>
              </a:rPr>
              <a:t>UPDATE TEACHER SET </a:t>
            </a:r>
            <a:r>
              <a:rPr lang="en-US" altLang="zh-CN" dirty="0" err="1">
                <a:latin typeface="Arial" panose="020B0604020202020204" pitchFamily="34" charset="0"/>
                <a:cs typeface="Arial" panose="020B0604020202020204" pitchFamily="34" charset="0"/>
              </a:rPr>
              <a:t>Deptno</a:t>
            </a:r>
            <a:r>
              <a:rPr lang="en-US" altLang="zh-CN" dirty="0">
                <a:latin typeface="Arial" panose="020B0604020202020204" pitchFamily="34" charset="0"/>
                <a:cs typeface="Arial" panose="020B0604020202020204" pitchFamily="34" charset="0"/>
              </a:rPr>
              <a:t>=5;</a:t>
            </a:r>
          </a:p>
          <a:p>
            <a:pPr marL="914400" lvl="2" indent="0">
              <a:lnSpc>
                <a:spcPct val="110000"/>
              </a:lnSpc>
              <a:spcBef>
                <a:spcPts val="1000"/>
              </a:spcBef>
              <a:buNone/>
            </a:pPr>
            <a:endParaRPr lang="en-US" altLang="zh-CN" dirty="0">
              <a:latin typeface="Arial" panose="020B0604020202020204" pitchFamily="34" charset="0"/>
              <a:cs typeface="Arial" panose="020B0604020202020204" pitchFamily="34" charset="0"/>
            </a:endParaRPr>
          </a:p>
          <a:p>
            <a:pPr lvl="0">
              <a:lnSpc>
                <a:spcPct val="110000"/>
              </a:lnSpc>
              <a:spcBef>
                <a:spcPts val="1000"/>
              </a:spcBef>
            </a:pPr>
            <a:r>
              <a:rPr lang="zh-CN" altLang="en-US" dirty="0">
                <a:latin typeface="Arial" panose="020B0604020202020204" pitchFamily="34" charset="0"/>
                <a:cs typeface="Arial" panose="020B0604020202020204" pitchFamily="34" charset="0"/>
              </a:rPr>
              <a:t>假设在表</a:t>
            </a:r>
            <a:r>
              <a:rPr lang="en-US" altLang="zh-CN" dirty="0">
                <a:latin typeface="Arial" panose="020B0604020202020204" pitchFamily="34" charset="0"/>
                <a:cs typeface="Arial" panose="020B0604020202020204" pitchFamily="34" charset="0"/>
              </a:rPr>
              <a:t>TEACHER</a:t>
            </a:r>
            <a:r>
              <a:rPr lang="zh-CN" altLang="en-US" dirty="0">
                <a:latin typeface="Arial" panose="020B0604020202020204" pitchFamily="34" charset="0"/>
                <a:cs typeface="Arial" panose="020B0604020202020204" pitchFamily="34" charset="0"/>
              </a:rPr>
              <a:t>有</a:t>
            </a:r>
            <a:r>
              <a:rPr lang="en-US" altLang="zh-CN" dirty="0">
                <a:latin typeface="Arial" panose="020B0604020202020204" pitchFamily="34" charset="0"/>
                <a:cs typeface="Arial" panose="020B0604020202020204" pitchFamily="34" charset="0"/>
              </a:rPr>
              <a:t>1000</a:t>
            </a:r>
            <a:r>
              <a:rPr lang="zh-CN" altLang="en-US" dirty="0">
                <a:latin typeface="Arial" panose="020B0604020202020204" pitchFamily="34" charset="0"/>
                <a:cs typeface="Arial" panose="020B0604020202020204" pitchFamily="34" charset="0"/>
              </a:rPr>
              <a:t>行，在</a:t>
            </a:r>
            <a:r>
              <a:rPr lang="zh-CN" altLang="en-US" sz="2800" dirty="0">
                <a:latin typeface="Arial" panose="020B0604020202020204" pitchFamily="34" charset="0"/>
                <a:cs typeface="Arial" panose="020B0604020202020204" pitchFamily="34" charset="0"/>
                <a:sym typeface="+mn-ea"/>
              </a:rPr>
              <a:t>执行完上述的</a:t>
            </a:r>
            <a:r>
              <a:rPr lang="en-US" altLang="zh-CN" sz="2800" dirty="0">
                <a:latin typeface="Arial" panose="020B0604020202020204" pitchFamily="34" charset="0"/>
                <a:cs typeface="Arial" panose="020B0604020202020204" pitchFamily="34" charset="0"/>
                <a:sym typeface="+mn-ea"/>
              </a:rPr>
              <a:t>UPDATE</a:t>
            </a:r>
            <a:r>
              <a:rPr lang="zh-CN" altLang="en-US" sz="2800" dirty="0">
                <a:latin typeface="Arial" panose="020B0604020202020204" pitchFamily="34" charset="0"/>
                <a:cs typeface="Arial" panose="020B0604020202020204" pitchFamily="34" charset="0"/>
                <a:sym typeface="+mn-ea"/>
              </a:rPr>
              <a:t>语句后</a:t>
            </a:r>
            <a:endParaRPr lang="en-US" altLang="zh-CN" dirty="0">
              <a:latin typeface="Arial" panose="020B0604020202020204" pitchFamily="34" charset="0"/>
              <a:cs typeface="Arial" panose="020B0604020202020204" pitchFamily="34" charset="0"/>
            </a:endParaRPr>
          </a:p>
          <a:p>
            <a:pPr lvl="1">
              <a:lnSpc>
                <a:spcPct val="110000"/>
              </a:lnSpc>
              <a:spcBef>
                <a:spcPts val="1000"/>
              </a:spcBef>
            </a:pPr>
            <a:r>
              <a:rPr lang="zh-CN" altLang="en-US" dirty="0">
                <a:latin typeface="Arial" panose="020B0604020202020204" pitchFamily="34" charset="0"/>
                <a:cs typeface="Arial" panose="020B0604020202020204" pitchFamily="34" charset="0"/>
              </a:rPr>
              <a:t>如果是语句级触发器，则触发动作只被执行一次</a:t>
            </a:r>
          </a:p>
          <a:p>
            <a:pPr lvl="1">
              <a:lnSpc>
                <a:spcPct val="110000"/>
              </a:lnSpc>
              <a:spcBef>
                <a:spcPts val="1000"/>
              </a:spcBef>
            </a:pPr>
            <a:r>
              <a:rPr lang="zh-CN" altLang="en-US" dirty="0">
                <a:latin typeface="Arial" panose="020B0604020202020204" pitchFamily="34" charset="0"/>
                <a:cs typeface="Arial" panose="020B0604020202020204" pitchFamily="34" charset="0"/>
              </a:rPr>
              <a:t>如果是行级触发器，则触发动作将被执行</a:t>
            </a:r>
            <a:r>
              <a:rPr lang="en-US" altLang="zh-CN" dirty="0">
                <a:latin typeface="Arial" panose="020B0604020202020204" pitchFamily="34" charset="0"/>
                <a:cs typeface="Arial" panose="020B0604020202020204" pitchFamily="34" charset="0"/>
              </a:rPr>
              <a:t>1000</a:t>
            </a:r>
            <a:r>
              <a:rPr lang="zh-CN" altLang="en-US" dirty="0">
                <a:latin typeface="Arial" panose="020B0604020202020204" pitchFamily="34" charset="0"/>
                <a:cs typeface="Arial" panose="020B0604020202020204" pitchFamily="34" charset="0"/>
              </a:rPr>
              <a:t>次</a:t>
            </a:r>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65</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5">
                                            <p:txEl>
                                              <p:pRg st="3" end="3"/>
                                            </p:txEl>
                                          </p:spTgt>
                                        </p:tgtEl>
                                        <p:attrNameLst>
                                          <p:attrName>style.visibility</p:attrName>
                                        </p:attrNameLst>
                                      </p:cBhvr>
                                      <p:to>
                                        <p:strVal val="visible"/>
                                      </p:to>
                                    </p:set>
                                    <p:anim calcmode="lin" valueType="num">
                                      <p:cBhvr additive="base">
                                        <p:cTn id="7" dur="5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anim calcmode="lin" valueType="num">
                                      <p:cBhvr additive="base">
                                        <p:cTn id="11" dur="500" fill="hold"/>
                                        <p:tgtEl>
                                          <p:spTgt spid="645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515">
                                            <p:txEl>
                                              <p:pRg st="5" end="5"/>
                                            </p:txEl>
                                          </p:spTgt>
                                        </p:tgtEl>
                                        <p:attrNameLst>
                                          <p:attrName>style.visibility</p:attrName>
                                        </p:attrNameLst>
                                      </p:cBhvr>
                                      <p:to>
                                        <p:strVal val="visible"/>
                                      </p:to>
                                    </p:set>
                                    <p:anim calcmode="lin" valueType="num">
                                      <p:cBhvr additive="base">
                                        <p:cTn id="15" dur="500" fill="hold"/>
                                        <p:tgtEl>
                                          <p:spTgt spid="6451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5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zh-CN" altLang="en-US" dirty="0"/>
              <a:t>触发器示例 </a:t>
            </a:r>
            <a:r>
              <a:rPr lang="en-US" altLang="zh-CN" dirty="0"/>
              <a:t>1</a:t>
            </a:r>
          </a:p>
        </p:txBody>
      </p:sp>
      <p:sp>
        <p:nvSpPr>
          <p:cNvPr id="67588" name="Rectangle 3"/>
          <p:cNvSpPr>
            <a:spLocks noGrp="1" noChangeArrowheads="1"/>
          </p:cNvSpPr>
          <p:nvPr>
            <p:ph idx="1"/>
          </p:nvPr>
        </p:nvSpPr>
        <p:spPr>
          <a:xfrm>
            <a:off x="424180" y="687070"/>
            <a:ext cx="11343005" cy="1383665"/>
          </a:xfrm>
        </p:spPr>
        <p:txBody>
          <a:bodyPr>
            <a:noAutofit/>
          </a:bodyPr>
          <a:lstStyle/>
          <a:p>
            <a:pPr>
              <a:lnSpc>
                <a:spcPct val="100000"/>
              </a:lnSpc>
              <a:spcBef>
                <a:spcPct val="0"/>
              </a:spcBef>
            </a:pP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例</a:t>
            </a:r>
            <a:r>
              <a:rPr lang="en-US" altLang="zh-CN" sz="2800" dirty="0">
                <a:latin typeface="Arial" panose="020B0604020202020204" pitchFamily="34" charset="0"/>
                <a:cs typeface="Arial" panose="020B0604020202020204" pitchFamily="34" charset="0"/>
              </a:rPr>
              <a:t>5.21] </a:t>
            </a:r>
            <a:r>
              <a:rPr lang="zh-CN" altLang="en-US" sz="2800" dirty="0">
                <a:latin typeface="Arial" panose="020B0604020202020204" pitchFamily="34" charset="0"/>
                <a:cs typeface="Arial" panose="020B0604020202020204" pitchFamily="34" charset="0"/>
              </a:rPr>
              <a:t>当对表</a:t>
            </a:r>
            <a:r>
              <a:rPr lang="en-US" altLang="zh-CN" sz="2800" dirty="0">
                <a:latin typeface="Arial" panose="020B0604020202020204" pitchFamily="34" charset="0"/>
                <a:cs typeface="Arial" panose="020B0604020202020204" pitchFamily="34" charset="0"/>
              </a:rPr>
              <a:t>SC</a:t>
            </a:r>
            <a:r>
              <a:rPr lang="zh-CN" altLang="en-US" sz="2800" dirty="0">
                <a:latin typeface="Arial" panose="020B0604020202020204" pitchFamily="34" charset="0"/>
                <a:cs typeface="Arial" panose="020B0604020202020204" pitchFamily="34" charset="0"/>
              </a:rPr>
              <a:t>的</a:t>
            </a:r>
            <a:r>
              <a:rPr lang="en-US" altLang="zh-CN" sz="2800" dirty="0">
                <a:latin typeface="Arial" panose="020B0604020202020204" pitchFamily="34" charset="0"/>
                <a:cs typeface="Arial" panose="020B0604020202020204" pitchFamily="34" charset="0"/>
              </a:rPr>
              <a:t>Grade</a:t>
            </a:r>
            <a:r>
              <a:rPr lang="zh-CN" altLang="en-US" sz="2800" dirty="0">
                <a:latin typeface="Arial" panose="020B0604020202020204" pitchFamily="34" charset="0"/>
                <a:cs typeface="Arial" panose="020B0604020202020204" pitchFamily="34" charset="0"/>
              </a:rPr>
              <a:t>列进行修改时，若分数增加了</a:t>
            </a:r>
            <a:r>
              <a:rPr lang="en-US" altLang="zh-CN" sz="2800" dirty="0">
                <a:latin typeface="Arial" panose="020B0604020202020204" pitchFamily="34" charset="0"/>
                <a:cs typeface="Arial" panose="020B0604020202020204" pitchFamily="34" charset="0"/>
              </a:rPr>
              <a:t>10%</a:t>
            </a:r>
            <a:r>
              <a:rPr lang="zh-CN" altLang="en-US" sz="2800" dirty="0">
                <a:latin typeface="Arial" panose="020B0604020202020204" pitchFamily="34" charset="0"/>
                <a:cs typeface="Arial" panose="020B0604020202020204" pitchFamily="34" charset="0"/>
              </a:rPr>
              <a:t>则将此次操作记录到表</a:t>
            </a:r>
            <a:r>
              <a:rPr lang="en-US" altLang="zh-CN" sz="2800" dirty="0">
                <a:latin typeface="Arial" panose="020B0604020202020204" pitchFamily="34" charset="0"/>
                <a:cs typeface="Arial" panose="020B0604020202020204" pitchFamily="34" charset="0"/>
              </a:rPr>
              <a:t>SC_U(</a:t>
            </a:r>
            <a:r>
              <a:rPr lang="en-US" altLang="zh-CN" sz="2800" dirty="0" err="1">
                <a:latin typeface="Arial" panose="020B0604020202020204" pitchFamily="34" charset="0"/>
                <a:cs typeface="Arial" panose="020B0604020202020204" pitchFamily="34" charset="0"/>
              </a:rPr>
              <a:t>Sno</a:t>
            </a:r>
            <a:r>
              <a:rPr lang="zh-CN" altLang="en-US" sz="2800" dirty="0">
                <a:latin typeface="Arial" panose="020B0604020202020204" pitchFamily="34" charset="0"/>
                <a:cs typeface="Arial" panose="020B0604020202020204" pitchFamily="34" charset="0"/>
              </a:rPr>
              <a:t>,</a:t>
            </a:r>
            <a:r>
              <a:rPr lang="en-US" altLang="zh-CN" sz="2800" dirty="0" err="1">
                <a:latin typeface="Arial" panose="020B0604020202020204" pitchFamily="34" charset="0"/>
                <a:cs typeface="Arial" panose="020B0604020202020204" pitchFamily="34" charset="0"/>
              </a:rPr>
              <a:t>Cno</a:t>
            </a:r>
            <a:r>
              <a:rPr lang="zh-CN" altLang="en-US" sz="2800" dirty="0">
                <a:latin typeface="Arial" panose="020B0604020202020204" pitchFamily="34" charset="0"/>
                <a:cs typeface="Arial" panose="020B0604020202020204" pitchFamily="34" charset="0"/>
              </a:rPr>
              <a:t>,</a:t>
            </a:r>
            <a:r>
              <a:rPr lang="en-US" altLang="zh-CN" sz="2800" dirty="0" err="1">
                <a:latin typeface="Arial" panose="020B0604020202020204" pitchFamily="34" charset="0"/>
                <a:cs typeface="Arial" panose="020B0604020202020204" pitchFamily="34" charset="0"/>
              </a:rPr>
              <a:t>Oldgrade</a:t>
            </a:r>
            <a:r>
              <a:rPr lang="zh-CN" altLang="en-US" sz="2800" dirty="0">
                <a:latin typeface="Arial" panose="020B0604020202020204" pitchFamily="34" charset="0"/>
                <a:cs typeface="Arial" panose="020B0604020202020204" pitchFamily="34" charset="0"/>
              </a:rPr>
              <a:t>,</a:t>
            </a:r>
            <a:r>
              <a:rPr lang="en-US" altLang="zh-CN" sz="2800" dirty="0" err="1">
                <a:latin typeface="Arial" panose="020B0604020202020204" pitchFamily="34" charset="0"/>
                <a:cs typeface="Arial" panose="020B0604020202020204" pitchFamily="34" charset="0"/>
              </a:rPr>
              <a:t>Newgrade</a:t>
            </a:r>
            <a:r>
              <a:rPr lang="en-US" altLang="zh-CN" sz="2800" dirty="0">
                <a:latin typeface="Arial" panose="020B0604020202020204" pitchFamily="34" charset="0"/>
                <a:cs typeface="Arial" panose="020B0604020202020204" pitchFamily="34" charset="0"/>
              </a:rPr>
              <a:t>)</a:t>
            </a:r>
            <a:r>
              <a:rPr lang="zh-CN" altLang="en-US" sz="2800" dirty="0">
                <a:latin typeface="Arial" panose="020B0604020202020204" pitchFamily="34" charset="0"/>
                <a:cs typeface="Arial" panose="020B0604020202020204" pitchFamily="34" charset="0"/>
              </a:rPr>
              <a:t>中去。其中：</a:t>
            </a:r>
            <a:r>
              <a:rPr lang="en-US" altLang="zh-CN" sz="2800" dirty="0" err="1">
                <a:latin typeface="Arial" panose="020B0604020202020204" pitchFamily="34" charset="0"/>
                <a:cs typeface="Arial" panose="020B0604020202020204" pitchFamily="34" charset="0"/>
              </a:rPr>
              <a:t>Oldgrade</a:t>
            </a:r>
            <a:r>
              <a:rPr lang="zh-CN" altLang="en-US" sz="2800" dirty="0">
                <a:latin typeface="Arial" panose="020B0604020202020204" pitchFamily="34" charset="0"/>
                <a:cs typeface="Arial" panose="020B0604020202020204" pitchFamily="34" charset="0"/>
              </a:rPr>
              <a:t>是修改前的分数，</a:t>
            </a:r>
            <a:r>
              <a:rPr lang="en-US" altLang="zh-CN" sz="2800" dirty="0" err="1">
                <a:latin typeface="Arial" panose="020B0604020202020204" pitchFamily="34" charset="0"/>
                <a:cs typeface="Arial" panose="020B0604020202020204" pitchFamily="34" charset="0"/>
              </a:rPr>
              <a:t>Newgrade</a:t>
            </a:r>
            <a:r>
              <a:rPr lang="zh-CN" altLang="en-US" sz="2800" dirty="0">
                <a:latin typeface="Arial" panose="020B0604020202020204" pitchFamily="34" charset="0"/>
                <a:cs typeface="Arial" panose="020B0604020202020204" pitchFamily="34" charset="0"/>
              </a:rPr>
              <a:t>是修改后的分数。</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66</a:t>
            </a:fld>
            <a:endParaRPr lang="zh-CN" altLang="en-US"/>
          </a:p>
        </p:txBody>
      </p:sp>
      <p:sp>
        <p:nvSpPr>
          <p:cNvPr id="2" name="Rectangle 3"/>
          <p:cNvSpPr>
            <a:spLocks noGrp="1" noChangeArrowheads="1"/>
          </p:cNvSpPr>
          <p:nvPr/>
        </p:nvSpPr>
        <p:spPr>
          <a:xfrm>
            <a:off x="424180" y="2273935"/>
            <a:ext cx="11343005" cy="3809365"/>
          </a:xfrm>
          <a:prstGeom prst="rect">
            <a:avLst/>
          </a:prstGeom>
          <a:solidFill>
            <a:schemeClr val="accent3">
              <a:lumMod val="20000"/>
              <a:lumOff val="80000"/>
              <a:alpha val="50000"/>
            </a:schemeClr>
          </a:solidFill>
          <a:ln>
            <a:solidFill>
              <a:schemeClr val="accent1"/>
            </a:solidFill>
          </a:ln>
        </p:spPr>
        <p:txBody>
          <a:bodyPr vert="horz" lIns="19812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1600"/>
              </a:spcBef>
              <a:buNone/>
            </a:pPr>
            <a:r>
              <a:rPr lang="en-US" altLang="zh-CN" sz="2400" dirty="0">
                <a:latin typeface="+mn-lt"/>
                <a:cs typeface="+mn-lt"/>
              </a:rPr>
              <a:t>CREATE TRIGGER  SC_T   </a:t>
            </a:r>
            <a:r>
              <a:rPr lang="en-US" altLang="zh-CN" sz="2400" dirty="0">
                <a:solidFill>
                  <a:schemeClr val="tx1"/>
                </a:solidFill>
                <a:latin typeface="+mn-lt"/>
                <a:cs typeface="+mn-lt"/>
              </a:rPr>
              <a:t> </a:t>
            </a:r>
            <a:r>
              <a:rPr lang="en-US" altLang="zh-CN" sz="2400" dirty="0">
                <a:solidFill>
                  <a:schemeClr val="tx1"/>
                </a:solidFill>
                <a:highlight>
                  <a:srgbClr val="FFFF00"/>
                </a:highlight>
                <a:latin typeface="+mn-lt"/>
                <a:cs typeface="+mn-lt"/>
              </a:rPr>
              <a:t>/* </a:t>
            </a:r>
            <a:r>
              <a:rPr lang="zh-CN" altLang="en-US" sz="2400" dirty="0">
                <a:solidFill>
                  <a:schemeClr val="tx1"/>
                </a:solidFill>
                <a:highlight>
                  <a:srgbClr val="FFFF00"/>
                </a:highlight>
                <a:latin typeface="+mn-lt"/>
                <a:cs typeface="+mn-lt"/>
              </a:rPr>
              <a:t>触发器名称</a:t>
            </a:r>
            <a:r>
              <a:rPr lang="en-US" altLang="zh-CN" sz="2400" dirty="0">
                <a:solidFill>
                  <a:schemeClr val="tx1"/>
                </a:solidFill>
                <a:highlight>
                  <a:srgbClr val="FFFF00"/>
                </a:highlight>
                <a:latin typeface="+mn-lt"/>
                <a:cs typeface="+mn-lt"/>
              </a:rPr>
              <a:t> */</a:t>
            </a:r>
            <a:endParaRPr lang="en-US" altLang="zh-CN" sz="2400" dirty="0">
              <a:solidFill>
                <a:schemeClr val="tx1"/>
              </a:solidFill>
              <a:latin typeface="+mn-lt"/>
              <a:cs typeface="+mn-lt"/>
            </a:endParaRPr>
          </a:p>
          <a:p>
            <a:pPr marL="0" lvl="0" indent="0">
              <a:lnSpc>
                <a:spcPct val="110000"/>
              </a:lnSpc>
              <a:spcBef>
                <a:spcPts val="600"/>
              </a:spcBef>
              <a:buNone/>
            </a:pPr>
            <a:r>
              <a:rPr lang="en-US" altLang="zh-CN" sz="2400" dirty="0">
                <a:latin typeface="+mn-lt"/>
                <a:cs typeface="+mn-lt"/>
              </a:rPr>
              <a:t>AFTER   UPDATE  OF  Grade  ON  SC    </a:t>
            </a:r>
            <a:r>
              <a:rPr lang="en-US" altLang="zh-CN" sz="2400" dirty="0">
                <a:solidFill>
                  <a:schemeClr val="tx1"/>
                </a:solidFill>
                <a:highlight>
                  <a:srgbClr val="FFFF00"/>
                </a:highlight>
                <a:latin typeface="+mn-lt"/>
                <a:cs typeface="+mn-lt"/>
                <a:sym typeface="+mn-ea"/>
              </a:rPr>
              <a:t>/* </a:t>
            </a:r>
            <a:r>
              <a:rPr lang="zh-CN" altLang="en-US" sz="2400" dirty="0">
                <a:solidFill>
                  <a:schemeClr val="tx1"/>
                </a:solidFill>
                <a:highlight>
                  <a:srgbClr val="FFFF00"/>
                </a:highlight>
                <a:latin typeface="+mn-lt"/>
                <a:cs typeface="+mn-lt"/>
                <a:sym typeface="+mn-ea"/>
              </a:rPr>
              <a:t>定义触发事件</a:t>
            </a:r>
            <a:r>
              <a:rPr lang="en-US" altLang="zh-CN" sz="2400" dirty="0">
                <a:solidFill>
                  <a:schemeClr val="tx1"/>
                </a:solidFill>
                <a:highlight>
                  <a:srgbClr val="FFFF00"/>
                </a:highlight>
                <a:latin typeface="+mn-lt"/>
                <a:cs typeface="+mn-lt"/>
                <a:sym typeface="+mn-ea"/>
              </a:rPr>
              <a:t>, </a:t>
            </a:r>
            <a:r>
              <a:rPr lang="zh-CN" altLang="en-US" sz="2400" dirty="0">
                <a:solidFill>
                  <a:schemeClr val="tx1"/>
                </a:solidFill>
                <a:highlight>
                  <a:srgbClr val="FFFF00"/>
                </a:highlight>
                <a:latin typeface="+mn-lt"/>
                <a:cs typeface="+mn-lt"/>
                <a:sym typeface="+mn-ea"/>
              </a:rPr>
              <a:t>及其与结果事件的执行顺序</a:t>
            </a:r>
            <a:r>
              <a:rPr lang="en-US" altLang="zh-CN" sz="2400" dirty="0">
                <a:solidFill>
                  <a:schemeClr val="tx1"/>
                </a:solidFill>
                <a:highlight>
                  <a:srgbClr val="FFFF00"/>
                </a:highlight>
                <a:latin typeface="+mn-lt"/>
                <a:cs typeface="+mn-lt"/>
                <a:sym typeface="+mn-ea"/>
              </a:rPr>
              <a:t> */</a:t>
            </a:r>
            <a:endParaRPr lang="en-US" altLang="zh-CN" sz="2400" dirty="0">
              <a:solidFill>
                <a:schemeClr val="tx1"/>
              </a:solidFill>
              <a:highlight>
                <a:srgbClr val="FFFF00"/>
              </a:highlight>
              <a:latin typeface="+mn-lt"/>
              <a:cs typeface="+mn-lt"/>
            </a:endParaRPr>
          </a:p>
          <a:p>
            <a:pPr marL="0" lvl="0" indent="0">
              <a:lnSpc>
                <a:spcPct val="110000"/>
              </a:lnSpc>
              <a:spcBef>
                <a:spcPts val="600"/>
              </a:spcBef>
              <a:buNone/>
            </a:pPr>
            <a:r>
              <a:rPr lang="en-US" altLang="zh-CN" sz="2400" dirty="0">
                <a:latin typeface="+mn-lt"/>
                <a:cs typeface="+mn-lt"/>
              </a:rPr>
              <a:t>REFERENCING   OLD  row   AS  </a:t>
            </a:r>
            <a:r>
              <a:rPr lang="en-US" altLang="zh-CN" sz="2400" dirty="0" err="1">
                <a:solidFill>
                  <a:srgbClr val="FF0000"/>
                </a:solidFill>
                <a:latin typeface="+mn-lt"/>
                <a:cs typeface="+mn-lt"/>
              </a:rPr>
              <a:t>OldTuple</a:t>
            </a:r>
            <a:r>
              <a:rPr lang="en-US" altLang="zh-CN" sz="2400" dirty="0">
                <a:latin typeface="+mn-lt"/>
                <a:cs typeface="+mn-lt"/>
              </a:rPr>
              <a:t>,  NEW  row  AS  </a:t>
            </a:r>
            <a:r>
              <a:rPr lang="en-US" altLang="zh-CN" sz="2400" dirty="0" err="1">
                <a:solidFill>
                  <a:srgbClr val="FF0000"/>
                </a:solidFill>
                <a:latin typeface="+mn-lt"/>
                <a:cs typeface="+mn-lt"/>
              </a:rPr>
              <a:t>NewTuple</a:t>
            </a:r>
          </a:p>
          <a:p>
            <a:pPr marL="0" lvl="0" indent="452755">
              <a:lnSpc>
                <a:spcPct val="110000"/>
              </a:lnSpc>
              <a:spcBef>
                <a:spcPts val="600"/>
              </a:spcBef>
              <a:buNone/>
            </a:pPr>
            <a:r>
              <a:rPr lang="en-US" altLang="zh-CN" sz="2400" spc="-100" dirty="0">
                <a:solidFill>
                  <a:schemeClr val="tx1"/>
                </a:solidFill>
                <a:highlight>
                  <a:srgbClr val="FFFF00"/>
                </a:highlight>
                <a:uFillTx/>
                <a:latin typeface="+mn-lt"/>
                <a:cs typeface="+mn-lt"/>
                <a:sym typeface="+mn-ea"/>
              </a:rPr>
              <a:t>/* </a:t>
            </a:r>
            <a:r>
              <a:rPr lang="zh-CN" altLang="en-US" sz="2400" spc="-100" dirty="0">
                <a:solidFill>
                  <a:schemeClr val="tx1"/>
                </a:solidFill>
                <a:highlight>
                  <a:srgbClr val="FFFF00"/>
                </a:highlight>
                <a:uFillTx/>
                <a:latin typeface="+mn-lt"/>
                <a:cs typeface="+mn-lt"/>
                <a:sym typeface="+mn-ea"/>
              </a:rPr>
              <a:t>定义对新旧元组的引用名</a:t>
            </a:r>
            <a:r>
              <a:rPr lang="en-US" altLang="zh-CN" sz="2400" spc="-100" dirty="0">
                <a:solidFill>
                  <a:schemeClr val="tx1"/>
                </a:solidFill>
                <a:highlight>
                  <a:srgbClr val="FFFF00"/>
                </a:highlight>
                <a:uFillTx/>
                <a:latin typeface="+mn-lt"/>
                <a:cs typeface="+mn-lt"/>
                <a:sym typeface="+mn-ea"/>
              </a:rPr>
              <a:t>, </a:t>
            </a:r>
            <a:r>
              <a:rPr lang="zh-CN" altLang="en-US" sz="2400" spc="-100" dirty="0">
                <a:solidFill>
                  <a:schemeClr val="tx1"/>
                </a:solidFill>
                <a:highlight>
                  <a:srgbClr val="FFFF00"/>
                </a:highlight>
                <a:uFillTx/>
                <a:latin typeface="+mn-lt"/>
                <a:cs typeface="+mn-lt"/>
                <a:sym typeface="+mn-ea"/>
              </a:rPr>
              <a:t>缺省情况下</a:t>
            </a:r>
            <a:r>
              <a:rPr lang="en-US" altLang="zh-CN" sz="2400" spc="-100" dirty="0">
                <a:solidFill>
                  <a:schemeClr val="tx1"/>
                </a:solidFill>
                <a:highlight>
                  <a:srgbClr val="FFFF00"/>
                </a:highlight>
                <a:uFillTx/>
                <a:latin typeface="+mn-lt"/>
                <a:cs typeface="+mn-lt"/>
                <a:sym typeface="+mn-ea"/>
              </a:rPr>
              <a:t>, </a:t>
            </a:r>
            <a:r>
              <a:rPr lang="zh-CN" altLang="en-US" sz="2400" spc="-100" dirty="0">
                <a:solidFill>
                  <a:schemeClr val="tx1"/>
                </a:solidFill>
                <a:highlight>
                  <a:srgbClr val="FFFF00"/>
                </a:highlight>
                <a:uFillTx/>
                <a:latin typeface="+mn-lt"/>
                <a:cs typeface="+mn-lt"/>
                <a:sym typeface="+mn-ea"/>
              </a:rPr>
              <a:t>可以直接用</a:t>
            </a:r>
            <a:r>
              <a:rPr lang="en-US" altLang="zh-CN" sz="2400" spc="-100" dirty="0">
                <a:solidFill>
                  <a:schemeClr val="tx1"/>
                </a:solidFill>
                <a:highlight>
                  <a:srgbClr val="FFFF00"/>
                </a:highlight>
                <a:uFillTx/>
                <a:latin typeface="+mn-lt"/>
                <a:cs typeface="+mn-lt"/>
                <a:sym typeface="+mn-ea"/>
              </a:rPr>
              <a:t>NEW</a:t>
            </a:r>
            <a:r>
              <a:rPr lang="zh-CN" altLang="en-US" sz="2400" spc="-100" dirty="0">
                <a:solidFill>
                  <a:schemeClr val="tx1"/>
                </a:solidFill>
                <a:highlight>
                  <a:srgbClr val="FFFF00"/>
                </a:highlight>
                <a:uFillTx/>
                <a:latin typeface="+mn-lt"/>
                <a:cs typeface="+mn-lt"/>
                <a:sym typeface="+mn-ea"/>
              </a:rPr>
              <a:t>和</a:t>
            </a:r>
            <a:r>
              <a:rPr lang="en-US" altLang="zh-CN" sz="2400" spc="-100" dirty="0">
                <a:solidFill>
                  <a:schemeClr val="tx1"/>
                </a:solidFill>
                <a:highlight>
                  <a:srgbClr val="FFFF00"/>
                </a:highlight>
                <a:uFillTx/>
                <a:latin typeface="+mn-lt"/>
                <a:cs typeface="+mn-lt"/>
                <a:sym typeface="+mn-ea"/>
              </a:rPr>
              <a:t>OLD</a:t>
            </a:r>
            <a:r>
              <a:rPr lang="zh-CN" altLang="en-US" sz="2400" spc="-100" dirty="0">
                <a:solidFill>
                  <a:schemeClr val="tx1"/>
                </a:solidFill>
                <a:highlight>
                  <a:srgbClr val="FFFF00"/>
                </a:highlight>
                <a:uFillTx/>
                <a:latin typeface="+mn-lt"/>
                <a:cs typeface="+mn-lt"/>
                <a:sym typeface="+mn-ea"/>
              </a:rPr>
              <a:t>来引用新旧元组</a:t>
            </a:r>
            <a:r>
              <a:rPr lang="en-US" altLang="zh-CN" sz="2400" spc="-100" dirty="0">
                <a:solidFill>
                  <a:schemeClr val="tx1"/>
                </a:solidFill>
                <a:highlight>
                  <a:srgbClr val="FFFF00"/>
                </a:highlight>
                <a:uFillTx/>
                <a:latin typeface="+mn-lt"/>
                <a:cs typeface="+mn-lt"/>
                <a:sym typeface="+mn-ea"/>
              </a:rPr>
              <a:t> */</a:t>
            </a:r>
            <a:endParaRPr lang="zh-CN" altLang="en-US" sz="2400" dirty="0">
              <a:solidFill>
                <a:schemeClr val="tx1"/>
              </a:solidFill>
              <a:latin typeface="+mn-lt"/>
              <a:cs typeface="+mn-lt"/>
            </a:endParaRPr>
          </a:p>
          <a:p>
            <a:pPr marL="0" lvl="0" indent="0">
              <a:lnSpc>
                <a:spcPct val="110000"/>
              </a:lnSpc>
              <a:spcBef>
                <a:spcPts val="600"/>
              </a:spcBef>
              <a:buNone/>
            </a:pPr>
            <a:r>
              <a:rPr lang="en-US" altLang="zh-CN" sz="2400" dirty="0">
                <a:latin typeface="+mn-lt"/>
                <a:cs typeface="+mn-lt"/>
              </a:rPr>
              <a:t>FOR  </a:t>
            </a:r>
            <a:r>
              <a:rPr lang="en-US" altLang="zh-CN" sz="2400" dirty="0">
                <a:solidFill>
                  <a:srgbClr val="FF0000"/>
                </a:solidFill>
                <a:latin typeface="+mn-lt"/>
                <a:cs typeface="+mn-lt"/>
              </a:rPr>
              <a:t>EACH ROW   </a:t>
            </a:r>
            <a:r>
              <a:rPr lang="en-US" altLang="zh-CN" sz="2400" dirty="0">
                <a:solidFill>
                  <a:schemeClr val="tx1"/>
                </a:solidFill>
                <a:latin typeface="+mn-lt"/>
                <a:cs typeface="+mn-lt"/>
              </a:rPr>
              <a:t> </a:t>
            </a:r>
            <a:r>
              <a:rPr lang="en-US" altLang="zh-CN" sz="2400" dirty="0">
                <a:solidFill>
                  <a:schemeClr val="tx1"/>
                </a:solidFill>
                <a:highlight>
                  <a:srgbClr val="FFFF00"/>
                </a:highlight>
                <a:latin typeface="+mn-lt"/>
                <a:cs typeface="+mn-lt"/>
                <a:sym typeface="+mn-ea"/>
              </a:rPr>
              <a:t>/*</a:t>
            </a:r>
            <a:r>
              <a:rPr lang="zh-CN" altLang="en-US" sz="2400" dirty="0">
                <a:solidFill>
                  <a:schemeClr val="tx1"/>
                </a:solidFill>
                <a:highlight>
                  <a:srgbClr val="FFFF00"/>
                </a:highlight>
                <a:latin typeface="+mn-lt"/>
                <a:cs typeface="+mn-lt"/>
                <a:sym typeface="+mn-ea"/>
              </a:rPr>
              <a:t>行级触发器，每</a:t>
            </a:r>
            <a:r>
              <a:rPr lang="en-US" altLang="zh-CN" sz="2400" dirty="0">
                <a:solidFill>
                  <a:schemeClr val="tx1"/>
                </a:solidFill>
                <a:highlight>
                  <a:srgbClr val="FFFF00"/>
                </a:highlight>
                <a:latin typeface="+mn-lt"/>
                <a:cs typeface="+mn-lt"/>
                <a:sym typeface="+mn-ea"/>
              </a:rPr>
              <a:t>UPDATE</a:t>
            </a:r>
            <a:r>
              <a:rPr lang="zh-CN" altLang="en-US" sz="2400" dirty="0">
                <a:solidFill>
                  <a:schemeClr val="tx1"/>
                </a:solidFill>
                <a:highlight>
                  <a:srgbClr val="FFFF00"/>
                </a:highlight>
                <a:latin typeface="+mn-lt"/>
                <a:cs typeface="+mn-lt"/>
                <a:sym typeface="+mn-ea"/>
              </a:rPr>
              <a:t>一条元组，结果事件被执行一次*</a:t>
            </a:r>
            <a:r>
              <a:rPr lang="en-US" altLang="zh-CN" sz="2400" dirty="0">
                <a:solidFill>
                  <a:schemeClr val="tx1"/>
                </a:solidFill>
                <a:highlight>
                  <a:srgbClr val="FFFF00"/>
                </a:highlight>
                <a:latin typeface="+mn-lt"/>
                <a:cs typeface="+mn-lt"/>
                <a:sym typeface="+mn-ea"/>
              </a:rPr>
              <a:t>/</a:t>
            </a:r>
            <a:endParaRPr lang="zh-CN" altLang="en-US" sz="2400" dirty="0">
              <a:solidFill>
                <a:schemeClr val="tx1"/>
              </a:solidFill>
              <a:latin typeface="+mn-lt"/>
              <a:cs typeface="+mn-lt"/>
            </a:endParaRPr>
          </a:p>
          <a:p>
            <a:pPr marL="0" lvl="0" indent="0">
              <a:lnSpc>
                <a:spcPct val="110000"/>
              </a:lnSpc>
              <a:spcBef>
                <a:spcPts val="600"/>
              </a:spcBef>
              <a:buNone/>
            </a:pPr>
            <a:r>
              <a:rPr lang="en-US" altLang="zh-CN" sz="2400" dirty="0">
                <a:latin typeface="+mn-lt"/>
                <a:cs typeface="+mn-lt"/>
              </a:rPr>
              <a:t>WHEN </a:t>
            </a:r>
            <a:r>
              <a:rPr lang="zh-CN" altLang="en-US" sz="2400" dirty="0">
                <a:latin typeface="+mn-lt"/>
                <a:cs typeface="+mn-lt"/>
              </a:rPr>
              <a:t>(</a:t>
            </a:r>
            <a:r>
              <a:rPr lang="en-US" altLang="zh-CN" sz="2400" dirty="0" err="1">
                <a:latin typeface="+mn-lt"/>
                <a:cs typeface="+mn-lt"/>
              </a:rPr>
              <a:t>NewTuple.Grade</a:t>
            </a:r>
            <a:r>
              <a:rPr lang="en-US" altLang="zh-CN" sz="2400" dirty="0">
                <a:latin typeface="+mn-lt"/>
                <a:cs typeface="+mn-lt"/>
              </a:rPr>
              <a:t> &gt;= 1.1*</a:t>
            </a:r>
            <a:r>
              <a:rPr lang="en-US" altLang="zh-CN" sz="2400" dirty="0" err="1">
                <a:latin typeface="+mn-lt"/>
                <a:cs typeface="+mn-lt"/>
              </a:rPr>
              <a:t>OldTuple.Grade</a:t>
            </a:r>
            <a:r>
              <a:rPr lang="zh-CN" altLang="en-US" sz="2400" dirty="0">
                <a:latin typeface="+mn-lt"/>
                <a:cs typeface="+mn-lt"/>
              </a:rPr>
              <a:t>)</a:t>
            </a:r>
          </a:p>
          <a:p>
            <a:pPr marL="0" lvl="0" indent="0">
              <a:lnSpc>
                <a:spcPct val="110000"/>
              </a:lnSpc>
              <a:spcBef>
                <a:spcPts val="600"/>
              </a:spcBef>
              <a:buNone/>
            </a:pPr>
            <a:r>
              <a:rPr lang="en-US" altLang="zh-CN" sz="2400" dirty="0">
                <a:latin typeface="+mn-lt"/>
                <a:cs typeface="+mn-lt"/>
              </a:rPr>
              <a:t>INSERT INTO SC_U</a:t>
            </a:r>
            <a:r>
              <a:rPr lang="zh-CN" altLang="en-US" sz="2400" dirty="0">
                <a:latin typeface="+mn-lt"/>
                <a:cs typeface="+mn-lt"/>
              </a:rPr>
              <a:t>(</a:t>
            </a:r>
            <a:r>
              <a:rPr lang="en-US" altLang="zh-CN" sz="2400" dirty="0" err="1">
                <a:latin typeface="+mn-lt"/>
                <a:cs typeface="+mn-lt"/>
              </a:rPr>
              <a:t>Sno,Cno,OldGrade,NewGrade</a:t>
            </a:r>
            <a:r>
              <a:rPr lang="zh-CN" altLang="en-US" sz="2400" dirty="0">
                <a:latin typeface="+mn-lt"/>
                <a:cs typeface="+mn-lt"/>
              </a:rPr>
              <a:t>)</a:t>
            </a:r>
            <a:r>
              <a:rPr lang="en-US" altLang="zh-CN" sz="2400" dirty="0">
                <a:latin typeface="+mn-lt"/>
                <a:cs typeface="+mn-lt"/>
              </a:rPr>
              <a:t>    </a:t>
            </a:r>
            <a:r>
              <a:rPr lang="en-US" altLang="zh-CN" sz="2400" spc="-100" dirty="0">
                <a:solidFill>
                  <a:schemeClr val="tx1"/>
                </a:solidFill>
                <a:highlight>
                  <a:srgbClr val="FFFF00"/>
                </a:highlight>
                <a:uFillTx/>
                <a:latin typeface="+mn-lt"/>
                <a:cs typeface="+mn-lt"/>
              </a:rPr>
              <a:t>/*</a:t>
            </a:r>
            <a:r>
              <a:rPr lang="zh-CN" altLang="en-US" sz="2400" spc="-100" dirty="0">
                <a:solidFill>
                  <a:schemeClr val="tx1"/>
                </a:solidFill>
                <a:highlight>
                  <a:srgbClr val="FFFF00"/>
                </a:highlight>
                <a:uFillTx/>
                <a:latin typeface="+mn-lt"/>
                <a:cs typeface="+mn-lt"/>
              </a:rPr>
              <a:t>该</a:t>
            </a:r>
            <a:r>
              <a:rPr lang="en-US" altLang="zh-CN" sz="2400" spc="-100" dirty="0">
                <a:solidFill>
                  <a:schemeClr val="tx1"/>
                </a:solidFill>
                <a:highlight>
                  <a:srgbClr val="FFFF00"/>
                </a:highlight>
                <a:uFillTx/>
                <a:latin typeface="+mn-lt"/>
                <a:cs typeface="+mn-lt"/>
              </a:rPr>
              <a:t>INSERT</a:t>
            </a:r>
            <a:r>
              <a:rPr lang="zh-CN" altLang="en-US" sz="2400" spc="-100" dirty="0">
                <a:solidFill>
                  <a:schemeClr val="tx1"/>
                </a:solidFill>
                <a:highlight>
                  <a:srgbClr val="FFFF00"/>
                </a:highlight>
                <a:uFillTx/>
                <a:latin typeface="+mn-lt"/>
                <a:cs typeface="+mn-lt"/>
              </a:rPr>
              <a:t>语句就是结果事件</a:t>
            </a:r>
            <a:r>
              <a:rPr lang="en-US" altLang="zh-CN" sz="2400" spc="-100" dirty="0">
                <a:solidFill>
                  <a:schemeClr val="tx1"/>
                </a:solidFill>
                <a:highlight>
                  <a:srgbClr val="FFFF00"/>
                </a:highlight>
                <a:uFillTx/>
                <a:latin typeface="+mn-lt"/>
                <a:cs typeface="+mn-lt"/>
              </a:rPr>
              <a:t>*/</a:t>
            </a:r>
            <a:endParaRPr lang="en-US" altLang="zh-CN" sz="2400" dirty="0">
              <a:latin typeface="+mn-lt"/>
              <a:cs typeface="+mn-lt"/>
            </a:endParaRPr>
          </a:p>
          <a:p>
            <a:pPr marL="0" lvl="0" indent="0">
              <a:lnSpc>
                <a:spcPct val="110000"/>
              </a:lnSpc>
              <a:spcBef>
                <a:spcPts val="600"/>
              </a:spcBef>
              <a:buNone/>
            </a:pPr>
            <a:r>
              <a:rPr lang="en-US" altLang="zh-CN" sz="2400" dirty="0">
                <a:latin typeface="+mn-lt"/>
                <a:cs typeface="+mn-lt"/>
              </a:rPr>
              <a:t>VALUES</a:t>
            </a:r>
            <a:r>
              <a:rPr lang="zh-CN" altLang="en-US" sz="2400" dirty="0">
                <a:latin typeface="+mn-lt"/>
                <a:cs typeface="+mn-lt"/>
              </a:rPr>
              <a:t>(</a:t>
            </a:r>
            <a:r>
              <a:rPr lang="en-US" altLang="zh-CN" sz="2400" dirty="0" err="1">
                <a:latin typeface="+mn-lt"/>
                <a:cs typeface="+mn-lt"/>
              </a:rPr>
              <a:t>OldTuple.Sno, OldTuple.Cno, OldTuple.Grade, NewTuple.Grade</a:t>
            </a:r>
            <a:r>
              <a:rPr lang="zh-CN" altLang="en-US" sz="2400" dirty="0">
                <a:latin typeface="+mn-lt"/>
                <a:cs typeface="+mn-lt"/>
              </a:rPr>
              <a:t>)</a:t>
            </a:r>
            <a:r>
              <a:rPr lang="en-US" altLang="zh-CN" sz="2400" dirty="0">
                <a:latin typeface="+mn-lt"/>
                <a:cs typeface="+mn-lt"/>
              </a:rPr>
              <a:t>;</a:t>
            </a:r>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a:t>触发器示例 </a:t>
            </a:r>
            <a:r>
              <a:rPr lang="en-US" altLang="zh-CN" dirty="0"/>
              <a:t>2</a:t>
            </a:r>
          </a:p>
        </p:txBody>
      </p:sp>
      <p:sp>
        <p:nvSpPr>
          <p:cNvPr id="68612" name="Rectangle 3"/>
          <p:cNvSpPr>
            <a:spLocks noGrp="1" noChangeArrowheads="1"/>
          </p:cNvSpPr>
          <p:nvPr>
            <p:ph idx="1"/>
          </p:nvPr>
        </p:nvSpPr>
        <p:spPr>
          <a:xfrm>
            <a:off x="424180" y="687070"/>
            <a:ext cx="11343005" cy="1014730"/>
          </a:xfrm>
        </p:spPr>
        <p:txBody>
          <a:bodyPr>
            <a:noAutofit/>
          </a:bodyPr>
          <a:lstStyle/>
          <a:p>
            <a:pPr>
              <a:lnSpc>
                <a:spcPct val="100000"/>
              </a:lnSpc>
              <a:spcBef>
                <a:spcPts val="0"/>
              </a:spcBef>
            </a:pP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5.22] </a:t>
            </a:r>
            <a:r>
              <a:rPr lang="zh-CN" altLang="en-US" dirty="0">
                <a:latin typeface="Arial" panose="020B0604020202020204" pitchFamily="34" charset="0"/>
                <a:cs typeface="Arial" panose="020B0604020202020204" pitchFamily="34" charset="0"/>
              </a:rPr>
              <a:t>将每次对表</a:t>
            </a:r>
            <a:r>
              <a:rPr lang="en-US" altLang="zh-CN" dirty="0">
                <a:latin typeface="Arial" panose="020B0604020202020204" pitchFamily="34" charset="0"/>
                <a:cs typeface="Arial" panose="020B0604020202020204" pitchFamily="34" charset="0"/>
              </a:rPr>
              <a:t>Student</a:t>
            </a:r>
            <a:r>
              <a:rPr lang="zh-CN" altLang="en-US" dirty="0">
                <a:latin typeface="Arial" panose="020B0604020202020204" pitchFamily="34" charset="0"/>
                <a:cs typeface="Arial" panose="020B0604020202020204" pitchFamily="34" charset="0"/>
              </a:rPr>
              <a:t>的插入操作所增加的学生人数记录到表</a:t>
            </a:r>
            <a:r>
              <a:rPr lang="en-US" altLang="zh-CN" dirty="0" err="1">
                <a:latin typeface="Arial" panose="020B0604020202020204" pitchFamily="34" charset="0"/>
                <a:cs typeface="Arial" panose="020B0604020202020204" pitchFamily="34" charset="0"/>
              </a:rPr>
              <a:t>StudentInsertLog</a:t>
            </a:r>
            <a:r>
              <a:rPr lang="zh-CN" altLang="en-US" dirty="0">
                <a:latin typeface="Arial" panose="020B0604020202020204" pitchFamily="34" charset="0"/>
                <a:cs typeface="Arial" panose="020B0604020202020204" pitchFamily="34" charset="0"/>
              </a:rPr>
              <a:t>中。</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67</a:t>
            </a:fld>
            <a:endParaRPr lang="zh-CN" altLang="en-US"/>
          </a:p>
        </p:txBody>
      </p:sp>
      <p:sp>
        <p:nvSpPr>
          <p:cNvPr id="2" name="Rectangle 3"/>
          <p:cNvSpPr>
            <a:spLocks noGrp="1" noChangeArrowheads="1"/>
          </p:cNvSpPr>
          <p:nvPr/>
        </p:nvSpPr>
        <p:spPr>
          <a:xfrm>
            <a:off x="424180" y="1894205"/>
            <a:ext cx="11343005" cy="4212590"/>
          </a:xfrm>
          <a:prstGeom prst="rect">
            <a:avLst/>
          </a:prstGeom>
          <a:solidFill>
            <a:schemeClr val="accent3">
              <a:lumMod val="20000"/>
              <a:lumOff val="80000"/>
              <a:alpha val="50000"/>
            </a:schemeClr>
          </a:solidFill>
          <a:ln>
            <a:solidFill>
              <a:schemeClr val="accent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CREATE TRIGGER </a:t>
            </a:r>
            <a:r>
              <a:rPr lang="en-US" altLang="zh-CN" sz="2400" dirty="0" err="1">
                <a:latin typeface="Arial" panose="020B0604020202020204" pitchFamily="34" charset="0"/>
                <a:cs typeface="Arial" panose="020B0604020202020204" pitchFamily="34" charset="0"/>
              </a:rPr>
              <a:t>Student_Count</a:t>
            </a:r>
            <a:endParaRPr lang="zh-CN" altLang="en-US" sz="2400" dirty="0">
              <a:latin typeface="Arial" panose="020B0604020202020204" pitchFamily="34" charset="0"/>
              <a:cs typeface="Arial" panose="020B0604020202020204" pitchFamily="34" charset="0"/>
            </a:endParaRPr>
          </a:p>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AFTER INSERT ON Student  </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指明触发器激活的时间是在执行</a:t>
            </a:r>
            <a:r>
              <a:rPr lang="en-US" altLang="zh-CN" sz="2400" dirty="0">
                <a:solidFill>
                  <a:schemeClr val="tx1"/>
                </a:solidFill>
                <a:latin typeface="Arial" panose="020B0604020202020204" pitchFamily="34" charset="0"/>
                <a:cs typeface="Arial" panose="020B0604020202020204" pitchFamily="34" charset="0"/>
              </a:rPr>
              <a:t>INSERT</a:t>
            </a:r>
            <a:r>
              <a:rPr lang="zh-CN" altLang="en-US" sz="2400" dirty="0">
                <a:solidFill>
                  <a:schemeClr val="tx1"/>
                </a:solidFill>
                <a:latin typeface="Arial" panose="020B0604020202020204" pitchFamily="34" charset="0"/>
                <a:cs typeface="Arial" panose="020B0604020202020204" pitchFamily="34" charset="0"/>
              </a:rPr>
              <a:t>后</a:t>
            </a:r>
            <a:r>
              <a:rPr lang="en-US" altLang="zh-CN" sz="2400" dirty="0">
                <a:solidFill>
                  <a:schemeClr val="tx1"/>
                </a:solidFill>
                <a:latin typeface="Arial" panose="020B0604020202020204" pitchFamily="34" charset="0"/>
                <a:cs typeface="Arial" panose="020B0604020202020204" pitchFamily="34" charset="0"/>
              </a:rPr>
              <a:t> */ </a:t>
            </a:r>
            <a:r>
              <a:rPr lang="en-US" altLang="zh-CN" sz="2400" dirty="0">
                <a:latin typeface="Arial" panose="020B0604020202020204" pitchFamily="34" charset="0"/>
                <a:cs typeface="Arial" panose="020B0604020202020204" pitchFamily="34" charset="0"/>
              </a:rPr>
              <a:t>    </a:t>
            </a:r>
          </a:p>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REFERENCING  NEW TABLE  AS  </a:t>
            </a:r>
            <a:r>
              <a:rPr lang="en-US" altLang="zh-CN" sz="2400" dirty="0">
                <a:solidFill>
                  <a:srgbClr val="FF0000"/>
                </a:solidFill>
                <a:latin typeface="Arial" panose="020B0604020202020204" pitchFamily="34" charset="0"/>
                <a:cs typeface="Arial" panose="020B0604020202020204" pitchFamily="34" charset="0"/>
              </a:rPr>
              <a:t>DELTA</a:t>
            </a:r>
          </a:p>
          <a:p>
            <a:pPr marL="914400" lvl="2" indent="0" fontAlgn="auto">
              <a:lnSpc>
                <a:spcPct val="100000"/>
              </a:lnSpc>
              <a:spcBef>
                <a:spcPts val="1000"/>
              </a:spcBef>
              <a:spcAft>
                <a:spcPts val="300"/>
              </a:spcAft>
              <a:buNone/>
            </a:pPr>
            <a:r>
              <a:rPr lang="en-US" altLang="zh-CN" sz="2400" dirty="0">
                <a:solidFill>
                  <a:schemeClr val="tx1"/>
                </a:solidFill>
                <a:latin typeface="Arial" panose="020B0604020202020204" pitchFamily="34" charset="0"/>
                <a:cs typeface="Arial" panose="020B0604020202020204" pitchFamily="34" charset="0"/>
                <a:sym typeface="+mn-ea"/>
              </a:rPr>
              <a:t>/* </a:t>
            </a:r>
            <a:r>
              <a:rPr lang="zh-CN" altLang="en-US" sz="2400" dirty="0">
                <a:solidFill>
                  <a:schemeClr val="tx1"/>
                </a:solidFill>
                <a:latin typeface="Arial" panose="020B0604020202020204" pitchFamily="34" charset="0"/>
                <a:cs typeface="Arial" panose="020B0604020202020204" pitchFamily="34" charset="0"/>
                <a:sym typeface="+mn-ea"/>
              </a:rPr>
              <a:t>为执行</a:t>
            </a:r>
            <a:r>
              <a:rPr lang="en-US" altLang="zh-CN" sz="2400" dirty="0">
                <a:solidFill>
                  <a:schemeClr val="tx1"/>
                </a:solidFill>
                <a:latin typeface="Arial" panose="020B0604020202020204" pitchFamily="34" charset="0"/>
                <a:cs typeface="Arial" panose="020B0604020202020204" pitchFamily="34" charset="0"/>
                <a:sym typeface="+mn-ea"/>
              </a:rPr>
              <a:t>INSERT</a:t>
            </a:r>
            <a:r>
              <a:rPr lang="zh-CN" altLang="en-US" sz="2400" dirty="0">
                <a:solidFill>
                  <a:schemeClr val="tx1"/>
                </a:solidFill>
                <a:latin typeface="Arial" panose="020B0604020202020204" pitchFamily="34" charset="0"/>
                <a:cs typeface="Arial" panose="020B0604020202020204" pitchFamily="34" charset="0"/>
                <a:sym typeface="+mn-ea"/>
              </a:rPr>
              <a:t>操作前的</a:t>
            </a:r>
            <a:r>
              <a:rPr lang="en-US" altLang="zh-CN" sz="2400" dirty="0">
                <a:solidFill>
                  <a:schemeClr val="tx1"/>
                </a:solidFill>
                <a:latin typeface="Arial" panose="020B0604020202020204" pitchFamily="34" charset="0"/>
                <a:cs typeface="Arial" panose="020B0604020202020204" pitchFamily="34" charset="0"/>
                <a:sym typeface="+mn-ea"/>
              </a:rPr>
              <a:t>student</a:t>
            </a:r>
            <a:r>
              <a:rPr lang="zh-CN" altLang="en-US" sz="2400" dirty="0">
                <a:solidFill>
                  <a:schemeClr val="tx1"/>
                </a:solidFill>
                <a:latin typeface="Arial" panose="020B0604020202020204" pitchFamily="34" charset="0"/>
                <a:cs typeface="Arial" panose="020B0604020202020204" pitchFamily="34" charset="0"/>
                <a:sym typeface="+mn-ea"/>
              </a:rPr>
              <a:t>表定义一个引用名</a:t>
            </a:r>
            <a:r>
              <a:rPr lang="en-US" altLang="zh-CN" sz="2400" dirty="0">
                <a:solidFill>
                  <a:schemeClr val="tx1"/>
                </a:solidFill>
                <a:latin typeface="Arial" panose="020B0604020202020204" pitchFamily="34" charset="0"/>
                <a:cs typeface="Arial" panose="020B0604020202020204" pitchFamily="34" charset="0"/>
                <a:sym typeface="+mn-ea"/>
              </a:rPr>
              <a:t>DELTA */</a:t>
            </a:r>
            <a:endParaRPr lang="zh-CN" altLang="en-US" sz="2400" dirty="0">
              <a:latin typeface="Arial" panose="020B0604020202020204" pitchFamily="34" charset="0"/>
              <a:cs typeface="Arial" panose="020B0604020202020204" pitchFamily="34" charset="0"/>
            </a:endParaRPr>
          </a:p>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FOR  </a:t>
            </a:r>
            <a:r>
              <a:rPr lang="en-US" altLang="zh-CN" sz="2400" dirty="0">
                <a:solidFill>
                  <a:srgbClr val="FF0000"/>
                </a:solidFill>
                <a:latin typeface="Arial" panose="020B0604020202020204" pitchFamily="34" charset="0"/>
                <a:cs typeface="Arial" panose="020B0604020202020204" pitchFamily="34" charset="0"/>
              </a:rPr>
              <a:t>EACH STATEMENT  </a:t>
            </a:r>
          </a:p>
          <a:p>
            <a:pPr marL="1275715" lvl="2" indent="-361315" fontAlgn="auto">
              <a:lnSpc>
                <a:spcPct val="100000"/>
              </a:lnSpc>
              <a:spcBef>
                <a:spcPts val="1000"/>
              </a:spcBef>
              <a:spcAft>
                <a:spcPts val="300"/>
              </a:spcAft>
              <a:buNone/>
            </a:pP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语句级触发器</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即执行完</a:t>
            </a:r>
            <a:r>
              <a:rPr lang="en-US" altLang="zh-CN" sz="2400" dirty="0">
                <a:solidFill>
                  <a:schemeClr val="tx1"/>
                </a:solidFill>
                <a:latin typeface="Arial" panose="020B0604020202020204" pitchFamily="34" charset="0"/>
                <a:cs typeface="Arial" panose="020B0604020202020204" pitchFamily="34" charset="0"/>
              </a:rPr>
              <a:t>INSERT</a:t>
            </a:r>
            <a:r>
              <a:rPr lang="zh-CN" altLang="en-US" sz="2400" dirty="0">
                <a:solidFill>
                  <a:schemeClr val="tx1"/>
                </a:solidFill>
                <a:latin typeface="Arial" panose="020B0604020202020204" pitchFamily="34" charset="0"/>
                <a:cs typeface="Arial" panose="020B0604020202020204" pitchFamily="34" charset="0"/>
              </a:rPr>
              <a:t>语句后</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对应的触发动作体只执行一次</a:t>
            </a:r>
            <a:r>
              <a:rPr lang="en-US" altLang="zh-CN" sz="2400" dirty="0">
                <a:solidFill>
                  <a:schemeClr val="tx1"/>
                </a:solidFill>
                <a:latin typeface="Arial" panose="020B0604020202020204" pitchFamily="34" charset="0"/>
                <a:cs typeface="Arial" panose="020B0604020202020204" pitchFamily="34" charset="0"/>
              </a:rPr>
              <a:t> */</a:t>
            </a:r>
            <a:endParaRPr lang="zh-CN" altLang="en-US" sz="2400" dirty="0">
              <a:latin typeface="Arial" panose="020B0604020202020204" pitchFamily="34" charset="0"/>
              <a:cs typeface="Arial" panose="020B0604020202020204" pitchFamily="34" charset="0"/>
            </a:endParaRPr>
          </a:p>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INSERT  INTO  </a:t>
            </a:r>
            <a:r>
              <a:rPr lang="en-US" altLang="zh-CN" sz="2400" dirty="0" err="1">
                <a:latin typeface="Arial" panose="020B0604020202020204" pitchFamily="34" charset="0"/>
                <a:cs typeface="Arial" panose="020B0604020202020204" pitchFamily="34" charset="0"/>
              </a:rPr>
              <a:t>StudentInsertLog</a:t>
            </a:r>
            <a:r>
              <a:rPr lang="en-US" altLang="zh-CN" sz="2400" dirty="0">
                <a:latin typeface="Arial" panose="020B0604020202020204" pitchFamily="34" charset="0"/>
                <a:cs typeface="Arial" panose="020B0604020202020204" pitchFamily="34" charset="0"/>
              </a:rPr>
              <a:t> </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Numbers</a:t>
            </a:r>
            <a:r>
              <a:rPr lang="zh-CN" altLang="en-US" sz="2400" dirty="0">
                <a:latin typeface="Arial" panose="020B0604020202020204" pitchFamily="34" charset="0"/>
                <a:cs typeface="Arial" panose="020B0604020202020204" pitchFamily="34" charset="0"/>
              </a:rPr>
              <a:t>)</a:t>
            </a:r>
          </a:p>
          <a:p>
            <a:pPr marL="457200" lvl="1" indent="0" fontAlgn="auto">
              <a:lnSpc>
                <a:spcPct val="100000"/>
              </a:lnSpc>
              <a:spcBef>
                <a:spcPts val="1000"/>
              </a:spcBef>
              <a:spcAft>
                <a:spcPts val="300"/>
              </a:spcAft>
              <a:buNone/>
            </a:pPr>
            <a:r>
              <a:rPr lang="en-US" altLang="zh-CN" sz="2400" dirty="0">
                <a:latin typeface="Arial" panose="020B0604020202020204" pitchFamily="34" charset="0"/>
                <a:cs typeface="Arial" panose="020B0604020202020204" pitchFamily="34" charset="0"/>
              </a:rPr>
              <a:t>SELECT COUNT</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 FROM DELTA ;</a:t>
            </a:r>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69635" name="Rectangle 2"/>
          <p:cNvSpPr>
            <a:spLocks noGrp="1" noChangeArrowheads="1"/>
          </p:cNvSpPr>
          <p:nvPr>
            <p:ph type="title"/>
          </p:nvPr>
        </p:nvSpPr>
        <p:spPr/>
        <p:txBody>
          <a:bodyPr/>
          <a:lstStyle/>
          <a:p>
            <a:r>
              <a:rPr lang="zh-CN" altLang="en-US" dirty="0"/>
              <a:t>触发器示例 </a:t>
            </a:r>
            <a:r>
              <a:rPr lang="en-US" altLang="zh-CN" dirty="0"/>
              <a:t>3</a:t>
            </a:r>
          </a:p>
        </p:txBody>
      </p:sp>
      <p:sp>
        <p:nvSpPr>
          <p:cNvPr id="69636" name="Rectangle 3"/>
          <p:cNvSpPr>
            <a:spLocks noGrp="1" noChangeArrowheads="1"/>
          </p:cNvSpPr>
          <p:nvPr>
            <p:ph idx="1"/>
          </p:nvPr>
        </p:nvSpPr>
        <p:spPr>
          <a:xfrm>
            <a:off x="424180" y="687070"/>
            <a:ext cx="11343005" cy="902970"/>
          </a:xfrm>
        </p:spPr>
        <p:txBody>
          <a:bodyPr>
            <a:noAutofit/>
          </a:bodyPr>
          <a:lstStyle/>
          <a:p>
            <a:pPr>
              <a:lnSpc>
                <a:spcPct val="110000"/>
              </a:lnSpc>
              <a:spcBef>
                <a:spcPts val="0"/>
              </a:spcBef>
            </a:pP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例5.</a:t>
            </a:r>
            <a:r>
              <a:rPr lang="en-US" altLang="zh-CN" sz="2400" dirty="0">
                <a:latin typeface="Arial" panose="020B0604020202020204" pitchFamily="34" charset="0"/>
                <a:cs typeface="Arial" panose="020B0604020202020204" pitchFamily="34" charset="0"/>
              </a:rPr>
              <a:t>23] </a:t>
            </a:r>
            <a:r>
              <a:rPr lang="zh-CN" altLang="en-US" sz="2400" dirty="0">
                <a:latin typeface="Arial" panose="020B0604020202020204" pitchFamily="34" charset="0"/>
                <a:cs typeface="Arial" panose="020B0604020202020204" pitchFamily="34" charset="0"/>
              </a:rPr>
              <a:t>定义一个</a:t>
            </a:r>
            <a:r>
              <a:rPr lang="en-US" altLang="zh-CN" sz="2400" dirty="0">
                <a:latin typeface="Arial" panose="020B0604020202020204" pitchFamily="34" charset="0"/>
                <a:cs typeface="Arial" panose="020B0604020202020204" pitchFamily="34" charset="0"/>
              </a:rPr>
              <a:t>BEFORE</a:t>
            </a:r>
            <a:r>
              <a:rPr lang="zh-CN" altLang="en-US" sz="2400" dirty="0">
                <a:latin typeface="Arial" panose="020B0604020202020204" pitchFamily="34" charset="0"/>
                <a:cs typeface="Arial" panose="020B0604020202020204" pitchFamily="34" charset="0"/>
              </a:rPr>
              <a:t>行级触发器，为教师表</a:t>
            </a:r>
            <a:r>
              <a:rPr lang="en-US" altLang="zh-CN" sz="2400" dirty="0">
                <a:latin typeface="Arial" panose="020B0604020202020204" pitchFamily="34" charset="0"/>
                <a:cs typeface="Arial" panose="020B0604020202020204" pitchFamily="34" charset="0"/>
              </a:rPr>
              <a:t>Teacher</a:t>
            </a:r>
            <a:r>
              <a:rPr lang="zh-CN" altLang="en-US" sz="2400" dirty="0">
                <a:latin typeface="Arial" panose="020B0604020202020204" pitchFamily="34" charset="0"/>
                <a:cs typeface="Arial" panose="020B0604020202020204" pitchFamily="34" charset="0"/>
              </a:rPr>
              <a:t>定义完整性规则“教授的工资不得低于</a:t>
            </a:r>
            <a:r>
              <a:rPr lang="en-US" altLang="zh-CN" sz="2400" dirty="0">
                <a:latin typeface="Arial" panose="020B0604020202020204" pitchFamily="34" charset="0"/>
                <a:cs typeface="Arial" panose="020B0604020202020204" pitchFamily="34" charset="0"/>
              </a:rPr>
              <a:t>4000</a:t>
            </a:r>
            <a:r>
              <a:rPr lang="zh-CN" altLang="en-US" sz="2400" dirty="0">
                <a:latin typeface="Arial" panose="020B0604020202020204" pitchFamily="34" charset="0"/>
                <a:cs typeface="Arial" panose="020B0604020202020204" pitchFamily="34" charset="0"/>
              </a:rPr>
              <a:t>元，如果低于</a:t>
            </a:r>
            <a:r>
              <a:rPr lang="en-US" altLang="zh-CN" sz="2400" dirty="0">
                <a:latin typeface="Arial" panose="020B0604020202020204" pitchFamily="34" charset="0"/>
                <a:cs typeface="Arial" panose="020B0604020202020204" pitchFamily="34" charset="0"/>
              </a:rPr>
              <a:t>4000</a:t>
            </a:r>
            <a:r>
              <a:rPr lang="zh-CN" altLang="en-US" sz="2400" dirty="0">
                <a:latin typeface="Arial" panose="020B0604020202020204" pitchFamily="34" charset="0"/>
                <a:cs typeface="Arial" panose="020B0604020202020204" pitchFamily="34" charset="0"/>
              </a:rPr>
              <a:t>元，自动改为</a:t>
            </a:r>
            <a:r>
              <a:rPr lang="en-US" altLang="zh-CN" sz="2400" dirty="0">
                <a:latin typeface="Arial" panose="020B0604020202020204" pitchFamily="34" charset="0"/>
                <a:cs typeface="Arial" panose="020B0604020202020204" pitchFamily="34" charset="0"/>
              </a:rPr>
              <a:t>4000</a:t>
            </a:r>
            <a:r>
              <a:rPr lang="zh-CN" altLang="en-US" sz="2400" dirty="0">
                <a:latin typeface="Arial" panose="020B0604020202020204" pitchFamily="34" charset="0"/>
                <a:cs typeface="Arial" panose="020B0604020202020204" pitchFamily="34" charset="0"/>
              </a:rPr>
              <a:t>元”。</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68</a:t>
            </a:fld>
            <a:endParaRPr lang="zh-CN" altLang="en-US"/>
          </a:p>
        </p:txBody>
      </p:sp>
      <p:sp>
        <p:nvSpPr>
          <p:cNvPr id="2" name="Rectangle 3"/>
          <p:cNvSpPr>
            <a:spLocks noGrp="1" noChangeArrowheads="1"/>
          </p:cNvSpPr>
          <p:nvPr/>
        </p:nvSpPr>
        <p:spPr>
          <a:xfrm>
            <a:off x="424180" y="1797685"/>
            <a:ext cx="11343005" cy="4707890"/>
          </a:xfrm>
          <a:prstGeom prst="rect">
            <a:avLst/>
          </a:prstGeom>
          <a:solidFill>
            <a:schemeClr val="accent3">
              <a:lumMod val="20000"/>
              <a:lumOff val="80000"/>
              <a:alpha val="50000"/>
            </a:schemeClr>
          </a:solidFill>
          <a:ln>
            <a:solidFill>
              <a:schemeClr val="accent1"/>
            </a:solidFill>
          </a:ln>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800"/>
              </a:spcBef>
              <a:buNone/>
            </a:pPr>
            <a:r>
              <a:rPr lang="en-US" altLang="zh-CN" sz="2400" dirty="0">
                <a:latin typeface="Arial" panose="020B0604020202020204" pitchFamily="34" charset="0"/>
                <a:cs typeface="Arial" panose="020B0604020202020204" pitchFamily="34" charset="0"/>
              </a:rPr>
              <a:t>CREATE TRIGGER </a:t>
            </a:r>
            <a:r>
              <a:rPr lang="en-US" altLang="zh-CN" sz="2400" dirty="0" err="1">
                <a:latin typeface="Arial" panose="020B0604020202020204" pitchFamily="34" charset="0"/>
                <a:cs typeface="Arial" panose="020B0604020202020204" pitchFamily="34" charset="0"/>
              </a:rPr>
              <a:t>Insert_Or_Update_Sal</a:t>
            </a:r>
            <a:r>
              <a:rPr lang="en-US" altLang="zh-CN" sz="2400" dirty="0">
                <a:latin typeface="Arial" panose="020B0604020202020204" pitchFamily="34" charset="0"/>
                <a:cs typeface="Arial" panose="020B0604020202020204" pitchFamily="34" charset="0"/>
              </a:rPr>
              <a:t> </a:t>
            </a:r>
          </a:p>
          <a:p>
            <a:pPr marL="457200" lvl="1" indent="0">
              <a:lnSpc>
                <a:spcPct val="100000"/>
              </a:lnSpc>
              <a:spcBef>
                <a:spcPts val="800"/>
              </a:spcBef>
              <a:buNone/>
            </a:pPr>
            <a:r>
              <a:rPr lang="en-US" altLang="zh-CN" sz="2400" dirty="0">
                <a:latin typeface="Arial" panose="020B0604020202020204" pitchFamily="34" charset="0"/>
                <a:cs typeface="Arial" panose="020B0604020202020204" pitchFamily="34" charset="0"/>
              </a:rPr>
              <a:t>BEFORE INSERT OR UPDATE ON Teacher  </a:t>
            </a:r>
          </a:p>
          <a:p>
            <a:pPr marL="914400" lvl="2" indent="0">
              <a:lnSpc>
                <a:spcPct val="100000"/>
              </a:lnSpc>
              <a:spcBef>
                <a:spcPts val="800"/>
              </a:spcBef>
              <a:buNone/>
            </a:pP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触发事件是</a:t>
            </a:r>
            <a:r>
              <a:rPr lang="en-US" altLang="zh-CN" sz="2400" dirty="0">
                <a:solidFill>
                  <a:schemeClr val="tx1"/>
                </a:solidFill>
                <a:latin typeface="Arial" panose="020B0604020202020204" pitchFamily="34" charset="0"/>
                <a:cs typeface="Arial" panose="020B0604020202020204" pitchFamily="34" charset="0"/>
              </a:rPr>
              <a:t>teacher</a:t>
            </a:r>
            <a:r>
              <a:rPr lang="zh-CN" altLang="en-US" sz="2400" dirty="0">
                <a:solidFill>
                  <a:schemeClr val="tx1"/>
                </a:solidFill>
                <a:latin typeface="Arial" panose="020B0604020202020204" pitchFamily="34" charset="0"/>
                <a:cs typeface="Arial" panose="020B0604020202020204" pitchFamily="34" charset="0"/>
              </a:rPr>
              <a:t>表上的插入或更新操作</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a:t>
            </a:r>
            <a:r>
              <a:rPr lang="en-US" altLang="zh-CN" sz="2400" dirty="0">
                <a:solidFill>
                  <a:schemeClr val="tx1"/>
                </a:solidFill>
                <a:latin typeface="Arial" panose="020B0604020202020204" pitchFamily="34" charset="0"/>
                <a:cs typeface="Arial" panose="020B0604020202020204" pitchFamily="34" charset="0"/>
              </a:rPr>
              <a:t>/</a:t>
            </a:r>
          </a:p>
          <a:p>
            <a:pPr marL="457200" lvl="1" indent="0">
              <a:lnSpc>
                <a:spcPct val="100000"/>
              </a:lnSpc>
              <a:spcBef>
                <a:spcPts val="800"/>
              </a:spcBef>
              <a:buNone/>
            </a:pPr>
            <a:r>
              <a:rPr lang="en-US" altLang="zh-CN" sz="2400" dirty="0">
                <a:latin typeface="Arial" panose="020B0604020202020204" pitchFamily="34" charset="0"/>
                <a:cs typeface="Arial" panose="020B0604020202020204" pitchFamily="34" charset="0"/>
              </a:rPr>
              <a:t>REFERENCING </a:t>
            </a:r>
            <a:r>
              <a:rPr lang="en-US" altLang="zh-CN" sz="2400" dirty="0">
                <a:solidFill>
                  <a:srgbClr val="FF0000"/>
                </a:solidFill>
                <a:latin typeface="Arial" panose="020B0604020202020204" pitchFamily="34" charset="0"/>
                <a:cs typeface="Arial" panose="020B0604020202020204" pitchFamily="34" charset="0"/>
              </a:rPr>
              <a:t>NEW ROW AS </a:t>
            </a:r>
            <a:r>
              <a:rPr lang="en-US" altLang="zh-CN" sz="2400" dirty="0" err="1">
                <a:solidFill>
                  <a:srgbClr val="FF0000"/>
                </a:solidFill>
                <a:latin typeface="Arial" panose="020B0604020202020204" pitchFamily="34" charset="0"/>
                <a:cs typeface="Arial" panose="020B0604020202020204" pitchFamily="34" charset="0"/>
              </a:rPr>
              <a:t>newTuple </a:t>
            </a:r>
            <a:r>
              <a:rPr lang="en-US" altLang="zh-CN" sz="2400" dirty="0" err="1">
                <a:solidFill>
                  <a:schemeClr val="tx1"/>
                </a:solidFill>
                <a:latin typeface="Arial" panose="020B0604020202020204" pitchFamily="34" charset="0"/>
                <a:cs typeface="Arial" panose="020B0604020202020204" pitchFamily="34" charset="0"/>
              </a:rPr>
              <a:t> /* </a:t>
            </a:r>
            <a:r>
              <a:rPr lang="zh-CN" altLang="en-US" sz="2400" dirty="0" err="1">
                <a:solidFill>
                  <a:schemeClr val="tx1"/>
                </a:solidFill>
                <a:latin typeface="Arial" panose="020B0604020202020204" pitchFamily="34" charset="0"/>
                <a:cs typeface="Arial" panose="020B0604020202020204" pitchFamily="34" charset="0"/>
              </a:rPr>
              <a:t>定义新元组的引用名</a:t>
            </a:r>
            <a:r>
              <a:rPr lang="en-US" altLang="zh-CN" sz="2400" dirty="0" err="1">
                <a:solidFill>
                  <a:schemeClr val="tx1"/>
                </a:solidFill>
                <a:latin typeface="Arial" panose="020B0604020202020204" pitchFamily="34" charset="0"/>
                <a:cs typeface="Arial" panose="020B0604020202020204" pitchFamily="34" charset="0"/>
              </a:rPr>
              <a:t> */</a:t>
            </a:r>
            <a:endParaRPr lang="en-US" altLang="zh-CN" sz="2400" dirty="0">
              <a:solidFill>
                <a:schemeClr val="tx1"/>
              </a:solidFill>
              <a:latin typeface="Arial" panose="020B0604020202020204" pitchFamily="34" charset="0"/>
              <a:cs typeface="Arial" panose="020B0604020202020204" pitchFamily="34" charset="0"/>
            </a:endParaRPr>
          </a:p>
          <a:p>
            <a:pPr marL="457200" lvl="1" indent="0">
              <a:lnSpc>
                <a:spcPct val="100000"/>
              </a:lnSpc>
              <a:spcBef>
                <a:spcPts val="800"/>
              </a:spcBef>
              <a:buNone/>
            </a:pPr>
            <a:r>
              <a:rPr lang="en-US" altLang="zh-CN" sz="2400" dirty="0">
                <a:solidFill>
                  <a:srgbClr val="FF0000"/>
                </a:solidFill>
                <a:latin typeface="Arial" panose="020B0604020202020204" pitchFamily="34" charset="0"/>
                <a:cs typeface="Arial" panose="020B0604020202020204" pitchFamily="34" charset="0"/>
              </a:rPr>
              <a:t>FOR EACH ROW</a:t>
            </a:r>
            <a:r>
              <a:rPr lang="en-US" altLang="zh-CN" sz="2400" dirty="0">
                <a:latin typeface="Arial" panose="020B0604020202020204" pitchFamily="34" charset="0"/>
                <a:cs typeface="Arial" panose="020B0604020202020204" pitchFamily="34" charset="0"/>
              </a:rPr>
              <a:t>       </a:t>
            </a:r>
            <a:r>
              <a:rPr lang="en-US" altLang="zh-CN" sz="2400" dirty="0">
                <a:solidFill>
                  <a:schemeClr val="tx1"/>
                </a:solidFill>
                <a:latin typeface="Arial" panose="020B0604020202020204" pitchFamily="34" charset="0"/>
                <a:cs typeface="Arial" panose="020B0604020202020204" pitchFamily="34" charset="0"/>
              </a:rPr>
              <a:t> /* </a:t>
            </a:r>
            <a:r>
              <a:rPr lang="zh-CN" altLang="en-US" sz="2400" dirty="0">
                <a:solidFill>
                  <a:schemeClr val="tx1"/>
                </a:solidFill>
                <a:latin typeface="Arial" panose="020B0604020202020204" pitchFamily="34" charset="0"/>
                <a:cs typeface="Arial" panose="020B0604020202020204" pitchFamily="34" charset="0"/>
              </a:rPr>
              <a:t>行级触发器</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a:t>
            </a:r>
            <a:r>
              <a:rPr lang="en-US" altLang="zh-CN" sz="2400" dirty="0">
                <a:solidFill>
                  <a:schemeClr val="tx1"/>
                </a:solidFill>
                <a:latin typeface="Arial" panose="020B0604020202020204" pitchFamily="34" charset="0"/>
                <a:cs typeface="Arial" panose="020B0604020202020204" pitchFamily="34" charset="0"/>
              </a:rPr>
              <a:t>/</a:t>
            </a:r>
          </a:p>
          <a:p>
            <a:pPr marL="457200" lvl="1" indent="0">
              <a:lnSpc>
                <a:spcPct val="100000"/>
              </a:lnSpc>
              <a:spcBef>
                <a:spcPts val="800"/>
              </a:spcBef>
              <a:buNone/>
            </a:pPr>
            <a:r>
              <a:rPr lang="en-US" altLang="zh-CN" sz="2400" dirty="0">
                <a:latin typeface="Arial" panose="020B0604020202020204" pitchFamily="34" charset="0"/>
                <a:cs typeface="Arial" panose="020B0604020202020204" pitchFamily="34" charset="0"/>
              </a:rPr>
              <a:t>BEGIN    </a:t>
            </a:r>
            <a:r>
              <a:rPr lang="en-US" altLang="zh-CN" sz="2400" dirty="0">
                <a:solidFill>
                  <a:schemeClr val="tx1"/>
                </a:solidFill>
                <a:latin typeface="Arial" panose="020B0604020202020204" pitchFamily="34" charset="0"/>
                <a:cs typeface="Arial" panose="020B0604020202020204" pitchFamily="34" charset="0"/>
              </a:rPr>
              <a:t> /* </a:t>
            </a:r>
            <a:r>
              <a:rPr lang="zh-CN" altLang="en-US" sz="2400" dirty="0">
                <a:solidFill>
                  <a:schemeClr val="tx1"/>
                </a:solidFill>
                <a:latin typeface="Arial" panose="020B0604020202020204" pitchFamily="34" charset="0"/>
                <a:cs typeface="Arial" panose="020B0604020202020204" pitchFamily="34" charset="0"/>
              </a:rPr>
              <a:t>定义触发动作体，是一个</a:t>
            </a:r>
            <a:r>
              <a:rPr lang="en-US" altLang="zh-CN" sz="2400" dirty="0">
                <a:solidFill>
                  <a:schemeClr val="tx1"/>
                </a:solidFill>
                <a:latin typeface="Arial" panose="020B0604020202020204" pitchFamily="34" charset="0"/>
                <a:cs typeface="Arial" panose="020B0604020202020204" pitchFamily="34" charset="0"/>
              </a:rPr>
              <a:t>PL/SQL</a:t>
            </a:r>
            <a:r>
              <a:rPr lang="zh-CN" altLang="en-US" sz="2400" dirty="0">
                <a:solidFill>
                  <a:schemeClr val="tx1"/>
                </a:solidFill>
                <a:latin typeface="Arial" panose="020B0604020202020204" pitchFamily="34" charset="0"/>
                <a:cs typeface="Arial" panose="020B0604020202020204" pitchFamily="34" charset="0"/>
              </a:rPr>
              <a:t>过程块</a:t>
            </a:r>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a:t>
            </a:r>
            <a:r>
              <a:rPr lang="en-US" altLang="zh-CN" sz="2400" dirty="0">
                <a:solidFill>
                  <a:schemeClr val="tx1"/>
                </a:solidFill>
                <a:latin typeface="Arial" panose="020B0604020202020204" pitchFamily="34" charset="0"/>
                <a:cs typeface="Arial" panose="020B0604020202020204" pitchFamily="34" charset="0"/>
              </a:rPr>
              <a:t>/</a:t>
            </a:r>
          </a:p>
          <a:p>
            <a:pPr marL="914400" lvl="2" indent="0">
              <a:lnSpc>
                <a:spcPct val="100000"/>
              </a:lnSpc>
              <a:spcBef>
                <a:spcPts val="800"/>
              </a:spcBef>
              <a:buNone/>
            </a:pPr>
            <a:r>
              <a:rPr lang="en-US" altLang="zh-CN" sz="2400" dirty="0">
                <a:latin typeface="Arial" panose="020B0604020202020204" pitchFamily="34" charset="0"/>
                <a:cs typeface="Arial" panose="020B0604020202020204" pitchFamily="34" charset="0"/>
              </a:rPr>
              <a:t>IF </a:t>
            </a:r>
            <a:r>
              <a:rPr lang="zh-CN" altLang="en-US"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newTuple.Job </a:t>
            </a:r>
            <a:r>
              <a:rPr lang="en-US" altLang="zh-CN" sz="2400" dirty="0">
                <a:latin typeface="Arial" panose="020B0604020202020204" pitchFamily="34" charset="0"/>
                <a:cs typeface="Arial" panose="020B0604020202020204" pitchFamily="34" charset="0"/>
              </a:rPr>
              <a:t>= '</a:t>
            </a:r>
            <a:r>
              <a:rPr lang="zh-CN" altLang="en-US" sz="2400" dirty="0">
                <a:latin typeface="Arial" panose="020B0604020202020204" pitchFamily="34" charset="0"/>
                <a:cs typeface="Arial" panose="020B0604020202020204" pitchFamily="34" charset="0"/>
              </a:rPr>
              <a:t>教授</a:t>
            </a:r>
            <a:r>
              <a:rPr lang="en-US" altLang="zh-CN" sz="2400" dirty="0">
                <a:latin typeface="Arial" panose="020B0604020202020204" pitchFamily="34" charset="0"/>
                <a:cs typeface="Arial" panose="020B0604020202020204" pitchFamily="34" charset="0"/>
              </a:rPr>
              <a:t>'</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 AND </a:t>
            </a:r>
            <a:r>
              <a:rPr lang="zh-CN" altLang="en-US" sz="2400" dirty="0">
                <a:latin typeface="Arial" panose="020B0604020202020204" pitchFamily="34" charset="0"/>
                <a:cs typeface="Arial" panose="020B0604020202020204" pitchFamily="34" charset="0"/>
              </a:rPr>
              <a:t>(</a:t>
            </a:r>
            <a:r>
              <a:rPr lang="en-US" altLang="zh-CN" sz="2400" dirty="0" err="1">
                <a:latin typeface="Arial" panose="020B0604020202020204" pitchFamily="34" charset="0"/>
                <a:cs typeface="Arial" panose="020B0604020202020204" pitchFamily="34" charset="0"/>
              </a:rPr>
              <a:t>newTuple.Sal</a:t>
            </a:r>
            <a:r>
              <a:rPr lang="en-US" altLang="zh-CN" sz="2400" dirty="0">
                <a:latin typeface="Arial" panose="020B0604020202020204" pitchFamily="34" charset="0"/>
                <a:cs typeface="Arial" panose="020B0604020202020204" pitchFamily="34" charset="0"/>
              </a:rPr>
              <a:t> &lt; 4000</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 </a:t>
            </a:r>
          </a:p>
          <a:p>
            <a:pPr marL="914400" lvl="2" indent="0">
              <a:lnSpc>
                <a:spcPct val="100000"/>
              </a:lnSpc>
              <a:spcBef>
                <a:spcPts val="800"/>
              </a:spcBef>
              <a:buNone/>
            </a:pPr>
            <a:r>
              <a:rPr lang="en-US" altLang="zh-CN" sz="2400" dirty="0">
                <a:latin typeface="Arial" panose="020B0604020202020204" pitchFamily="34" charset="0"/>
                <a:cs typeface="Arial" panose="020B0604020202020204" pitchFamily="34" charset="0"/>
              </a:rPr>
              <a:t>THEN </a:t>
            </a:r>
            <a:r>
              <a:rPr lang="en-US" altLang="zh-CN" sz="2400" dirty="0" err="1">
                <a:latin typeface="Arial" panose="020B0604020202020204" pitchFamily="34" charset="0"/>
                <a:cs typeface="Arial" panose="020B0604020202020204" pitchFamily="34" charset="0"/>
              </a:rPr>
              <a:t>newTuple.Sal</a:t>
            </a:r>
            <a:r>
              <a:rPr lang="en-US" altLang="zh-CN" sz="2400" dirty="0">
                <a:latin typeface="Arial" panose="020B0604020202020204" pitchFamily="34" charset="0"/>
                <a:cs typeface="Arial" panose="020B0604020202020204" pitchFamily="34" charset="0"/>
              </a:rPr>
              <a:t> := 4000;                </a:t>
            </a:r>
          </a:p>
          <a:p>
            <a:pPr marL="914400" lvl="2" indent="0">
              <a:lnSpc>
                <a:spcPct val="100000"/>
              </a:lnSpc>
              <a:spcBef>
                <a:spcPts val="800"/>
              </a:spcBef>
              <a:buNone/>
            </a:pPr>
            <a:r>
              <a:rPr lang="en-US" altLang="zh-CN" sz="2400" dirty="0">
                <a:latin typeface="Arial" panose="020B0604020202020204" pitchFamily="34" charset="0"/>
                <a:cs typeface="Arial" panose="020B0604020202020204" pitchFamily="34" charset="0"/>
              </a:rPr>
              <a:t>END IF;</a:t>
            </a:r>
          </a:p>
          <a:p>
            <a:pPr marL="457200" lvl="1" indent="0">
              <a:lnSpc>
                <a:spcPct val="100000"/>
              </a:lnSpc>
              <a:spcBef>
                <a:spcPts val="800"/>
              </a:spcBef>
              <a:buNone/>
            </a:pPr>
            <a:r>
              <a:rPr lang="en-US" altLang="zh-CN" sz="2400" dirty="0">
                <a:latin typeface="Arial" panose="020B0604020202020204" pitchFamily="34" charset="0"/>
                <a:cs typeface="Arial" panose="020B0604020202020204" pitchFamily="34" charset="0"/>
              </a:rPr>
              <a:t>END;</a:t>
            </a:r>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sym typeface="+mn-ea"/>
              </a:rPr>
              <a:t>触发器示例 </a:t>
            </a:r>
            <a:r>
              <a:rPr lang="en-US" altLang="zh-CN" dirty="0">
                <a:sym typeface="+mn-ea"/>
              </a:rPr>
              <a:t>4</a:t>
            </a:r>
            <a:endParaRPr lang="zh-CN" altLang="en-US"/>
          </a:p>
        </p:txBody>
      </p:sp>
      <p:sp>
        <p:nvSpPr>
          <p:cNvPr id="100355" name="Rectangle 3"/>
          <p:cNvSpPr>
            <a:spLocks noGrp="1"/>
          </p:cNvSpPr>
          <p:nvPr>
            <p:ph idx="1"/>
          </p:nvPr>
        </p:nvSpPr>
        <p:spPr>
          <a:xfrm>
            <a:off x="424180" y="687070"/>
            <a:ext cx="11343005" cy="902970"/>
          </a:xfrm>
        </p:spPr>
        <p:txBody>
          <a:bodyPr wrap="square" anchor="t">
            <a:spAutoFit/>
          </a:bodyPr>
          <a:lstStyle/>
          <a:p>
            <a:pPr marL="800735" indent="-800735" eaLnBrk="1" hangingPunct="1">
              <a:buNone/>
            </a:pPr>
            <a:r>
              <a:rPr lang="en-US" altLang="zh-CN" sz="2400" dirty="0"/>
              <a:t>[</a:t>
            </a:r>
            <a:r>
              <a:rPr lang="zh-CN" altLang="en-US" sz="2400" dirty="0"/>
              <a:t>例</a:t>
            </a:r>
            <a:r>
              <a:rPr lang="en-US" altLang="zh-CN" sz="2400" dirty="0"/>
              <a:t>] </a:t>
            </a:r>
            <a:r>
              <a:rPr lang="zh-CN" altLang="en-US" sz="2400" dirty="0"/>
              <a:t>在</a:t>
            </a:r>
            <a:r>
              <a:rPr lang="en-US" altLang="zh-CN" sz="2400" dirty="0"/>
              <a:t>MyCAP</a:t>
            </a:r>
            <a:r>
              <a:rPr lang="zh-CN" altLang="en-US" sz="2400" dirty="0"/>
              <a:t>数据库中，当</a:t>
            </a:r>
            <a:r>
              <a:rPr lang="zh-CN" altLang="en-US" sz="2400" dirty="0">
                <a:solidFill>
                  <a:srgbClr val="1F2DA8"/>
                </a:solidFill>
              </a:rPr>
              <a:t>删除一个客户元组时，需要将该客户所有订单上的</a:t>
            </a:r>
            <a:r>
              <a:rPr lang="en-US" altLang="zh-CN" sz="2400" dirty="0">
                <a:solidFill>
                  <a:srgbClr val="1F2DA8"/>
                </a:solidFill>
              </a:rPr>
              <a:t>cid</a:t>
            </a:r>
            <a:r>
              <a:rPr lang="zh-CN" altLang="en-US" sz="2400" dirty="0">
                <a:solidFill>
                  <a:srgbClr val="1F2DA8"/>
                </a:solidFill>
              </a:rPr>
              <a:t>置为空值</a:t>
            </a:r>
            <a:r>
              <a:rPr lang="en-US" altLang="zh-CN" sz="2400" dirty="0">
                <a:solidFill>
                  <a:srgbClr val="1F2DA8"/>
                </a:solidFill>
              </a:rPr>
              <a:t>(set  null)</a:t>
            </a:r>
          </a:p>
        </p:txBody>
      </p:sp>
      <p:sp>
        <p:nvSpPr>
          <p:cNvPr id="100356" name="Text Box 4"/>
          <p:cNvSpPr txBox="1"/>
          <p:nvPr/>
        </p:nvSpPr>
        <p:spPr>
          <a:xfrm>
            <a:off x="467360" y="1717675"/>
            <a:ext cx="11299825" cy="3415030"/>
          </a:xfrm>
          <a:prstGeom prst="rect">
            <a:avLst/>
          </a:prstGeom>
          <a:solidFill>
            <a:schemeClr val="accent3">
              <a:lumMod val="20000"/>
              <a:lumOff val="80000"/>
              <a:alpha val="50000"/>
            </a:schemeClr>
          </a:solidFill>
          <a:ln w="25400" cap="flat" cmpd="sng">
            <a:solidFill>
              <a:schemeClr val="accent1"/>
            </a:solidFill>
            <a:prstDash val="solid"/>
            <a:miter/>
            <a:headEnd type="none" w="med" len="med"/>
            <a:tailEnd type="none" w="med" len="med"/>
          </a:ln>
        </p:spPr>
        <p:txBody>
          <a:bodyPr wrap="square" lIns="360045" anchor="t">
            <a:spAutoFit/>
          </a:bodyPr>
          <a:lstStyle/>
          <a:p>
            <a:pPr>
              <a:lnSpc>
                <a:spcPct val="100000"/>
              </a:lnSpc>
              <a:spcBef>
                <a:spcPts val="0"/>
              </a:spcBef>
              <a:spcAft>
                <a:spcPts val="0"/>
              </a:spcAft>
              <a:buClr>
                <a:schemeClr val="accent2"/>
              </a:buClr>
              <a:buFont typeface="Wingdings" panose="05000000000000000000" pitchFamily="2" charset="2"/>
            </a:pPr>
            <a:r>
              <a:rPr lang="en-US" altLang="zh-CN" sz="2400" b="1" dirty="0">
                <a:solidFill>
                  <a:srgbClr val="C00000"/>
                </a:solidFill>
                <a:latin typeface="Arial" panose="020B0604020202020204" pitchFamily="34" charset="0"/>
              </a:rPr>
              <a:t>create  trigger  foreign_cid  </a:t>
            </a:r>
          </a:p>
          <a:p>
            <a:pPr lvl="1"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after  delete  on  customers</a:t>
            </a:r>
          </a:p>
          <a:p>
            <a:pPr lvl="1"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referencing  old  as  old_custom</a:t>
            </a:r>
          </a:p>
          <a:p>
            <a:pPr lvl="1"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for  each  row</a:t>
            </a:r>
          </a:p>
          <a:p>
            <a:pPr lvl="1"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begin</a:t>
            </a:r>
          </a:p>
          <a:p>
            <a:pPr lvl="2"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update  orders  </a:t>
            </a:r>
          </a:p>
          <a:p>
            <a:pPr lvl="2"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set  cid = null  </a:t>
            </a:r>
          </a:p>
          <a:p>
            <a:pPr lvl="2"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where  cid = :old_custom.cid ;</a:t>
            </a:r>
          </a:p>
          <a:p>
            <a:pPr lvl="1" indent="0" algn="l" eaLnBrk="1" hangingPunct="1">
              <a:lnSpc>
                <a:spcPct val="100000"/>
              </a:lnSpc>
              <a:spcBef>
                <a:spcPts val="0"/>
              </a:spcBef>
              <a:spcAft>
                <a:spcPts val="0"/>
              </a:spcAft>
              <a:buClr>
                <a:schemeClr val="accent2"/>
              </a:buClr>
              <a:buFont typeface="Wingdings" panose="05000000000000000000" pitchFamily="2" charset="2"/>
              <a:buNone/>
            </a:pPr>
            <a:r>
              <a:rPr lang="en-US" altLang="zh-CN" sz="2400" b="1" dirty="0">
                <a:solidFill>
                  <a:srgbClr val="C00000"/>
                </a:solidFill>
                <a:latin typeface="Arial" panose="020B0604020202020204" pitchFamily="34" charset="0"/>
              </a:rPr>
              <a:t>end;</a:t>
            </a:r>
          </a:p>
        </p:txBody>
      </p:sp>
      <p:sp>
        <p:nvSpPr>
          <p:cNvPr id="2" name="文本框 1"/>
          <p:cNvSpPr txBox="1"/>
          <p:nvPr/>
        </p:nvSpPr>
        <p:spPr>
          <a:xfrm>
            <a:off x="467360" y="5271770"/>
            <a:ext cx="11300460" cy="1198880"/>
          </a:xfrm>
          <a:prstGeom prst="rect">
            <a:avLst/>
          </a:prstGeom>
          <a:noFill/>
        </p:spPr>
        <p:txBody>
          <a:bodyPr wrap="square" rtlCol="0">
            <a:spAutoFit/>
          </a:bodyPr>
          <a:lstStyle/>
          <a:p>
            <a:pPr marL="342900" indent="-342900">
              <a:buClr>
                <a:srgbClr val="C00000"/>
              </a:buClr>
              <a:buSzPct val="85000"/>
              <a:buFont typeface="Wingdings" panose="05000000000000000000" charset="0"/>
              <a:buChar char="q"/>
            </a:pPr>
            <a:r>
              <a:rPr lang="zh-CN" altLang="en-US" sz="2400" b="1">
                <a:solidFill>
                  <a:srgbClr val="0000C8"/>
                </a:solidFill>
                <a:latin typeface="楷体" panose="02010609060101010101" charset="-122"/>
                <a:ea typeface="楷体" panose="02010609060101010101" charset="-122"/>
                <a:cs typeface="楷体" panose="02010609060101010101" charset="-122"/>
              </a:rPr>
              <a:t>思考：</a:t>
            </a:r>
          </a:p>
          <a:p>
            <a:pPr marL="914400" lvl="1" indent="-457200">
              <a:buClr>
                <a:srgbClr val="C00000"/>
              </a:buClr>
              <a:buSzPct val="85000"/>
              <a:buFont typeface="+mj-ea"/>
              <a:buAutoNum type="circleNumDbPlain"/>
            </a:pPr>
            <a:r>
              <a:rPr lang="zh-CN" altLang="en-US" sz="2400" b="1">
                <a:solidFill>
                  <a:srgbClr val="0000C8"/>
                </a:solidFill>
                <a:latin typeface="楷体" panose="02010609060101010101" charset="-122"/>
                <a:ea typeface="楷体" panose="02010609060101010101" charset="-122"/>
                <a:cs typeface="楷体" panose="02010609060101010101" charset="-122"/>
              </a:rPr>
              <a:t>在这里为什么使用</a:t>
            </a:r>
            <a:r>
              <a:rPr lang="en-US" altLang="zh-CN" sz="2400" b="1">
                <a:solidFill>
                  <a:srgbClr val="0000C8"/>
                </a:solidFill>
                <a:latin typeface="楷体" panose="02010609060101010101" charset="-122"/>
                <a:ea typeface="楷体" panose="02010609060101010101" charset="-122"/>
                <a:cs typeface="楷体" panose="02010609060101010101" charset="-122"/>
              </a:rPr>
              <a:t>after</a:t>
            </a:r>
            <a:r>
              <a:rPr lang="zh-CN" altLang="en-US" sz="2400" b="1">
                <a:solidFill>
                  <a:srgbClr val="0000C8"/>
                </a:solidFill>
                <a:latin typeface="楷体" panose="02010609060101010101" charset="-122"/>
                <a:ea typeface="楷体" panose="02010609060101010101" charset="-122"/>
                <a:cs typeface="楷体" panose="02010609060101010101" charset="-122"/>
              </a:rPr>
              <a:t>触发器？</a:t>
            </a:r>
          </a:p>
          <a:p>
            <a:pPr marL="914400" lvl="1" indent="-457200">
              <a:buClr>
                <a:srgbClr val="C00000"/>
              </a:buClr>
              <a:buSzPct val="85000"/>
              <a:buFont typeface="+mj-ea"/>
              <a:buAutoNum type="circleNumDbPlain"/>
            </a:pPr>
            <a:r>
              <a:rPr lang="zh-CN" altLang="en-US" sz="2400" b="1">
                <a:solidFill>
                  <a:srgbClr val="0000C8"/>
                </a:solidFill>
                <a:latin typeface="楷体" panose="02010609060101010101" charset="-122"/>
                <a:ea typeface="楷体" panose="02010609060101010101" charset="-122"/>
                <a:cs typeface="楷体" panose="02010609060101010101" charset="-122"/>
              </a:rPr>
              <a:t>触发器的执行会不会出现违反数据完整性约束的现象？</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69</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71683" name="Rectangle 2"/>
          <p:cNvSpPr>
            <a:spLocks noGrp="1" noChangeArrowheads="1"/>
          </p:cNvSpPr>
          <p:nvPr>
            <p:ph type="title"/>
          </p:nvPr>
        </p:nvSpPr>
        <p:spPr/>
        <p:txBody>
          <a:bodyPr/>
          <a:lstStyle/>
          <a:p>
            <a:r>
              <a:rPr lang="zh-CN" altLang="en-US" dirty="0"/>
              <a:t>激活触发器</a:t>
            </a:r>
          </a:p>
        </p:txBody>
      </p:sp>
      <p:sp>
        <p:nvSpPr>
          <p:cNvPr id="71684" name="Rectangle 3"/>
          <p:cNvSpPr>
            <a:spLocks noGrp="1" noChangeArrowheads="1"/>
          </p:cNvSpPr>
          <p:nvPr>
            <p:ph idx="1"/>
          </p:nvPr>
        </p:nvSpPr>
        <p:spPr/>
        <p:txBody>
          <a:bodyPr/>
          <a:lstStyle/>
          <a:p>
            <a:pPr>
              <a:lnSpc>
                <a:spcPct val="150000"/>
              </a:lnSpc>
            </a:pPr>
            <a:r>
              <a:rPr lang="zh-CN" altLang="en-US" dirty="0"/>
              <a:t>触发器的执行</a:t>
            </a:r>
            <a:r>
              <a:rPr lang="en-US" altLang="zh-CN" dirty="0"/>
              <a:t>,</a:t>
            </a:r>
            <a:r>
              <a:rPr lang="zh-CN" altLang="en-US" dirty="0"/>
              <a:t>是由触发事件激活的</a:t>
            </a:r>
            <a:r>
              <a:rPr lang="en-US" altLang="zh-CN" dirty="0"/>
              <a:t>,</a:t>
            </a:r>
            <a:r>
              <a:rPr lang="zh-CN" altLang="en-US" dirty="0"/>
              <a:t>并由数据库服务器自动执行</a:t>
            </a:r>
          </a:p>
          <a:p>
            <a:pPr>
              <a:lnSpc>
                <a:spcPct val="150000"/>
              </a:lnSpc>
            </a:pPr>
            <a:r>
              <a:rPr lang="zh-CN" altLang="en-US" dirty="0"/>
              <a:t>一个数据表上可能定义了多个触发器，遵循如下的执行顺序</a:t>
            </a:r>
            <a:r>
              <a:rPr lang="en-US" altLang="zh-CN" dirty="0"/>
              <a:t>:</a:t>
            </a:r>
            <a:endParaRPr lang="zh-CN" altLang="en-US" dirty="0"/>
          </a:p>
          <a:p>
            <a:pPr lvl="2">
              <a:lnSpc>
                <a:spcPct val="150000"/>
              </a:lnSpc>
            </a:pPr>
            <a:r>
              <a:rPr lang="zh-CN" altLang="en-US" dirty="0"/>
              <a:t>执行该表上的</a:t>
            </a:r>
            <a:r>
              <a:rPr lang="en-US" altLang="zh-CN" dirty="0"/>
              <a:t>BEFORE</a:t>
            </a:r>
            <a:r>
              <a:rPr lang="zh-CN" altLang="en-US" dirty="0"/>
              <a:t>触发器;</a:t>
            </a:r>
          </a:p>
          <a:p>
            <a:pPr lvl="2">
              <a:lnSpc>
                <a:spcPct val="150000"/>
              </a:lnSpc>
            </a:pPr>
            <a:r>
              <a:rPr lang="zh-CN" altLang="en-US" dirty="0"/>
              <a:t>激活触发器的</a:t>
            </a:r>
            <a:r>
              <a:rPr lang="en-US" altLang="zh-CN" dirty="0"/>
              <a:t>SQL</a:t>
            </a:r>
            <a:r>
              <a:rPr lang="zh-CN" altLang="en-US" dirty="0"/>
              <a:t>语句;</a:t>
            </a:r>
          </a:p>
          <a:p>
            <a:pPr lvl="2">
              <a:lnSpc>
                <a:spcPct val="150000"/>
              </a:lnSpc>
            </a:pPr>
            <a:r>
              <a:rPr lang="zh-CN" altLang="en-US" dirty="0"/>
              <a:t>执行该表上的</a:t>
            </a:r>
            <a:r>
              <a:rPr lang="en-US" altLang="zh-CN" dirty="0"/>
              <a:t>AFTER</a:t>
            </a:r>
            <a:r>
              <a:rPr lang="zh-CN" altLang="en-US" dirty="0"/>
              <a:t>触发器。</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70</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p:cNvSpPr txBox="1">
            <a:spLocks noGrp="1" noChangeArrowheads="1"/>
          </p:cNvSpPr>
          <p:nvPr/>
        </p:nvSpPr>
        <p:spPr bwMode="auto">
          <a:xfrm>
            <a:off x="6743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b="1">
              <a:solidFill>
                <a:srgbClr val="F03628"/>
              </a:solidFill>
            </a:endParaRPr>
          </a:p>
        </p:txBody>
      </p:sp>
      <p:sp>
        <p:nvSpPr>
          <p:cNvPr id="73731" name="Rectangle 2"/>
          <p:cNvSpPr>
            <a:spLocks noGrp="1" noChangeArrowheads="1"/>
          </p:cNvSpPr>
          <p:nvPr>
            <p:ph type="title"/>
          </p:nvPr>
        </p:nvSpPr>
        <p:spPr/>
        <p:txBody>
          <a:bodyPr/>
          <a:lstStyle/>
          <a:p>
            <a:pPr eaLnBrk="1" hangingPunct="1"/>
            <a:r>
              <a:rPr lang="zh-CN" altLang="en-US" sz="3600" dirty="0"/>
              <a:t>删除触发器</a:t>
            </a:r>
          </a:p>
        </p:txBody>
      </p:sp>
      <p:sp>
        <p:nvSpPr>
          <p:cNvPr id="73732" name="Rectangle 3"/>
          <p:cNvSpPr>
            <a:spLocks noGrp="1" noChangeArrowheads="1"/>
          </p:cNvSpPr>
          <p:nvPr>
            <p:ph idx="1"/>
          </p:nvPr>
        </p:nvSpPr>
        <p:spPr/>
        <p:txBody>
          <a:bodyPr/>
          <a:lstStyle/>
          <a:p>
            <a:pPr eaLnBrk="1" hangingPunct="1">
              <a:lnSpc>
                <a:spcPct val="160000"/>
              </a:lnSpc>
            </a:pPr>
            <a:r>
              <a:rPr lang="zh-CN" altLang="en-US"/>
              <a:t>删除触发器的</a:t>
            </a:r>
            <a:r>
              <a:rPr lang="en-US" altLang="zh-CN" dirty="0"/>
              <a:t>SQL</a:t>
            </a:r>
            <a:r>
              <a:rPr lang="zh-CN" altLang="en-US" dirty="0"/>
              <a:t>语法：</a:t>
            </a:r>
          </a:p>
          <a:p>
            <a:pPr eaLnBrk="1" hangingPunct="1">
              <a:lnSpc>
                <a:spcPct val="160000"/>
              </a:lnSpc>
              <a:buFont typeface="Wingdings" panose="05000000000000000000" pitchFamily="2" charset="2"/>
              <a:buNone/>
            </a:pPr>
            <a:r>
              <a:rPr lang="zh-CN" altLang="en-US" sz="2400" dirty="0"/>
              <a:t>     </a:t>
            </a:r>
            <a:r>
              <a:rPr lang="en-US" altLang="zh-CN" sz="2400" dirty="0">
                <a:solidFill>
                  <a:srgbClr val="C00000"/>
                </a:solidFill>
              </a:rPr>
              <a:t>DROP TRIGGER &lt;</a:t>
            </a:r>
            <a:r>
              <a:rPr lang="zh-CN" altLang="en-US" sz="2400" dirty="0">
                <a:solidFill>
                  <a:srgbClr val="C00000"/>
                </a:solidFill>
              </a:rPr>
              <a:t>触发器名</a:t>
            </a:r>
            <a:r>
              <a:rPr lang="en-US" altLang="zh-CN" sz="2400" dirty="0">
                <a:solidFill>
                  <a:srgbClr val="C00000"/>
                </a:solidFill>
              </a:rPr>
              <a:t>&gt; ON &lt;</a:t>
            </a:r>
            <a:r>
              <a:rPr lang="zh-CN" altLang="en-US" sz="2400" dirty="0">
                <a:solidFill>
                  <a:srgbClr val="C00000"/>
                </a:solidFill>
              </a:rPr>
              <a:t>表名</a:t>
            </a:r>
            <a:r>
              <a:rPr lang="en-US" altLang="zh-CN" sz="2400" dirty="0">
                <a:solidFill>
                  <a:srgbClr val="C00000"/>
                </a:solidFill>
              </a:rPr>
              <a:t>&gt;;</a:t>
            </a:r>
          </a:p>
          <a:p>
            <a:pPr eaLnBrk="1" hangingPunct="1">
              <a:lnSpc>
                <a:spcPct val="160000"/>
              </a:lnSpc>
              <a:buFont typeface="Wingdings" panose="05000000000000000000" pitchFamily="2" charset="2"/>
              <a:buNone/>
            </a:pPr>
            <a:endParaRPr lang="en-US" altLang="zh-CN" sz="2400" dirty="0"/>
          </a:p>
          <a:p>
            <a:pPr eaLnBrk="1" hangingPunct="1">
              <a:lnSpc>
                <a:spcPct val="160000"/>
              </a:lnSpc>
            </a:pPr>
            <a:r>
              <a:rPr lang="zh-CN" altLang="en-US" dirty="0"/>
              <a:t>触发器必须是一个已经创建的触发器，并且只能由具有相应权限的用户删除。</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71</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总结：断言</a:t>
            </a:r>
            <a:r>
              <a:rPr lang="en-US" altLang="zh-CN"/>
              <a:t>  </a:t>
            </a:r>
            <a:r>
              <a:rPr lang="zh-CN" altLang="en-US"/>
              <a:t>与</a:t>
            </a:r>
            <a:r>
              <a:rPr lang="en-US" altLang="zh-CN"/>
              <a:t>  </a:t>
            </a:r>
            <a:r>
              <a:rPr lang="zh-CN" altLang="en-US"/>
              <a:t>触发器</a:t>
            </a:r>
          </a:p>
        </p:txBody>
      </p:sp>
      <p:graphicFrame>
        <p:nvGraphicFramePr>
          <p:cNvPr id="8" name="表格 7"/>
          <p:cNvGraphicFramePr/>
          <p:nvPr>
            <p:custDataLst>
              <p:tags r:id="rId1"/>
            </p:custDataLst>
          </p:nvPr>
        </p:nvGraphicFramePr>
        <p:xfrm>
          <a:off x="424815" y="648000"/>
          <a:ext cx="11342370" cy="6035040"/>
        </p:xfrm>
        <a:graphic>
          <a:graphicData uri="http://schemas.openxmlformats.org/drawingml/2006/table">
            <a:tbl>
              <a:tblPr firstRow="1" bandRow="1">
                <a:tableStyleId>{5C22544A-7EE6-4342-B048-85BDC9FD1C3A}</a:tableStyleId>
              </a:tblPr>
              <a:tblGrid>
                <a:gridCol w="539115">
                  <a:extLst>
                    <a:ext uri="{9D8B030D-6E8A-4147-A177-3AD203B41FA5}">
                      <a16:colId xmlns:a16="http://schemas.microsoft.com/office/drawing/2014/main" val="20000"/>
                    </a:ext>
                  </a:extLst>
                </a:gridCol>
                <a:gridCol w="5142230">
                  <a:extLst>
                    <a:ext uri="{9D8B030D-6E8A-4147-A177-3AD203B41FA5}">
                      <a16:colId xmlns:a16="http://schemas.microsoft.com/office/drawing/2014/main" val="20001"/>
                    </a:ext>
                  </a:extLst>
                </a:gridCol>
                <a:gridCol w="5661025">
                  <a:extLst>
                    <a:ext uri="{9D8B030D-6E8A-4147-A177-3AD203B41FA5}">
                      <a16:colId xmlns:a16="http://schemas.microsoft.com/office/drawing/2014/main" val="20002"/>
                    </a:ext>
                  </a:extLst>
                </a:gridCol>
              </a:tblGrid>
              <a:tr h="457200">
                <a:tc>
                  <a:txBody>
                    <a:bodyPr/>
                    <a:lstStyle/>
                    <a:p>
                      <a:pPr algn="ctr">
                        <a:buNone/>
                      </a:pPr>
                      <a:endParaRPr lang="zh-CN" altLang="en-US" sz="2400" b="1">
                        <a:solidFill>
                          <a:schemeClr val="tx1"/>
                        </a:solidFill>
                        <a:latin typeface="楷体" panose="02010609060101010101" charset="-122"/>
                        <a:ea typeface="楷体" panose="02010609060101010101"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断言</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tc>
                  <a:txBody>
                    <a:bodyPr/>
                    <a:lstStyle/>
                    <a:p>
                      <a:pPr algn="ctr">
                        <a:buNone/>
                      </a:pPr>
                      <a:r>
                        <a:rPr lang="zh-CN" altLang="en-US" sz="2400" b="1">
                          <a:solidFill>
                            <a:schemeClr val="tx1"/>
                          </a:solidFill>
                          <a:latin typeface="楷体" panose="02010609060101010101" charset="-122"/>
                          <a:ea typeface="楷体" panose="02010609060101010101" charset="-122"/>
                        </a:rPr>
                        <a:t>触发器</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20000"/>
                        <a:lumOff val="80000"/>
                      </a:schemeClr>
                    </a:solidFill>
                  </a:tcPr>
                </a:tc>
                <a:extLst>
                  <a:ext uri="{0D108BD9-81ED-4DB2-BD59-A6C34878D82A}">
                    <a16:rowId xmlns:a16="http://schemas.microsoft.com/office/drawing/2014/main" val="10000"/>
                  </a:ext>
                </a:extLst>
              </a:tr>
              <a:tr h="822960">
                <a:tc>
                  <a:txBody>
                    <a:bodyPr/>
                    <a:lstStyle/>
                    <a:p>
                      <a:pPr algn="ctr">
                        <a:buNone/>
                      </a:pPr>
                      <a:r>
                        <a:rPr lang="en-US" altLang="zh-CN" sz="2400" b="1">
                          <a:solidFill>
                            <a:srgbClr val="0000C8"/>
                          </a:solidFill>
                          <a:latin typeface="楷体" panose="02010609060101010101" charset="-122"/>
                          <a:ea typeface="楷体" panose="02010609060101010101" charset="-122"/>
                        </a:rPr>
                        <a:t>1</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要求完整性约束条件永远为真。</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触发条件：可能有，也可能没有；可能成立，也可能不成立。</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1"/>
                  </a:ext>
                </a:extLst>
              </a:tr>
              <a:tr h="822960">
                <a:tc>
                  <a:txBody>
                    <a:bodyPr/>
                    <a:lstStyle/>
                    <a:p>
                      <a:pPr algn="ctr">
                        <a:buNone/>
                      </a:pPr>
                      <a:r>
                        <a:rPr lang="en-US" altLang="zh-CN" sz="2400" b="1">
                          <a:solidFill>
                            <a:srgbClr val="0000C8"/>
                          </a:solidFill>
                          <a:latin typeface="楷体" panose="02010609060101010101" charset="-122"/>
                          <a:ea typeface="楷体" panose="02010609060101010101" charset="-122"/>
                        </a:rPr>
                        <a:t>2</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0000C8"/>
                          </a:solidFill>
                          <a:latin typeface="楷体" panose="02010609060101010101" charset="-122"/>
                          <a:ea typeface="楷体" panose="02010609060101010101" charset="-122"/>
                        </a:rPr>
                        <a:t>当数据库中的数据发生变化时，</a:t>
                      </a:r>
                      <a:r>
                        <a:rPr lang="en-US" altLang="zh-CN" sz="2400" b="1">
                          <a:solidFill>
                            <a:srgbClr val="0000C8"/>
                          </a:solidFill>
                          <a:latin typeface="楷体" panose="02010609060101010101" charset="-122"/>
                          <a:ea typeface="楷体" panose="02010609060101010101" charset="-122"/>
                        </a:rPr>
                        <a:t>DBMS</a:t>
                      </a:r>
                      <a:r>
                        <a:rPr lang="zh-CN" altLang="en-US" sz="2400" b="1">
                          <a:solidFill>
                            <a:srgbClr val="0000C8"/>
                          </a:solidFill>
                          <a:latin typeface="楷体" panose="02010609060101010101" charset="-122"/>
                          <a:ea typeface="楷体" panose="02010609060101010101" charset="-122"/>
                        </a:rPr>
                        <a:t>将在全数据库范围内启动断言检查。</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0000C8"/>
                          </a:solidFill>
                          <a:latin typeface="楷体" panose="02010609060101010101" charset="-122"/>
                          <a:ea typeface="楷体" panose="02010609060101010101" charset="-122"/>
                        </a:rPr>
                        <a:t>仅当触发事件发生且触发条件成立时，</a:t>
                      </a:r>
                      <a:r>
                        <a:rPr lang="en-US" altLang="zh-CN" sz="2400" b="1">
                          <a:solidFill>
                            <a:srgbClr val="0000C8"/>
                          </a:solidFill>
                          <a:latin typeface="楷体" panose="02010609060101010101" charset="-122"/>
                          <a:ea typeface="楷体" panose="02010609060101010101" charset="-122"/>
                        </a:rPr>
                        <a:t>DBMS</a:t>
                      </a:r>
                      <a:r>
                        <a:rPr lang="zh-CN" altLang="en-US" sz="2400" b="1">
                          <a:solidFill>
                            <a:srgbClr val="0000C8"/>
                          </a:solidFill>
                          <a:latin typeface="楷体" panose="02010609060101010101" charset="-122"/>
                          <a:ea typeface="楷体" panose="02010609060101010101" charset="-122"/>
                        </a:rPr>
                        <a:t>才启动与之对应的触发器的执行</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2"/>
                  </a:ext>
                </a:extLst>
              </a:tr>
              <a:tr h="1188720">
                <a:tc>
                  <a:txBody>
                    <a:bodyPr/>
                    <a:lstStyle/>
                    <a:p>
                      <a:pPr algn="ctr">
                        <a:buNone/>
                      </a:pPr>
                      <a:r>
                        <a:rPr lang="en-US" altLang="zh-CN" sz="2400" b="1">
                          <a:solidFill>
                            <a:srgbClr val="0000C8"/>
                          </a:solidFill>
                          <a:latin typeface="楷体" panose="02010609060101010101" charset="-122"/>
                          <a:ea typeface="楷体" panose="02010609060101010101" charset="-122"/>
                        </a:rPr>
                        <a:t>3</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断言仅仅用于完整性约束检查，并在违反约束的情况下拒绝执行用户的数据更新操作。</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触发器有助于维护数据库表中的完整性约束，尤其是在未定义主码和外码约束时。</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3"/>
                  </a:ext>
                </a:extLst>
              </a:tr>
              <a:tr h="1188720">
                <a:tc>
                  <a:txBody>
                    <a:bodyPr/>
                    <a:lstStyle/>
                    <a:p>
                      <a:pPr algn="ctr">
                        <a:buNone/>
                      </a:pPr>
                      <a:r>
                        <a:rPr lang="en-US" altLang="zh-CN" sz="2400" b="1">
                          <a:solidFill>
                            <a:srgbClr val="0000C8"/>
                          </a:solidFill>
                          <a:latin typeface="楷体" panose="02010609060101010101" charset="-122"/>
                          <a:ea typeface="楷体" panose="02010609060101010101" charset="-122"/>
                        </a:rPr>
                        <a:t>4</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0000C8"/>
                          </a:solidFill>
                          <a:latin typeface="楷体" panose="02010609060101010101" charset="-122"/>
                          <a:ea typeface="楷体" panose="02010609060101010101" charset="-122"/>
                        </a:rPr>
                        <a:t>断言无法对表中所做更改进行任何跟踪。</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zh-CN" altLang="en-US" sz="2400" b="1">
                          <a:solidFill>
                            <a:srgbClr val="0000C8"/>
                          </a:solidFill>
                          <a:latin typeface="楷体" panose="02010609060101010101" charset="-122"/>
                          <a:ea typeface="楷体" panose="02010609060101010101" charset="-122"/>
                        </a:rPr>
                        <a:t>触发器可以通过执行</a:t>
                      </a:r>
                      <a:r>
                        <a:rPr lang="en-US" altLang="zh-CN" sz="2400" b="1">
                          <a:solidFill>
                            <a:srgbClr val="0000C8"/>
                          </a:solidFill>
                          <a:latin typeface="楷体" panose="02010609060101010101" charset="-122"/>
                          <a:ea typeface="楷体" panose="02010609060101010101" charset="-122"/>
                        </a:rPr>
                        <a:t>SQL</a:t>
                      </a:r>
                      <a:r>
                        <a:rPr lang="zh-CN" altLang="en-US" sz="2400" b="1">
                          <a:solidFill>
                            <a:srgbClr val="0000C8"/>
                          </a:solidFill>
                          <a:latin typeface="楷体" panose="02010609060101010101" charset="-122"/>
                          <a:ea typeface="楷体" panose="02010609060101010101" charset="-122"/>
                        </a:rPr>
                        <a:t>程序块或调用存储过程来跟踪表中发生的所有更改，包括用户业务逻辑的实现。</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4"/>
                  </a:ext>
                </a:extLst>
              </a:tr>
              <a:tr h="1554480">
                <a:tc>
                  <a:txBody>
                    <a:bodyPr/>
                    <a:lstStyle/>
                    <a:p>
                      <a:pPr algn="ctr">
                        <a:buNone/>
                      </a:pPr>
                      <a:r>
                        <a:rPr lang="en-US" altLang="zh-CN" sz="2400" b="1">
                          <a:solidFill>
                            <a:srgbClr val="0000C8"/>
                          </a:solidFill>
                          <a:latin typeface="楷体" panose="02010609060101010101" charset="-122"/>
                          <a:ea typeface="楷体" panose="02010609060101010101" charset="-122"/>
                        </a:rPr>
                        <a:t>5</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断言执行检查的代价较高，</a:t>
                      </a:r>
                      <a:r>
                        <a:rPr lang="zh-CN" altLang="en-US" sz="2400" b="1">
                          <a:solidFill>
                            <a:srgbClr val="0000C8"/>
                          </a:solidFill>
                          <a:latin typeface="楷体" panose="02010609060101010101" charset="-122"/>
                          <a:ea typeface="楷体" panose="02010609060101010101" charset="-122"/>
                          <a:sym typeface="+mn-ea"/>
                        </a:rPr>
                        <a:t>现代数据库系统一般不使用断言。（慎用）</a:t>
                      </a: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tc>
                  <a:txBody>
                    <a:bodyPr/>
                    <a:lstStyle/>
                    <a:p>
                      <a:pPr>
                        <a:buNone/>
                      </a:pPr>
                      <a:r>
                        <a:rPr lang="zh-CN" altLang="en-US" sz="2400" b="1">
                          <a:solidFill>
                            <a:srgbClr val="0000C8"/>
                          </a:solidFill>
                          <a:latin typeface="楷体" panose="02010609060101010101" charset="-122"/>
                          <a:ea typeface="楷体" panose="02010609060101010101" charset="-122"/>
                        </a:rPr>
                        <a:t>触发器不仅可以用来实现复杂的完整性约束检查，还可以用于数据库安全性检查和用户业务逻辑的实现，</a:t>
                      </a:r>
                      <a:r>
                        <a:rPr lang="zh-CN" altLang="en-US" sz="2400" b="1">
                          <a:solidFill>
                            <a:srgbClr val="0000C8"/>
                          </a:solidFill>
                          <a:latin typeface="楷体" panose="02010609060101010101" charset="-122"/>
                          <a:ea typeface="楷体" panose="02010609060101010101" charset="-122"/>
                          <a:sym typeface="+mn-ea"/>
                        </a:rPr>
                        <a:t>在现代数据库系统中得到了很好的应用。</a:t>
                      </a:r>
                      <a:endParaRPr lang="zh-CN" altLang="en-US" sz="2400" b="1">
                        <a:solidFill>
                          <a:srgbClr val="0000C8"/>
                        </a:solidFill>
                        <a:latin typeface="楷体" panose="02010609060101010101" charset="-122"/>
                        <a:ea typeface="楷体" panose="02010609060101010101" charset="-122"/>
                      </a:endParaRPr>
                    </a:p>
                  </a:txBody>
                  <a:tcPr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tint val="40000"/>
                        <a:alpha val="50000"/>
                      </a:schemeClr>
                    </a:solidFill>
                  </a:tcPr>
                </a:tc>
                <a:extLst>
                  <a:ext uri="{0D108BD9-81ED-4DB2-BD59-A6C34878D82A}">
                    <a16:rowId xmlns:a16="http://schemas.microsoft.com/office/drawing/2014/main" val="10005"/>
                  </a:ext>
                </a:extLst>
              </a:tr>
            </a:tbl>
          </a:graphicData>
        </a:graphic>
      </p:graphicFrame>
      <p:sp>
        <p:nvSpPr>
          <p:cNvPr id="2" name="灯片编号占位符 1"/>
          <p:cNvSpPr>
            <a:spLocks noGrp="1"/>
          </p:cNvSpPr>
          <p:nvPr>
            <p:ph type="sldNum" sz="quarter" idx="12"/>
          </p:nvPr>
        </p:nvSpPr>
        <p:spPr/>
        <p:txBody>
          <a:bodyPr/>
          <a:lstStyle/>
          <a:p>
            <a:fld id="{565CE74E-AB26-4998-AD42-012C4C1AD076}" type="slidenum">
              <a:rPr lang="zh-CN" altLang="en-US" smtClean="0"/>
              <a:t>72</a:t>
            </a:fld>
            <a:endParaRPr lang="zh-CN" altLang="en-US"/>
          </a:p>
        </p:txBody>
      </p:sp>
      <p:sp>
        <p:nvSpPr>
          <p:cNvPr id="3" name="页脚占位符 2"/>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5.8  </a:t>
            </a:r>
            <a:r>
              <a:rPr lang="zh-CN" altLang="en-US"/>
              <a:t>小结</a:t>
            </a:r>
          </a:p>
        </p:txBody>
      </p:sp>
      <p:sp>
        <p:nvSpPr>
          <p:cNvPr id="3" name="内容占位符 2"/>
          <p:cNvSpPr>
            <a:spLocks noGrp="1"/>
          </p:cNvSpPr>
          <p:nvPr>
            <p:ph idx="1"/>
          </p:nvPr>
        </p:nvSpPr>
        <p:spPr/>
        <p:txBody>
          <a:bodyPr/>
          <a:lstStyle/>
          <a:p>
            <a:r>
              <a:rPr lang="zh-CN" altLang="en-US"/>
              <a:t>数据库的完整性是为了保证数据库中存储的数据是正确的</a:t>
            </a:r>
          </a:p>
          <a:p>
            <a:endParaRPr lang="zh-CN" altLang="en-US"/>
          </a:p>
          <a:p>
            <a:r>
              <a:rPr lang="zh-CN" altLang="en-US"/>
              <a:t>关系数据库管理系统完整性实现的机制</a:t>
            </a:r>
          </a:p>
          <a:p>
            <a:pPr lvl="1"/>
            <a:r>
              <a:rPr lang="zh-CN" altLang="en-US"/>
              <a:t>完整性约束定义机制</a:t>
            </a:r>
          </a:p>
          <a:p>
            <a:pPr lvl="1"/>
            <a:r>
              <a:rPr lang="zh-CN" altLang="en-US"/>
              <a:t>完整性检查机制</a:t>
            </a:r>
          </a:p>
          <a:p>
            <a:pPr lvl="1"/>
            <a:r>
              <a:rPr lang="zh-CN" altLang="en-US"/>
              <a:t>违背完整性约束条件时关系数据库管理系统应采取的动作</a:t>
            </a:r>
          </a:p>
        </p:txBody>
      </p:sp>
      <p:sp>
        <p:nvSpPr>
          <p:cNvPr id="6" name="灯片编号占位符 5"/>
          <p:cNvSpPr>
            <a:spLocks noGrp="1"/>
          </p:cNvSpPr>
          <p:nvPr>
            <p:ph type="sldNum" sz="quarter" idx="12"/>
          </p:nvPr>
        </p:nvSpPr>
        <p:spPr/>
        <p:txBody>
          <a:bodyPr/>
          <a:lstStyle/>
          <a:p>
            <a:fld id="{565CE74E-AB26-4998-AD42-012C4C1AD076}" type="slidenum">
              <a:rPr lang="zh-CN" altLang="en-US" smtClean="0"/>
              <a:t>73</a:t>
            </a:fld>
            <a:endParaRPr lang="zh-CN" altLang="en-US"/>
          </a:p>
        </p:txBody>
      </p:sp>
      <p:sp>
        <p:nvSpPr>
          <p:cNvPr id="4" name="页脚占位符 3"/>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MySQL</a:t>
            </a:r>
            <a:r>
              <a:rPr lang="zh-CN" altLang="en-US"/>
              <a:t>中的数据定义命令</a:t>
            </a:r>
          </a:p>
        </p:txBody>
      </p:sp>
      <p:sp>
        <p:nvSpPr>
          <p:cNvPr id="3" name="内容占位符 2"/>
          <p:cNvSpPr>
            <a:spLocks noGrp="1"/>
          </p:cNvSpPr>
          <p:nvPr>
            <p:ph idx="1"/>
          </p:nvPr>
        </p:nvSpPr>
        <p:spPr/>
        <p:txBody>
          <a:bodyPr/>
          <a:lstStyle/>
          <a:p>
            <a:r>
              <a:rPr lang="zh-CN" altLang="en-US" sz="2800">
                <a:latin typeface="+mn-lt"/>
                <a:cs typeface="+mn-lt"/>
              </a:rPr>
              <a:t>创建模式</a:t>
            </a:r>
            <a:r>
              <a:rPr lang="en-US" altLang="zh-CN" sz="2800">
                <a:latin typeface="+mn-lt"/>
                <a:cs typeface="+mn-lt"/>
              </a:rPr>
              <a:t> </a:t>
            </a:r>
          </a:p>
          <a:p>
            <a:pPr marL="457200" lvl="1" indent="0">
              <a:buNone/>
            </a:pPr>
            <a:r>
              <a:rPr lang="en-US" altLang="zh-CN" sz="2800">
                <a:latin typeface="+mn-lt"/>
                <a:cs typeface="+mn-lt"/>
              </a:rPr>
              <a:t>CREATE { DATABASE | SCHEMA } [IF NOT EXISTS] </a:t>
            </a:r>
            <a:r>
              <a:rPr lang="en-US" altLang="zh-CN" sz="2800">
                <a:solidFill>
                  <a:srgbClr val="C00000"/>
                </a:solidFill>
                <a:latin typeface="+mn-lt"/>
                <a:cs typeface="+mn-lt"/>
              </a:rPr>
              <a:t>db_name </a:t>
            </a:r>
            <a:r>
              <a:rPr lang="en-US" altLang="zh-CN" sz="2800">
                <a:latin typeface="+mn-lt"/>
                <a:cs typeface="+mn-lt"/>
              </a:rPr>
              <a:t>;</a:t>
            </a:r>
          </a:p>
          <a:p>
            <a:pPr marL="457200" lvl="1" indent="0">
              <a:buNone/>
            </a:pPr>
            <a:endParaRPr lang="en-US" altLang="zh-CN" sz="2800">
              <a:latin typeface="+mn-lt"/>
              <a:cs typeface="+mn-lt"/>
            </a:endParaRPr>
          </a:p>
          <a:p>
            <a:r>
              <a:rPr lang="zh-CN" altLang="en-US" sz="2800">
                <a:latin typeface="+mn-lt"/>
                <a:cs typeface="+mn-lt"/>
              </a:rPr>
              <a:t>创建表</a:t>
            </a:r>
            <a:r>
              <a:rPr lang="en-US" altLang="zh-CN" sz="2800">
                <a:latin typeface="+mn-lt"/>
                <a:cs typeface="+mn-lt"/>
              </a:rPr>
              <a:t>  CREATE TABLE ... </a:t>
            </a:r>
          </a:p>
          <a:p>
            <a:pPr marL="457200" lvl="1" indent="0">
              <a:buNone/>
            </a:pPr>
            <a:endParaRPr lang="en-US" altLang="zh-CN" sz="2800">
              <a:latin typeface="+mn-lt"/>
              <a:cs typeface="+mn-lt"/>
            </a:endParaRPr>
          </a:p>
          <a:p>
            <a:r>
              <a:rPr lang="zh-CN" altLang="en-US" sz="2800">
                <a:latin typeface="+mn-lt"/>
                <a:cs typeface="+mn-lt"/>
              </a:rPr>
              <a:t>创建视图</a:t>
            </a:r>
            <a:r>
              <a:rPr lang="en-US" altLang="zh-CN" sz="2800">
                <a:latin typeface="+mn-lt"/>
                <a:cs typeface="+mn-lt"/>
              </a:rPr>
              <a:t>   GRANT  VIEW ... </a:t>
            </a:r>
          </a:p>
          <a:p>
            <a:endParaRPr lang="en-US" altLang="zh-CN" sz="2800">
              <a:latin typeface="+mn-lt"/>
              <a:cs typeface="+mn-lt"/>
            </a:endParaRPr>
          </a:p>
          <a:p>
            <a:r>
              <a:rPr lang="zh-CN" altLang="en-US" sz="2800">
                <a:latin typeface="+mn-lt"/>
                <a:cs typeface="+mn-lt"/>
              </a:rPr>
              <a:t>创建触发器</a:t>
            </a:r>
            <a:r>
              <a:rPr lang="en-US" altLang="zh-CN" sz="2800">
                <a:latin typeface="+mn-lt"/>
                <a:cs typeface="+mn-lt"/>
              </a:rPr>
              <a:t>  </a:t>
            </a:r>
            <a:r>
              <a:rPr lang="en-US" altLang="zh-CN" sz="2800">
                <a:latin typeface="+mn-lt"/>
                <a:cs typeface="+mn-lt"/>
                <a:sym typeface="+mn-ea"/>
              </a:rPr>
              <a:t>GRANT  TRIGGER ... </a:t>
            </a:r>
            <a:endParaRPr lang="en-US" altLang="zh-CN" sz="2800">
              <a:latin typeface="+mn-lt"/>
              <a:cs typeface="+mn-lt"/>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74</a:t>
            </a:fld>
            <a:endParaRPr lang="zh-CN" altLang="en-US"/>
          </a:p>
        </p:txBody>
      </p:sp>
      <p:sp>
        <p:nvSpPr>
          <p:cNvPr id="5" name="页脚占位符 4"/>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n-lt"/>
                <a:cs typeface="+mn-lt"/>
                <a:sym typeface="+mn-ea"/>
              </a:rPr>
              <a:t>MySQL:  </a:t>
            </a:r>
            <a:r>
              <a:rPr lang="zh-CN" altLang="en-US">
                <a:latin typeface="+mn-lt"/>
                <a:cs typeface="+mn-lt"/>
                <a:sym typeface="+mn-ea"/>
              </a:rPr>
              <a:t>CREATE  T</a:t>
            </a:r>
            <a:r>
              <a:rPr lang="en-US" altLang="zh-CN">
                <a:latin typeface="+mn-lt"/>
                <a:cs typeface="+mn-lt"/>
                <a:sym typeface="+mn-ea"/>
              </a:rPr>
              <a:t>ABLE  statement (1)</a:t>
            </a:r>
            <a:endParaRPr lang="zh-CN" altLang="en-US">
              <a:sym typeface="+mn-ea"/>
            </a:endParaRPr>
          </a:p>
        </p:txBody>
      </p:sp>
      <p:sp>
        <p:nvSpPr>
          <p:cNvPr id="3" name="内容占位符 2"/>
          <p:cNvSpPr>
            <a:spLocks noGrp="1"/>
          </p:cNvSpPr>
          <p:nvPr>
            <p:ph idx="1"/>
          </p:nvPr>
        </p:nvSpPr>
        <p:spPr>
          <a:xfrm>
            <a:off x="424180" y="1174750"/>
            <a:ext cx="11343005" cy="829945"/>
          </a:xfrm>
          <a:solidFill>
            <a:schemeClr val="accent3">
              <a:lumMod val="20000"/>
              <a:lumOff val="80000"/>
              <a:alpha val="50000"/>
            </a:schemeClr>
          </a:solidFill>
          <a:ln>
            <a:solidFill>
              <a:schemeClr val="accent1"/>
            </a:solidFill>
          </a:ln>
        </p:spPr>
        <p:txBody>
          <a:bodyPr>
            <a:spAutoFit/>
          </a:bodyPr>
          <a:lstStyle/>
          <a:p>
            <a:pPr marL="457200" lvl="1" indent="0">
              <a:lnSpc>
                <a:spcPct val="100000"/>
              </a:lnSpc>
              <a:spcBef>
                <a:spcPts val="0"/>
              </a:spcBef>
              <a:buNone/>
            </a:pPr>
            <a:r>
              <a:rPr lang="zh-CN" altLang="en-US" sz="2400">
                <a:latin typeface="+mn-lt"/>
                <a:cs typeface="+mn-lt"/>
              </a:rPr>
              <a:t>CREATE  [</a:t>
            </a:r>
            <a:r>
              <a:rPr lang="zh-CN" altLang="en-US" sz="2400">
                <a:solidFill>
                  <a:srgbClr val="C00000"/>
                </a:solidFill>
                <a:latin typeface="+mn-lt"/>
                <a:cs typeface="+mn-lt"/>
              </a:rPr>
              <a:t>TEMPORARY</a:t>
            </a:r>
            <a:r>
              <a:rPr lang="zh-CN" altLang="en-US" sz="2400">
                <a:latin typeface="+mn-lt"/>
                <a:cs typeface="+mn-lt"/>
              </a:rPr>
              <a:t>]  TABLE  [IF  NOT  EXISTS]  tbl_name</a:t>
            </a:r>
          </a:p>
          <a:p>
            <a:pPr marL="457200" lvl="1" indent="0">
              <a:lnSpc>
                <a:spcPct val="100000"/>
              </a:lnSpc>
              <a:spcBef>
                <a:spcPts val="0"/>
              </a:spcBef>
              <a:buNone/>
            </a:pPr>
            <a:r>
              <a:rPr lang="zh-CN" altLang="en-US" sz="2400">
                <a:latin typeface="+mn-lt"/>
                <a:cs typeface="+mn-lt"/>
              </a:rPr>
              <a:t>    (create_definition,...)</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75</a:t>
            </a:fld>
            <a:endParaRPr lang="zh-CN" altLang="en-US"/>
          </a:p>
        </p:txBody>
      </p:sp>
      <p:sp>
        <p:nvSpPr>
          <p:cNvPr id="7" name="文本框 6"/>
          <p:cNvSpPr txBox="1"/>
          <p:nvPr/>
        </p:nvSpPr>
        <p:spPr>
          <a:xfrm>
            <a:off x="424180" y="687070"/>
            <a:ext cx="11353165" cy="460375"/>
          </a:xfrm>
          <a:prstGeom prst="rect">
            <a:avLst/>
          </a:prstGeom>
          <a:noFill/>
        </p:spPr>
        <p:txBody>
          <a:bodyPr wrap="square" rtlCol="0">
            <a:spAutoFit/>
          </a:bodyPr>
          <a:lstStyle/>
          <a:p>
            <a:pPr marL="342900" indent="-342900">
              <a:buClr>
                <a:srgbClr val="C00000"/>
              </a:buClr>
              <a:buSzPct val="85000"/>
              <a:buFont typeface="Wingdings" panose="05000000000000000000" charset="0"/>
              <a:buChar char="q"/>
            </a:pPr>
            <a:r>
              <a:rPr lang="zh-CN" altLang="en-US" sz="2400" b="1">
                <a:latin typeface="楷体" panose="02010609060101010101" charset="-122"/>
                <a:ea typeface="楷体" panose="02010609060101010101" charset="-122"/>
              </a:rPr>
              <a:t>创建一张新的表</a:t>
            </a:r>
          </a:p>
        </p:txBody>
      </p:sp>
      <p:grpSp>
        <p:nvGrpSpPr>
          <p:cNvPr id="10" name="组合 9"/>
          <p:cNvGrpSpPr/>
          <p:nvPr/>
        </p:nvGrpSpPr>
        <p:grpSpPr>
          <a:xfrm>
            <a:off x="424180" y="2149475"/>
            <a:ext cx="11353165" cy="2028825"/>
            <a:chOff x="668" y="3497"/>
            <a:chExt cx="17879" cy="3195"/>
          </a:xfrm>
        </p:grpSpPr>
        <p:sp>
          <p:nvSpPr>
            <p:cNvPr id="5" name="内容占位符 2"/>
            <p:cNvSpPr>
              <a:spLocks noGrp="1"/>
            </p:cNvSpPr>
            <p:nvPr/>
          </p:nvSpPr>
          <p:spPr>
            <a:xfrm>
              <a:off x="668" y="4222"/>
              <a:ext cx="17863" cy="2470"/>
            </a:xfrm>
            <a:prstGeom prst="rect">
              <a:avLst/>
            </a:prstGeom>
            <a:solidFill>
              <a:schemeClr val="accent3">
                <a:lumMod val="20000"/>
                <a:lumOff val="80000"/>
                <a:alpha val="50000"/>
              </a:schemeClr>
            </a:solidFill>
            <a:ln>
              <a:solidFill>
                <a:schemeClr val="accent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0"/>
                </a:spcBef>
                <a:buNone/>
              </a:pPr>
              <a:r>
                <a:rPr lang="zh-CN" altLang="en-US" sz="2400">
                  <a:latin typeface="+mn-lt"/>
                  <a:cs typeface="+mn-lt"/>
                </a:rPr>
                <a:t>CREATE  [</a:t>
              </a:r>
              <a:r>
                <a:rPr lang="zh-CN" altLang="en-US" sz="2400">
                  <a:solidFill>
                    <a:srgbClr val="C00000"/>
                  </a:solidFill>
                  <a:latin typeface="+mn-lt"/>
                  <a:cs typeface="+mn-lt"/>
                </a:rPr>
                <a:t>TEMPORARY</a:t>
              </a:r>
              <a:r>
                <a:rPr lang="zh-CN" altLang="en-US" sz="2400">
                  <a:latin typeface="+mn-lt"/>
                  <a:cs typeface="+mn-lt"/>
                </a:rPr>
                <a:t>]  TABLE  [IF  NOT  EXISTS]  tbl_name</a:t>
              </a:r>
            </a:p>
            <a:p>
              <a:pPr marL="457200" lvl="1" indent="0">
                <a:lnSpc>
                  <a:spcPct val="100000"/>
                </a:lnSpc>
                <a:spcBef>
                  <a:spcPts val="0"/>
                </a:spcBef>
                <a:buNone/>
              </a:pPr>
              <a:r>
                <a:rPr lang="zh-CN" altLang="en-US" sz="2400">
                  <a:latin typeface="+mn-lt"/>
                  <a:cs typeface="+mn-lt"/>
                </a:rPr>
                <a:t>    [(create_definition,...)]</a:t>
              </a:r>
            </a:p>
            <a:p>
              <a:pPr marL="457200" lvl="1" indent="0">
                <a:lnSpc>
                  <a:spcPct val="100000"/>
                </a:lnSpc>
                <a:spcBef>
                  <a:spcPts val="0"/>
                </a:spcBef>
                <a:buNone/>
              </a:pPr>
              <a:r>
                <a:rPr lang="zh-CN" altLang="en-US" sz="2400">
                  <a:latin typeface="+mn-lt"/>
                  <a:cs typeface="+mn-lt"/>
                </a:rPr>
                <a:t>    </a:t>
              </a:r>
              <a:r>
                <a:rPr lang="zh-CN" altLang="en-US" sz="2400">
                  <a:solidFill>
                    <a:srgbClr val="C00000"/>
                  </a:solidFill>
                  <a:latin typeface="+mn-lt"/>
                  <a:cs typeface="+mn-lt"/>
                </a:rPr>
                <a:t>[IGNORE | REPLACE]</a:t>
              </a:r>
              <a:endParaRPr lang="zh-CN" altLang="en-US" sz="2400">
                <a:latin typeface="+mn-lt"/>
                <a:cs typeface="+mn-lt"/>
              </a:endParaRPr>
            </a:p>
            <a:p>
              <a:pPr marL="457200" lvl="1" indent="0">
                <a:lnSpc>
                  <a:spcPct val="100000"/>
                </a:lnSpc>
                <a:spcBef>
                  <a:spcPts val="0"/>
                </a:spcBef>
                <a:buNone/>
              </a:pPr>
              <a:r>
                <a:rPr lang="zh-CN" altLang="en-US" sz="2400">
                  <a:latin typeface="+mn-lt"/>
                  <a:cs typeface="+mn-lt"/>
                </a:rPr>
                <a:t>    [AS] query_expression</a:t>
              </a:r>
            </a:p>
          </p:txBody>
        </p:sp>
        <p:sp>
          <p:nvSpPr>
            <p:cNvPr id="8" name="文本框 7"/>
            <p:cNvSpPr txBox="1"/>
            <p:nvPr/>
          </p:nvSpPr>
          <p:spPr>
            <a:xfrm>
              <a:off x="668" y="3497"/>
              <a:ext cx="17879" cy="725"/>
            </a:xfrm>
            <a:prstGeom prst="rect">
              <a:avLst/>
            </a:prstGeom>
            <a:noFill/>
          </p:spPr>
          <p:txBody>
            <a:bodyPr wrap="square" rtlCol="0">
              <a:spAutoFit/>
            </a:bodyPr>
            <a:lstStyle/>
            <a:p>
              <a:pPr marL="342900" indent="-342900">
                <a:buClr>
                  <a:srgbClr val="C00000"/>
                </a:buClr>
                <a:buSzPct val="85000"/>
                <a:buFont typeface="Wingdings" panose="05000000000000000000" charset="0"/>
                <a:buChar char="q"/>
              </a:pPr>
              <a:r>
                <a:rPr lang="zh-CN" altLang="en-US" sz="2400" b="1">
                  <a:ea typeface="楷体" panose="02010609060101010101" charset="-122"/>
                  <a:cs typeface="+mn-lt"/>
                </a:rPr>
                <a:t>创建一张新的表，并且将子查询</a:t>
              </a:r>
              <a:r>
                <a:rPr lang="zh-CN" altLang="en-US" sz="2400" b="1">
                  <a:ea typeface="楷体" panose="02010609060101010101" charset="-122"/>
                  <a:cs typeface="+mn-lt"/>
                  <a:sym typeface="+mn-ea"/>
                </a:rPr>
                <a:t>query_expression的查询结果插入到新表中</a:t>
              </a:r>
            </a:p>
          </p:txBody>
        </p:sp>
      </p:grpSp>
      <p:grpSp>
        <p:nvGrpSpPr>
          <p:cNvPr id="12" name="组合 11"/>
          <p:cNvGrpSpPr/>
          <p:nvPr/>
        </p:nvGrpSpPr>
        <p:grpSpPr>
          <a:xfrm>
            <a:off x="424180" y="4384675"/>
            <a:ext cx="11353165" cy="1315085"/>
            <a:chOff x="668" y="7161"/>
            <a:chExt cx="17879" cy="2071"/>
          </a:xfrm>
        </p:grpSpPr>
        <p:sp>
          <p:nvSpPr>
            <p:cNvPr id="6" name="内容占位符 2"/>
            <p:cNvSpPr>
              <a:spLocks noGrp="1"/>
            </p:cNvSpPr>
            <p:nvPr/>
          </p:nvSpPr>
          <p:spPr>
            <a:xfrm>
              <a:off x="668" y="7925"/>
              <a:ext cx="17863" cy="1307"/>
            </a:xfrm>
            <a:prstGeom prst="rect">
              <a:avLst/>
            </a:prstGeom>
            <a:solidFill>
              <a:schemeClr val="accent3">
                <a:lumMod val="20000"/>
                <a:lumOff val="80000"/>
                <a:alpha val="50000"/>
              </a:schemeClr>
            </a:solidFill>
            <a:ln>
              <a:solidFill>
                <a:schemeClr val="accent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panose="02010609060101010101" charset="-122"/>
                  <a:ea typeface="楷体" panose="02010609060101010101"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0"/>
                </a:spcBef>
                <a:buNone/>
              </a:pPr>
              <a:r>
                <a:rPr lang="zh-CN" altLang="en-US" sz="2400">
                  <a:latin typeface="+mn-lt"/>
                  <a:cs typeface="+mn-lt"/>
                </a:rPr>
                <a:t>CREATE  [</a:t>
              </a:r>
              <a:r>
                <a:rPr lang="zh-CN" altLang="en-US" sz="2400">
                  <a:solidFill>
                    <a:srgbClr val="C00000"/>
                  </a:solidFill>
                  <a:latin typeface="+mn-lt"/>
                  <a:cs typeface="+mn-lt"/>
                </a:rPr>
                <a:t>TEMPORARY</a:t>
              </a:r>
              <a:r>
                <a:rPr lang="zh-CN" altLang="en-US" sz="2400">
                  <a:latin typeface="+mn-lt"/>
                  <a:cs typeface="+mn-lt"/>
                </a:rPr>
                <a:t>]  TABLE  [IF  NOT  EXISTS]  tbl_name</a:t>
              </a:r>
            </a:p>
            <a:p>
              <a:pPr marL="457200" lvl="1" indent="0">
                <a:lnSpc>
                  <a:spcPct val="100000"/>
                </a:lnSpc>
                <a:spcBef>
                  <a:spcPts val="0"/>
                </a:spcBef>
                <a:buNone/>
              </a:pPr>
              <a:r>
                <a:rPr lang="zh-CN" altLang="en-US" sz="2400">
                  <a:latin typeface="+mn-lt"/>
                  <a:cs typeface="+mn-lt"/>
                </a:rPr>
                <a:t>    LIKE old_tbl_name</a:t>
              </a:r>
            </a:p>
          </p:txBody>
        </p:sp>
        <p:sp>
          <p:nvSpPr>
            <p:cNvPr id="9" name="文本框 8"/>
            <p:cNvSpPr txBox="1"/>
            <p:nvPr/>
          </p:nvSpPr>
          <p:spPr>
            <a:xfrm>
              <a:off x="668" y="7161"/>
              <a:ext cx="17879" cy="725"/>
            </a:xfrm>
            <a:prstGeom prst="rect">
              <a:avLst/>
            </a:prstGeom>
            <a:noFill/>
          </p:spPr>
          <p:txBody>
            <a:bodyPr wrap="square" rtlCol="0">
              <a:spAutoFit/>
            </a:bodyPr>
            <a:lstStyle/>
            <a:p>
              <a:pPr marL="342900" indent="-342900">
                <a:buClr>
                  <a:srgbClr val="C00000"/>
                </a:buClr>
                <a:buSzPct val="85000"/>
                <a:buFont typeface="Wingdings" panose="05000000000000000000" charset="0"/>
                <a:buChar char="q"/>
              </a:pPr>
              <a:r>
                <a:rPr lang="zh-CN" altLang="en-US" sz="2400" b="1">
                  <a:ea typeface="楷体" panose="02010609060101010101" charset="-122"/>
                  <a:cs typeface="+mn-lt"/>
                </a:rPr>
                <a:t>创建一张新的表，新表</a:t>
              </a:r>
              <a:r>
                <a:rPr lang="zh-CN" altLang="en-US" sz="2400" b="1">
                  <a:ea typeface="楷体" panose="02010609060101010101" charset="-122"/>
                  <a:cs typeface="+mn-lt"/>
                  <a:sym typeface="+mn-ea"/>
                </a:rPr>
                <a:t>与已有的表具有相同</a:t>
              </a:r>
              <a:r>
                <a:rPr lang="zh-CN" altLang="en-US" sz="2400" b="1">
                  <a:ea typeface="楷体" panose="02010609060101010101" charset="-122"/>
                  <a:cs typeface="+mn-lt"/>
                </a:rPr>
                <a:t>的属性定义和索引定义（含主码定义）</a:t>
              </a:r>
            </a:p>
          </p:txBody>
        </p:sp>
      </p:grpSp>
      <p:sp>
        <p:nvSpPr>
          <p:cNvPr id="11" name="文本框 10"/>
          <p:cNvSpPr txBox="1"/>
          <p:nvPr/>
        </p:nvSpPr>
        <p:spPr>
          <a:xfrm>
            <a:off x="424180" y="5785485"/>
            <a:ext cx="11353165" cy="829945"/>
          </a:xfrm>
          <a:prstGeom prst="rect">
            <a:avLst/>
          </a:prstGeom>
          <a:noFill/>
        </p:spPr>
        <p:txBody>
          <a:bodyPr wrap="square" rtlCol="0">
            <a:spAutoFit/>
          </a:bodyPr>
          <a:lstStyle/>
          <a:p>
            <a:pPr marL="342900" indent="-342900">
              <a:buClr>
                <a:srgbClr val="C00000"/>
              </a:buClr>
              <a:buSzPct val="85000"/>
              <a:buFont typeface="Wingdings" panose="05000000000000000000" charset="0"/>
              <a:buChar char="q"/>
            </a:pPr>
            <a:r>
              <a:rPr lang="zh-CN" altLang="en-US" sz="2400" b="1">
                <a:ea typeface="楷体" panose="02010609060101010101" charset="-122"/>
                <a:cs typeface="+mn-lt"/>
              </a:rPr>
              <a:t>如果在命令中使用了</a:t>
            </a:r>
            <a:r>
              <a:rPr lang="zh-CN" altLang="en-US" sz="2400">
                <a:solidFill>
                  <a:srgbClr val="C00000"/>
                </a:solidFill>
                <a:cs typeface="+mn-lt"/>
                <a:sym typeface="+mn-ea"/>
              </a:rPr>
              <a:t>TEMPORARY</a:t>
            </a:r>
            <a:r>
              <a:rPr lang="zh-CN" altLang="en-US" sz="2400" b="1">
                <a:ea typeface="楷体" panose="02010609060101010101" charset="-122"/>
                <a:cs typeface="+mn-lt"/>
              </a:rPr>
              <a:t>，那么创建的就是一张临时表，仅在本次连接数据库的过程中有效，在撤消与数据库的连接后，所有的临时表将自动被删除。</a:t>
            </a:r>
          </a:p>
        </p:txBody>
      </p:sp>
      <p:sp>
        <p:nvSpPr>
          <p:cNvPr id="13" name="页脚占位符 12"/>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n-lt"/>
                <a:cs typeface="+mn-lt"/>
                <a:sym typeface="+mn-ea"/>
              </a:rPr>
              <a:t>MySQL:  </a:t>
            </a:r>
            <a:r>
              <a:rPr lang="zh-CN" altLang="en-US">
                <a:latin typeface="+mn-lt"/>
                <a:cs typeface="+mn-lt"/>
                <a:sym typeface="+mn-ea"/>
              </a:rPr>
              <a:t>CREATE  T</a:t>
            </a:r>
            <a:r>
              <a:rPr lang="en-US" altLang="zh-CN">
                <a:latin typeface="+mn-lt"/>
                <a:cs typeface="+mn-lt"/>
                <a:sym typeface="+mn-ea"/>
              </a:rPr>
              <a:t>ABLE  statement (2)</a:t>
            </a:r>
            <a:endParaRPr lang="zh-CN" altLang="en-US"/>
          </a:p>
        </p:txBody>
      </p:sp>
      <p:sp>
        <p:nvSpPr>
          <p:cNvPr id="3" name="内容占位符 2"/>
          <p:cNvSpPr>
            <a:spLocks noGrp="1"/>
          </p:cNvSpPr>
          <p:nvPr>
            <p:ph idx="1"/>
          </p:nvPr>
        </p:nvSpPr>
        <p:spPr/>
        <p:txBody>
          <a:bodyPr/>
          <a:lstStyle/>
          <a:p>
            <a:pPr marL="0" indent="0">
              <a:lnSpc>
                <a:spcPct val="110000"/>
              </a:lnSpc>
              <a:spcBef>
                <a:spcPts val="1000"/>
              </a:spcBef>
              <a:buNone/>
            </a:pPr>
            <a:r>
              <a:rPr lang="zh-CN" altLang="en-US" sz="2400">
                <a:latin typeface="+mn-lt"/>
                <a:cs typeface="+mn-lt"/>
              </a:rPr>
              <a:t>create_definition: {</a:t>
            </a:r>
          </a:p>
          <a:p>
            <a:pPr marL="457200" lvl="1" indent="-6985">
              <a:lnSpc>
                <a:spcPct val="110000"/>
              </a:lnSpc>
              <a:spcBef>
                <a:spcPts val="1000"/>
              </a:spcBef>
              <a:buNone/>
            </a:pPr>
            <a:r>
              <a:rPr lang="zh-CN" altLang="en-US" sz="2400">
                <a:solidFill>
                  <a:srgbClr val="C00000"/>
                </a:solidFill>
                <a:latin typeface="+mn-lt"/>
                <a:cs typeface="+mn-lt"/>
              </a:rPr>
              <a:t>col_name </a:t>
            </a:r>
            <a:r>
              <a:rPr lang="en-US" altLang="zh-CN" sz="2400">
                <a:solidFill>
                  <a:srgbClr val="C00000"/>
                </a:solidFill>
                <a:latin typeface="+mn-lt"/>
                <a:cs typeface="+mn-lt"/>
              </a:rPr>
              <a:t> </a:t>
            </a:r>
            <a:r>
              <a:rPr lang="zh-CN" altLang="en-US" sz="2400">
                <a:solidFill>
                  <a:srgbClr val="C00000"/>
                </a:solidFill>
                <a:latin typeface="+mn-lt"/>
                <a:cs typeface="+mn-lt"/>
              </a:rPr>
              <a:t>column_definition</a:t>
            </a:r>
          </a:p>
          <a:p>
            <a:pPr marL="457200" lvl="1" indent="0">
              <a:lnSpc>
                <a:spcPct val="110000"/>
              </a:lnSpc>
              <a:spcBef>
                <a:spcPts val="1000"/>
              </a:spcBef>
              <a:buNone/>
            </a:pPr>
            <a:r>
              <a:rPr lang="zh-CN" altLang="en-US" sz="2400">
                <a:latin typeface="+mn-lt"/>
                <a:cs typeface="+mn-lt"/>
              </a:rPr>
              <a:t>| {INDEX | KEY} [index_name] [index_type] (key_part,...)</a:t>
            </a:r>
            <a:r>
              <a:rPr lang="en-US" altLang="zh-CN" sz="2400">
                <a:latin typeface="+mn-lt"/>
                <a:cs typeface="+mn-lt"/>
              </a:rPr>
              <a:t> </a:t>
            </a:r>
            <a:r>
              <a:rPr lang="zh-CN" altLang="en-US" sz="2400">
                <a:latin typeface="+mn-lt"/>
                <a:cs typeface="+mn-lt"/>
              </a:rPr>
              <a:t>[index_option] ...</a:t>
            </a:r>
          </a:p>
          <a:p>
            <a:pPr marL="457200" lvl="1" indent="0">
              <a:lnSpc>
                <a:spcPct val="110000"/>
              </a:lnSpc>
              <a:spcBef>
                <a:spcPts val="1000"/>
              </a:spcBef>
              <a:buNone/>
            </a:pPr>
            <a:r>
              <a:rPr lang="zh-CN" altLang="en-US" sz="2400">
                <a:latin typeface="+mn-lt"/>
                <a:cs typeface="+mn-lt"/>
              </a:rPr>
              <a:t>| {FULLTEXT | SPATIAL} [INDEX | KEY] [index_name] (key_part,...)</a:t>
            </a:r>
            <a:r>
              <a:rPr lang="en-US" altLang="zh-CN" sz="2400">
                <a:latin typeface="+mn-lt"/>
                <a:cs typeface="+mn-lt"/>
              </a:rPr>
              <a:t> </a:t>
            </a:r>
            <a:r>
              <a:rPr lang="zh-CN" altLang="en-US" sz="2400">
                <a:latin typeface="+mn-lt"/>
                <a:cs typeface="+mn-lt"/>
              </a:rPr>
              <a:t>[index_option] ...</a:t>
            </a:r>
          </a:p>
          <a:p>
            <a:pPr marL="457200" lvl="1" indent="0">
              <a:lnSpc>
                <a:spcPct val="110000"/>
              </a:lnSpc>
              <a:spcBef>
                <a:spcPts val="1000"/>
              </a:spcBef>
              <a:buNone/>
            </a:pPr>
            <a:r>
              <a:rPr lang="zh-CN" altLang="en-US" sz="2400">
                <a:latin typeface="+mn-lt"/>
                <a:cs typeface="+mn-lt"/>
              </a:rPr>
              <a:t>| [CONSTRAINT [symbol]] </a:t>
            </a:r>
            <a:r>
              <a:rPr lang="zh-CN" altLang="en-US" sz="2400">
                <a:solidFill>
                  <a:srgbClr val="C00000"/>
                </a:solidFill>
                <a:latin typeface="+mn-lt"/>
                <a:cs typeface="+mn-lt"/>
              </a:rPr>
              <a:t>PRIMARY KEY</a:t>
            </a:r>
            <a:r>
              <a:rPr lang="en-US" altLang="zh-CN" sz="2400">
                <a:latin typeface="+mn-lt"/>
                <a:cs typeface="+mn-lt"/>
              </a:rPr>
              <a:t> </a:t>
            </a:r>
            <a:r>
              <a:rPr lang="zh-CN" altLang="en-US" sz="2400">
                <a:latin typeface="+mn-lt"/>
                <a:cs typeface="+mn-lt"/>
              </a:rPr>
              <a:t>[index_type] (key_part,...)</a:t>
            </a:r>
            <a:r>
              <a:rPr lang="en-US" altLang="zh-CN" sz="2400">
                <a:latin typeface="+mn-lt"/>
                <a:cs typeface="+mn-lt"/>
              </a:rPr>
              <a:t> </a:t>
            </a:r>
            <a:r>
              <a:rPr lang="zh-CN" altLang="en-US" sz="2400">
                <a:latin typeface="+mn-lt"/>
                <a:cs typeface="+mn-lt"/>
              </a:rPr>
              <a:t>[index_option] ...</a:t>
            </a:r>
          </a:p>
          <a:p>
            <a:pPr marL="457200" lvl="1" indent="0">
              <a:lnSpc>
                <a:spcPct val="110000"/>
              </a:lnSpc>
              <a:spcBef>
                <a:spcPts val="1000"/>
              </a:spcBef>
              <a:buNone/>
            </a:pPr>
            <a:r>
              <a:rPr lang="zh-CN" altLang="en-US" sz="2400">
                <a:latin typeface="+mn-lt"/>
                <a:cs typeface="+mn-lt"/>
              </a:rPr>
              <a:t>| [CONSTRAINT [symbol]] </a:t>
            </a:r>
            <a:r>
              <a:rPr lang="zh-CN" altLang="en-US" sz="2400">
                <a:solidFill>
                  <a:srgbClr val="C00000"/>
                </a:solidFill>
                <a:latin typeface="+mn-lt"/>
                <a:cs typeface="+mn-lt"/>
              </a:rPr>
              <a:t>UNIQUE</a:t>
            </a:r>
            <a:r>
              <a:rPr lang="zh-CN" altLang="en-US" sz="2400">
                <a:latin typeface="+mn-lt"/>
                <a:cs typeface="+mn-lt"/>
              </a:rPr>
              <a:t> [INDEX | KEY]</a:t>
            </a:r>
            <a:r>
              <a:rPr lang="en-US" altLang="zh-CN" sz="2400">
                <a:latin typeface="+mn-lt"/>
                <a:cs typeface="+mn-lt"/>
              </a:rPr>
              <a:t> </a:t>
            </a:r>
            <a:endParaRPr lang="zh-CN" altLang="en-US" sz="2400">
              <a:latin typeface="+mn-lt"/>
              <a:cs typeface="+mn-lt"/>
            </a:endParaRPr>
          </a:p>
          <a:p>
            <a:pPr marL="914400" lvl="2" indent="0">
              <a:lnSpc>
                <a:spcPct val="110000"/>
              </a:lnSpc>
              <a:spcBef>
                <a:spcPts val="1000"/>
              </a:spcBef>
              <a:buNone/>
            </a:pPr>
            <a:r>
              <a:rPr lang="zh-CN" altLang="en-US" sz="2400">
                <a:latin typeface="+mn-lt"/>
                <a:cs typeface="+mn-lt"/>
              </a:rPr>
              <a:t>[index_name] [index_type] (key_part,...)</a:t>
            </a:r>
            <a:r>
              <a:rPr lang="en-US" altLang="zh-CN" sz="2400">
                <a:latin typeface="+mn-lt"/>
                <a:cs typeface="+mn-lt"/>
              </a:rPr>
              <a:t> </a:t>
            </a:r>
            <a:r>
              <a:rPr lang="zh-CN" altLang="en-US" sz="2400">
                <a:latin typeface="+mn-lt"/>
                <a:cs typeface="+mn-lt"/>
              </a:rPr>
              <a:t>[index_option] ...</a:t>
            </a:r>
          </a:p>
          <a:p>
            <a:pPr marL="457200" lvl="1" indent="0">
              <a:lnSpc>
                <a:spcPct val="110000"/>
              </a:lnSpc>
              <a:spcBef>
                <a:spcPts val="1000"/>
              </a:spcBef>
              <a:buNone/>
            </a:pPr>
            <a:r>
              <a:rPr lang="zh-CN" altLang="en-US" sz="2400">
                <a:latin typeface="+mn-lt"/>
                <a:cs typeface="+mn-lt"/>
              </a:rPr>
              <a:t>| [CONSTRAINT [symbol]] </a:t>
            </a:r>
            <a:r>
              <a:rPr lang="zh-CN" altLang="en-US" sz="2400">
                <a:solidFill>
                  <a:srgbClr val="C00000"/>
                </a:solidFill>
                <a:latin typeface="+mn-lt"/>
                <a:cs typeface="+mn-lt"/>
              </a:rPr>
              <a:t>FOREIGN KEY</a:t>
            </a:r>
            <a:r>
              <a:rPr lang="en-US" altLang="zh-CN" sz="2400">
                <a:latin typeface="+mn-lt"/>
                <a:cs typeface="+mn-lt"/>
              </a:rPr>
              <a:t> </a:t>
            </a:r>
            <a:r>
              <a:rPr lang="zh-CN" altLang="en-US" sz="2400">
                <a:latin typeface="+mn-lt"/>
                <a:cs typeface="+mn-lt"/>
              </a:rPr>
              <a:t>[index_name] (col_name,...)</a:t>
            </a:r>
          </a:p>
          <a:p>
            <a:pPr marL="914400" lvl="2" indent="0">
              <a:lnSpc>
                <a:spcPct val="110000"/>
              </a:lnSpc>
              <a:spcBef>
                <a:spcPts val="1000"/>
              </a:spcBef>
              <a:buNone/>
            </a:pPr>
            <a:r>
              <a:rPr lang="zh-CN" altLang="en-US" sz="2400">
                <a:solidFill>
                  <a:srgbClr val="C00000"/>
                </a:solidFill>
                <a:latin typeface="+mn-lt"/>
                <a:cs typeface="+mn-lt"/>
              </a:rPr>
              <a:t>reference_definition</a:t>
            </a:r>
            <a:endParaRPr lang="zh-CN" altLang="en-US" sz="2400">
              <a:latin typeface="+mn-lt"/>
              <a:cs typeface="+mn-lt"/>
            </a:endParaRPr>
          </a:p>
          <a:p>
            <a:pPr marL="457200" lvl="1" indent="0">
              <a:lnSpc>
                <a:spcPct val="110000"/>
              </a:lnSpc>
              <a:spcBef>
                <a:spcPts val="1000"/>
              </a:spcBef>
              <a:buNone/>
            </a:pPr>
            <a:r>
              <a:rPr lang="zh-CN" altLang="en-US" sz="2400">
                <a:latin typeface="+mn-lt"/>
                <a:cs typeface="+mn-lt"/>
              </a:rPr>
              <a:t>| </a:t>
            </a:r>
            <a:r>
              <a:rPr lang="zh-CN" altLang="en-US" sz="2400">
                <a:solidFill>
                  <a:srgbClr val="C00000"/>
                </a:solidFill>
                <a:latin typeface="+mn-lt"/>
                <a:cs typeface="+mn-lt"/>
              </a:rPr>
              <a:t>check_constraint_definition</a:t>
            </a:r>
            <a:endParaRPr lang="zh-CN" altLang="en-US" sz="2400">
              <a:latin typeface="+mn-lt"/>
              <a:cs typeface="+mn-lt"/>
            </a:endParaRPr>
          </a:p>
          <a:p>
            <a:pPr marL="0" indent="0">
              <a:lnSpc>
                <a:spcPct val="110000"/>
              </a:lnSpc>
              <a:spcBef>
                <a:spcPts val="1000"/>
              </a:spcBef>
              <a:buNone/>
            </a:pPr>
            <a:r>
              <a:rPr lang="zh-CN" altLang="en-US" sz="2400">
                <a:latin typeface="+mn-lt"/>
                <a:cs typeface="+mn-lt"/>
              </a:rPr>
              <a: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76</a:t>
            </a:fld>
            <a:endParaRPr lang="zh-CN" altLang="en-US"/>
          </a:p>
        </p:txBody>
      </p:sp>
      <p:sp>
        <p:nvSpPr>
          <p:cNvPr id="5" name="页脚占位符 4"/>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n-lt"/>
                <a:cs typeface="+mn-lt"/>
                <a:sym typeface="+mn-ea"/>
              </a:rPr>
              <a:t>MySQL:  </a:t>
            </a:r>
            <a:r>
              <a:rPr lang="zh-CN" altLang="en-US">
                <a:latin typeface="+mn-lt"/>
                <a:cs typeface="+mn-lt"/>
                <a:sym typeface="+mn-ea"/>
              </a:rPr>
              <a:t>CREATE  T</a:t>
            </a:r>
            <a:r>
              <a:rPr lang="en-US" altLang="zh-CN">
                <a:latin typeface="+mn-lt"/>
                <a:cs typeface="+mn-lt"/>
                <a:sym typeface="+mn-ea"/>
              </a:rPr>
              <a:t>ABLE  statement (3)</a:t>
            </a:r>
            <a:endParaRPr lang="zh-CN" altLang="en-US"/>
          </a:p>
        </p:txBody>
      </p:sp>
      <p:sp>
        <p:nvSpPr>
          <p:cNvPr id="3" name="内容占位符 2"/>
          <p:cNvSpPr>
            <a:spLocks noGrp="1"/>
          </p:cNvSpPr>
          <p:nvPr>
            <p:ph idx="1"/>
          </p:nvPr>
        </p:nvSpPr>
        <p:spPr/>
        <p:txBody>
          <a:bodyPr/>
          <a:lstStyle/>
          <a:p>
            <a:pPr marL="0" indent="0">
              <a:lnSpc>
                <a:spcPct val="100000"/>
              </a:lnSpc>
              <a:buNone/>
            </a:pPr>
            <a:r>
              <a:rPr lang="zh-CN" altLang="en-US" sz="2400">
                <a:latin typeface="+mn-lt"/>
                <a:cs typeface="+mn-lt"/>
              </a:rPr>
              <a:t>column_definition: {</a:t>
            </a:r>
          </a:p>
          <a:p>
            <a:pPr marL="0" indent="0">
              <a:lnSpc>
                <a:spcPct val="100000"/>
              </a:lnSpc>
              <a:buNone/>
            </a:pPr>
            <a:r>
              <a:rPr lang="zh-CN" altLang="en-US" sz="2400">
                <a:latin typeface="+mn-lt"/>
                <a:cs typeface="+mn-lt"/>
              </a:rPr>
              <a:t>    data_type [</a:t>
            </a:r>
            <a:r>
              <a:rPr lang="zh-CN" altLang="en-US" sz="2400">
                <a:solidFill>
                  <a:srgbClr val="C00000"/>
                </a:solidFill>
                <a:latin typeface="+mn-lt"/>
                <a:cs typeface="+mn-lt"/>
              </a:rPr>
              <a:t>NOT NULL</a:t>
            </a:r>
            <a:r>
              <a:rPr lang="zh-CN" altLang="en-US" sz="2400">
                <a:latin typeface="+mn-lt"/>
                <a:cs typeface="+mn-lt"/>
              </a:rPr>
              <a:t> | </a:t>
            </a:r>
            <a:r>
              <a:rPr lang="zh-CN" altLang="en-US" sz="2400">
                <a:solidFill>
                  <a:srgbClr val="C00000"/>
                </a:solidFill>
                <a:latin typeface="+mn-lt"/>
                <a:cs typeface="+mn-lt"/>
              </a:rPr>
              <a:t>NULL</a:t>
            </a:r>
            <a:r>
              <a:rPr lang="zh-CN" altLang="en-US" sz="2400">
                <a:latin typeface="+mn-lt"/>
                <a:cs typeface="+mn-lt"/>
              </a:rPr>
              <a:t>] [</a:t>
            </a:r>
            <a:r>
              <a:rPr lang="zh-CN" altLang="en-US" sz="2400">
                <a:solidFill>
                  <a:srgbClr val="C00000"/>
                </a:solidFill>
                <a:latin typeface="+mn-lt"/>
                <a:cs typeface="+mn-lt"/>
              </a:rPr>
              <a:t>DEFAULT </a:t>
            </a:r>
            <a:r>
              <a:rPr lang="zh-CN" altLang="en-US" sz="2400">
                <a:latin typeface="+mn-lt"/>
                <a:cs typeface="+mn-lt"/>
              </a:rPr>
              <a:t>{literal | (expr)} ]</a:t>
            </a:r>
          </a:p>
          <a:p>
            <a:pPr marL="0" indent="0">
              <a:lnSpc>
                <a:spcPct val="100000"/>
              </a:lnSpc>
              <a:buNone/>
            </a:pPr>
            <a:r>
              <a:rPr lang="zh-CN" altLang="en-US" sz="2400">
                <a:latin typeface="+mn-lt"/>
                <a:cs typeface="+mn-lt"/>
              </a:rPr>
              <a:t>      [VISIBLE | INVISIBLE]</a:t>
            </a:r>
          </a:p>
          <a:p>
            <a:pPr marL="0" indent="0">
              <a:lnSpc>
                <a:spcPct val="100000"/>
              </a:lnSpc>
              <a:buNone/>
            </a:pPr>
            <a:r>
              <a:rPr lang="zh-CN" altLang="en-US" sz="2400">
                <a:latin typeface="+mn-lt"/>
                <a:cs typeface="+mn-lt"/>
              </a:rPr>
              <a:t>      [AUTO_INCREMENT] </a:t>
            </a:r>
          </a:p>
          <a:p>
            <a:pPr marL="0" indent="0">
              <a:lnSpc>
                <a:spcPct val="100000"/>
              </a:lnSpc>
              <a:buNone/>
            </a:pPr>
            <a:r>
              <a:rPr lang="zh-CN" altLang="en-US" sz="2400">
                <a:latin typeface="+mn-lt"/>
                <a:cs typeface="+mn-lt"/>
                <a:sym typeface="+mn-ea"/>
              </a:rPr>
              <a:t>      </a:t>
            </a:r>
            <a:r>
              <a:rPr lang="zh-CN" altLang="en-US" sz="2400">
                <a:latin typeface="+mn-lt"/>
                <a:cs typeface="+mn-lt"/>
              </a:rPr>
              <a:t>[</a:t>
            </a:r>
            <a:r>
              <a:rPr lang="zh-CN" altLang="en-US" sz="2400">
                <a:solidFill>
                  <a:srgbClr val="C00000"/>
                </a:solidFill>
                <a:latin typeface="+mn-lt"/>
                <a:cs typeface="+mn-lt"/>
              </a:rPr>
              <a:t>UNIQUE </a:t>
            </a:r>
            <a:r>
              <a:rPr lang="zh-CN" altLang="en-US" sz="2400">
                <a:latin typeface="+mn-lt"/>
                <a:cs typeface="+mn-lt"/>
              </a:rPr>
              <a:t>[KEY]] </a:t>
            </a:r>
          </a:p>
          <a:p>
            <a:pPr marL="0" indent="0">
              <a:lnSpc>
                <a:spcPct val="100000"/>
              </a:lnSpc>
              <a:buNone/>
            </a:pPr>
            <a:r>
              <a:rPr lang="zh-CN" altLang="en-US" sz="2400">
                <a:latin typeface="+mn-lt"/>
                <a:cs typeface="+mn-lt"/>
                <a:sym typeface="+mn-ea"/>
              </a:rPr>
              <a:t>      </a:t>
            </a:r>
            <a:r>
              <a:rPr lang="zh-CN" altLang="en-US" sz="2400">
                <a:latin typeface="+mn-lt"/>
                <a:cs typeface="+mn-lt"/>
              </a:rPr>
              <a:t>[[</a:t>
            </a:r>
            <a:r>
              <a:rPr lang="zh-CN" altLang="en-US" sz="2400">
                <a:solidFill>
                  <a:srgbClr val="C00000"/>
                </a:solidFill>
                <a:latin typeface="+mn-lt"/>
                <a:cs typeface="+mn-lt"/>
              </a:rPr>
              <a:t>PRIMARY</a:t>
            </a:r>
            <a:r>
              <a:rPr lang="zh-CN" altLang="en-US" sz="2400">
                <a:latin typeface="+mn-lt"/>
                <a:cs typeface="+mn-lt"/>
              </a:rPr>
              <a:t>] KEY]</a:t>
            </a:r>
          </a:p>
          <a:p>
            <a:pPr marL="0" indent="0">
              <a:lnSpc>
                <a:spcPct val="100000"/>
              </a:lnSpc>
              <a:buNone/>
            </a:pPr>
            <a:r>
              <a:rPr lang="zh-CN" altLang="en-US" sz="2400">
                <a:latin typeface="+mn-lt"/>
                <a:cs typeface="+mn-lt"/>
              </a:rPr>
              <a:t>      [COMMENT 'string']</a:t>
            </a:r>
          </a:p>
          <a:p>
            <a:pPr marL="0" indent="0">
              <a:lnSpc>
                <a:spcPct val="100000"/>
              </a:lnSpc>
              <a:buNone/>
            </a:pPr>
            <a:r>
              <a:rPr lang="zh-CN" altLang="en-US" sz="2400">
                <a:latin typeface="+mn-lt"/>
                <a:cs typeface="+mn-lt"/>
              </a:rPr>
              <a:t>      [</a:t>
            </a:r>
            <a:r>
              <a:rPr lang="zh-CN" altLang="en-US" sz="2400">
                <a:solidFill>
                  <a:srgbClr val="C00000"/>
                </a:solidFill>
                <a:latin typeface="+mn-lt"/>
                <a:cs typeface="+mn-lt"/>
              </a:rPr>
              <a:t>reference_definition</a:t>
            </a:r>
            <a:r>
              <a:rPr lang="zh-CN" altLang="en-US" sz="2400">
                <a:latin typeface="+mn-lt"/>
                <a:cs typeface="+mn-lt"/>
              </a:rPr>
              <a:t>]</a:t>
            </a:r>
          </a:p>
          <a:p>
            <a:pPr marL="0" indent="0">
              <a:lnSpc>
                <a:spcPct val="100000"/>
              </a:lnSpc>
              <a:buNone/>
            </a:pPr>
            <a:r>
              <a:rPr lang="zh-CN" altLang="en-US" sz="2400">
                <a:latin typeface="+mn-lt"/>
                <a:cs typeface="+mn-lt"/>
              </a:rPr>
              <a:t>      [</a:t>
            </a:r>
            <a:r>
              <a:rPr lang="zh-CN" altLang="en-US" sz="2400">
                <a:solidFill>
                  <a:srgbClr val="C00000"/>
                </a:solidFill>
                <a:latin typeface="+mn-lt"/>
                <a:cs typeface="+mn-lt"/>
              </a:rPr>
              <a:t>check_constraint_definition</a:t>
            </a:r>
            <a:r>
              <a:rPr lang="zh-CN" altLang="en-US" sz="2400">
                <a:latin typeface="+mn-lt"/>
                <a:cs typeface="+mn-lt"/>
              </a:rPr>
              <a:t>]</a:t>
            </a:r>
          </a:p>
          <a:p>
            <a:pPr marL="0" indent="0">
              <a:lnSpc>
                <a:spcPct val="100000"/>
              </a:lnSpc>
              <a:buNone/>
            </a:pPr>
            <a:r>
              <a:rPr lang="zh-CN" altLang="en-US" sz="2400">
                <a:latin typeface="+mn-lt"/>
                <a:cs typeface="+mn-lt"/>
              </a:rPr>
              <a:t> }</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77</a:t>
            </a:fld>
            <a:endParaRPr lang="zh-CN" altLang="en-US"/>
          </a:p>
        </p:txBody>
      </p:sp>
      <p:sp>
        <p:nvSpPr>
          <p:cNvPr id="5" name="页脚占位符 4"/>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mn-lt"/>
                <a:cs typeface="+mn-lt"/>
                <a:sym typeface="+mn-ea"/>
              </a:rPr>
              <a:t>MySQL:  </a:t>
            </a:r>
            <a:r>
              <a:rPr lang="zh-CN" altLang="en-US">
                <a:latin typeface="+mn-lt"/>
                <a:cs typeface="+mn-lt"/>
                <a:sym typeface="+mn-ea"/>
              </a:rPr>
              <a:t>CREATE  T</a:t>
            </a:r>
            <a:r>
              <a:rPr lang="en-US" altLang="zh-CN">
                <a:latin typeface="+mn-lt"/>
                <a:cs typeface="+mn-lt"/>
                <a:sym typeface="+mn-ea"/>
              </a:rPr>
              <a:t>ABLE  statement (4)</a:t>
            </a:r>
            <a:endParaRPr lang="zh-CN" altLang="en-US"/>
          </a:p>
        </p:txBody>
      </p:sp>
      <p:sp>
        <p:nvSpPr>
          <p:cNvPr id="3" name="内容占位符 2"/>
          <p:cNvSpPr>
            <a:spLocks noGrp="1"/>
          </p:cNvSpPr>
          <p:nvPr>
            <p:ph idx="1"/>
          </p:nvPr>
        </p:nvSpPr>
        <p:spPr/>
        <p:txBody>
          <a:bodyPr/>
          <a:lstStyle/>
          <a:p>
            <a:pPr marL="0" indent="0">
              <a:lnSpc>
                <a:spcPct val="100000"/>
              </a:lnSpc>
              <a:buNone/>
            </a:pPr>
            <a:r>
              <a:rPr lang="zh-CN" altLang="en-US" sz="2400">
                <a:latin typeface="+mn-lt"/>
                <a:cs typeface="+mn-lt"/>
              </a:rPr>
              <a:t>check_constraint_definition:</a:t>
            </a:r>
          </a:p>
          <a:p>
            <a:pPr marL="0" indent="0">
              <a:lnSpc>
                <a:spcPct val="100000"/>
              </a:lnSpc>
              <a:buNone/>
            </a:pPr>
            <a:r>
              <a:rPr lang="zh-CN" altLang="en-US" sz="2400">
                <a:latin typeface="+mn-lt"/>
                <a:cs typeface="+mn-lt"/>
              </a:rPr>
              <a:t>   </a:t>
            </a:r>
            <a:r>
              <a:rPr lang="zh-CN" altLang="en-US" sz="2400">
                <a:solidFill>
                  <a:srgbClr val="C00000"/>
                </a:solidFill>
                <a:latin typeface="+mn-lt"/>
                <a:cs typeface="+mn-lt"/>
              </a:rPr>
              <a:t> [CONSTRAINT [symbol]] CHECK (expr) [[NOT] ENFORCED]</a:t>
            </a:r>
          </a:p>
          <a:p>
            <a:pPr marL="0" indent="0">
              <a:lnSpc>
                <a:spcPct val="100000"/>
              </a:lnSpc>
              <a:buNone/>
            </a:pPr>
            <a:endParaRPr lang="zh-CN" altLang="en-US" sz="2400">
              <a:latin typeface="+mn-lt"/>
              <a:cs typeface="+mn-lt"/>
            </a:endParaRPr>
          </a:p>
          <a:p>
            <a:pPr marL="0" indent="0">
              <a:lnSpc>
                <a:spcPct val="100000"/>
              </a:lnSpc>
              <a:buNone/>
            </a:pPr>
            <a:r>
              <a:rPr lang="zh-CN" altLang="en-US" sz="2400">
                <a:latin typeface="+mn-lt"/>
                <a:cs typeface="+mn-lt"/>
              </a:rPr>
              <a:t>reference_definition:</a:t>
            </a:r>
          </a:p>
          <a:p>
            <a:pPr marL="0" indent="0">
              <a:lnSpc>
                <a:spcPct val="100000"/>
              </a:lnSpc>
              <a:buNone/>
            </a:pPr>
            <a:r>
              <a:rPr lang="zh-CN" altLang="en-US" sz="2400">
                <a:latin typeface="+mn-lt"/>
                <a:cs typeface="+mn-lt"/>
              </a:rPr>
              <a:t>    </a:t>
            </a:r>
            <a:r>
              <a:rPr lang="zh-CN" altLang="en-US" sz="2400">
                <a:solidFill>
                  <a:srgbClr val="C00000"/>
                </a:solidFill>
                <a:latin typeface="+mn-lt"/>
                <a:cs typeface="+mn-lt"/>
              </a:rPr>
              <a:t>REFERENCES </a:t>
            </a:r>
            <a:r>
              <a:rPr lang="en-US" altLang="zh-CN" sz="2400">
                <a:solidFill>
                  <a:srgbClr val="C00000"/>
                </a:solidFill>
                <a:latin typeface="+mn-lt"/>
                <a:cs typeface="+mn-lt"/>
              </a:rPr>
              <a:t> </a:t>
            </a:r>
            <a:r>
              <a:rPr lang="zh-CN" altLang="en-US" sz="2400">
                <a:solidFill>
                  <a:srgbClr val="C00000"/>
                </a:solidFill>
                <a:latin typeface="+mn-lt"/>
                <a:cs typeface="+mn-lt"/>
              </a:rPr>
              <a:t>tbl_name (key_part,...)</a:t>
            </a:r>
          </a:p>
          <a:p>
            <a:pPr marL="0" indent="0">
              <a:lnSpc>
                <a:spcPct val="100000"/>
              </a:lnSpc>
              <a:buNone/>
            </a:pPr>
            <a:r>
              <a:rPr lang="zh-CN" altLang="en-US" sz="2400">
                <a:solidFill>
                  <a:srgbClr val="C00000"/>
                </a:solidFill>
                <a:latin typeface="+mn-lt"/>
                <a:cs typeface="+mn-lt"/>
              </a:rPr>
              <a:t>      [MATCH FULL | MATCH PARTIAL | MATCH SIMPLE]</a:t>
            </a:r>
          </a:p>
          <a:p>
            <a:pPr marL="0" indent="0">
              <a:lnSpc>
                <a:spcPct val="100000"/>
              </a:lnSpc>
              <a:buNone/>
            </a:pPr>
            <a:r>
              <a:rPr lang="zh-CN" altLang="en-US" sz="2400">
                <a:solidFill>
                  <a:srgbClr val="C00000"/>
                </a:solidFill>
                <a:latin typeface="+mn-lt"/>
                <a:cs typeface="+mn-lt"/>
              </a:rPr>
              <a:t>      [ON DELETE reference_option]</a:t>
            </a:r>
          </a:p>
          <a:p>
            <a:pPr marL="0" indent="0">
              <a:lnSpc>
                <a:spcPct val="100000"/>
              </a:lnSpc>
              <a:buNone/>
            </a:pPr>
            <a:r>
              <a:rPr lang="zh-CN" altLang="en-US" sz="2400">
                <a:solidFill>
                  <a:srgbClr val="C00000"/>
                </a:solidFill>
                <a:latin typeface="+mn-lt"/>
                <a:cs typeface="+mn-lt"/>
              </a:rPr>
              <a:t>      [ON UPDATE reference_option]</a:t>
            </a:r>
          </a:p>
          <a:p>
            <a:pPr marL="0" indent="0">
              <a:lnSpc>
                <a:spcPct val="100000"/>
              </a:lnSpc>
              <a:buNone/>
            </a:pPr>
            <a:endParaRPr lang="zh-CN" altLang="en-US" sz="2400">
              <a:latin typeface="+mn-lt"/>
              <a:cs typeface="+mn-lt"/>
            </a:endParaRPr>
          </a:p>
          <a:p>
            <a:pPr marL="0" indent="0">
              <a:lnSpc>
                <a:spcPct val="100000"/>
              </a:lnSpc>
              <a:buNone/>
            </a:pPr>
            <a:r>
              <a:rPr lang="zh-CN" altLang="en-US" sz="2400">
                <a:latin typeface="+mn-lt"/>
                <a:cs typeface="+mn-lt"/>
              </a:rPr>
              <a:t>reference_option:</a:t>
            </a:r>
          </a:p>
          <a:p>
            <a:pPr marL="0" indent="0">
              <a:lnSpc>
                <a:spcPct val="100000"/>
              </a:lnSpc>
              <a:buNone/>
            </a:pPr>
            <a:r>
              <a:rPr lang="zh-CN" altLang="en-US" sz="2400">
                <a:latin typeface="+mn-lt"/>
                <a:cs typeface="+mn-lt"/>
              </a:rPr>
              <a:t>   </a:t>
            </a:r>
            <a:r>
              <a:rPr lang="zh-CN" altLang="en-US" sz="2400">
                <a:solidFill>
                  <a:srgbClr val="C00000"/>
                </a:solidFill>
                <a:latin typeface="+mn-lt"/>
                <a:cs typeface="+mn-lt"/>
              </a:rPr>
              <a:t> RESTRICT | CASCADE | SET NULL | NO ACTION | SET DEFAULT</a:t>
            </a:r>
          </a:p>
        </p:txBody>
      </p:sp>
      <p:sp>
        <p:nvSpPr>
          <p:cNvPr id="4" name="灯片编号占位符 3"/>
          <p:cNvSpPr>
            <a:spLocks noGrp="1"/>
          </p:cNvSpPr>
          <p:nvPr>
            <p:ph type="sldNum" sz="quarter" idx="12"/>
          </p:nvPr>
        </p:nvSpPr>
        <p:spPr/>
        <p:txBody>
          <a:bodyPr/>
          <a:lstStyle/>
          <a:p>
            <a:fld id="{565CE74E-AB26-4998-AD42-012C4C1AD076}" type="slidenum">
              <a:rPr lang="zh-CN" altLang="en-US" smtClean="0"/>
              <a:t>78</a:t>
            </a:fld>
            <a:endParaRPr lang="zh-CN" altLang="en-US"/>
          </a:p>
        </p:txBody>
      </p:sp>
      <p:sp>
        <p:nvSpPr>
          <p:cNvPr id="5" name="页脚占位符 4"/>
          <p:cNvSpPr>
            <a:spLocks noGrp="1"/>
          </p:cNvSpPr>
          <p:nvPr>
            <p:ph type="ftr" sz="quarter" idx="11"/>
          </p:nvPr>
        </p:nvSpPr>
        <p:spPr/>
        <p:txBody>
          <a:bodyPr/>
          <a:lstStyle/>
          <a:p>
            <a:r>
              <a:rPr lang="zh-CN" altLang="en-US"/>
              <a:t>ch05_数据库完整性</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latin typeface="+mn-lt"/>
                <a:cs typeface="+mn-lt"/>
                <a:sym typeface="+mn-ea"/>
              </a:rPr>
              <a:t>MySQL:  </a:t>
            </a:r>
            <a:r>
              <a:rPr lang="zh-CN" altLang="en-US">
                <a:latin typeface="+mn-lt"/>
                <a:cs typeface="+mn-lt"/>
                <a:sym typeface="+mn-ea"/>
              </a:rPr>
              <a:t>CREATE  TRIGGER</a:t>
            </a:r>
            <a:r>
              <a:rPr lang="en-US" altLang="zh-CN">
                <a:latin typeface="+mn-lt"/>
                <a:cs typeface="+mn-lt"/>
                <a:sym typeface="+mn-ea"/>
              </a:rPr>
              <a:t>  statement</a:t>
            </a:r>
          </a:p>
        </p:txBody>
      </p:sp>
      <p:sp>
        <p:nvSpPr>
          <p:cNvPr id="3" name="内容占位符 2"/>
          <p:cNvSpPr>
            <a:spLocks noGrp="1"/>
          </p:cNvSpPr>
          <p:nvPr>
            <p:ph idx="1"/>
          </p:nvPr>
        </p:nvSpPr>
        <p:spPr/>
        <p:txBody>
          <a:bodyPr/>
          <a:lstStyle/>
          <a:p>
            <a:pPr marL="0" indent="0">
              <a:lnSpc>
                <a:spcPct val="100000"/>
              </a:lnSpc>
              <a:spcBef>
                <a:spcPts val="600"/>
              </a:spcBef>
              <a:buNone/>
            </a:pPr>
            <a:r>
              <a:rPr lang="zh-CN" altLang="en-US" sz="2400">
                <a:latin typeface="+mn-lt"/>
                <a:cs typeface="+mn-lt"/>
              </a:rPr>
              <a:t>CREATE  TRIGGER [</a:t>
            </a:r>
            <a:r>
              <a:rPr lang="en-US" altLang="zh-CN" sz="2400">
                <a:latin typeface="+mn-lt"/>
                <a:cs typeface="+mn-lt"/>
              </a:rPr>
              <a:t> </a:t>
            </a:r>
            <a:r>
              <a:rPr lang="zh-CN" altLang="en-US" sz="2400">
                <a:latin typeface="+mn-lt"/>
                <a:cs typeface="+mn-lt"/>
              </a:rPr>
              <a:t>IF NOT EXISTS</a:t>
            </a:r>
            <a:r>
              <a:rPr lang="en-US" altLang="zh-CN" sz="2400">
                <a:latin typeface="+mn-lt"/>
                <a:cs typeface="+mn-lt"/>
              </a:rPr>
              <a:t> </a:t>
            </a:r>
            <a:r>
              <a:rPr lang="zh-CN" altLang="en-US" sz="2400">
                <a:latin typeface="+mn-lt"/>
                <a:cs typeface="+mn-lt"/>
              </a:rPr>
              <a:t>] </a:t>
            </a:r>
            <a:r>
              <a:rPr lang="en-US" altLang="zh-CN" sz="2400">
                <a:latin typeface="+mn-lt"/>
                <a:cs typeface="+mn-lt"/>
              </a:rPr>
              <a:t> </a:t>
            </a:r>
            <a:r>
              <a:rPr lang="zh-CN" altLang="en-US" sz="2400">
                <a:latin typeface="+mn-lt"/>
                <a:cs typeface="+mn-lt"/>
              </a:rPr>
              <a:t>trigger_name</a:t>
            </a:r>
          </a:p>
          <a:p>
            <a:pPr marL="0" indent="0">
              <a:lnSpc>
                <a:spcPct val="100000"/>
              </a:lnSpc>
              <a:spcBef>
                <a:spcPts val="600"/>
              </a:spcBef>
              <a:buNone/>
            </a:pPr>
            <a:r>
              <a:rPr lang="zh-CN" altLang="en-US" sz="2400">
                <a:latin typeface="+mn-lt"/>
                <a:cs typeface="+mn-lt"/>
              </a:rPr>
              <a:t>    </a:t>
            </a:r>
            <a:r>
              <a:rPr lang="zh-CN" altLang="en-US" sz="2400">
                <a:solidFill>
                  <a:srgbClr val="C00000"/>
                </a:solidFill>
                <a:latin typeface="+mn-lt"/>
                <a:cs typeface="+mn-lt"/>
              </a:rPr>
              <a:t>trigger_time</a:t>
            </a:r>
            <a:r>
              <a:rPr lang="zh-CN" altLang="en-US" sz="2400">
                <a:latin typeface="+mn-lt"/>
                <a:cs typeface="+mn-lt"/>
              </a:rPr>
              <a:t> </a:t>
            </a:r>
            <a:r>
              <a:rPr lang="en-US" altLang="zh-CN" sz="2400">
                <a:latin typeface="+mn-lt"/>
                <a:cs typeface="+mn-lt"/>
              </a:rPr>
              <a:t> </a:t>
            </a:r>
            <a:r>
              <a:rPr lang="zh-CN" altLang="en-US" sz="2400">
                <a:solidFill>
                  <a:srgbClr val="C00000"/>
                </a:solidFill>
                <a:latin typeface="+mn-lt"/>
                <a:cs typeface="+mn-lt"/>
              </a:rPr>
              <a:t>trigger_event</a:t>
            </a:r>
            <a:r>
              <a:rPr lang="zh-CN" altLang="en-US" sz="2400">
                <a:latin typeface="+mn-lt"/>
                <a:cs typeface="+mn-lt"/>
              </a:rPr>
              <a:t>   ON </a:t>
            </a:r>
            <a:r>
              <a:rPr lang="en-US" altLang="zh-CN" sz="2400">
                <a:latin typeface="+mn-lt"/>
                <a:cs typeface="+mn-lt"/>
              </a:rPr>
              <a:t> </a:t>
            </a:r>
            <a:r>
              <a:rPr lang="zh-CN" altLang="en-US" sz="2400">
                <a:latin typeface="+mn-lt"/>
                <a:cs typeface="+mn-lt"/>
              </a:rPr>
              <a:t>tbl_name </a:t>
            </a:r>
          </a:p>
          <a:p>
            <a:pPr marL="0" indent="0">
              <a:lnSpc>
                <a:spcPct val="100000"/>
              </a:lnSpc>
              <a:spcBef>
                <a:spcPts val="600"/>
              </a:spcBef>
              <a:buNone/>
            </a:pPr>
            <a:r>
              <a:rPr lang="zh-CN" altLang="en-US" sz="2400">
                <a:latin typeface="+mn-lt"/>
                <a:cs typeface="+mn-lt"/>
                <a:sym typeface="+mn-ea"/>
              </a:rPr>
              <a:t>    </a:t>
            </a:r>
            <a:r>
              <a:rPr lang="zh-CN" altLang="en-US" sz="2400">
                <a:latin typeface="+mn-lt"/>
                <a:cs typeface="+mn-lt"/>
              </a:rPr>
              <a:t>FOR EACH ROW</a:t>
            </a:r>
          </a:p>
          <a:p>
            <a:pPr marL="0" indent="0">
              <a:lnSpc>
                <a:spcPct val="100000"/>
              </a:lnSpc>
              <a:spcBef>
                <a:spcPts val="600"/>
              </a:spcBef>
              <a:buNone/>
            </a:pPr>
            <a:r>
              <a:rPr lang="zh-CN" altLang="en-US" sz="2400">
                <a:latin typeface="+mn-lt"/>
                <a:cs typeface="+mn-lt"/>
              </a:rPr>
              <a:t>    [</a:t>
            </a:r>
            <a:r>
              <a:rPr lang="en-US" altLang="zh-CN" sz="2400">
                <a:latin typeface="+mn-lt"/>
                <a:cs typeface="+mn-lt"/>
              </a:rPr>
              <a:t> </a:t>
            </a:r>
            <a:r>
              <a:rPr lang="zh-CN" altLang="en-US" sz="2400">
                <a:solidFill>
                  <a:srgbClr val="C00000"/>
                </a:solidFill>
                <a:latin typeface="+mn-lt"/>
                <a:cs typeface="+mn-lt"/>
              </a:rPr>
              <a:t>trigger_order</a:t>
            </a:r>
            <a:r>
              <a:rPr lang="en-US" altLang="zh-CN" sz="2400">
                <a:latin typeface="+mn-lt"/>
                <a:cs typeface="+mn-lt"/>
              </a:rPr>
              <a:t> </a:t>
            </a:r>
            <a:r>
              <a:rPr lang="zh-CN" altLang="en-US" sz="2400">
                <a:latin typeface="+mn-lt"/>
                <a:cs typeface="+mn-lt"/>
              </a:rPr>
              <a:t>]</a:t>
            </a:r>
          </a:p>
          <a:p>
            <a:pPr marL="0" indent="0">
              <a:lnSpc>
                <a:spcPct val="100000"/>
              </a:lnSpc>
              <a:spcBef>
                <a:spcPts val="600"/>
              </a:spcBef>
              <a:buNone/>
            </a:pPr>
            <a:r>
              <a:rPr lang="zh-CN" altLang="en-US" sz="2400">
                <a:latin typeface="+mn-lt"/>
                <a:cs typeface="+mn-lt"/>
              </a:rPr>
              <a:t>    trigger_body</a:t>
            </a:r>
            <a:r>
              <a:rPr lang="en-US" altLang="zh-CN" sz="2400">
                <a:latin typeface="+mn-lt"/>
                <a:cs typeface="+mn-lt"/>
              </a:rPr>
              <a:t> </a:t>
            </a:r>
            <a:endParaRPr lang="zh-CN" altLang="en-US" sz="2400">
              <a:latin typeface="+mn-lt"/>
              <a:cs typeface="+mn-lt"/>
            </a:endParaRPr>
          </a:p>
          <a:p>
            <a:pPr marL="0" indent="0">
              <a:lnSpc>
                <a:spcPct val="100000"/>
              </a:lnSpc>
              <a:spcBef>
                <a:spcPts val="600"/>
              </a:spcBef>
              <a:buNone/>
            </a:pPr>
            <a:endParaRPr lang="zh-CN" altLang="en-US" sz="2400">
              <a:latin typeface="+mn-lt"/>
              <a:cs typeface="+mn-lt"/>
            </a:endParaRPr>
          </a:p>
          <a:p>
            <a:pPr marL="0" indent="0">
              <a:lnSpc>
                <a:spcPct val="100000"/>
              </a:lnSpc>
              <a:spcBef>
                <a:spcPts val="600"/>
              </a:spcBef>
              <a:buNone/>
            </a:pPr>
            <a:endParaRPr lang="zh-CN" altLang="en-US" sz="2400">
              <a:latin typeface="+mn-lt"/>
              <a:cs typeface="+mn-lt"/>
            </a:endParaRPr>
          </a:p>
          <a:p>
            <a:pPr marL="0" indent="0">
              <a:lnSpc>
                <a:spcPct val="100000"/>
              </a:lnSpc>
              <a:spcBef>
                <a:spcPts val="600"/>
              </a:spcBef>
              <a:buNone/>
            </a:pPr>
            <a:r>
              <a:rPr lang="zh-CN" altLang="en-US" sz="2400">
                <a:latin typeface="+mn-lt"/>
                <a:cs typeface="+mn-lt"/>
              </a:rPr>
              <a:t>trigger_time: </a:t>
            </a:r>
            <a:r>
              <a:rPr lang="en-US" altLang="zh-CN" sz="2400">
                <a:latin typeface="+mn-lt"/>
                <a:cs typeface="+mn-lt"/>
              </a:rPr>
              <a:t> </a:t>
            </a:r>
            <a:r>
              <a:rPr lang="zh-CN" altLang="en-US" sz="2400">
                <a:latin typeface="+mn-lt"/>
                <a:cs typeface="+mn-lt"/>
              </a:rPr>
              <a:t>{ </a:t>
            </a:r>
            <a:r>
              <a:rPr lang="zh-CN" altLang="en-US" sz="2400">
                <a:solidFill>
                  <a:srgbClr val="C00000"/>
                </a:solidFill>
                <a:latin typeface="+mn-lt"/>
                <a:cs typeface="+mn-lt"/>
              </a:rPr>
              <a:t>BEFORE </a:t>
            </a:r>
            <a:r>
              <a:rPr lang="zh-CN" altLang="en-US" sz="2400">
                <a:latin typeface="+mn-lt"/>
                <a:cs typeface="+mn-lt"/>
              </a:rPr>
              <a:t>| </a:t>
            </a:r>
            <a:r>
              <a:rPr lang="zh-CN" altLang="en-US" sz="2400">
                <a:solidFill>
                  <a:srgbClr val="C00000"/>
                </a:solidFill>
                <a:latin typeface="+mn-lt"/>
                <a:cs typeface="+mn-lt"/>
              </a:rPr>
              <a:t>AFTER </a:t>
            </a:r>
            <a:r>
              <a:rPr lang="zh-CN" altLang="en-US" sz="2400">
                <a:latin typeface="+mn-lt"/>
                <a:cs typeface="+mn-lt"/>
              </a:rPr>
              <a:t>}</a:t>
            </a:r>
          </a:p>
          <a:p>
            <a:pPr marL="0" indent="0">
              <a:lnSpc>
                <a:spcPct val="100000"/>
              </a:lnSpc>
              <a:spcBef>
                <a:spcPts val="600"/>
              </a:spcBef>
              <a:buNone/>
            </a:pPr>
            <a:endParaRPr lang="zh-CN" altLang="en-US" sz="2400">
              <a:latin typeface="+mn-lt"/>
              <a:cs typeface="+mn-lt"/>
            </a:endParaRPr>
          </a:p>
          <a:p>
            <a:pPr marL="0" indent="0">
              <a:lnSpc>
                <a:spcPct val="100000"/>
              </a:lnSpc>
              <a:spcBef>
                <a:spcPts val="600"/>
              </a:spcBef>
              <a:buNone/>
            </a:pPr>
            <a:r>
              <a:rPr lang="zh-CN" altLang="en-US" sz="2400">
                <a:latin typeface="+mn-lt"/>
                <a:cs typeface="+mn-lt"/>
              </a:rPr>
              <a:t>trigger_event: </a:t>
            </a:r>
            <a:r>
              <a:rPr lang="en-US" altLang="zh-CN" sz="2400">
                <a:latin typeface="+mn-lt"/>
                <a:cs typeface="+mn-lt"/>
              </a:rPr>
              <a:t> </a:t>
            </a:r>
            <a:r>
              <a:rPr lang="zh-CN" altLang="en-US" sz="2400">
                <a:latin typeface="+mn-lt"/>
                <a:cs typeface="+mn-lt"/>
              </a:rPr>
              <a:t>{ </a:t>
            </a:r>
            <a:r>
              <a:rPr lang="zh-CN" altLang="en-US" sz="2400">
                <a:solidFill>
                  <a:srgbClr val="C00000"/>
                </a:solidFill>
                <a:latin typeface="+mn-lt"/>
                <a:cs typeface="+mn-lt"/>
              </a:rPr>
              <a:t>INSERT </a:t>
            </a:r>
            <a:r>
              <a:rPr lang="zh-CN" altLang="en-US" sz="2400">
                <a:latin typeface="+mn-lt"/>
                <a:cs typeface="+mn-lt"/>
              </a:rPr>
              <a:t>| </a:t>
            </a:r>
            <a:r>
              <a:rPr lang="zh-CN" altLang="en-US" sz="2400">
                <a:solidFill>
                  <a:srgbClr val="C00000"/>
                </a:solidFill>
                <a:latin typeface="+mn-lt"/>
                <a:cs typeface="+mn-lt"/>
              </a:rPr>
              <a:t>UPDATE </a:t>
            </a:r>
            <a:r>
              <a:rPr lang="zh-CN" altLang="en-US" sz="2400">
                <a:latin typeface="+mn-lt"/>
                <a:cs typeface="+mn-lt"/>
              </a:rPr>
              <a:t>| </a:t>
            </a:r>
            <a:r>
              <a:rPr lang="zh-CN" altLang="en-US" sz="2400">
                <a:solidFill>
                  <a:srgbClr val="C00000"/>
                </a:solidFill>
                <a:latin typeface="+mn-lt"/>
                <a:cs typeface="+mn-lt"/>
              </a:rPr>
              <a:t>DELETE </a:t>
            </a:r>
            <a:r>
              <a:rPr lang="zh-CN" altLang="en-US" sz="2400">
                <a:latin typeface="+mn-lt"/>
                <a:cs typeface="+mn-lt"/>
              </a:rPr>
              <a:t>}</a:t>
            </a:r>
          </a:p>
          <a:p>
            <a:pPr marL="0" indent="0">
              <a:lnSpc>
                <a:spcPct val="100000"/>
              </a:lnSpc>
              <a:spcBef>
                <a:spcPts val="600"/>
              </a:spcBef>
              <a:buNone/>
            </a:pPr>
            <a:endParaRPr lang="zh-CN" altLang="en-US" sz="2400">
              <a:latin typeface="+mn-lt"/>
              <a:cs typeface="+mn-lt"/>
            </a:endParaRPr>
          </a:p>
          <a:p>
            <a:pPr marL="0" indent="0">
              <a:lnSpc>
                <a:spcPct val="100000"/>
              </a:lnSpc>
              <a:spcBef>
                <a:spcPts val="600"/>
              </a:spcBef>
              <a:buNone/>
            </a:pPr>
            <a:r>
              <a:rPr lang="zh-CN" altLang="en-US" sz="2400">
                <a:latin typeface="+mn-lt"/>
                <a:cs typeface="+mn-lt"/>
              </a:rPr>
              <a:t>trigger_order: </a:t>
            </a:r>
            <a:r>
              <a:rPr lang="en-US" altLang="zh-CN" sz="2400">
                <a:latin typeface="+mn-lt"/>
                <a:cs typeface="+mn-lt"/>
              </a:rPr>
              <a:t> </a:t>
            </a:r>
            <a:r>
              <a:rPr lang="zh-CN" altLang="en-US" sz="2400">
                <a:latin typeface="+mn-lt"/>
                <a:cs typeface="+mn-lt"/>
              </a:rPr>
              <a:t>{ </a:t>
            </a:r>
            <a:r>
              <a:rPr lang="zh-CN" altLang="en-US" sz="2400">
                <a:solidFill>
                  <a:srgbClr val="C00000"/>
                </a:solidFill>
                <a:latin typeface="+mn-lt"/>
                <a:cs typeface="+mn-lt"/>
              </a:rPr>
              <a:t>FOLLOWS </a:t>
            </a:r>
            <a:r>
              <a:rPr lang="zh-CN" altLang="en-US" sz="2400">
                <a:latin typeface="+mn-lt"/>
                <a:cs typeface="+mn-lt"/>
              </a:rPr>
              <a:t>| </a:t>
            </a:r>
            <a:r>
              <a:rPr lang="zh-CN" altLang="en-US" sz="2400">
                <a:solidFill>
                  <a:srgbClr val="C00000"/>
                </a:solidFill>
                <a:latin typeface="+mn-lt"/>
                <a:cs typeface="+mn-lt"/>
              </a:rPr>
              <a:t>PRECEDES </a:t>
            </a:r>
            <a:r>
              <a:rPr lang="zh-CN" altLang="en-US" sz="2400">
                <a:latin typeface="+mn-lt"/>
                <a:cs typeface="+mn-lt"/>
              </a:rPr>
              <a:t>} other_trigger_name</a:t>
            </a:r>
          </a:p>
        </p:txBody>
      </p:sp>
      <p:sp>
        <p:nvSpPr>
          <p:cNvPr id="4" name="灯片编号占位符 3"/>
          <p:cNvSpPr>
            <a:spLocks noGrp="1"/>
          </p:cNvSpPr>
          <p:nvPr>
            <p:ph type="sldNum" sz="quarter" idx="12"/>
          </p:nvPr>
        </p:nvSpPr>
        <p:spPr>
          <a:xfrm>
            <a:off x="11461115" y="6696000"/>
            <a:ext cx="730885" cy="153670"/>
          </a:xfrm>
        </p:spPr>
        <p:txBody>
          <a:bodyPr/>
          <a:lstStyle/>
          <a:p>
            <a:fld id="{565CE74E-AB26-4998-AD42-012C4C1AD076}" type="slidenum">
              <a:rPr lang="zh-CN" altLang="en-US" smtClean="0"/>
              <a:t>79</a:t>
            </a:fld>
            <a:endParaRPr lang="zh-CN" altLang="en-US"/>
          </a:p>
        </p:txBody>
      </p:sp>
      <p:sp>
        <p:nvSpPr>
          <p:cNvPr id="2" name="页脚占位符 1"/>
          <p:cNvSpPr>
            <a:spLocks noGrp="1"/>
          </p:cNvSpPr>
          <p:nvPr>
            <p:ph type="ftr" sz="quarter" idx="11"/>
          </p:nvPr>
        </p:nvSpPr>
        <p:spPr/>
        <p:txBody>
          <a:bodyPr/>
          <a:lstStyle/>
          <a:p>
            <a:r>
              <a:rPr lang="zh-CN" altLang="en-US"/>
              <a:t>ch05_数据库完整性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 calcmode="lin" valueType="num">
                                      <p:cBhvr additive="base">
                                        <p:cTn id="1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RkNGY5NWUwYjYwZDI4YzQxYTk2ZjNkOGZiZGU1MDEifQ=="/>
  <p:tag name="RESOURCE_RECORD_KEY" val="{&quot;70&quot;:[3314500]}"/>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3*384"/>
  <p:tag name="TABLE_ENDDRAG_RECT" val="33*94*893*384"/>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025af1c8-c2d1-4097-ad1b-25a38cbec9eb}"/>
  <p:tag name="TABLE_ENDDRAG_ORIGIN_RECT" val="893*325"/>
  <p:tag name="TABLE_ENDDRAG_RECT" val="33*54*893*325"/>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96,&quot;width&quot;:11628}"/>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96,&quot;width&quot;:11628}"/>
</p:tagLst>
</file>

<file path=ppt/tags/tag1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96,&quot;width&quot;:11628}"/>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893*489"/>
  <p:tag name="TABLE_ENDDRAG_RECT" val="33*63*893*48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7986</Words>
  <Application>Microsoft Macintosh PowerPoint</Application>
  <PresentationFormat>宽屏</PresentationFormat>
  <Paragraphs>964</Paragraphs>
  <Slides>79</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79</vt:i4>
      </vt:variant>
    </vt:vector>
  </HeadingPairs>
  <TitlesOfParts>
    <vt:vector size="88" baseType="lpstr">
      <vt:lpstr>Times New Roman</vt:lpstr>
      <vt:lpstr>微软雅黑</vt:lpstr>
      <vt:lpstr>宋体</vt:lpstr>
      <vt:lpstr>Wingdings</vt:lpstr>
      <vt:lpstr>Arial</vt:lpstr>
      <vt:lpstr>Calibri</vt:lpstr>
      <vt:lpstr>华文楷体</vt:lpstr>
      <vt:lpstr>楷体</vt:lpstr>
      <vt:lpstr>WPS</vt:lpstr>
      <vt:lpstr>PowerPoint 演示文稿</vt:lpstr>
      <vt:lpstr>数据库完整性</vt:lpstr>
      <vt:lpstr>完整性 vs. 安全性</vt:lpstr>
      <vt:lpstr>完整性机制  1</vt:lpstr>
      <vt:lpstr>完整性机制  2</vt:lpstr>
      <vt:lpstr>完整性机制  3</vt:lpstr>
      <vt:lpstr>完整性机制  4</vt:lpstr>
      <vt:lpstr>完整性约束定义的分类  1</vt:lpstr>
      <vt:lpstr>完整性约束定义的分类  2</vt:lpstr>
      <vt:lpstr>Basic SQL Syntax for Create Table</vt:lpstr>
      <vt:lpstr>SQL语言对完整性约束规则的支持</vt:lpstr>
      <vt:lpstr>SQL语言对完整性约束规则的支持</vt:lpstr>
      <vt:lpstr>SQL语言对完整性约束规则的支持</vt:lpstr>
      <vt:lpstr>第5章  数据库完整性</vt:lpstr>
      <vt:lpstr>5.1  实体完整性</vt:lpstr>
      <vt:lpstr>实体完整性定义 1</vt:lpstr>
      <vt:lpstr>实体完整性定义 2</vt:lpstr>
      <vt:lpstr>实体完整性定义 3</vt:lpstr>
      <vt:lpstr>实体完整性检查和违约处理</vt:lpstr>
      <vt:lpstr>实体完整性检查 1</vt:lpstr>
      <vt:lpstr>实体完整性检查 2</vt:lpstr>
      <vt:lpstr>第5章  数据库完整性</vt:lpstr>
      <vt:lpstr>5.2  参照完整性</vt:lpstr>
      <vt:lpstr>参照完整性定义</vt:lpstr>
      <vt:lpstr>参照完整性检查 1</vt:lpstr>
      <vt:lpstr>参照完整性检查 2</vt:lpstr>
      <vt:lpstr>参照完整性违约处理 1</vt:lpstr>
      <vt:lpstr>不同DBMS对外码约束的违约处理规则（ON DELETE / ON UPDATE）</vt:lpstr>
      <vt:lpstr>参照完整性违约处理 2</vt:lpstr>
      <vt:lpstr>参照完整性违约处理 3</vt:lpstr>
      <vt:lpstr>总结：在定义列级约束时需要考虑的内容 1</vt:lpstr>
      <vt:lpstr>总结：在定义列级约束时需要考虑的内容  2</vt:lpstr>
      <vt:lpstr>总结：在定义列级约束时需要考虑的内容  3</vt:lpstr>
      <vt:lpstr>总结：Forengn Key 约束</vt:lpstr>
      <vt:lpstr>第5章  数据库完整性</vt:lpstr>
      <vt:lpstr>5.3  用户定义的完整性</vt:lpstr>
      <vt:lpstr>5.3  用户定义的完整性</vt:lpstr>
      <vt:lpstr>列上约束条件的定义 - 列值非空</vt:lpstr>
      <vt:lpstr>列上约束条件的定义 - 列值唯一</vt:lpstr>
      <vt:lpstr>列上约束条件的定义 - 列值是否满足条件表达式 1</vt:lpstr>
      <vt:lpstr>列上约束条件的定义 - 列值是否满足条件表达式 2</vt:lpstr>
      <vt:lpstr>元组上约束条件的定义</vt:lpstr>
      <vt:lpstr>第5章  数据库完整性</vt:lpstr>
      <vt:lpstr>完整性约束命名子句</vt:lpstr>
      <vt:lpstr>创建完整性约束 1</vt:lpstr>
      <vt:lpstr>创建完整性约束 2</vt:lpstr>
      <vt:lpstr>修改完整性约束</vt:lpstr>
      <vt:lpstr>第5章  数据库完整性</vt:lpstr>
      <vt:lpstr>5.5  域中的完整性限制</vt:lpstr>
      <vt:lpstr>第5章  数据库完整性</vt:lpstr>
      <vt:lpstr>5.6  断言</vt:lpstr>
      <vt:lpstr>断言相关语句</vt:lpstr>
      <vt:lpstr>创建断言 1</vt:lpstr>
      <vt:lpstr>创建断言 2</vt:lpstr>
      <vt:lpstr>创建断言 3</vt:lpstr>
      <vt:lpstr>查询 例5.19 和 例5.20 的正确写法</vt:lpstr>
      <vt:lpstr>第5章  数据库完整性</vt:lpstr>
      <vt:lpstr>5.7  触发器</vt:lpstr>
      <vt:lpstr>定义触发器 1</vt:lpstr>
      <vt:lpstr>详细的触发器定义命令 1</vt:lpstr>
      <vt:lpstr>详细的触发器定义命令 2</vt:lpstr>
      <vt:lpstr>定义触发器 2</vt:lpstr>
      <vt:lpstr>定义触发器 4</vt:lpstr>
      <vt:lpstr>定义触发器 3</vt:lpstr>
      <vt:lpstr>触发器类型</vt:lpstr>
      <vt:lpstr>触发器示例 1</vt:lpstr>
      <vt:lpstr>触发器示例 2</vt:lpstr>
      <vt:lpstr>触发器示例 3</vt:lpstr>
      <vt:lpstr>触发器示例 4</vt:lpstr>
      <vt:lpstr>激活触发器</vt:lpstr>
      <vt:lpstr>删除触发器</vt:lpstr>
      <vt:lpstr>总结：断言  与  触发器</vt:lpstr>
      <vt:lpstr>5.8  小结</vt:lpstr>
      <vt:lpstr>MySQL中的数据定义命令</vt:lpstr>
      <vt:lpstr>MySQL:  CREATE  TABLE  statement (1)</vt:lpstr>
      <vt:lpstr>MySQL:  CREATE  TABLE  statement (2)</vt:lpstr>
      <vt:lpstr>MySQL:  CREATE  TABLE  statement (3)</vt:lpstr>
      <vt:lpstr>MySQL:  CREATE  TABLE  statement (4)</vt:lpstr>
      <vt:lpstr>MySQL:  CREATE  TRIGGER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Wei Hu</cp:lastModifiedBy>
  <cp:revision>350</cp:revision>
  <dcterms:created xsi:type="dcterms:W3CDTF">2023-08-09T12:44:00Z</dcterms:created>
  <dcterms:modified xsi:type="dcterms:W3CDTF">2026-04-19T01:02:59Z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F563D16485344D7F8E8EA192E61F3C47_13</vt:lpwstr>
  </property>
  <property fmtid="{D5CDD505-2E9C-101B-9397-08002B2CF9AE}" pid="3" name="KSOProductBuildVer">
    <vt:lpwstr>2052-12.1.0.20305</vt:lpwstr>
  </property>
</Properties>
</file>